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7fae8cb8ba4cf1" /><Relationship Type="http://schemas.openxmlformats.org/officeDocument/2006/relationships/extended-properties" Target="/docProps/app.xml" Id="R9d4983ceaaee4b33" /><Relationship Type="http://schemas.openxmlformats.org/officeDocument/2006/relationships/officeDocument" Target="/ppt/presentation.xml" Id="Refe0a3758d4247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6265ba1335a4eab"/>
  </p:sldMasterIdLst>
  <p:notesMasterIdLst>
    <p:notesMasterId xmlns:r="http://schemas.openxmlformats.org/officeDocument/2006/relationships" r:id="Rf863d94358714ee6"/>
  </p:notesMasterIdLst>
  <p:sldIdLst>
    <p:sldId xmlns:r="http://schemas.openxmlformats.org/officeDocument/2006/relationships" id="256" r:id="R2c68858f04614213"/>
    <p:sldId xmlns:r="http://schemas.openxmlformats.org/officeDocument/2006/relationships" id="257" r:id="R3d41c109cddd4ed1"/>
    <p:sldId xmlns:r="http://schemas.openxmlformats.org/officeDocument/2006/relationships" id="258" r:id="R595a909d567d4ae8"/>
    <p:sldId xmlns:r="http://schemas.openxmlformats.org/officeDocument/2006/relationships" id="259" r:id="R8e2988735af24bd1"/>
    <p:sldId xmlns:r="http://schemas.openxmlformats.org/officeDocument/2006/relationships" id="260" r:id="Ra5c0e856d1b14b51"/>
    <p:sldId xmlns:r="http://schemas.openxmlformats.org/officeDocument/2006/relationships" id="261" r:id="Rb622a38cb4694513"/>
    <p:sldId xmlns:r="http://schemas.openxmlformats.org/officeDocument/2006/relationships" id="262" r:id="Rcd00cee47661415f"/>
    <p:sldId xmlns:r="http://schemas.openxmlformats.org/officeDocument/2006/relationships" id="263" r:id="R21f3e5b18b7b4d84"/>
    <p:sldId xmlns:r="http://schemas.openxmlformats.org/officeDocument/2006/relationships" id="264" r:id="Ra45770a29b8143ea"/>
    <p:sldId xmlns:r="http://schemas.openxmlformats.org/officeDocument/2006/relationships" id="265" r:id="R4c9c37dc76834577"/>
    <p:sldId xmlns:r="http://schemas.openxmlformats.org/officeDocument/2006/relationships" id="266" r:id="R4b38179584e64979"/>
    <p:sldId xmlns:r="http://schemas.openxmlformats.org/officeDocument/2006/relationships" id="267" r:id="Read44236d7b344d1"/>
    <p:sldId xmlns:r="http://schemas.openxmlformats.org/officeDocument/2006/relationships" id="268" r:id="Ra472652adf6a432c"/>
    <p:sldId xmlns:r="http://schemas.openxmlformats.org/officeDocument/2006/relationships" id="269" r:id="R1b43896772884f35"/>
    <p:sldId xmlns:r="http://schemas.openxmlformats.org/officeDocument/2006/relationships" id="270" r:id="Rfa882304f8ce401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265ba1335a4eab" /><Relationship Type="http://schemas.openxmlformats.org/officeDocument/2006/relationships/theme" Target="/ppt/theme/theme1.xml" Id="Re2f652d961fd4f03" /><Relationship Type="http://schemas.openxmlformats.org/officeDocument/2006/relationships/notesMaster" Target="/ppt/notesMasters/notesMaster1.xml" Id="Rf863d94358714ee6" /><Relationship Type="http://schemas.openxmlformats.org/officeDocument/2006/relationships/presProps" Target="/ppt/presProps.xml" Id="R975a12e0c0c9411c" /><Relationship Type="http://schemas.openxmlformats.org/officeDocument/2006/relationships/viewProps" Target="/ppt/viewProps.xml" Id="R900f9303d11e4c11" /><Relationship Type="http://schemas.openxmlformats.org/officeDocument/2006/relationships/tableStyles" Target="/ppt/tableStyles.xml" Id="Rc9d9e4a3755f4c4e" /><Relationship Type="http://schemas.openxmlformats.org/officeDocument/2006/relationships/slide" Target="/ppt/slides/slide1.xml" Id="R2c68858f04614213" /><Relationship Type="http://schemas.openxmlformats.org/officeDocument/2006/relationships/slide" Target="/ppt/slides/slide2.xml" Id="R3d41c109cddd4ed1" /><Relationship Type="http://schemas.openxmlformats.org/officeDocument/2006/relationships/slide" Target="/ppt/slides/slide3.xml" Id="R595a909d567d4ae8" /><Relationship Type="http://schemas.openxmlformats.org/officeDocument/2006/relationships/slide" Target="/ppt/slides/slide4.xml" Id="R8e2988735af24bd1" /><Relationship Type="http://schemas.openxmlformats.org/officeDocument/2006/relationships/slide" Target="/ppt/slides/slide5.xml" Id="Ra5c0e856d1b14b51" /><Relationship Type="http://schemas.openxmlformats.org/officeDocument/2006/relationships/slide" Target="/ppt/slides/slide6.xml" Id="Rb622a38cb4694513" /><Relationship Type="http://schemas.openxmlformats.org/officeDocument/2006/relationships/slide" Target="/ppt/slides/slide7.xml" Id="Rcd00cee47661415f" /><Relationship Type="http://schemas.openxmlformats.org/officeDocument/2006/relationships/slide" Target="/ppt/slides/slide8.xml" Id="R21f3e5b18b7b4d84" /><Relationship Type="http://schemas.openxmlformats.org/officeDocument/2006/relationships/slide" Target="/ppt/slides/slide9.xml" Id="Ra45770a29b8143ea" /><Relationship Type="http://schemas.openxmlformats.org/officeDocument/2006/relationships/slide" Target="/ppt/slides/slide10.xml" Id="R4c9c37dc76834577" /><Relationship Type="http://schemas.openxmlformats.org/officeDocument/2006/relationships/slide" Target="/ppt/slides/slide11.xml" Id="R4b38179584e64979" /><Relationship Type="http://schemas.openxmlformats.org/officeDocument/2006/relationships/slide" Target="/ppt/slides/slide12.xml" Id="Read44236d7b344d1" /><Relationship Type="http://schemas.openxmlformats.org/officeDocument/2006/relationships/slide" Target="/ppt/slides/slide13.xml" Id="Ra472652adf6a432c" /><Relationship Type="http://schemas.openxmlformats.org/officeDocument/2006/relationships/slide" Target="/ppt/slides/slide14.xml" Id="R1b43896772884f35" /><Relationship Type="http://schemas.openxmlformats.org/officeDocument/2006/relationships/slide" Target="/ppt/slides/slide15.xml" Id="Rfa882304f8ce40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71ec97d472a4f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651083cf5e4003" /><Relationship Type="http://schemas.openxmlformats.org/officeDocument/2006/relationships/notesMaster" Target="/ppt/notesMasters/notesMaster1.xml" Id="R3ac19840d7574c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4e92c8dd3948df" /><Relationship Type="http://schemas.openxmlformats.org/officeDocument/2006/relationships/notesMaster" Target="/ppt/notesMasters/notesMaster1.xml" Id="R12791cf9f81547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b0352fd1af4015" /><Relationship Type="http://schemas.openxmlformats.org/officeDocument/2006/relationships/notesMaster" Target="/ppt/notesMasters/notesMaster1.xml" Id="R8af165f063c74fe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305cf54a3d24a34" /><Relationship Type="http://schemas.openxmlformats.org/officeDocument/2006/relationships/notesMaster" Target="/ppt/notesMasters/notesMaster1.xml" Id="R3cbb825a042142c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b16861abb684fed" /><Relationship Type="http://schemas.openxmlformats.org/officeDocument/2006/relationships/notesMaster" Target="/ppt/notesMasters/notesMaster1.xml" Id="R266bb24b4d9d457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317da36ade14bce" /><Relationship Type="http://schemas.openxmlformats.org/officeDocument/2006/relationships/notesMaster" Target="/ppt/notesMasters/notesMaster1.xml" Id="R2ea3b1ba2660414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9572726214147f8" /><Relationship Type="http://schemas.openxmlformats.org/officeDocument/2006/relationships/notesMaster" Target="/ppt/notesMasters/notesMaster1.xml" Id="Ra35245fa6e3946e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fb202a2df3b4970" /><Relationship Type="http://schemas.openxmlformats.org/officeDocument/2006/relationships/notesMaster" Target="/ppt/notesMasters/notesMaster1.xml" Id="R7525c48ba22b410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b387d465ddb4cc5" /><Relationship Type="http://schemas.openxmlformats.org/officeDocument/2006/relationships/notesMaster" Target="/ppt/notesMasters/notesMaster1.xml" Id="R8d8c5aa1f9304c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f3d4d85eaae4588" /><Relationship Type="http://schemas.openxmlformats.org/officeDocument/2006/relationships/notesMaster" Target="/ppt/notesMasters/notesMaster1.xml" Id="R978872b63c1f42f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1693aa10b134ecd" /><Relationship Type="http://schemas.openxmlformats.org/officeDocument/2006/relationships/notesMaster" Target="/ppt/notesMasters/notesMaster1.xml" Id="Rce4918d4031d424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c1c493cf25645db" /><Relationship Type="http://schemas.openxmlformats.org/officeDocument/2006/relationships/notesMaster" Target="/ppt/notesMasters/notesMaster1.xml" Id="Rd5d096fe63c14e5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18ccf9d3b0b47e3" /><Relationship Type="http://schemas.openxmlformats.org/officeDocument/2006/relationships/notesMaster" Target="/ppt/notesMasters/notesMaster1.xml" Id="Rfa52badf1dfb49d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6b83c0f0d3641f4" /><Relationship Type="http://schemas.openxmlformats.org/officeDocument/2006/relationships/notesMaster" Target="/ppt/notesMasters/notesMaster1.xml" Id="R5fcf493785db47c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890618f657e4dc0" /><Relationship Type="http://schemas.openxmlformats.org/officeDocument/2006/relationships/notesMaster" Target="/ppt/notesMasters/notesMaster1.xml" Id="Ref17069803a64d9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f3bacf698e430b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b687ba5c36f47f7" /><Relationship Type="http://schemas.openxmlformats.org/officeDocument/2006/relationships/slideLayout" Target="/ppt/slideLayouts/slideLayout2.xml" Id="R070ccec21af544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0ccec21af544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9a9b78a4904462" /><Relationship Type="http://schemas.openxmlformats.org/officeDocument/2006/relationships/notesSlide" Target="/ppt/notesSlides/notesSlide1.xml" Id="Rdda5903842434b5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1023b1595543ad" /><Relationship Type="http://schemas.openxmlformats.org/officeDocument/2006/relationships/notesSlide" Target="/ppt/notesSlides/notesSlide2.xml" Id="Rc1a7c6f681bb4f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fb5e502bc840aa" /><Relationship Type="http://schemas.openxmlformats.org/officeDocument/2006/relationships/notesSlide" Target="/ppt/notesSlides/notesSlide3.xml" Id="R130a0d7d0f894c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062524b7a84391" /><Relationship Type="http://schemas.openxmlformats.org/officeDocument/2006/relationships/notesSlide" Target="/ppt/notesSlides/notesSlide4.xml" Id="R2f721213de7c49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ac294cea1f4581" /><Relationship Type="http://schemas.openxmlformats.org/officeDocument/2006/relationships/notesSlide" Target="/ppt/notesSlides/notesSlide5.xml" Id="R4f3085ec0a3b433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2785f582564034" /><Relationship Type="http://schemas.openxmlformats.org/officeDocument/2006/relationships/notesSlide" Target="/ppt/notesSlides/notesSlide6.xml" Id="R0025e612df604f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eeb65fb013442a" /><Relationship Type="http://schemas.openxmlformats.org/officeDocument/2006/relationships/notesSlide" Target="/ppt/notesSlides/notesSlide7.xml" Id="R2a2a76b08e86490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81727c7c2c437e" /><Relationship Type="http://schemas.openxmlformats.org/officeDocument/2006/relationships/notesSlide" Target="/ppt/notesSlides/notesSlide8.xml" Id="R74ab663702194a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51847d9eef40f7" /><Relationship Type="http://schemas.openxmlformats.org/officeDocument/2006/relationships/notesSlide" Target="/ppt/notesSlides/notesSlide9.xml" Id="Rafab86c3b44c4d9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c262f18f744582" /><Relationship Type="http://schemas.openxmlformats.org/officeDocument/2006/relationships/notesSlide" Target="/ppt/notesSlides/notesSlide10.xml" Id="R7bfa3e94ff95436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344ec7466a4ee1" /><Relationship Type="http://schemas.openxmlformats.org/officeDocument/2006/relationships/notesSlide" Target="/ppt/notesSlides/notesSlide11.xml" Id="R44e0ea70a199493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12168275124eb6" /><Relationship Type="http://schemas.openxmlformats.org/officeDocument/2006/relationships/notesSlide" Target="/ppt/notesSlides/notesSlide12.xml" Id="R83508d1e1bc7413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142266f5ff4785" /><Relationship Type="http://schemas.openxmlformats.org/officeDocument/2006/relationships/notesSlide" Target="/ppt/notesSlides/notesSlide13.xml" Id="R5157b48ae90f495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cd08b272c14a58" /><Relationship Type="http://schemas.openxmlformats.org/officeDocument/2006/relationships/notesSlide" Target="/ppt/notesSlides/notesSlide14.xml" Id="Ra6ec6866abbb4c4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812e1b5e804c97" /><Relationship Type="http://schemas.openxmlformats.org/officeDocument/2006/relationships/notesSlide" Target="/ppt/notesSlides/notesSlide15.xml" Id="R886518d92cbf449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D97700-10EF-4B0E-8A0C-9E8C1BD2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21ED9-4A55-4BDB-9289-60367A6A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38E30D-CF5E-4E63-BE39-6939EC6B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141DD913-6DDC-41A5-93A0-FACEB052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0E55153E-68C4-471B-A33A-C82C4230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INSTRUCTOR PROJECTION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E7F359-9400-48F2-A8ED-9D951BEAB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72390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Distribution: The Missing Half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505AD1-BB59-4D02-A53E-E1B0118E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7048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Industrial Demand Generation / Live workshop projection system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56FCC9-F07E-45EC-B4AC-AB8DE4C8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DCE8E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BA83B1-42FA-4738-AE2A-0F5EA590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95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22 min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F22D34-AAB9-4F36-9B0F-B93D449C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333750"/>
            <a:ext cx="1295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F0DFD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2EA6AE-2B7D-4CC4-B2A8-408C8269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381375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A85D2A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85D2A"/>
                </a:solidFill>
                <a:latin typeface="Aptos"/>
                <a:ea typeface="Aptos"/>
                <a:cs typeface="Aptos"/>
              </a:rPr>
              <a:t>Instructor-led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FDF12E-A517-40AA-9BCC-79780216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333750"/>
            <a:ext cx="1219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E4E9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ACDB28-BF01-4A30-8B4A-F0A266B11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381375"/>
            <a:ext cx="1028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667A39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667A39"/>
                </a:solidFill>
                <a:latin typeface="Aptos"/>
                <a:ea typeface="Aptos"/>
                <a:cs typeface="Aptos"/>
              </a:rPr>
              <a:t>Artifact-first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AE9490-BCA3-46D9-8E42-7682A960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895350"/>
            <a:ext cx="333375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BDD662-45D8-4CBE-912C-90A1BC68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276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A490B7-080A-4748-AC48-C30A20539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200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8A5F27-0773-42D4-A424-C7E48A27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2724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Distribution and ecosystem plan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A925C1-B69C-4D0E-AEAD-98853D9E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47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D707D4-FE06-4091-8FB4-B41B16C8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571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WORKSHOP RULE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20F1E9-00D2-4855-A585-DFDD720A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76550"/>
            <a:ext cx="2609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Teach the operating decision, run the diagnostic, then force a usable artifact. The slide is a teaching cue, not the handout.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80603D-3F08-427D-B434-3B3DD12C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529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FB009B-2A33-4C99-BB08-ACC2749B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767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 COMMIT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AE39FF-B772-4E9F-8153-246D36E89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38150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9e28222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131DBC-7C2D-4BF2-B41E-26253AE8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7DAB86-760A-4594-8765-86E5B1F2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C3912D-5512-4058-B1ED-02703209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C3CF9D-8182-4D6E-AED8-F1BEA3FD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1/15</a:t>
            </a:r>
          </a:p>
        </p:txBody>
      </p:sp>
    </p:spTree>
    <p:extLst>
      <p:ext uri="{BB962C8B-B14F-4D97-AF65-F5344CB8AC3E}">
        <p14:creationId xmlns:p14="http://schemas.microsoft.com/office/powerpoint/2010/main" val="160027427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EC8594-177D-4566-BB70-577B6C2C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A0B603-1107-4E6C-94F7-EFF8D32F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E21315-F05C-4727-8B03-FAD15E842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94FBCF59-227F-417F-A29B-C19965276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AA9CA867-F14B-4B6D-8BE1-5E67ECE53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LESSON PROMISE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092C53-A1D6-439B-B630-534E61F4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The promise is an operating capability, not a concept label.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07B31C-84A0-4567-8FB0-5C4BAAF5C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this slide to set the standard for the artifact learners must produce.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4F9033-12DE-485A-A61A-D329E5A2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2D2A6A-09E0-4470-9071-4E663DED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4CE423-CE72-4D32-B1EA-D70D1C2F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885DF6-7391-43F3-B69F-FC3B5597A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2/15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9D7F87-8F79-4811-AC1B-30F61AAAB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619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F29FC0-090D-46B9-ACDA-D37CB201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24100"/>
            <a:ext cx="5619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Design an industrial distribution system that gets useful insight in front of the right accounts through trusted channels, not just owned publishing.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C08917-F561-49A5-8B44-45E8FBD0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76650"/>
            <a:ext cx="533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64A94D-1729-48B3-ABC0-76A33042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05250"/>
            <a:ext cx="533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A distribution and ecosystem plan with channel role, trust reason, demand state, owner, cadence, account signal, and follow-up rule.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C184DE-A94F-410E-B81B-6845D3B7E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038350"/>
            <a:ext cx="4248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60FCA9-75C0-40EB-AB3A-21C679115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003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C9CA7D-688E-4D3B-A26C-F62362F2F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24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INSTRUCTOR STANCE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293609-23A7-4716-8B71-E4022E4C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527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8F168E-31A9-4FB9-B849-24670A5B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8605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Ask for evidence before opinion.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A568A8-278B-4703-84FF-E704031F2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1527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F6CF75-426B-47F4-9D0A-8A495642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8610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 the workbook for capture.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03F9EC-E92C-4E81-A1A5-CA2B9A5BE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552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F15E02-7DF6-40EA-A316-A2607CCC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48615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Keep first drafts subordinate to human correction.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CC6459-70E8-488B-B6D0-8A52A45D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952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4660A1-1D36-40E3-80C5-48A32842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8620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Do not accept generic SaaS or lead-gen answers.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F25D1C-745B-4FF2-8524-716FB4E2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2F89F1-AEAA-467A-918F-B3DAFCB7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60C191-08B4-4591-8DFC-3A3AA7B5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371793-51EB-4E68-B813-567040E5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2/15</a:t>
            </a:r>
          </a:p>
        </p:txBody>
      </p:sp>
    </p:spTree>
    <p:extLst>
      <p:ext uri="{BB962C8B-B14F-4D97-AF65-F5344CB8AC3E}">
        <p14:creationId xmlns:p14="http://schemas.microsoft.com/office/powerpoint/2010/main" val="85682110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2C53A0-D0C6-467D-8E4B-1E09EE1B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BF0D72-51AE-4100-A82D-632654337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6BDC91-23EF-4CAA-8BBF-318DF2E6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DACF437B-EF3D-4D49-9E28-E1A3AF08E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640A476F-45D6-4607-96E1-9C9AB2FDE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WHY IT MATTERS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8350CC-AF0D-4389-8E45-6CDED7B0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Industrial GTM punishes shallow assumptions.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6A39D4-D203-4731-8DA3-4D41891A9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instructor should tie every point back to long-cycle risk, committee proof, and trusted circulation.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F79BBD-D5A9-4F67-9C8B-EB579D60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A4938F-8778-4CBF-8FFF-C65DC51D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28D601-2F9B-4717-AA8D-E6774B51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2CF88D-DC0E-4A0C-B977-539D0168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3/15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3D97F2-75A0-419C-9877-25D3935B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51435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FB4AC0-FC0C-47D0-8036-7015B506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DA3A33-EADC-4477-9082-9C90F415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INDUSTRIAL REALITY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01B2C6-4F97-4C64-A6B9-07884774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527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38ED4F-260C-48B3-A2AD-27535B0E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Publishing is not distribution.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13F25E-993E-49F3-8043-326974C1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289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9C34C3-7B63-40C1-8437-C815B229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6230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Industrial demand moves through experts, sales, associations, exhibitions, distributors, consultants,...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24BA49-71BE-4AC7-AE5C-C47FA7B6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05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37BEB8-FC40-4EE7-B0A9-55302267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Buyers trust field expertise and borrowed credibility more than generic company-page claims.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1FA07E-532B-4191-A046-B1B3ADDD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814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B0D2B3-FB6D-4B5A-9868-270B12A79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Distribution must create account evidence, not just reach.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7AD5B0-59FF-4688-9BC7-8765A368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19300"/>
            <a:ext cx="53340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D6A21C-EF43-4753-AF3C-E58881EE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812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C662C2-25CA-4470-BA2F-639E5178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050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INSTRUCTOR CORRECTION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7F71D4-5148-40F2-9F16-C71FC47D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241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EC60EF-81EB-4AD7-9A9D-90190785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527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5AD1BF-D84B-4900-A001-5247D2B1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1462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activity to account movement.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BC3C50-CDF7-453C-9BC1-C35F612B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623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BE7417-A2B6-48AA-A676-0F1ADC38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908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A4EF98-2D30-4209-AF63-AA60EF2B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5277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one persona to committee risk.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CFE35D-6CC3-4831-AB5B-B5326486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004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C5F4B1-9822-4B21-8E97-F35E35F4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290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7ED8F8-7C7B-48B9-8F12-936A6628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9092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content volume to buyer uncertainty.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668DBE-89AB-4454-BB33-4AE589F1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E2013B1-9777-4B4B-ADD6-BCB2BFAE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71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6DF62C-1982-4E1B-AA5C-6B45B383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2907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engagement scoring to signal interpretation.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F12534F-8428-4E62-9A66-D8B5B12F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767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7CDE38-C0C7-4DBF-ADC2-CD2CE68D2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053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9107A9A-AA65-4C26-B940-67DA4307D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6722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reporting to weekly operating decisions.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93C6DD8-B582-4A3B-B271-9ED6D2D3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F92229-8DC8-4833-BE03-31630507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B1B512-F227-4B33-B6F3-39C6859D7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E510A6-661E-43CD-81C3-64FF83AE9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3/15</a:t>
            </a:r>
          </a:p>
        </p:txBody>
      </p:sp>
    </p:spTree>
    <p:extLst>
      <p:ext uri="{BB962C8B-B14F-4D97-AF65-F5344CB8AC3E}">
        <p14:creationId xmlns:p14="http://schemas.microsoft.com/office/powerpoint/2010/main" val="19669041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E01A57-ADDB-4139-8A2A-7729465E3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5A0AE2-7C8B-474F-AF14-4C09343F2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9AC7D8-03E1-49D7-916F-9A7E7C1EE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ABB8ED90-BB99-4FB8-9101-5833BBA1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3449DD8C-DB60-46BD-8328-EC5BBEDD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CORE FRAMEWORK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D9F91D-FDB8-42B7-9571-E085EDAF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Choose channels by buyer trust and decision stage.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6B279B-7ED6-4417-839F-69B7877F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the diagram as the visual anchor; the visible path is the teachable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01AABF-D440-48B5-A4F2-AAC3A65B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37B5A8-79D7-47B9-939C-FB56273A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FFD54B-F2EC-4FF1-AC45-0AC63ADC9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58AF4B-66F2-4A28-BF50-79E59439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4/15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2FAA67-9704-4703-91EC-5386E347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7BE6F3-960D-45DD-95A9-B06E6EEDA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E32E87-F05B-4A9F-9F70-2CD488D0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D5DE92-C9E8-41AE-B064-8BCFC815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NATIVE OPERATING DIAGRAM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F1DD84-429E-453F-87EA-F60D7F5F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F50F83-C3E4-4B9F-9539-446AE8CF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D43053-17D8-41E4-9415-48FEE6655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B50323-C2EE-4B62-9ACD-22F5D7D1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Expert profiles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554193-2AC5-43D7-BBF6-47688A52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4325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96AEE1-6350-4E6A-A9C5-6D4C53BA2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082FA5-7313-426E-9676-5FF75E0C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29914A-3126-4F0D-940E-D6C69F624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A85D2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5D2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669265-11CA-40BA-9DDC-C0CB0C3C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Sales sharing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AF09D8-3726-4658-A939-6FD02E6C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14325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275723-4270-4D14-A300-FB31461D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E7C027-F2D5-4BD8-8EE8-939D3E299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6F9C7B-B447-4777-A0E1-9E212ADD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67A3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A39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49B6EF-E799-4F00-87D4-05B76A93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Associations and export bodies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9D1E95-2412-4EC2-9D2E-03C39021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14325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79583E1-8919-4317-9B85-A817374B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05437A-6019-4469-9C2B-972007094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EBFBE1-7844-42B3-9D24-2009450F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7953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7953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C3059A-26F8-4AB2-8E17-1840023E0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Trade shows and technical events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DA8148-7505-4821-A4F4-B6E6EEF2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7670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7747931-0CB5-4C7B-950E-53814C25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7670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9ADBBE-AC7A-42A2-8564-9B05E5F42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357899-9E9A-4809-A271-6F04107D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Distributors and partners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067D45-9BB7-42DA-BA2B-4C069275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339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9433B6E-0895-4570-90B3-3D0B903C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7670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810C8B5-F037-404B-A810-0646D4C7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7670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C44052D-DFB2-4FA5-B6E0-376B1BA0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2481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A85D2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5D2A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5200A26-ADEB-41B7-8E2B-E7AC7E58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2910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Consultants and advisors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9BF3E39-972B-461D-8F48-010B6CAF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5339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068B4CE-8D87-4095-8992-8C3CC0BC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7670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861E276-7915-4BF6-B0DB-B0E2185D4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7670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CB70342-56B9-40C4-BCDB-B6288D36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2481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67A3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A39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DABA7CF-54DC-4903-A169-1DEF6855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2910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Industry publications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FFB372F-71D0-4C7A-90C2-BF2DF19B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72150"/>
            <a:ext cx="11430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D7528F8-3564-41BD-8A71-AFFD14AC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76925"/>
            <a:ext cx="1104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6E3E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D6E3E5"/>
                </a:solidFill>
                <a:latin typeface="Aptos"/>
                <a:ea typeface="Aptos"/>
                <a:cs typeface="Aptos"/>
              </a:rPr>
              <a:t>Flowchart companion: assets/flowcharts/07-distribution-ecosystem.svg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C723618-021C-48EE-843E-A2F6213E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AF1EDE3-BD5D-4D88-8E08-4B1F78E4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CBD01DF-53A3-4BA5-AF29-A4F96457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2485D26-9711-47B6-84A1-3A8E8962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4/15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8C6FD6F-79FE-4C94-9E9C-66E8F603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695ED39-5677-4DD3-9FC9-526DA485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EEB55EE-AB18-4CD5-9CF6-28D1EEE2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9EEFB00A-28E3-47FD-88F1-C22889ED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4BFA9694-0292-4553-84E1-28F2205A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CORE FRAMEWORK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F4C0F53-CC3C-4800-8133-2D446DB2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Choose channels by buyer trust and decision stage.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C2BF7A3-52C8-4461-ACD7-B6D68B1A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the diagram as the visual anchor; the visible path is the teachable sequence.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0083727-258E-42A2-8754-7CEB64FF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EDC4585-6261-4A31-8ED5-CF5EFD68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13DB0C3-9425-46FD-891D-B793903C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F7431AD-45C9-4817-A9D9-7844BF97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4452FF4-3FFA-4B80-AAA4-9CF113A1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5A59B65-AB04-48AC-8920-41AB6355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8E3E981-2CDF-4381-B45C-9D2D1D2B5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4/15</a:t>
            </a:r>
          </a:p>
        </p:txBody>
      </p:sp>
    </p:spTree>
    <p:extLst>
      <p:ext uri="{BB962C8B-B14F-4D97-AF65-F5344CB8AC3E}">
        <p14:creationId xmlns:p14="http://schemas.microsoft.com/office/powerpoint/2010/main" val="181276987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C4BEB2-E92A-4C20-B9C3-9ED4BB05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F7829C-4B88-407D-B933-E6F0B347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0A4B00-D94E-4A8A-8802-2F3EA88C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02DEA39B-F00B-4656-98EB-4EC65628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0BC90273-0F97-4EE2-95A6-C1069F10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MENTAL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A45B5-3F9F-4841-A1EF-9BFB90E17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Dark social needs a capture rule.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3E66FD-F175-4E61-A662-79FC6331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Keep this slide conversational: make learners say what would change in their current system.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EE4849-D25C-4FA9-925C-6C0E9D3A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B428F8-4776-4B58-888B-92CF49DD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113C30-5465-4D9A-A525-16428CEF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E23D09-3DA3-462B-8EDE-E44991BF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5/15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35C483-75EB-4B4F-94F9-9361C1EE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D9B388-379D-496D-9577-80171E3A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13B898-BB5B-404E-8318-5B35A322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072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D6072"/>
                </a:solidFill>
                <a:latin typeface="Aptos Display"/>
                <a:ea typeface="Aptos Display"/>
                <a:cs typeface="Aptos Display"/>
              </a:rPr>
              <a:t>Trusted channel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25A853-1411-4EA6-9159-F339B36EA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 buyer, partner, consultant, or sales person mentions an account, role, problem, timing, or referral.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E8C5BC-ED65-4EC4-B90C-6320D6B18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52D454-7591-4205-B09F-B4BDD9FF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FC30FB-F747-4B00-A2CB-D02D753B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9963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85D2A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A85D2A"/>
                </a:solidFill>
                <a:latin typeface="Aptos Display"/>
                <a:ea typeface="Aptos Display"/>
                <a:cs typeface="Aptos Display"/>
              </a:rPr>
              <a:t>Capture rule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F61DD6-4975-477D-9AFB-6F0EC12A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9963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Log source, role, demand state, strength, owner, and next action.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B0FCFE-EFFB-445B-B4CB-232A3940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66A64A-CF06-4683-902C-392D20C8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6D9EA0-4BE2-40FF-99A6-BE2559C7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7A3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67A39"/>
                </a:solidFill>
                <a:latin typeface="Aptos Display"/>
                <a:ea typeface="Aptos Display"/>
                <a:cs typeface="Aptos Display"/>
              </a:rPr>
              <a:t>Operating risk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4DFEE1-2676-4068-ACFD-76A80F54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If it stays in chat, memory, or event notes, the system undercounts real demand.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11472E-9822-4F66-978F-F3CDC06F2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538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703750-72D4-4419-B4CB-A2A0D641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538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DE22DA-FE2D-40A4-AE0C-5D9BAB3B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7953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7953B"/>
                </a:solidFill>
                <a:latin typeface="Aptos Display"/>
                <a:ea typeface="Aptos Display"/>
                <a:cs typeface="Aptos Display"/>
              </a:rPr>
              <a:t>Cadence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A56EB1-0EE4-446A-97FC-965F3C8C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Review distribution evidence in the weekly account movement meeting.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811D52-0575-4DC2-B410-F53EC66B6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53050"/>
            <a:ext cx="2647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1AF01F-CFBB-47C7-8946-8FF56B9D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505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3C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3C8"/>
                </a:solidFill>
                <a:latin typeface="Aptos"/>
                <a:ea typeface="Aptos"/>
                <a:cs typeface="Aptos"/>
              </a:rPr>
              <a:t>INSTRUCTOR CUE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6B2CAE-3FF6-4740-9156-F03101B2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6769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Ask: which box is weakest in your current category?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013E6C-2D63-4BC2-9AA7-1A696A62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2D6969-43C9-41ED-A5D7-57E26A5B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8FD56B-5F14-4630-8118-9B8501F0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5A5CDA-2F21-4694-B2A6-A4F24643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5/15</a:t>
            </a:r>
          </a:p>
        </p:txBody>
      </p:sp>
    </p:spTree>
    <p:extLst>
      <p:ext uri="{BB962C8B-B14F-4D97-AF65-F5344CB8AC3E}">
        <p14:creationId xmlns:p14="http://schemas.microsoft.com/office/powerpoint/2010/main" val="141947167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9C1B1F-196F-47FC-AD07-BE3A7D51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3FE4E6-54F7-4E22-9A54-D9387A4B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F07BF9-320D-43C0-81E3-3BFA8895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A61FEDCC-8ED1-4D82-8502-697CF077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33BBE40D-9E00-4E44-839C-8BBBBA0B1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COMPOSITE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D73770-0576-4457-B3EE-68575868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Composite specialty process equipment supplier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E592E7-E70D-440A-BE6C-DCB9DE29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as an anonymized industrial pattern, not a named-company case study.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B0EEAB-F047-4FA2-9702-940F02515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CBA5D2-5950-4A35-B9D0-5BFC175A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148CC5-A58F-4AA4-9BA5-68A8FAB1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97A4AC-7D8F-41C6-9215-A663D860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6/15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272C1D-0562-4096-9315-02FB6053D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BC3447-EAD4-465F-9C66-0A684989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1C1989-463C-47DF-B32B-1ED722F6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84B259-25D7-4587-841B-94C1712BE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PATTERN AND REPAIR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EF4CC0-1364-44F5-A508-4A942AA8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0048E5-D082-403E-8BBE-41BBC9F8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Useful technical notes about repeatability and coating selection sit on the company blog.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CF85FE-F087-476C-8148-86E93587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5ED4FD-307A-424A-B0A1-09DD71DA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Buyers rarely see them before calling for price.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18621B-A594-4243-AD01-BF2D1C6B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E39ED4-CD3D-4328-88B7-4412969A1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The repair uses SME profile posts, sales sharing, association education, distributor proof notes, and retargeting of proven...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1C5791-0332-4E16-B8A7-F8F113B0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C1B6CE-8BA4-4A16-B465-864C1F19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The plan creates visibility, trust, and signals instead of simply publishing more.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310DC3-AD02-43A3-BE66-D643DDAF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8DB278-3E07-4EAB-8049-EE770FA81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B3FF56-90FE-4205-BF6C-60451C4CB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7A7654-D82A-4069-850B-27BCBE8F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6/15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4085E5-8EE7-40BC-A64F-E23BAAFEC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5D2ADA-ACD0-46AA-9B47-A19124A3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A93F4C-FB20-4F11-96DF-8E219418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71757B99-A480-4309-A37E-4AEAC057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3D117353-A4A6-4BCA-B784-756CFF2A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COMPOSITE EXAMPLE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5F452A-124B-41DF-B0F5-D1659C0B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Composite specialty process equipment supplier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91D34B-DC46-44C2-8684-8F1BBFEF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as an anonymized industrial pattern, not a named-company case study.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FD7728-A5AB-4169-823A-194DBACA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91AB1D-C680-44C3-9052-91124F76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EC6020-6268-441F-85A4-21531DC6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5E4FB14-675E-4AE2-81BA-9AA29A4B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2527B43-1356-4C6C-B213-3628B4067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05F8CC1-5A04-4390-852F-114794B54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E0060BB-1CDE-40EE-988F-E394FE41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6/15</a:t>
            </a:r>
          </a:p>
        </p:txBody>
      </p:sp>
    </p:spTree>
    <p:extLst>
      <p:ext uri="{BB962C8B-B14F-4D97-AF65-F5344CB8AC3E}">
        <p14:creationId xmlns:p14="http://schemas.microsoft.com/office/powerpoint/2010/main" val="140126510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A10E92-4560-4622-9741-FC825BF9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4DE4F7-9C91-455F-96CA-53684794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6F9580-F1AF-4730-A576-8689FB88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5ABC6692-5CBC-42A8-A734-4159C32FB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663FCBEF-FF87-44F5-863B-1B909EC5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DIAGNOSTIC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791614-B870-4B08-BB03-125714B5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Run the room on one hard operating question.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C519C1-053D-4537-B7D7-4243B551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This slide is the short live diagnostic before the exercise.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645E63-D197-40E8-BB4B-E3F8323A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D570EF-674B-4D32-8DB1-BB754BC8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08FEC3-83D6-4311-83AD-009E5EB6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6E6622-7A8C-46B1-B413-A7D9CEAA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7/15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7BF45C-EC64-4160-B4A9-068B5A76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62150"/>
            <a:ext cx="109156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FA57FA-3CDE-4FF9-AD28-A1A32DC1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0058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Where does the content need to circulate for the buyer to trust it and for the account team to detect movement?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ED1511-C374-489D-955F-B65D5456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67D233-39B2-459C-BCB5-DFB87458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QUESTION STACK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C4C238-14A1-4146-89FE-BBF393250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052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19F0AC-5858-435A-AE45-83D43919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386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Which channels already have buyer trust?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14F8BC-5768-4EEE-9587-2B2343EA1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00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C67DE5-89C7-4032-B4BA-C4F9BC06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339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Which channels can reach the committee?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B20835-69BF-45B7-8B8A-9913FD85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965F6A-1F8D-4C5D-B8BF-D64B6ABB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292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Which channels create observable account signals?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17BA65-2F3C-4478-B52D-BFAEEFFB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052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F9F012-B553-4195-B0BD-82F53BE3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386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Where is sales already in conversation?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E6037F-455E-41F6-B14D-4972389D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00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ABA9E5-35CD-4112-83D4-23C8D0CE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339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Where do distributors or consultants influence decisions?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DA954B-0CE5-4AB2-ADA9-2CA7A2E1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95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0EFD33-0A9F-4AC1-98D2-3E4B4DCB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0292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should be captured after distribution?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897EB6-1A0F-41FF-A6C2-776DAEBA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C005E5-F0E1-432D-AC9A-BECA3B3AE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B24315-2289-4541-A817-C01D665C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60F7B1-2ADE-469B-A536-50F0AEDD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7/15</a:t>
            </a:r>
          </a:p>
        </p:txBody>
      </p:sp>
    </p:spTree>
    <p:extLst>
      <p:ext uri="{BB962C8B-B14F-4D97-AF65-F5344CB8AC3E}">
        <p14:creationId xmlns:p14="http://schemas.microsoft.com/office/powerpoint/2010/main" val="7851725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D1EA0F-13C6-481C-B1EB-CA7F83AD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B85793-1E7B-4E6B-B29D-BEFD227A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4E89AE-0BD5-4A1B-9A37-CEEC4E97E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2CB3ABDC-D8E7-4106-8198-2470BB3C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BEB492C6-4A0F-445A-A4F2-7AE5C806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EXERCISE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27DF1B-56BC-4BC0-89E5-1868346F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Distribution and ecosystem plan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E18704-492D-48AA-B7C1-234FDCDF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exercise produces a working artifact, not class discussion notes.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D92ED4-C67D-428C-A51A-BC9AEC148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1F8B66-0F86-489B-BC8E-F3AC29BA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1DFACA-C430-4A77-A6D1-727F2040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D0C5B8-FDD4-441A-BB9A-A75F7AA8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8/15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629DC5-87E9-47F5-877C-06895DD6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31432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17B7A5-1418-4A00-8E69-849D84F9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6082DD-9F2E-4CFC-A0B5-22CB5BDA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43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TIMEBOX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7977EB-9F56-4F0C-8F54-435D4E41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2266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8 min channel plan, 4 min ecosystem map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8CDBE8-9C4A-485A-890A-A54EC94E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B2D668-3538-4084-BCDB-7B64AE37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576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2C87D0-F73B-4A36-BA35-23E677FE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Distribution and ecosystem plan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FC9B8B-FCF2-4454-BDE7-6827AACE9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38350"/>
            <a:ext cx="73342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AC1823-09F2-4290-93D9-7990F475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19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3C338E-0538-4ED4-8786-949F8B45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43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LEARNER ACTIONS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6F69B7-9E7B-4563-9FB6-45171676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813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667A3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3733E7-58B3-4D59-B9CA-C6520A729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098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EC577A-C1B6-45D8-821B-1F1B06006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771775"/>
            <a:ext cx="569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Select at least five channels for the first-five assets.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CF52A7-21A1-46B4-B37A-5CE078B3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290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667A3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E1AD24-3705-4C36-9316-B7601344D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758E34-357D-4C7A-A5A4-3CC38D17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419475"/>
            <a:ext cx="569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For each, define trust reason, demand state, owner, cadence, account signal, and follow-up rule.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E0E052-4AFF-4805-8E4F-59499B91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767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667A3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225BA3-284D-4AD2-AFF7-593E4551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052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2AB61D-7A0F-485F-A152-EADDA0D0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067175"/>
            <a:ext cx="569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Map ecosystem nodes: associations, events, distributors, consultants, media, technical communities,...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204112-8CC9-4F99-89AA-AE4FF9A3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A4B671-1BB9-4BAA-B0DC-C6A74667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B8A17E-9814-4197-9F05-F583BFE96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D23BF2-3CCA-48D3-857F-DB3C22C3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8/15</a:t>
            </a:r>
          </a:p>
        </p:txBody>
      </p:sp>
    </p:spTree>
    <p:extLst>
      <p:ext uri="{BB962C8B-B14F-4D97-AF65-F5344CB8AC3E}">
        <p14:creationId xmlns:p14="http://schemas.microsoft.com/office/powerpoint/2010/main" val="178869439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D4E70A-245F-436A-BC1E-2E8D1BE24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3E427F-8213-451D-B684-DFC93B94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45318-8E39-4C35-9D7D-598C154A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52559E07-7E8D-45DB-B86E-C264E5CC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E8EBFC81-0D41-4863-BE24-0E29BEDB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GROUP CRITIQUE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CFDC74-7913-4DE1-AC4C-864DD010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Critique the operating decision, not the writing style.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957F53-D1B2-477B-A5F0-7250762F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Peers should find one false assumption, missing proof need, or unclear owner.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B81C77-C37C-43B7-8D65-CDDAEE46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6EF1CB-7F94-47D3-9FF0-243E9320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04EA0E-45AD-471D-BFB0-FE7AA44F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88301D-2896-4A3A-9D89-48671354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9/15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296F14-AED9-4722-840F-8157F5DB5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600B1B-E6F3-4A87-82A3-09FD8CE5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D42364-5746-467B-AD0D-4FED6F87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FC5400-E69E-4F52-A1C7-265FF7EE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TEST THE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F51469-CB60-4C6B-AE28-F39DA447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1D607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0747FF-A036-45EC-86EB-15A2F144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17E456-5303-4C34-B8DD-16B59182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3842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Does the plan rely too heavily on owned publishing?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BB7DAE-EB40-445F-8F91-FE80919A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1D607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7CE0E8-E021-4CDD-997E-B9DED2F2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FFA9E2-346D-4F0B-ABDE-92EF78A9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2897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Are expert profiles used where trust matters?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A66A25-850A-4F7A-8DF4-7A811C45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1D607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BD6729-798B-4714-AD99-D2970E46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CE35C2-1D22-4543-A144-ECB8BEE4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1952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Is sales distributing insight, not just asking for meetings?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EE1DCD-5BE2-4297-B862-F691FF14A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58391F-BADD-43BA-823A-739D8CE4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FORCE THE REPAIR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ADD1F7-3662-4D7C-9847-19ABD678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C2DF64-672F-4C2A-AAD4-560B9B82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765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AFB469-1A4E-43DB-8EB7-855359B9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3842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Are events designed before, during, and after the show?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3D3BF5-28EE-48BF-B79C-58EAC67EC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385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4C1985-06DC-4C4B-8D5A-A7D23B9E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670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E677A9-5920-4831-8AF2-B0130455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2897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Are partners given proof and routing rules?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4F07196-997A-4673-9D89-2C87B805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290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6E4675-A49A-421C-8865-C5F23E07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576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46FA77-789B-4209-BC45-E9DC2BCD5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81952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Does every channel create observable account evidence?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808680-08A0-4954-90E2-03D4E85F1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135583-F978-4A95-8B62-FB9C3EFE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6DE91F4-2557-440F-BA93-4B5EC8D8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6D21EA4-5BBE-4812-9B5E-351054413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9/15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968C20-987C-4880-B7FE-F4173CBD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2E5C9DE-298D-4967-9BD3-469F1C29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CDBF57B-D37B-4129-B7DA-0EC45CD5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540D745A-691E-4405-A291-CC0F3DA8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3859A2A1-214E-4D6D-8F9E-FF5473D99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GROUP CRITIQUE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27C8B9-8B15-44F5-922A-054E53976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Critique the operating decision, not the writing style.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20B0D91-B0CB-4625-867D-E84389305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Peers should find one false assumption, missing proof need, or unclear owner.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E72D9FE-33F4-4022-8D61-7300F568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3A5EA5-7D26-4109-ADD2-C3EF27FC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0D4E224-E299-4A15-BF6A-D11B1F05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A84AE37-D0FB-467E-B691-F1AC29B0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2897DD4-9997-4161-BCAD-287DAA81B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9D46DDB-3885-40CF-9B06-EFCEA946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0A81D71-83CA-4B4D-A565-95B97D3C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9/15</a:t>
            </a:r>
          </a:p>
        </p:txBody>
      </p:sp>
    </p:spTree>
    <p:extLst>
      <p:ext uri="{BB962C8B-B14F-4D97-AF65-F5344CB8AC3E}">
        <p14:creationId xmlns:p14="http://schemas.microsoft.com/office/powerpoint/2010/main" val="165395407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359053-B88A-4952-B2F8-7BC4E0D1E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60D42E-7F02-4E33-B134-13DB7DD20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3D2DE2-9FFA-4F8E-9FA4-BE5FB3863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B6EABB4F-CDE0-40F4-9F67-38A1FA38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35016F8C-3430-458D-ABA0-C93D7549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STRUCTURED DRAFTING DRILL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2F282F-EE30-4549-B00A-86B1455A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Structure the first draft before the room critiques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CB3000-15A6-473C-BE82-D1DC3A175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brief is constrained by source evidence, assumptions, output standard, and validation.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2428C8-3ACF-48D8-8113-D075F161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4FE043-F0C7-4414-8A97-4D425D38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AD17BF-A2D5-4611-AF04-7541BECE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BB982F-3835-471A-A856-938160D7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10/15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E6409E-F277-461D-91B5-6D7E358A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09750"/>
            <a:ext cx="121920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9525">
            <a:solidFill>
              <a:srgbClr val="F5F6F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F495B6-D9FF-4F6A-A674-66EB34E4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56197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A94A41-076B-4F1C-9CF7-3DFC7648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C69320-8E4E-4E6C-B2B0-A487B153C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43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DRAFTING BRIEF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E1B651-9F43-4E03-80B7-F9B37CB3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62250"/>
            <a:ext cx="46101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Draft a channel mix for the selected ICP and first-five assets. Tie every channel to buyer trust, demand state, owner, realistic cadence, account-level signal, routing implication, and failure risk. Do not recommend more channels than the team can operate.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4BF296-C126-4AA9-8D64-0DBEF7F9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38350"/>
            <a:ext cx="49339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73E95D-F345-48A6-BC59-01AD860D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19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EB162A-4594-430A-8CCC-3471D89A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43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REQUIRED OUTPUT STANDARD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67A5E6-9EDA-4373-9971-49DE5D34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479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9A5441-671B-4BCB-934B-49DC8C25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781300"/>
            <a:ext cx="3619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Channel tied to buyer trust and demand state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E590D2-B78B-4E02-90B8-DADBD55A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24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329C46-2310-4C26-A02D-BCB3BCE6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257550"/>
            <a:ext cx="3619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Owner named: sales, marketing, SME, distributor, partner, or leadership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D0CA3E-EA5F-48E9-9E6F-D95E7631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004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7F62BD-63B7-49C8-89FB-EAE9B098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733800"/>
            <a:ext cx="3619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Realistic cadence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D89543-1904-4BF6-8094-7148884A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2767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3D3363-B285-4B85-972A-2EC62F5C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210050"/>
            <a:ext cx="3619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Account-level signal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0003E3-00E8-41DD-8E18-3A10F57E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7529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FE541C-689D-4E5F-AD58-32D9A844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686300"/>
            <a:ext cx="3619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Routing implication and risk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207F3F-69A8-45A3-BBB5-43008A7FA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BBB86E-8CB6-4FE1-BF7A-89647439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4E20D0-9E6D-4D8B-A614-3862BD27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949B09-0178-4F0E-B510-98E46C02F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10/15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545E31-B2A8-419A-96D4-468BB8E7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1FC524C-1967-439B-8DA2-56AF52AFC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255577-46FB-4699-A728-81F3C805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844EBAC0-F62C-4772-8195-53A27FC6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5C275049-27F1-4439-990B-958692D4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STRUCTURED DRAFTING DRILL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DD0F24E-40E7-4421-9C0C-26D2AEA7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Structure the first draft before the room critiques it.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938E1AD-ADEC-498E-AF5B-3A4C8EE6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brief is constrained by source evidence, assumptions, output standard, and validation.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C9EDA3-90D1-4C0D-BAE2-122D0EDE5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26FCF65-381C-4DD1-9CA8-1577AA5B2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8E423AB-FD6F-4DD4-8673-63D1EF14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036F4B-CD48-4377-97FB-65D4A5D7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0717439-7279-459E-933B-C7A9A13C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509114A-7ED6-4E63-B811-7981C48A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69B51A7-0A05-4C7F-9E84-2A6F4F6E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10/15</a:t>
            </a:r>
          </a:p>
        </p:txBody>
      </p:sp>
    </p:spTree>
    <p:extLst>
      <p:ext uri="{BB962C8B-B14F-4D97-AF65-F5344CB8AC3E}">
        <p14:creationId xmlns:p14="http://schemas.microsoft.com/office/powerpoint/2010/main" val="64057993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038DB8-837A-4105-9F07-7AF0DD97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AF7684-9B26-4C99-B31A-F30BFB4E3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312B86-FC83-4D0E-8032-46931CB1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A03AC234-2038-468C-96FD-EBD82FEA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BD14134A-B8BC-48CC-8F9C-26E472A0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QUALITY CONTROL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A63D22-7BAC-4931-89CA-AE45B416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Reject weak artifacts before they become operating practice.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9BD794-9246-445D-A110-B997269C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This slide gives the instructor a rejection standard.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F69620-8DCC-4D66-96F2-8CBF153B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8E5009-637D-4465-8CA9-CDA18F01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2A1121-6CF5-4CCC-9F8A-96E532A7D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713EFC-5224-4579-9F27-17B447560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11/15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450E95-AE78-4132-8FDD-27C766E4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D30DD4-830C-4F55-94B8-D016E0B4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767715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0AF33B-3432-4F69-BE3F-8B5FA58C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16AB31-ABE1-4A22-9A7C-966A2C38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REJECT OR REPAIR WHEN THE ARTIFACT...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EAFA0-CFA2-402E-98C6-0F9B0F79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8303F4-F6DA-4F1D-944C-E91DEEA35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Repair channel lists that are too large to operate.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EBE38A-3EF0-4F1F-8649-377FD3739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06CA5D-B105-4F6B-A209-D9724BAAA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paid ads as a substitute for trust.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D2E10D-D9B5-4E0C-B472-574BA6A70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024985-06FA-437F-B97C-5FEE941C2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623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plans that ignore sales and partner distribution.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532E9-D87A-47BB-97C6-3C0AB735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A599DF-BB8D-4B58-B036-B378630C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event plans without 72-hour routing.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0D24F3-5E22-41DB-8510-F618F8B0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5A1166-594A-40B0-829F-66FA0F5C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company-page posting as the main motion.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562860-8A52-47A4-A5D3-BDEF887A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C3FDFE-5569-45FB-9AE7-82DC3990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distribution with no owner or cadence.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B297C9-8C5A-463E-8B5D-AB986913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09750"/>
            <a:ext cx="428625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86CF9F-11B7-4E6A-91CF-6FCE1CF4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31F3A8-A10C-45B2-B9D4-69CE5D9F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QUALITY CONTROL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2F0914-619C-4B01-9073-ADCD8B39C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479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The correction standard is not nicer wording. It is better industrial judgment: category specificity, proof, owner, field, SLA, cadence, and disqualification where needed.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4C9EC8-CD38-48FB-8E1C-DF29BF5C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53050"/>
            <a:ext cx="2647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0A01AD-FF34-4F44-BF6C-895FE46F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505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3C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3C8"/>
                </a:solidFill>
                <a:latin typeface="Aptos"/>
                <a:ea typeface="Aptos"/>
                <a:cs typeface="Aptos"/>
              </a:rPr>
              <a:t>INSTRUCTOR CUE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89033C-747A-4099-82A9-9165BE62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6769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Ask what the artifact assumes.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CDA7CC-9745-48D0-9F7B-B20DBB20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52F6BD-8507-48A1-806B-038350729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235A7E3-B882-49F2-B2A7-DE3CC5F84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1CF5CB-7269-45C6-860F-28126EB2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11/15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94DBC5-4C36-4674-9849-5A371809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57E249-DE3B-4EE1-9EA0-5BA64EA0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C5D9A7D-5F46-4BE9-9DD9-2B16C9B4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C6D74918-740D-42F5-BE7F-4BA0CB03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7D9331FA-707F-4D1C-BDF4-C55B02D7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QUALITY CONTROL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7160903-4504-400B-B049-A310BD794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Reject weak artifacts before they become operating practice.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FA1A15C-3F79-4382-9B72-FAED6C79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This slide gives the instructor a rejection standard.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5010D8-6732-46D9-A530-C9E747D26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0800D0D-E6F4-448C-86E3-653A267A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1341EDB-B77D-428A-A159-09C746ED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6B23CA8-09EB-482D-9FB3-08AE7F27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DC71BDA-426A-4528-A404-70A353CB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87D096E-4280-4EA5-9217-6D8F2976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A121B06-8E25-4295-A3F7-59AB9F8A1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11/15</a:t>
            </a:r>
          </a:p>
        </p:txBody>
      </p:sp>
    </p:spTree>
    <p:extLst>
      <p:ext uri="{BB962C8B-B14F-4D97-AF65-F5344CB8AC3E}">
        <p14:creationId xmlns:p14="http://schemas.microsoft.com/office/powerpoint/2010/main" val="151044716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9B4858-2143-4999-A482-A385937B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4648EE-059D-4446-A958-248F30B6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4ACC9A-F4DE-4E29-BDB9-334F736B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0D71C5C6-5742-40A2-A64C-7B93B3BBD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5FF3C6BE-1AA7-491A-A835-52611CEDD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REVOPS TRANSLATION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CB7A0A-08A1-4749-9119-916DCC0F2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Distribution creates source evidence.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BF2D4E-BC8E-4126-B133-F983067F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Every artifact must become inspectable in a field, board, owner model, or cadence.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17531-C3AE-42F1-8E59-46A9180D6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75184A-9B7B-460C-8594-A3A96116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3B8432-41CD-4E50-BDB1-A31AC20A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8DA69B-4B6D-481B-8EA3-F4F26ACD9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12/15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EF1EF8-BAFB-4F88-9DAC-1D0C1726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09B82E-9174-4A2E-87CA-5A7C9A34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65108C-C1BE-413F-AE07-78DB0AC54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Distribution channel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BA1907-4A32-42A5-978D-C2538991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669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B1210D-D90A-44E1-BCCC-05B3DFC12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669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A5C767-5881-4D4D-ACC4-AD2F5F3BB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384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Asset circulated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9AB397-CE90-4C77-969C-FC5392B80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669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DD213B-8815-4745-A993-5EC2CA1E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669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61CF4B-EFFA-4BDB-A044-84461C3DF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384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Account or cluster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2828EA-9147-4804-872B-AD95933C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A2754F-C3D8-421C-97A9-246EF70F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482600-60D0-4E3D-8AFF-C8A9ECC8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Buying role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35F965-17A4-45FB-83C9-82DE66B2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623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D8CD0B-F8A5-4435-AE08-CDFCBF7F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623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6A8B01-6985-4A5E-8CA0-8474C9FF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3375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Demand state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CE502C-87ED-43A5-BA4B-6674913E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623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ED8FE8-2025-4512-B7AD-57CCA010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623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9A6705-0FB5-49D8-9FDB-ADC44A88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33375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Signal strength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538F36-83F1-450F-8C83-BA44EF29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BDE2A3-BB18-425B-963B-D4B9DA5B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33CE18-503F-493D-A90D-C50FD6C8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Source type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645A6F-01E1-4D7A-BC0A-F70919F89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576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937E00-9DB7-4ACF-9412-3B7A3D93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576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2C16CAD-D23A-44D5-8E97-3817722EF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291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Follow-up rule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BBF87E-1E93-4A96-85D0-D86233F7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53050"/>
            <a:ext cx="2647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B7465C-F94D-440D-A21F-533E28694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505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3C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3C8"/>
                </a:solidFill>
                <a:latin typeface="Aptos"/>
                <a:ea typeface="Aptos"/>
                <a:cs typeface="Aptos"/>
              </a:rPr>
              <a:t>INSTRUCTOR CUE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848BAE-E9AB-4CD5-9E42-759F4DA9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6769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If it cannot be tracked, it is not operational yet.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205F9DF-A0BD-49F5-AD67-FB289F7E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A68BDE2-10C4-4A84-998F-FE59AD385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E7630BB-967E-4E42-B4A8-0BB79450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C654D4C-3ACC-4B6B-B19C-2A3AA6CEC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12/15</a:t>
            </a:r>
          </a:p>
        </p:txBody>
      </p:sp>
    </p:spTree>
    <p:extLst>
      <p:ext uri="{BB962C8B-B14F-4D97-AF65-F5344CB8AC3E}">
        <p14:creationId xmlns:p14="http://schemas.microsoft.com/office/powerpoint/2010/main" val="57856146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98A9CF-3D8B-40F1-913C-9ABE2FAC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88C2F3-8FC5-4460-B61A-DD2F2126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445CE-DAD5-41AC-9324-81A7E31D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D0D01220-EAF1-40C3-AAFA-B18821CC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FF4A88E2-2A43-451D-B8A2-BC249EB1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FAILURE MODES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74AD5D-5921-45BE-B738-758D4CEB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Name the anti-pattern before it becomes field behavior.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CE533-C5DF-44B9-95C7-98E35EB7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this slide to make weak work easier to reject in the moment.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276E56-55BC-4382-B1F5-1A7CC18A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CEB5F7-FC7C-4DAA-8906-F37C4D16C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39B4A5-1F55-4558-B806-2B652C01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B24A2A-CAF1-4F17-A297-53884A40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13/15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54B5D6-DC4E-4EAA-A76E-7DEC5EAB8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1A0B2E-CE95-4611-A11F-55F4BB9FE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232BDB-386E-4EBE-93DB-3BA89E7E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91F6B-AABD-4A28-82E1-BDA43015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9240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Failure mode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26970F-5827-4402-A6BF-709A16ACC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924050"/>
            <a:ext cx="2762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it looks like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0AFD5E-4739-481C-A4AB-34C852D4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24050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Correction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AAB266-A177-4DE4-A1EF-67A3AA45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2098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2F16F3-F015-4F9D-ABAD-B6DC815F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3812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Publishing-only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96D4FA-B47A-4524-B5C9-C07CF3E3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812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Content exists but buyers never see 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60F0BA-6715-4E4E-A95E-19D98DC1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812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Build channel plan and owner model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958B2D-4B67-412C-A5C4-E561F603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933700"/>
            <a:ext cx="11963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E0CC7B-67BF-4837-B54A-89EF7324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9337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E698CC-588A-4F52-A460-A2EACBB07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105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Company-page dependency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D583A3-0E36-4DAF-97DD-717787D66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051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Low reach and low trust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52B324-1C29-4C4F-A13E-8F3CA240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051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insight through experts and sales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AEC555-BFB4-4B8D-943D-BA4F2F5A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36576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C3D264-DD55-47AF-8B64-C4BBE4C3D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290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Event leakage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2C3FB1-E95D-4E58-869A-C100ABFFA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290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Meetings happen but signals are not routed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E923EB-2D15-4268-9D67-B745499A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8290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Create event signal board and 72-hour routing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22D804-59CD-4F54-8860-CB2EB6AE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4381500"/>
            <a:ext cx="11963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31B068-DA4A-47FE-B951-5BF04D74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43815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EF6F72-8623-4C6B-863A-1ACD99BD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529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Partner noise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A9EDC4-8D64-41B7-B689-0F6CFF8D3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5529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Distributors send weak leads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58E438B-97E6-4F01-92D5-2C65FE61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Train ICP, proof, and routing rules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677302-4378-4EEC-801E-AE552A1E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1C46706-6CB3-427D-857D-FD7EFC14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1329BB4-9C8B-4363-B7E3-9E275264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9941B4-69C6-4434-95F4-1E681ACB1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13/15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7D3C9FB-930A-4C37-ABE2-6AB2F1D9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984C0E0-0180-492B-B758-A3BD3B4D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837A3C7-5FCC-42B9-99A4-95F50ECD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4ECEEF8B-59A4-4C22-BB6C-6485E854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3957D0A0-9A14-4611-A22A-0947E9BC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FAILURE MODES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5FF6AD6-4BA4-4A6A-A26D-9FAF6DC3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Name the anti-pattern before it becomes field behavior.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F63386-98CB-4F5A-885A-FAC5BEAF0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this slide to make weak work easier to reject in the moment.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C2A22ED-B945-427E-87EC-C59586C0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0013A2-8E79-4501-8CD0-5545C160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86634A5-4888-4616-B2F9-E32FE89B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10AD536-7FCB-4B45-97A8-C7A0A30A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A4E93AA-784C-4A39-AEFE-D6418BAB5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C42642F-FAB9-4385-AEE7-E9E88FEC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ABBA026-352A-45C1-9C2F-30079A25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13/15</a:t>
            </a:r>
          </a:p>
        </p:txBody>
      </p:sp>
    </p:spTree>
    <p:extLst>
      <p:ext uri="{BB962C8B-B14F-4D97-AF65-F5344CB8AC3E}">
        <p14:creationId xmlns:p14="http://schemas.microsoft.com/office/powerpoint/2010/main" val="29493038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0C1EC6-A81D-46FB-9BB1-6A6B546DE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90B8A6-B45C-45E6-BD05-5E8887D5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3A0B5F-24F0-4CD6-84A0-1B5583E4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B509D230-3825-4F10-BE1D-DD61DD6F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50E195D5-DCC1-4D46-B167-3C2093FB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FINAL ARTIFACT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8EACFC-805C-4228-9AC9-AD4FEB0F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What learners must leave this lesson able to submit.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F7AE4A-A35F-4550-BC33-03FE1375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Treat this as the exit gate before transitioning.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93AB3B-A207-42A9-9B7C-3B83E350C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99C1AD-1DB6-4880-B465-4EE59634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F9431B-2DE1-4CE4-A8B8-A3F2416CE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0FB4C5-4344-4464-BAE7-1FDAE593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14/15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70381F-3C6A-4023-BD82-4A8299D2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938E0B-749A-4447-B7F9-F4BE3D84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68199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A1B753-9EBD-4450-AD15-AED59B57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4C1DBA-30EF-4677-A7B4-D5E594D8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ARTIFACT CHECKLIST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305B05-27E3-4965-88C6-1DC1D918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F9802B-A237-4EAA-9380-225847EA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At least five channels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071C15-4D2E-4A49-AC07-DF4E39AE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B9A655-F014-4559-AEF8-B7A22E3B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Trust reason for each channel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6EF0BA-6CD4-4A33-9F54-A450F9AA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4484EB-A881-4244-9728-D90113D7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623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Demand state served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E50D3A-4B7C-4C60-962B-0F2D7A6A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D95064-73CC-4A9F-9DE6-582E1D3F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Owner and cadence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85CCB8-1936-4B0D-BE34-4A10CDB7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4813ED-BDF7-43D6-9D49-57AAB824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479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Account-level signal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AE5831-5E39-43A3-BA1B-2E85DEA6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71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7BD300-1BA2-48CA-BFBD-247EA714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1051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Follow-up rule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11E0CB-0E1B-4319-8748-C6399B59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B2CF20-58C1-4F2B-9DFF-CD451ADB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5623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One ecosystem map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4CFF70-0C9F-4087-A128-9C44A575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09750"/>
            <a:ext cx="51435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8F21A8-C128-465D-A9DB-60115D67D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431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4B8D98-2075-4A12-8FA9-048BA001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COMPLETION STANDARD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CEFF2CE-E4C0-4777-B3FA-04D9B793B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81300"/>
            <a:ext cx="34290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artifact passes only if sales, marketing, RevOps, and leadership can inspect it and know what to do next.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8FE8350-D873-415D-9EAD-DB39C918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705350"/>
            <a:ext cx="3238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6E3E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6E3E5"/>
                </a:solidFill>
                <a:latin typeface="Aptos"/>
                <a:ea typeface="Aptos"/>
                <a:cs typeface="Aptos"/>
              </a:rPr>
              <a:t>If it could be used unchanged by a generic SaaS company, it fails.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2195A8-00A9-471F-894D-BC6A0FE3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6FD760A-041C-41A6-B691-F2AF4776B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C89BFFB-E2EC-4A11-BD56-1EF5C4F9C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374D1FE-5DB9-4FE9-A712-C9EEB638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14/15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13BA884-82B3-461E-AF8D-597F2E07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ABA00F-57F6-4AB2-8F88-24D4DA62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946F57F-2540-4A7A-B6F2-0698EEDF6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B540FC1B-FDF4-4908-A37C-2FE50E11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89975243-ACBC-498A-9501-92D25C5C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FINAL ARTIFACT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A7135F-F946-4120-BD7E-BF5EC29E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What learners must leave this lesson able to submit.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705A737-7D8C-4C3E-9914-40CCCD31C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Treat this as the exit gate before transitioning.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37AD8BF-0786-48A1-A0E4-339DAA79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3EF7692-42A8-4BA0-AC0C-8CD8FB53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C46FEE3-3A90-427E-B774-B7FCC795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FE8300E-BADF-43D5-BADD-1BA34D20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D8CAF71-8A24-49D3-BE72-F9B42B642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3155D3-AAB3-46D1-8210-6371582F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0761537-F648-475E-9ADF-FAA619BF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14/15</a:t>
            </a:r>
          </a:p>
        </p:txBody>
      </p:sp>
    </p:spTree>
    <p:extLst>
      <p:ext uri="{BB962C8B-B14F-4D97-AF65-F5344CB8AC3E}">
        <p14:creationId xmlns:p14="http://schemas.microsoft.com/office/powerpoint/2010/main" val="94832437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5925E3-6F54-4A73-B8F6-91C842F6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4DA3B2-D223-4A2F-BAFC-4A75ACC5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A40375-0717-4CA4-AE01-3DFC73DB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65B51CE7-BD6C-4A34-A563-2EBC6B08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4872DD3F-02C6-4461-BCD9-18B012AD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06 / TRANSITION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6C36D7-1586-4D97-B42E-AAF8952C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38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Carry forward: Distribution and ecosystem plan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EFA711-975C-488F-9A6F-0A450D6C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7239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CCA5EC-9566-4CFD-910B-F6A86368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E2A50D-B368-4A32-8DE8-603381A5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955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BRIDGE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D40063-0488-4876-9F06-49251BA6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609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0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Distribution makes movement visible. The next lesson prevents the team from mistaking every visible signal for buying intent.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0CB638-6017-479A-B82F-11C811E4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90750"/>
            <a:ext cx="32575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FC753F-C18F-4D25-BAF4-D373E8B6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71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834ADF-1402-490F-BA22-E41D82357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4955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C7EA92-B239-4FB8-9E99-A7B04743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238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Lesson 07 - Signal Routing And Demand Capture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418A72-507A-408C-91A3-C36B2257F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57700"/>
            <a:ext cx="109156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27BB0F-8225-41FD-8103-C1E71E5A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990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Recurring instructor check: sales impact / signal / RevOps field / buyer content / review risk / industrial failure mode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F8E182-9F35-4738-B541-F693FA075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E66D9A-05FD-4D61-B262-E61D240F9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06 - Distribution: The Missing Half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4E669A-ED91-4300-ABD5-EF3C09FA2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modules/module-01-industrial-demand-generation/lessons/06-distribution-the-missing-half.md @ 9e28222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D7BC98-7A5F-4CBA-9696-CF904274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15/15</a:t>
            </a:r>
          </a:p>
        </p:txBody>
      </p:sp>
    </p:spTree>
    <p:extLst>
      <p:ext uri="{BB962C8B-B14F-4D97-AF65-F5344CB8AC3E}">
        <p14:creationId xmlns:p14="http://schemas.microsoft.com/office/powerpoint/2010/main" val="10025756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2026-05-16T17:39:30.9670000Z</dcterms:created>
  <dcterms:modified xsi:type="dcterms:W3CDTF">2026-05-16T17:39:30.9670000Z</dcterms:modified>
</coreProperties>
</file>