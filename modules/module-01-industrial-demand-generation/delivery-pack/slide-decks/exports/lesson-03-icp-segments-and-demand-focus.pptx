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39d2f5ee9e140b0" /><Relationship Type="http://schemas.openxmlformats.org/officeDocument/2006/relationships/extended-properties" Target="/docProps/app.xml" Id="R528c924e1946486e" /><Relationship Type="http://schemas.openxmlformats.org/officeDocument/2006/relationships/officeDocument" Target="/ppt/presentation.xml" Id="R53b19a8cf21f4e2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b5cf7def62c4a1c"/>
  </p:sldMasterIdLst>
  <p:notesMasterIdLst>
    <p:notesMasterId xmlns:r="http://schemas.openxmlformats.org/officeDocument/2006/relationships" r:id="Ra13e2176f61641c0"/>
  </p:notesMasterIdLst>
  <p:sldIdLst>
    <p:sldId xmlns:r="http://schemas.openxmlformats.org/officeDocument/2006/relationships" id="256" r:id="R896ea97ed06c4e2e"/>
    <p:sldId xmlns:r="http://schemas.openxmlformats.org/officeDocument/2006/relationships" id="257" r:id="Re26ea215d3ce49a9"/>
    <p:sldId xmlns:r="http://schemas.openxmlformats.org/officeDocument/2006/relationships" id="258" r:id="Rb2a6f834b4db4fbd"/>
    <p:sldId xmlns:r="http://schemas.openxmlformats.org/officeDocument/2006/relationships" id="259" r:id="R0bbb37c65fd74915"/>
    <p:sldId xmlns:r="http://schemas.openxmlformats.org/officeDocument/2006/relationships" id="260" r:id="R8395493d3c8346f0"/>
    <p:sldId xmlns:r="http://schemas.openxmlformats.org/officeDocument/2006/relationships" id="261" r:id="Rc24ef06dfe824e8d"/>
    <p:sldId xmlns:r="http://schemas.openxmlformats.org/officeDocument/2006/relationships" id="262" r:id="Rde56aa781ef342e8"/>
    <p:sldId xmlns:r="http://schemas.openxmlformats.org/officeDocument/2006/relationships" id="263" r:id="R60874944978d4d71"/>
    <p:sldId xmlns:r="http://schemas.openxmlformats.org/officeDocument/2006/relationships" id="264" r:id="R0c59d88fde4c450d"/>
    <p:sldId xmlns:r="http://schemas.openxmlformats.org/officeDocument/2006/relationships" id="265" r:id="Rb57c4a2c280e419f"/>
    <p:sldId xmlns:r="http://schemas.openxmlformats.org/officeDocument/2006/relationships" id="266" r:id="Rdcd3d3239d934f61"/>
    <p:sldId xmlns:r="http://schemas.openxmlformats.org/officeDocument/2006/relationships" id="267" r:id="R369332adc97643a9"/>
    <p:sldId xmlns:r="http://schemas.openxmlformats.org/officeDocument/2006/relationships" id="268" r:id="R90dd069c883d4f77"/>
    <p:sldId xmlns:r="http://schemas.openxmlformats.org/officeDocument/2006/relationships" id="269" r:id="Rc19994161d0746a8"/>
    <p:sldId xmlns:r="http://schemas.openxmlformats.org/officeDocument/2006/relationships" id="270" r:id="R44969393d8a04558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b5cf7def62c4a1c" /><Relationship Type="http://schemas.openxmlformats.org/officeDocument/2006/relationships/theme" Target="/ppt/theme/theme1.xml" Id="R5df7daa85d494756" /><Relationship Type="http://schemas.openxmlformats.org/officeDocument/2006/relationships/notesMaster" Target="/ppt/notesMasters/notesMaster1.xml" Id="Ra13e2176f61641c0" /><Relationship Type="http://schemas.openxmlformats.org/officeDocument/2006/relationships/presProps" Target="/ppt/presProps.xml" Id="Rc420fdf0435d4b65" /><Relationship Type="http://schemas.openxmlformats.org/officeDocument/2006/relationships/viewProps" Target="/ppt/viewProps.xml" Id="Rde6db70def3042db" /><Relationship Type="http://schemas.openxmlformats.org/officeDocument/2006/relationships/tableStyles" Target="/ppt/tableStyles.xml" Id="R459f434fb3774062" /><Relationship Type="http://schemas.openxmlformats.org/officeDocument/2006/relationships/slide" Target="/ppt/slides/slide1.xml" Id="R896ea97ed06c4e2e" /><Relationship Type="http://schemas.openxmlformats.org/officeDocument/2006/relationships/slide" Target="/ppt/slides/slide2.xml" Id="Re26ea215d3ce49a9" /><Relationship Type="http://schemas.openxmlformats.org/officeDocument/2006/relationships/slide" Target="/ppt/slides/slide3.xml" Id="Rb2a6f834b4db4fbd" /><Relationship Type="http://schemas.openxmlformats.org/officeDocument/2006/relationships/slide" Target="/ppt/slides/slide4.xml" Id="R0bbb37c65fd74915" /><Relationship Type="http://schemas.openxmlformats.org/officeDocument/2006/relationships/slide" Target="/ppt/slides/slide5.xml" Id="R8395493d3c8346f0" /><Relationship Type="http://schemas.openxmlformats.org/officeDocument/2006/relationships/slide" Target="/ppt/slides/slide6.xml" Id="Rc24ef06dfe824e8d" /><Relationship Type="http://schemas.openxmlformats.org/officeDocument/2006/relationships/slide" Target="/ppt/slides/slide7.xml" Id="Rde56aa781ef342e8" /><Relationship Type="http://schemas.openxmlformats.org/officeDocument/2006/relationships/slide" Target="/ppt/slides/slide8.xml" Id="R60874944978d4d71" /><Relationship Type="http://schemas.openxmlformats.org/officeDocument/2006/relationships/slide" Target="/ppt/slides/slide9.xml" Id="R0c59d88fde4c450d" /><Relationship Type="http://schemas.openxmlformats.org/officeDocument/2006/relationships/slide" Target="/ppt/slides/slide10.xml" Id="Rb57c4a2c280e419f" /><Relationship Type="http://schemas.openxmlformats.org/officeDocument/2006/relationships/slide" Target="/ppt/slides/slide11.xml" Id="Rdcd3d3239d934f61" /><Relationship Type="http://schemas.openxmlformats.org/officeDocument/2006/relationships/slide" Target="/ppt/slides/slide12.xml" Id="R369332adc97643a9" /><Relationship Type="http://schemas.openxmlformats.org/officeDocument/2006/relationships/slide" Target="/ppt/slides/slide13.xml" Id="R90dd069c883d4f77" /><Relationship Type="http://schemas.openxmlformats.org/officeDocument/2006/relationships/slide" Target="/ppt/slides/slide14.xml" Id="Rc19994161d0746a8" /><Relationship Type="http://schemas.openxmlformats.org/officeDocument/2006/relationships/slide" Target="/ppt/slides/slide15.xml" Id="R44969393d8a0455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8efe83cdf8174e5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1fec4f627a14db3" /><Relationship Type="http://schemas.openxmlformats.org/officeDocument/2006/relationships/notesMaster" Target="/ppt/notesMasters/notesMaster1.xml" Id="R088476c9cd08445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cb6737c6c0f43bb" /><Relationship Type="http://schemas.openxmlformats.org/officeDocument/2006/relationships/notesMaster" Target="/ppt/notesMasters/notesMaster1.xml" Id="R1cf41d60357a40f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c9215baee3f4b6d" /><Relationship Type="http://schemas.openxmlformats.org/officeDocument/2006/relationships/notesMaster" Target="/ppt/notesMasters/notesMaster1.xml" Id="Rf93180fefa3640d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59f6d0f66f64eba" /><Relationship Type="http://schemas.openxmlformats.org/officeDocument/2006/relationships/notesMaster" Target="/ppt/notesMasters/notesMaster1.xml" Id="R036a62d8f1ec4bf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7e2c159471840ab" /><Relationship Type="http://schemas.openxmlformats.org/officeDocument/2006/relationships/notesMaster" Target="/ppt/notesMasters/notesMaster1.xml" Id="R2399f64622d4478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a78510f19244457" /><Relationship Type="http://schemas.openxmlformats.org/officeDocument/2006/relationships/notesMaster" Target="/ppt/notesMasters/notesMaster1.xml" Id="R64729a80f320492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794fd0624274857" /><Relationship Type="http://schemas.openxmlformats.org/officeDocument/2006/relationships/notesMaster" Target="/ppt/notesMasters/notesMaster1.xml" Id="R92e2f6bbd5fc40e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3cda1167f314a9b" /><Relationship Type="http://schemas.openxmlformats.org/officeDocument/2006/relationships/notesMaster" Target="/ppt/notesMasters/notesMaster1.xml" Id="R2a54df662ddd4d9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ab1ba4c2478459a" /><Relationship Type="http://schemas.openxmlformats.org/officeDocument/2006/relationships/notesMaster" Target="/ppt/notesMasters/notesMaster1.xml" Id="Rb3fb71ab309d42c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beac5f5bd0f4120" /><Relationship Type="http://schemas.openxmlformats.org/officeDocument/2006/relationships/notesMaster" Target="/ppt/notesMasters/notesMaster1.xml" Id="R25751a07e9b645c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96446f6c2a84297" /><Relationship Type="http://schemas.openxmlformats.org/officeDocument/2006/relationships/notesMaster" Target="/ppt/notesMasters/notesMaster1.xml" Id="R066bf8837a7f499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4a2d12919884807" /><Relationship Type="http://schemas.openxmlformats.org/officeDocument/2006/relationships/notesMaster" Target="/ppt/notesMasters/notesMaster1.xml" Id="R78b7fe3342a047c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91b87489f20f462a" /><Relationship Type="http://schemas.openxmlformats.org/officeDocument/2006/relationships/notesMaster" Target="/ppt/notesMasters/notesMaster1.xml" Id="Rae55e63f34704ecf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2a7771f26cd74790" /><Relationship Type="http://schemas.openxmlformats.org/officeDocument/2006/relationships/notesMaster" Target="/ppt/notesMasters/notesMaster1.xml" Id="Rfac0e82563fd433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781e3e9488d54814" /><Relationship Type="http://schemas.openxmlformats.org/officeDocument/2006/relationships/notesMaster" Target="/ppt/notesMasters/notesMaster1.xml" Id="R809df9fd7ec343a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1096e26ca7f4e67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1a426e991c204ca2" /><Relationship Type="http://schemas.openxmlformats.org/officeDocument/2006/relationships/slideLayout" Target="/ppt/slideLayouts/slideLayout2.xml" Id="R2a1047e8ee7f4c7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a1047e8ee7f4c7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b9edd01e1204e4e" /><Relationship Type="http://schemas.openxmlformats.org/officeDocument/2006/relationships/notesSlide" Target="/ppt/notesSlides/notesSlide1.xml" Id="Rd5550e67fa60465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f52ec7de4ca4ed4" /><Relationship Type="http://schemas.openxmlformats.org/officeDocument/2006/relationships/notesSlide" Target="/ppt/notesSlides/notesSlide2.xml" Id="R2883bb1b18524f2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d7264cb1a694088" /><Relationship Type="http://schemas.openxmlformats.org/officeDocument/2006/relationships/notesSlide" Target="/ppt/notesSlides/notesSlide3.xml" Id="Rfe9e777cdc3a466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b46af616ff14a9c" /><Relationship Type="http://schemas.openxmlformats.org/officeDocument/2006/relationships/notesSlide" Target="/ppt/notesSlides/notesSlide4.xml" Id="R489f41863c49495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4e945278bc34357" /><Relationship Type="http://schemas.openxmlformats.org/officeDocument/2006/relationships/notesSlide" Target="/ppt/notesSlides/notesSlide5.xml" Id="R56baea8a152a4a1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1f4a7a4114a405a" /><Relationship Type="http://schemas.openxmlformats.org/officeDocument/2006/relationships/notesSlide" Target="/ppt/notesSlides/notesSlide6.xml" Id="R19a67386481a487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01975353fd34d13" /><Relationship Type="http://schemas.openxmlformats.org/officeDocument/2006/relationships/notesSlide" Target="/ppt/notesSlides/notesSlide7.xml" Id="R0786e596fb1e457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80a75380b694b44" /><Relationship Type="http://schemas.openxmlformats.org/officeDocument/2006/relationships/notesSlide" Target="/ppt/notesSlides/notesSlide8.xml" Id="R8e47b09f2282418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f52f9110f194410" /><Relationship Type="http://schemas.openxmlformats.org/officeDocument/2006/relationships/notesSlide" Target="/ppt/notesSlides/notesSlide9.xml" Id="R2346bcdabcd748c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b8f06b98a904838" /><Relationship Type="http://schemas.openxmlformats.org/officeDocument/2006/relationships/notesSlide" Target="/ppt/notesSlides/notesSlide10.xml" Id="R53c1188c83534ba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912e735c0934621" /><Relationship Type="http://schemas.openxmlformats.org/officeDocument/2006/relationships/notesSlide" Target="/ppt/notesSlides/notesSlide11.xml" Id="R7f8dcf822a4b4e4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fc709ac68414a40" /><Relationship Type="http://schemas.openxmlformats.org/officeDocument/2006/relationships/notesSlide" Target="/ppt/notesSlides/notesSlide12.xml" Id="R0a114f318394487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6fc7bfda2ff4145" /><Relationship Type="http://schemas.openxmlformats.org/officeDocument/2006/relationships/notesSlide" Target="/ppt/notesSlides/notesSlide13.xml" Id="R5b1667de94f146a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ca1feba66b14153" /><Relationship Type="http://schemas.openxmlformats.org/officeDocument/2006/relationships/notesSlide" Target="/ppt/notesSlides/notesSlide14.xml" Id="Rb087062fae3a448d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75a3654ea1f46fa" /><Relationship Type="http://schemas.openxmlformats.org/officeDocument/2006/relationships/notesSlide" Target="/ppt/notesSlides/notesSlide15.xml" Id="R85df4d1fe4e44b40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E597D50-16CE-43F8-B277-A69D7D543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96AC91-1060-42D8-89C8-41ECACB41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239023-6E40-44C0-B813-3B3050EED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03-marker">
            <a:extLst xmlns:a="http://schemas.openxmlformats.org/drawingml/2006/main">
              <a:ext uri="{FF2B5EF4-FFF2-40B4-BE49-F238E27FC236}">
                <a16:creationId xmlns:a16="http://schemas.microsoft.com/office/drawing/2014/main" id="{372CB2E0-6147-48DD-BA83-93E1F7885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03-label">
            <a:extLst xmlns:a="http://schemas.openxmlformats.org/drawingml/2006/main">
              <a:ext uri="{FF2B5EF4-FFF2-40B4-BE49-F238E27FC236}">
                <a16:creationId xmlns:a16="http://schemas.microsoft.com/office/drawing/2014/main" id="{D8EC1486-1B57-4643-9939-DAE5DD972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03 / INSTRUCTOR PROJECTION DECK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3A5C5A-73C6-450C-A869-D53DCCD99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66800"/>
            <a:ext cx="723900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ICP, Segments, And Demand Focus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59234C-3C02-4CBB-BB8B-6F379DC9B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57450"/>
            <a:ext cx="7048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Industrial Demand Generation / Live workshop projection system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F28BDD-DE6D-4E6F-AECA-2A35B464E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33750"/>
            <a:ext cx="1143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8E9"/>
          </a:solidFill>
          <a:ln xmlns:a="http://schemas.openxmlformats.org/drawingml/2006/main" w="9525">
            <a:solidFill>
              <a:srgbClr val="DCE8E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FCA2E1-2998-4AD3-8DDE-2362C4315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81375"/>
            <a:ext cx="952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1D6072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1D6072"/>
                </a:solidFill>
                <a:latin typeface="Aptos"/>
                <a:ea typeface="Aptos"/>
                <a:cs typeface="Aptos"/>
              </a:rPr>
              <a:t>22 min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544EC8-507F-43A9-8C1C-42DD63CF5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3333750"/>
            <a:ext cx="1295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DFD5"/>
          </a:solidFill>
          <a:ln xmlns:a="http://schemas.openxmlformats.org/drawingml/2006/main" w="9525">
            <a:solidFill>
              <a:srgbClr val="F0DFD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033E1A-0D21-4A79-80AD-4548440D4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3381375"/>
            <a:ext cx="11049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A85D2A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A85D2A"/>
                </a:solidFill>
                <a:latin typeface="Aptos"/>
                <a:ea typeface="Aptos"/>
                <a:cs typeface="Aptos"/>
              </a:rPr>
              <a:t>Instructor-led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24D999C-AF08-4AE7-93D5-33C2FD0FA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333750"/>
            <a:ext cx="1219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9D8"/>
          </a:solidFill>
          <a:ln xmlns:a="http://schemas.openxmlformats.org/drawingml/2006/main" w="9525">
            <a:solidFill>
              <a:srgbClr val="E4E9D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0D1A649-47F3-4F8B-A049-2203EB652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381375"/>
            <a:ext cx="10287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667A39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667A39"/>
                </a:solidFill>
                <a:latin typeface="Aptos"/>
                <a:ea typeface="Aptos"/>
                <a:cs typeface="Aptos"/>
              </a:rPr>
              <a:t>Artifact-first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5D7D68-D405-4A37-A9D5-40E8C1337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895350"/>
            <a:ext cx="3333750" cy="434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670FF5-2B4D-4D2C-AA04-94D55D0E6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2763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A6424FD-0794-4E10-BFE8-D00330032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12001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OUTPUT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E09CB96-A982-44F8-AD04-85A8EF632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04950"/>
            <a:ext cx="27241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ICP and disqualification scorecard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F003658-C0FE-4AA3-83A9-0E536795D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6479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8F3BC2E-B1BB-4793-8108-69568C2C0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5717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WORKSHOP RULE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367F47-60C9-4B22-B5F9-4D422B7DF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876550"/>
            <a:ext cx="26098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Teach the operating decision, run the diagnostic, then force a usable artifact. The slide is a teaching cue, not the handout.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448130B-5C1F-4353-9A1E-22F5EF25A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15290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A3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AC68DC5-D39C-460B-9F42-A50900354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07670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 COMMIT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5B19846-81D1-49AE-82C0-D55A93A55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381500"/>
            <a:ext cx="1524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026"/>
                </a:solidFill>
                <a:latin typeface="Aptos"/>
                <a:ea typeface="Aptos"/>
                <a:cs typeface="Aptos"/>
              </a:rPr>
              <a:t>9e28222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001BCEC-3D24-4BC4-8DAE-DE99102C6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58119B6-0034-4891-BC39-AE578C65A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03 - ICP, Segments, And Demand Focus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B259E1F-9721-4E88-B53F-3A1501023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modules/module-01-industrial-demand-generation/lessons/03-icp-segments-and-demand-focus.md @ 9e28222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E46CA43-B4FE-4FC3-97E6-64A5E3B97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1/15</a:t>
            </a:r>
          </a:p>
        </p:txBody>
      </p:sp>
    </p:spTree>
    <p:extLst>
      <p:ext uri="{BB962C8B-B14F-4D97-AF65-F5344CB8AC3E}">
        <p14:creationId xmlns:p14="http://schemas.microsoft.com/office/powerpoint/2010/main" val="1342206955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2698E41-C0BC-4C80-9901-EEB55CE1E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10A0DF-B862-4B01-BA39-E97B5BF38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A179B7-8C43-4794-9943-1AAE4634E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03-marker">
            <a:extLst xmlns:a="http://schemas.openxmlformats.org/drawingml/2006/main">
              <a:ext uri="{FF2B5EF4-FFF2-40B4-BE49-F238E27FC236}">
                <a16:creationId xmlns:a16="http://schemas.microsoft.com/office/drawing/2014/main" id="{6419549E-6382-4ABD-8B89-8DD506A23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03-label">
            <a:extLst xmlns:a="http://schemas.openxmlformats.org/drawingml/2006/main">
              <a:ext uri="{FF2B5EF4-FFF2-40B4-BE49-F238E27FC236}">
                <a16:creationId xmlns:a16="http://schemas.microsoft.com/office/drawing/2014/main" id="{26E70F70-EA3A-45B4-B519-0282C6593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03 / LESSON PROMISE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E29A6D-4AEB-4153-9748-8512CF72D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4850"/>
            <a:ext cx="8096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The promise is an operating capability, not a concept label.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CE550B-D805-48A4-AF7E-7EF2A5D2D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191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Use this slide to set the standard for the artifact learners must produce.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481479-2491-432F-827C-EE5DC7923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A74FF6-FE31-40EA-B185-0CBBB160E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03 - ICP, Segments, And Demand Focus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DA1E80-DC9F-4AF9-941E-AE4B2077D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modules/module-01-industrial-demand-generation/lessons/03-icp-segments-and-demand-focus.md @ 9e28222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57A449-A1EC-46AA-91FC-88AA56A66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2/15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EABB05B-8897-4DCF-871A-1F168C56D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38350"/>
            <a:ext cx="61912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08A0515-0469-499C-9E24-2946D84BF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24100"/>
            <a:ext cx="56197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Choose a narrow industrial demand focus for a 90-day pilot, define ICP triggers and exclusions, and stop wasting effort on visible but weak accounts.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33ED09-280B-4B75-8432-5A5CE5598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76650"/>
            <a:ext cx="533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53CD59E-203A-4A7A-8CAB-272C31E6C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905250"/>
            <a:ext cx="5334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An ICP and disqualification scorecard plus a written 90-day demand focus statement.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E08FE86-FCE3-4D26-8373-48F047BA4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038350"/>
            <a:ext cx="42481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9525">
            <a:solidFill>
              <a:srgbClr val="12232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AC322AE-1B94-46BD-99CC-0468AD95E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40030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95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340047F-668A-4329-90E5-C59DA58E7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32410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INSTRUCTOR STANCE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F4B7C08-B1D3-43CA-B46A-0DA334FD6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7527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95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B019CA7-6040-47ED-8B81-38B84E2B0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686050"/>
            <a:ext cx="3124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Ask for evidence before opinion.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ECE883B-670D-403A-AC82-09B37AAFD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31527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95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AC916D4-425C-42A6-B781-ABBAAEA26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086100"/>
            <a:ext cx="3124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Use the workbook for capture.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9E48FB0-0094-493C-9D9D-1AB02B30B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35528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95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69F5FC5-C3F9-4E88-BB87-A47368F88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486150"/>
            <a:ext cx="3124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Keep first drafts subordinate to human correction.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C068EC5-73B7-47FB-BD9E-7D70EE64E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39528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95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EFAA573-0071-4DCC-947F-9BCE1A1EE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886200"/>
            <a:ext cx="3124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Do not accept generic SaaS or lead-gen answers.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D17F5F0-0A2D-4936-B6AA-589C7E25F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140649D-FCDF-4FB1-96DD-84EECECB4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03 - ICP, Segments, And Demand Focus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F2648AB-8D40-4FEB-8587-D41E387E5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modules/module-01-industrial-demand-generation/lessons/03-icp-segments-and-demand-focus.md @ 9e28222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B1E5DAE-0025-47C1-A7F4-1BFC52464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2/15</a:t>
            </a:r>
          </a:p>
        </p:txBody>
      </p:sp>
    </p:spTree>
    <p:extLst>
      <p:ext uri="{BB962C8B-B14F-4D97-AF65-F5344CB8AC3E}">
        <p14:creationId xmlns:p14="http://schemas.microsoft.com/office/powerpoint/2010/main" val="807474012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5FC06F8-4FE7-4D4E-BE01-DB626F47A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719FDC-FA94-4EF4-934E-1B29F5549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51129B-48F7-430B-9CD1-BBE50F516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03-marker">
            <a:extLst xmlns:a="http://schemas.openxmlformats.org/drawingml/2006/main">
              <a:ext uri="{FF2B5EF4-FFF2-40B4-BE49-F238E27FC236}">
                <a16:creationId xmlns:a16="http://schemas.microsoft.com/office/drawing/2014/main" id="{86006950-7E87-402A-A042-C9B1DCBC1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03-label">
            <a:extLst xmlns:a="http://schemas.openxmlformats.org/drawingml/2006/main">
              <a:ext uri="{FF2B5EF4-FFF2-40B4-BE49-F238E27FC236}">
                <a16:creationId xmlns:a16="http://schemas.microsoft.com/office/drawing/2014/main" id="{51362F9C-1CF9-411C-8C1F-06158F66C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03 / WHY IT MATTERS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68259E-AE25-419C-9913-20AB813C9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4850"/>
            <a:ext cx="8096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Industrial GTM punishes shallow assumptions.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F0C6B5-83C4-4C01-987C-E679E6824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191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The instructor should tie every point back to long-cycle risk, committee proof, and trusted circulation.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1F7308-7484-4FC2-9944-0D2AA5929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34221C-71BA-47F0-8B59-927CDDCBC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03 - ICP, Segments, And Demand Focus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1037A9-2EC0-4721-A15A-06691BC0A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modules/module-01-industrial-demand-generation/lessons/03-icp-segments-and-demand-focus.md @ 9e28222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445AD5-A169-41C7-A3A3-07CF2A105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3/15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673FFB-F9CF-4A6E-98A2-A8622216C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19300"/>
            <a:ext cx="5143500" cy="320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232ADA-3B26-4EBB-BE84-5FFF3EDF3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812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C36677-783B-43A9-B48D-B209921A6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3050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INDUSTRIAL REALITY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FDB1BFB-20B1-4A7C-869C-E4AAC7B1C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527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2EFDA3A-550E-4B39-81DD-A5735A997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86050"/>
            <a:ext cx="41719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Industrial demand generation is resource-intensive: SME input, trusted distribution, sales context, proof,...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71FC134-53C8-4C3C-BA3D-34DAFC9F6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289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5AF898B-2C2A-48E9-8FE8-BF88C9901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162300"/>
            <a:ext cx="41719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Broad TAM language turns content generic and pollutes signal routing.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E2A988F-C340-4834-9764-3C5A410F0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052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96F41B9-D248-42FF-86A9-010E0B4C4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638550"/>
            <a:ext cx="41719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A pilot learns faster when the segment is narrow enough to produce specific questions, proof, access paths,...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0C801B8-8C8A-4A51-B44B-50E818BC7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814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7E8C4DE-7C1E-4D7F-B73A-1A5AC7AFD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114800"/>
            <a:ext cx="41719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Focus is revenue discipline, not positioning theater.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C67BE67-5928-4B15-908B-9EBEAEC7A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19300"/>
            <a:ext cx="5334000" cy="320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AF7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9258919-14D9-4B17-8882-21A49BD1F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3812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C441671-EE18-484E-A90A-821EE04C7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3050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INSTRUCTOR CORRECTION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34C1AAD-0F10-452E-B72F-88E710A57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72415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DFD5"/>
          </a:solidFill>
          <a:ln xmlns:a="http://schemas.openxmlformats.org/drawingml/2006/main" w="9525">
            <a:solidFill>
              <a:srgbClr val="A85D2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1E8E26A-87F9-4178-9525-28E410AD2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752725"/>
            <a:ext cx="2476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D60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D6072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E33ABD1-633B-4572-9851-6972A20AF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714625"/>
            <a:ext cx="4019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Move from activity to account movement.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705FC7E-2B7D-4CB4-817A-FDC546567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16230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DFD5"/>
          </a:solidFill>
          <a:ln xmlns:a="http://schemas.openxmlformats.org/drawingml/2006/main" w="9525">
            <a:solidFill>
              <a:srgbClr val="A85D2A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7F4C2E7-9723-425B-8081-E70663805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190875"/>
            <a:ext cx="2476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D60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D6072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2D402CE-2AA7-4BD6-80EA-94D1C9A84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152775"/>
            <a:ext cx="4019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Move from one persona to committee risk.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07806BA-013A-4EF8-9BB3-964D64B09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60045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DFD5"/>
          </a:solidFill>
          <a:ln xmlns:a="http://schemas.openxmlformats.org/drawingml/2006/main" w="9525">
            <a:solidFill>
              <a:srgbClr val="A85D2A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F0F4923-8815-4721-8BA5-20B9F7DE2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629025"/>
            <a:ext cx="2476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D60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D6072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7404A4E-A89D-4DB6-AF16-48ED319E3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590925"/>
            <a:ext cx="4019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Move from content volume to buyer uncertainty.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AD059E7-3CFE-42D4-9A39-BCE9DE180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03860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DFD5"/>
          </a:solidFill>
          <a:ln xmlns:a="http://schemas.openxmlformats.org/drawingml/2006/main" w="9525">
            <a:solidFill>
              <a:srgbClr val="A85D2A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72EEC7E-8CC5-42D5-9889-89824D915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067175"/>
            <a:ext cx="2476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D60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D6072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4CA38A6-2EF4-4237-A377-C7146BDB4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029075"/>
            <a:ext cx="4019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Move from engagement scoring to signal interpretation.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C76B990-F12A-4533-BA22-1BC6B6BD6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47675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DFD5"/>
          </a:solidFill>
          <a:ln xmlns:a="http://schemas.openxmlformats.org/drawingml/2006/main" w="9525">
            <a:solidFill>
              <a:srgbClr val="A85D2A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AD530ED-06D8-407E-92F2-84D2548B0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505325"/>
            <a:ext cx="2476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D60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D6072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6353343-B9A8-48D7-9C44-720477D0E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467225"/>
            <a:ext cx="4019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Move from reporting to weekly operating decisions.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EC9717D-BCE1-41C1-BB65-4E269B0A9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8C0F1F0-BAA9-4F12-A75A-F1ED71675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03 - ICP, Segments, And Demand Focus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BB8A0D9-8587-489F-867E-0DEB251F0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modules/module-01-industrial-demand-generation/lessons/03-icp-segments-and-demand-focus.md @ 9e28222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F44BE79-2E58-4A5C-A69F-8A281BEBC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3/15</a:t>
            </a:r>
          </a:p>
        </p:txBody>
      </p:sp>
    </p:spTree>
    <p:extLst>
      <p:ext uri="{BB962C8B-B14F-4D97-AF65-F5344CB8AC3E}">
        <p14:creationId xmlns:p14="http://schemas.microsoft.com/office/powerpoint/2010/main" val="969997235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B5EBF75-E3F2-4341-9A40-8B502C95C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4F9EEA-F744-4AA9-B319-B2B32429B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6F9097-B438-4817-9755-2F3B50418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03-marker">
            <a:extLst xmlns:a="http://schemas.openxmlformats.org/drawingml/2006/main">
              <a:ext uri="{FF2B5EF4-FFF2-40B4-BE49-F238E27FC236}">
                <a16:creationId xmlns:a16="http://schemas.microsoft.com/office/drawing/2014/main" id="{8C19EC2D-A35D-439B-B15E-2E6EC6FF2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03-label">
            <a:extLst xmlns:a="http://schemas.openxmlformats.org/drawingml/2006/main">
              <a:ext uri="{FF2B5EF4-FFF2-40B4-BE49-F238E27FC236}">
                <a16:creationId xmlns:a16="http://schemas.microsoft.com/office/drawing/2014/main" id="{FE64A4DA-4F83-4D75-8D4D-16C2D8EB5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03 / CORE FRAMEWORK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1D0A16-C54F-4F58-89F0-0F61C17B3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4850"/>
            <a:ext cx="8096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A real industrial ICP is more than firmographics.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018643-2A12-4187-875C-4BAB95759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191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Use the diagram as the visual anchor; the visible path is the teachable sequence.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685A21-262C-432C-9C23-24FC2D6CC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BA024F-AF39-43F3-9563-54FBEFFBC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03 - ICP, Segments, And Demand Focus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574C02-FB81-4795-B92B-5941A9049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modules/module-01-industrial-demand-generation/lessons/03-icp-segments-and-demand-focus.md @ 9e28222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B18454-1A71-4F41-BD45-B4B31C82A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4/15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05748A-0E46-4ECB-8C83-2C15BA34D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809750"/>
            <a:ext cx="11963400" cy="459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432DAC-10E5-460F-A529-44BD0C8DF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809750"/>
            <a:ext cx="11963400" cy="459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CFA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D92448-272D-48C9-B9E5-14EDD92B1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145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A4FDC7A-2FBF-4B30-9347-AC9F221BE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383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NATIVE OPERATING DIAGRAM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8AA7EF7-CC5F-4D97-9AC0-78022CFFF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86050"/>
            <a:ext cx="26098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276F52D-D6D0-4518-9708-16EC89939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86050"/>
            <a:ext cx="26098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807F03-3F06-4F8E-88E5-E806574DE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0"/>
            <a:ext cx="209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D6072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D6072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71AAFD9-48B2-4C53-83E3-6D821D717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38450"/>
            <a:ext cx="20764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72026"/>
                </a:solidFill>
                <a:latin typeface="Aptos"/>
                <a:ea typeface="Aptos"/>
                <a:cs typeface="Aptos"/>
              </a:rPr>
              <a:t>Sector or category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B46B9CB-6439-4CFF-AFEE-E23AB40D1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143250"/>
            <a:ext cx="152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5F4F357-7AA2-42D5-AA04-6D7F479A4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686050"/>
            <a:ext cx="26098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EE32F23-F2EB-49D1-B505-94DA49AAA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686050"/>
            <a:ext cx="26098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CA1406D-4D13-44D4-BCD5-1F3040196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857500"/>
            <a:ext cx="209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A85D2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A85D2A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763EC8E-7A14-417C-AE9B-4E5AAA0DA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838450"/>
            <a:ext cx="20764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72026"/>
                </a:solidFill>
                <a:latin typeface="Aptos"/>
                <a:ea typeface="Aptos"/>
                <a:cs typeface="Aptos"/>
              </a:rPr>
              <a:t>Account type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9B1D3F0-1089-42FF-A38F-8C8F8CD3E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3143250"/>
            <a:ext cx="152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787E936-A563-40E6-BF11-5078A7845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686050"/>
            <a:ext cx="26098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6A2136F-E3B1-4383-8CCF-1420E34C7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686050"/>
            <a:ext cx="26098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A3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014B791-C994-48FD-B1A1-8C40B2C40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57500"/>
            <a:ext cx="209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667A3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67A39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C59E782-F5E8-46F1-99C2-B7517906B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838450"/>
            <a:ext cx="20764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72026"/>
                </a:solidFill>
                <a:latin typeface="Aptos"/>
                <a:ea typeface="Aptos"/>
                <a:cs typeface="Aptos"/>
              </a:rPr>
              <a:t>Trigger or timing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A822759-8004-4EEA-8AD6-54725BD9E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143250"/>
            <a:ext cx="152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4B51629-C4CF-4143-B2E4-C30BD417C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686050"/>
            <a:ext cx="26098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0FBF2BE-6DCA-4CBB-8374-93FAD63E4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686050"/>
            <a:ext cx="26098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95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9E1BD85-7DAD-4FD6-BBC7-28ED7FC00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857500"/>
            <a:ext cx="209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B7953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7953B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F742BF3-CD19-41BB-A89F-ECC2B4902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838450"/>
            <a:ext cx="20764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72026"/>
                </a:solidFill>
                <a:latin typeface="Aptos"/>
                <a:ea typeface="Aptos"/>
                <a:cs typeface="Aptos"/>
              </a:rPr>
              <a:t>Technical fit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C44A388-F8DB-408F-95E8-507E6C640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76700"/>
            <a:ext cx="26098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1445DF2-83E8-4D6A-BE59-3B4A02199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76700"/>
            <a:ext cx="26098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A47573E-79B0-4B4C-BF4E-E2AA46A6F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48150"/>
            <a:ext cx="209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D6072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D6072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DC150B4-5CD3-4164-AF78-6F09FC5E3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29100"/>
            <a:ext cx="20764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72026"/>
                </a:solidFill>
                <a:latin typeface="Aptos"/>
                <a:ea typeface="Aptos"/>
                <a:cs typeface="Aptos"/>
              </a:rPr>
              <a:t>Commercial fit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706969D-44ED-452A-95BB-FB0DD8E12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533900"/>
            <a:ext cx="152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FB42037-8830-44F2-AE74-10D130E20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4076700"/>
            <a:ext cx="26098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49FEC7E-4825-4CB5-978C-5765DDF78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4076700"/>
            <a:ext cx="26098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0F79C67-89A2-44F0-A445-ECE2F69E2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248150"/>
            <a:ext cx="209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A85D2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A85D2A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7ACC66E-0BCD-4E33-BC89-F8A9F5CC0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229100"/>
            <a:ext cx="20764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72026"/>
                </a:solidFill>
                <a:latin typeface="Aptos"/>
                <a:ea typeface="Aptos"/>
                <a:cs typeface="Aptos"/>
              </a:rPr>
              <a:t>Buying process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6FDDD13-1999-4E58-BC5D-54DEA776A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4533900"/>
            <a:ext cx="152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FEDF620-918C-4B56-B82D-4DEB5BE51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076700"/>
            <a:ext cx="26098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55B2013-4C00-4F78-9501-364052871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076700"/>
            <a:ext cx="26098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A3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8067438-F974-4DB3-917E-F7896A8EB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248150"/>
            <a:ext cx="209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667A3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67A39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F223D65-C2F4-4654-8F6D-777508E9F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229100"/>
            <a:ext cx="20764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72026"/>
                </a:solidFill>
                <a:latin typeface="Aptos"/>
                <a:ea typeface="Aptos"/>
                <a:cs typeface="Aptos"/>
              </a:rPr>
              <a:t>Access path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D32047E-0F31-4F58-B082-CD0D53590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772150"/>
            <a:ext cx="11430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9525">
            <a:solidFill>
              <a:srgbClr val="12232B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D53DA8D-2962-4D4D-84F0-D5AA8C228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76925"/>
            <a:ext cx="1104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D6E3E5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D6E3E5"/>
                </a:solidFill>
                <a:latin typeface="Aptos"/>
                <a:ea typeface="Aptos"/>
                <a:cs typeface="Aptos"/>
              </a:rPr>
              <a:t>Flowchart companion: assets/flowcharts/04-icp-focus-and-disqualification.svg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FFF7EDD-C1D8-4509-BFA0-BFA83E7CA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F1C08F9-DAFB-4BED-94A2-593299875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03 - ICP, Segments, And Demand Focus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9D56A88A-B3F6-45E6-8148-70F056E7C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modules/module-01-industrial-demand-generation/lessons/03-icp-segments-and-demand-focus.md @ 9e28222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25FF996-C09A-45DC-B971-DBB9F2E05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4/15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B230F314-22D5-40EE-83AA-26B57DFAE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FB33168A-1B92-4491-871B-9F1C03EAF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596E90B8-3321-45A4-9080-715C24D2C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8" name="kicker-03-marker">
            <a:extLst xmlns:a="http://schemas.openxmlformats.org/drawingml/2006/main">
              <a:ext uri="{FF2B5EF4-FFF2-40B4-BE49-F238E27FC236}">
                <a16:creationId xmlns:a16="http://schemas.microsoft.com/office/drawing/2014/main" id="{81A58B68-7204-4EAE-A023-76B58F6A1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9" name="kicker-03-label">
            <a:extLst xmlns:a="http://schemas.openxmlformats.org/drawingml/2006/main">
              <a:ext uri="{FF2B5EF4-FFF2-40B4-BE49-F238E27FC236}">
                <a16:creationId xmlns:a16="http://schemas.microsoft.com/office/drawing/2014/main" id="{21CE8617-F06F-49E7-BAB2-DE22A01DE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03 / CORE FRAMEWORK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7A4246C7-593A-468E-A1A7-902AE0635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4850"/>
            <a:ext cx="8096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A real industrial ICP is more than firmographics.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9D55C379-E29A-455B-A46D-B18257ECF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191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Use the diagram as the visual anchor; the visible path is the teachable sequence.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3047E70E-5990-4A4B-BE2E-70CD330EA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00800"/>
            <a:ext cx="12192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FFFAD366-AB26-4A0C-BBCF-C7420589D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00800"/>
            <a:ext cx="1714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EEA71DAB-7742-462F-A1DF-5CCF22FAC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64008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12651F77-3781-462D-9CD1-A1A36542F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FD3385B0-926D-4B66-A0A8-FD711142A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03 - ICP, Segments, And Demand Focus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CC2175E3-1558-4F27-B6E8-36268C878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modules/module-01-industrial-demand-generation/lessons/03-icp-segments-and-demand-focus.md @ 9e28222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8A875BEB-53ED-4027-A4FA-AF6AD3C44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4/15</a:t>
            </a:r>
          </a:p>
        </p:txBody>
      </p:sp>
    </p:spTree>
    <p:extLst>
      <p:ext uri="{BB962C8B-B14F-4D97-AF65-F5344CB8AC3E}">
        <p14:creationId xmlns:p14="http://schemas.microsoft.com/office/powerpoint/2010/main" val="735835715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682BF46-0A89-489E-AEC8-D046FDD53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49B1DD-5BAF-4DFF-BDE1-9F41F2A4B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2BD413-229C-4F42-A52E-521884ABF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03-marker">
            <a:extLst xmlns:a="http://schemas.openxmlformats.org/drawingml/2006/main">
              <a:ext uri="{FF2B5EF4-FFF2-40B4-BE49-F238E27FC236}">
                <a16:creationId xmlns:a16="http://schemas.microsoft.com/office/drawing/2014/main" id="{40B4D35E-BF38-44AF-8015-784E97F01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03-label">
            <a:extLst xmlns:a="http://schemas.openxmlformats.org/drawingml/2006/main">
              <a:ext uri="{FF2B5EF4-FFF2-40B4-BE49-F238E27FC236}">
                <a16:creationId xmlns:a16="http://schemas.microsoft.com/office/drawing/2014/main" id="{113B8D95-7D28-447E-8817-C57AE8136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03 / MENTAL MODEL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58BCA6-D68C-4EE6-953F-1B47C60CB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4850"/>
            <a:ext cx="8096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Pick the segment where the pilot can create movement.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DE13DA-7832-45B1-A103-AD1A24E55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191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Keep this slide conversational: make learners say what would change in their current system.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6A04ED-6099-4AA2-BE61-0FFF54467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D9942D-E435-4166-99D3-AA16CEF38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03 - ICP, Segments, And Demand Focus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90F3E2-7873-49E2-9B95-A0DDD7515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modules/module-01-industrial-demand-generation/lessons/03-icp-segments-and-demand-focus.md @ 9e28222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DCBB51-314B-4F24-BDBB-7732F3379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5/15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0AB9D0-553E-4A0F-A450-477BF46B8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66950"/>
            <a:ext cx="2557463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F45EC1E-2D3E-4C7B-91B1-2AFB394C2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66950"/>
            <a:ext cx="2557463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9FF32B7-80C9-45CC-94B1-A62809481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90800"/>
            <a:ext cx="2138363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D6072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1D6072"/>
                </a:solidFill>
                <a:latin typeface="Aptos Display"/>
                <a:ea typeface="Aptos Display"/>
                <a:cs typeface="Aptos Display"/>
              </a:rPr>
              <a:t>Pain intensity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975E82F-5A4D-441F-91F6-251357F12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57550"/>
            <a:ext cx="2138363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Is the problem worth solving now?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2166D3E-E246-4356-A2C4-5C17526DF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0413" y="2266950"/>
            <a:ext cx="2557463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FDF30C7-5818-4057-A1B0-2AA06548F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0413" y="2266950"/>
            <a:ext cx="2557463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5221F3E-402D-429E-8391-4971FC1B6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9963" y="2590800"/>
            <a:ext cx="2138363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A85D2A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A85D2A"/>
                </a:solidFill>
                <a:latin typeface="Aptos Display"/>
                <a:ea typeface="Aptos Display"/>
                <a:cs typeface="Aptos Display"/>
              </a:rPr>
              <a:t>Trigger visibility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991F6C9-FE4D-4BFA-AE5A-B852BD424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9963" y="3257550"/>
            <a:ext cx="2138363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Can timing be detected?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7A7D27A-47C5-4675-A9A7-5F5BAC10E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2266950"/>
            <a:ext cx="2557463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E1123D2-DFAF-48CA-B36C-50749B36F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2266950"/>
            <a:ext cx="2557463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A3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AA63E20-D982-47CA-B812-16FAFB47F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2590800"/>
            <a:ext cx="2138363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67A3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67A39"/>
                </a:solidFill>
                <a:latin typeface="Aptos Display"/>
                <a:ea typeface="Aptos Display"/>
                <a:cs typeface="Aptos Display"/>
              </a:rPr>
              <a:t>Access path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2F4A2E3-6C61-4EAF-B793-35A3EB11A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257550"/>
            <a:ext cx="2138363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Can trusted channels reach the committee?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5AB918B-C119-4B9E-952E-E25B9817D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2538" y="2266950"/>
            <a:ext cx="2557463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794E659-09B4-4343-9D9C-E009470A2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2538" y="2266950"/>
            <a:ext cx="2557463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95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DDAE015-82F4-463D-92FA-B0388318B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2088" y="2590800"/>
            <a:ext cx="2138363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B7953B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B7953B"/>
                </a:solidFill>
                <a:latin typeface="Aptos Display"/>
                <a:ea typeface="Aptos Display"/>
                <a:cs typeface="Aptos Display"/>
              </a:rPr>
              <a:t>Proof availability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1CA9539-2727-424C-A2A9-A1D03336B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2088" y="3257550"/>
            <a:ext cx="2138363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Can evidence be built quickly enough?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A1956B8-33CC-4C53-8D17-B22ACCBB1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5353050"/>
            <a:ext cx="26479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9525">
            <a:solidFill>
              <a:srgbClr val="12232B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378E5B4-128C-4926-B3CD-4CC8C2FC0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5505450"/>
            <a:ext cx="1428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AFC3C8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AFC3C8"/>
                </a:solidFill>
                <a:latin typeface="Aptos"/>
                <a:ea typeface="Aptos"/>
                <a:cs typeface="Aptos"/>
              </a:rPr>
              <a:t>INSTRUCTOR CUE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431B545-83AB-4BA0-A25E-C9EDF4A9A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5676900"/>
            <a:ext cx="2190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Ask: which box is weakest in your current category?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A487D52-9CF0-48F9-AB42-CE557E431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5B90BEF-2355-4034-933F-8B8B67ED6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03 - ICP, Segments, And Demand Focus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E3C47B7-D0DB-4F17-8A90-732DF694B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modules/module-01-industrial-demand-generation/lessons/03-icp-segments-and-demand-focus.md @ 9e28222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4273711-7727-4E21-9E88-ECFCEF72D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5/15</a:t>
            </a:r>
          </a:p>
        </p:txBody>
      </p:sp>
    </p:spTree>
    <p:extLst>
      <p:ext uri="{BB962C8B-B14F-4D97-AF65-F5344CB8AC3E}">
        <p14:creationId xmlns:p14="http://schemas.microsoft.com/office/powerpoint/2010/main" val="861869378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757287D-681E-4338-936F-3AF2A1D46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5C5AD8-C1C9-4AF6-A2EF-7AFA31989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CF9348-2D5E-4846-AA84-8F04B0DC9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03-marker">
            <a:extLst xmlns:a="http://schemas.openxmlformats.org/drawingml/2006/main">
              <a:ext uri="{FF2B5EF4-FFF2-40B4-BE49-F238E27FC236}">
                <a16:creationId xmlns:a16="http://schemas.microsoft.com/office/drawing/2014/main" id="{5848D0B8-2510-427C-BBC1-E40049464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03-label">
            <a:extLst xmlns:a="http://schemas.openxmlformats.org/drawingml/2006/main">
              <a:ext uri="{FF2B5EF4-FFF2-40B4-BE49-F238E27FC236}">
                <a16:creationId xmlns:a16="http://schemas.microsoft.com/office/drawing/2014/main" id="{B7DE64D2-FD07-4E1B-BC24-939D01609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03 / COMPOSITE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C5C090-94E6-4F60-8B84-308D50864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4850"/>
            <a:ext cx="8096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Composite precision fabrication supplier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CA6D83-3D6A-40BB-A653-503530DC8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191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Use as an anonymized industrial pattern, not a named-company case study.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1A587F-C7FD-494B-835A-1421BEDAC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BA16B9-3691-4E65-A9F9-B109A5AF1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03 - ICP, Segments, And Demand Focus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171816-6F21-4611-9E3E-2860760DF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modules/module-01-industrial-demand-generation/lessons/03-icp-segments-and-demand-focus.md @ 9e28222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632D6D-0B67-46F7-B93B-1CD321D89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6/15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A76ED6A-125F-4DD7-AF7D-AD29006A5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809750"/>
            <a:ext cx="11963400" cy="459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695AF9F-F818-40C5-9080-E2E4DA23D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809750"/>
            <a:ext cx="11963400" cy="459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B1535B2-911A-46EC-812F-6895528B9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69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C78D747-41FD-4C49-85E1-69FACFC85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907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PATTERN AND REPAIR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4D28EE-66E4-4FD1-807A-A1F854F3B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146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1A6C84-846B-4680-BD09-E4FA44775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47950"/>
            <a:ext cx="101155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The company says its market is all OEMs that outsource manufacturing.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8723A79-DED4-49B8-87B2-2F67F8DD4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670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34B00E1-9A48-4FFB-A1FA-C05A898B6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0400"/>
            <a:ext cx="101155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That is too broad for demand generation and creates weak content, distribution, and routing.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BF5F08C-4883-46A8-90DC-D4B6CAB33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95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444D7FA-DF55-4CF9-A880-D6C036278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52850"/>
            <a:ext cx="101155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The sharper pilot ICP is export-oriented equipment OEMs needing medium-to-high complexity fabricated components with...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BFA2932-6130-4FF5-8A2A-9D49462E3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719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1697927-DEFE-47E9-8BC8-77338EE1C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05300"/>
            <a:ext cx="101155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Exclude one-off fabrication jobs, no-repeat accounts, and lowest-price procurement comparisons.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EE6FE2B-FF2C-4E39-9161-88B0760E2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5E4434D-79F6-4F5B-81EC-3D1D58F3B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03 - ICP, Segments, And Demand Focus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127E4FA-A545-4E5A-B02B-C5DE9AD7E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modules/module-01-industrial-demand-generation/lessons/03-icp-segments-and-demand-focus.md @ 9e28222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F3848C5-A765-4D58-AF90-083770C18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6/15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8E67391-73EF-4B9E-97C3-2780431D1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FF1E9D8-32C1-4D2A-B7A7-67D7A3A4A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428E1D-87F6-421C-AC88-5D699AD63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kicker-03-marker">
            <a:extLst xmlns:a="http://schemas.openxmlformats.org/drawingml/2006/main">
              <a:ext uri="{FF2B5EF4-FFF2-40B4-BE49-F238E27FC236}">
                <a16:creationId xmlns:a16="http://schemas.microsoft.com/office/drawing/2014/main" id="{5781A997-F337-4B36-B0A9-F7FB29BED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kicker-03-label">
            <a:extLst xmlns:a="http://schemas.openxmlformats.org/drawingml/2006/main">
              <a:ext uri="{FF2B5EF4-FFF2-40B4-BE49-F238E27FC236}">
                <a16:creationId xmlns:a16="http://schemas.microsoft.com/office/drawing/2014/main" id="{FD5B8F96-09A5-4A71-BCB9-5D5FA4E86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03 / COMPOSITE EXAMPLE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B9BC934-F5AC-4D64-A7CE-B0F819C7A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4850"/>
            <a:ext cx="8096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Composite precision fabrication supplier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E08EFAC-EB26-4FFE-BE0C-C627F9F1F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191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Use as an anonymized industrial pattern, not a named-company case study.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DEDBDB3-5B7A-486E-A0A4-A1085E758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00800"/>
            <a:ext cx="12192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6B7837E-89B3-40E2-AFEB-B9B3B932E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00800"/>
            <a:ext cx="1714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5C24A54-2CA9-4A3A-B7CB-0A209881F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64008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22B6F22-6E9A-4AE8-8ED7-69126B21D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135B276-1B01-4915-A813-A78D845AD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03 - ICP, Segments, And Demand Focus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D7D9E7D-FD32-4F18-9E3C-F7F7B0F9D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modules/module-01-industrial-demand-generation/lessons/03-icp-segments-and-demand-focus.md @ 9e28222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1FD0039-949B-4584-87BF-19EED918F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6/15</a:t>
            </a:r>
          </a:p>
        </p:txBody>
      </p:sp>
    </p:spTree>
    <p:extLst>
      <p:ext uri="{BB962C8B-B14F-4D97-AF65-F5344CB8AC3E}">
        <p14:creationId xmlns:p14="http://schemas.microsoft.com/office/powerpoint/2010/main" val="28189185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60F5C5C-513A-4891-8C75-E1419F7FD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8A8DB0-60A5-4756-8353-B519A1B22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911467-D07D-4D00-8FB7-9D7524CFC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03-marker">
            <a:extLst xmlns:a="http://schemas.openxmlformats.org/drawingml/2006/main">
              <a:ext uri="{FF2B5EF4-FFF2-40B4-BE49-F238E27FC236}">
                <a16:creationId xmlns:a16="http://schemas.microsoft.com/office/drawing/2014/main" id="{9690DFA4-6826-44F8-80E0-C5144703C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03-label">
            <a:extLst xmlns:a="http://schemas.openxmlformats.org/drawingml/2006/main">
              <a:ext uri="{FF2B5EF4-FFF2-40B4-BE49-F238E27FC236}">
                <a16:creationId xmlns:a16="http://schemas.microsoft.com/office/drawing/2014/main" id="{ECF6B8C5-6E97-45B3-9EF0-99B096FB3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03 / DIAGNOSTIC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3BA2CF-C64A-487B-A183-6A34357DA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4850"/>
            <a:ext cx="8096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Run the room on one hard operating question.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3C471A-FEE4-406F-A7C1-B8F35002A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191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This slide is the short live diagnostic before the exercise.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BE9CC2-A0DB-4067-87FA-AB1B7B13B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93E71C-372E-42F9-B214-38EAAB828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03 - ICP, Segments, And Demand Focus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69A92D-3F9A-4B71-893A-BAAE4FC75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modules/module-01-industrial-demand-generation/lessons/03-icp-segments-and-demand-focus.md @ 9e28222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220B83-F5C4-4956-8F0B-89BF2C0CF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7/15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55ED71-CE17-4236-8C35-A38CB1521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62150"/>
            <a:ext cx="109156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9525">
            <a:solidFill>
              <a:srgbClr val="12232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4E1AC0-B168-4D4C-9EBB-D2173DC1D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90750"/>
            <a:ext cx="100584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Which accounts are valuable enough, specific enough, and reachable enough to justify demand generation effort?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67B22D9-F9D0-44B9-AC96-77B79A55E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147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8B8B40B-37F6-4A8D-AA11-A6ADB351B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6385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QUESTION STACK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8AA720-2776-4127-A2A3-3D4F904F0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052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15DF0F5-DFB7-4F06-853C-3874AD134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038600"/>
            <a:ext cx="42100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What trigger makes the problem current?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D5CDD7F-C6F3-4080-A93B-15DD1C421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005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02E3F6B-9FBA-402F-9676-3D6B41166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533900"/>
            <a:ext cx="42100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Which roles must be educated?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7A527DF-A7D9-4DDB-8449-C9B790702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958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A3C8C5D-C5BE-47B1-BE95-D504F654F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029200"/>
            <a:ext cx="42100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What proof already exists?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35CF2EF-2ED7-4DB4-8185-E99043230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1052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05C62B6-2691-4CE2-A36A-5F0F4421F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038600"/>
            <a:ext cx="42100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What account types create low-quality RFQs?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523542F-49E4-46A4-A2C9-821E7E8C3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6005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CD0D6FD-84EA-4F0C-8DDE-18AE361E2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533900"/>
            <a:ext cx="42100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Where does sales currently waste time?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712DD1B-237F-49D0-84FC-B02584BD8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0958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AC43C27-AFEE-4ACB-83F2-C769F683E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5029200"/>
            <a:ext cx="42100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What segment can produce learning in 90 days?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BDA3B00-7D47-461C-8A89-2964C7BF0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B91327C-7B9E-4849-8C7E-17B9D42D9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03 - ICP, Segments, And Demand Focus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BAA40E8-388B-4DF2-B45E-63FBC5B82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modules/module-01-industrial-demand-generation/lessons/03-icp-segments-and-demand-focus.md @ 9e28222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1BF00C8-B7CA-4985-9025-CF4332448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7/15</a:t>
            </a:r>
          </a:p>
        </p:txBody>
      </p:sp>
    </p:spTree>
    <p:extLst>
      <p:ext uri="{BB962C8B-B14F-4D97-AF65-F5344CB8AC3E}">
        <p14:creationId xmlns:p14="http://schemas.microsoft.com/office/powerpoint/2010/main" val="944822071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14026EC-185C-4C64-A4C6-4BF62EF73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47FF2E-5BF6-4CF2-9CFB-57ADC9BE1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9FFD3C-0C04-4333-8A9D-261E462E3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03-marker">
            <a:extLst xmlns:a="http://schemas.openxmlformats.org/drawingml/2006/main">
              <a:ext uri="{FF2B5EF4-FFF2-40B4-BE49-F238E27FC236}">
                <a16:creationId xmlns:a16="http://schemas.microsoft.com/office/drawing/2014/main" id="{02AE0318-D76C-40C3-ABC2-25C5E2F6C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03-label">
            <a:extLst xmlns:a="http://schemas.openxmlformats.org/drawingml/2006/main">
              <a:ext uri="{FF2B5EF4-FFF2-40B4-BE49-F238E27FC236}">
                <a16:creationId xmlns:a16="http://schemas.microsoft.com/office/drawing/2014/main" id="{C3DC3BFD-D564-4957-A037-8F3DD9EFA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03 / EXERCISE SETUP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B0563E-BE4A-41A8-859A-49BE2DC2C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4850"/>
            <a:ext cx="8096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Segment comparison and focus statement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D92130-4819-480D-82DA-630ABB380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191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The exercise produces a working artifact, not class discussion notes.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A39907-2656-4475-8280-363411473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2882BA-25C4-4526-8A69-4450465CA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03 - ICP, Segments, And Demand Focus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CFC447-18E6-4EC6-AE93-9D503DBBE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modules/module-01-industrial-demand-generation/lessons/03-icp-segments-and-demand-focus.md @ 9e28222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673F9C-5225-47F8-B6ED-112E1CA2C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8/15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484195-AAB1-4FA9-B766-4CBA89880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38350"/>
            <a:ext cx="314325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446ED6-AB39-4221-AE0B-7C3FE0F8F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193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F33102-5DFB-44ED-9BAE-6BA4FF287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3431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TIMEBOX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87DDA6-DCAA-4B47-8B10-080FB035F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05100"/>
            <a:ext cx="22669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7 min segment scoring, 5 min focus statement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14BF8D7-47A2-46E2-8224-9702D0C04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3380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508F7D9-0882-4CC1-84F8-1F46655EB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5760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009D95C-AA14-4FA4-8B67-7ABB3AAFF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00500"/>
            <a:ext cx="2324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ICP and disqualification scorecard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0FD3514-0C92-41BB-BEF0-5152EBB15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038350"/>
            <a:ext cx="733425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AF7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23051D7-4A21-4C92-8104-D9D10D2FC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4193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A3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D8AED96-2E63-48CF-A093-284402D8B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3431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LEARNER ACTIONS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F83E965-68B8-4AEC-9487-1125D134E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78130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9D8"/>
          </a:solidFill>
          <a:ln xmlns:a="http://schemas.openxmlformats.org/drawingml/2006/main" w="9525">
            <a:solidFill>
              <a:srgbClr val="667A39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C693BC3-BF5F-45ED-9783-7ED694944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809875"/>
            <a:ext cx="2476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D60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D6072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A91E1E1-4FCA-43DE-871A-33167A779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2771775"/>
            <a:ext cx="56959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Compare three candidate segments by fit evidence, trigger evidence, access path, value potential,...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89513E7-6408-426F-99E2-2FEC96673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42900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9D8"/>
          </a:solidFill>
          <a:ln xmlns:a="http://schemas.openxmlformats.org/drawingml/2006/main" w="9525">
            <a:solidFill>
              <a:srgbClr val="667A39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A50591D-65D8-451A-8387-D87125989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457575"/>
            <a:ext cx="2476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D60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D6072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0B6F60C-3E65-47B9-A315-6DA40C52D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3419475"/>
            <a:ext cx="56959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Choose one 90-day focus segment.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9FA1CB1-875C-42A8-874D-085B76532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07670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9D8"/>
          </a:solidFill>
          <a:ln xmlns:a="http://schemas.openxmlformats.org/drawingml/2006/main" w="9525">
            <a:solidFill>
              <a:srgbClr val="667A39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7237B8A-4E78-407F-A39F-8428D9AB8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105275"/>
            <a:ext cx="2476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D60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D6072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F90D3A2-CF40-41B3-8123-4630D2823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4067175"/>
            <a:ext cx="56959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Write the demand focus statement and at least five rejection rules.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82BBB0C-F71F-4B7D-BC4A-57B0CA016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D042C5F-D24D-4C67-B13E-B67B6FCDF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03 - ICP, Segments, And Demand Focus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0D2E6CC-F3D1-45C9-B220-D04754A2A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modules/module-01-industrial-demand-generation/lessons/03-icp-segments-and-demand-focus.md @ 9e28222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40C7BD7-A4D7-44AF-A56E-25B131129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8/15</a:t>
            </a:r>
          </a:p>
        </p:txBody>
      </p:sp>
    </p:spTree>
    <p:extLst>
      <p:ext uri="{BB962C8B-B14F-4D97-AF65-F5344CB8AC3E}">
        <p14:creationId xmlns:p14="http://schemas.microsoft.com/office/powerpoint/2010/main" val="1762388098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540FDE6-0F8C-42D9-8C42-9F2A7BFCC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96C087-A7CC-4CFF-A7F1-96D36E3E5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7943C8-0043-40A9-B854-8DE76E986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03-marker">
            <a:extLst xmlns:a="http://schemas.openxmlformats.org/drawingml/2006/main">
              <a:ext uri="{FF2B5EF4-FFF2-40B4-BE49-F238E27FC236}">
                <a16:creationId xmlns:a16="http://schemas.microsoft.com/office/drawing/2014/main" id="{476CE17E-B599-42A3-919C-37D0C1A76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03-label">
            <a:extLst xmlns:a="http://schemas.openxmlformats.org/drawingml/2006/main">
              <a:ext uri="{FF2B5EF4-FFF2-40B4-BE49-F238E27FC236}">
                <a16:creationId xmlns:a16="http://schemas.microsoft.com/office/drawing/2014/main" id="{5329E26F-746E-4F47-8D1A-93A69E2DF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03 / GROUP CRITIQUE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E54832-3D83-4C9B-9429-D832450F7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4850"/>
            <a:ext cx="8096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Critique the operating decision, not the writing style.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D49B7B-19EA-47BE-A7FD-C189AE832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191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Peers should find one false assumption, missing proof need, or unclear owner.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49E453-DAD7-42FC-B468-753E43AD8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FEAA85-A3AD-498D-BE2F-967C53290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03 - ICP, Segments, And Demand Focus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3400B0-0F8D-460E-8077-9E07DBD45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modules/module-01-industrial-demand-generation/lessons/03-icp-segments-and-demand-focus.md @ 9e28222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8064D4-D68D-452E-A1DB-C07F21333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9/15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9B0C4AF-58C2-4AD1-83DE-A2F23429C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809750"/>
            <a:ext cx="11963400" cy="459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9D2970-B9E5-46C1-B069-3A40E7563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809750"/>
            <a:ext cx="11963400" cy="459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24EB4B-3FA7-4F8F-BFDB-201058E93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69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FE20B36-B244-4490-812B-E77C8226D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907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TEST THE ARTIFACT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483C35-43CB-438A-A659-656EE80AE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4795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8E9"/>
          </a:solidFill>
          <a:ln xmlns:a="http://schemas.openxmlformats.org/drawingml/2006/main" w="9525">
            <a:solidFill>
              <a:srgbClr val="1D607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1BD6219-BC67-4B24-A96E-1DA7939D7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76525"/>
            <a:ext cx="2476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D60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D6072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F80FBDA-AD6B-411A-85A6-707EA4423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638425"/>
            <a:ext cx="436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Is the ICP narrow enough for 90 days?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AD2338E-AD03-40E7-953E-7540E7F8C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8E9"/>
          </a:solidFill>
          <a:ln xmlns:a="http://schemas.openxmlformats.org/drawingml/2006/main" w="9525">
            <a:solidFill>
              <a:srgbClr val="1D6072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87C0786-6C61-4969-BCC5-FF8F2AEE9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67075"/>
            <a:ext cx="2476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D60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D6072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13BEF92-2286-48FA-BA01-A474F8EC8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228975"/>
            <a:ext cx="436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What accounts should be excluded immediately?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694F5AE-72DE-44CE-8424-A7630A6D1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2905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8E9"/>
          </a:solidFill>
          <a:ln xmlns:a="http://schemas.openxmlformats.org/drawingml/2006/main" w="9525">
            <a:solidFill>
              <a:srgbClr val="1D607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9744786-E9D6-4196-B369-F046288DF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2476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D60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D6072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E948958-4B96-4549-8F0C-0906A2CED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819525"/>
            <a:ext cx="436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What signal would prove the segment is moving?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2C9FFAD-BA26-4894-B680-5DD9B96D6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2669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DADE0E7-198A-4CE1-BFDC-0D953204F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1907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FORCE THE REPAIR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582FD13-7742-4737-BA05-3BB0A48AD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4795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DFD5"/>
          </a:solidFill>
          <a:ln xmlns:a="http://schemas.openxmlformats.org/drawingml/2006/main" w="9525">
            <a:solidFill>
              <a:srgbClr val="A85D2A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EE48210-2252-4F57-BDE2-ADBA910FA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76525"/>
            <a:ext cx="2476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D60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D6072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E600D44-1EFE-4735-99B8-21DB1E545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638425"/>
            <a:ext cx="436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What buyer roles must be visible?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1A73C94-ECD3-4029-A2B0-4A3E52425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23850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DFD5"/>
          </a:solidFill>
          <a:ln xmlns:a="http://schemas.openxmlformats.org/drawingml/2006/main" w="9525">
            <a:solidFill>
              <a:srgbClr val="A85D2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C5D6E2D-55E9-490D-AA13-9829FD325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267075"/>
            <a:ext cx="2476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D60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D6072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41DBBB5-E9B3-47E6-9FE5-92156CDFB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228975"/>
            <a:ext cx="436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What content becomes specific because the ICP is narrow?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559D8F0-FE08-4FB2-9898-06C0A7C39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82905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DFD5"/>
          </a:solidFill>
          <a:ln xmlns:a="http://schemas.openxmlformats.org/drawingml/2006/main" w="9525">
            <a:solidFill>
              <a:srgbClr val="A85D2A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DE4CA1B-992A-4D2D-A2E3-7B39C4C78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857625"/>
            <a:ext cx="2476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D60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D6072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BF40083-7E0C-4D61-931D-D9B6DC1AD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819525"/>
            <a:ext cx="436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What will leadership be tempted to broaden too early?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87631A8-6D37-403F-A311-427EE70B8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F09A9AC-9C8E-48C7-9C69-CAB0AE896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03 - ICP, Segments, And Demand Focus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828766C-C11F-4201-A09B-7A7B27869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modules/module-01-industrial-demand-generation/lessons/03-icp-segments-and-demand-focus.md @ 9e28222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74908EF-A8E6-488C-9329-90E6E104D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9/15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91B270E-D81D-490D-AF00-BC5F205B1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527AEAF-6EAC-40E8-93E1-78F282CC9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D1D63B9-1757-4D38-9C41-C693DD9B7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kicker-03-marker">
            <a:extLst xmlns:a="http://schemas.openxmlformats.org/drawingml/2006/main">
              <a:ext uri="{FF2B5EF4-FFF2-40B4-BE49-F238E27FC236}">
                <a16:creationId xmlns:a16="http://schemas.microsoft.com/office/drawing/2014/main" id="{B8E0BBDD-75F5-46F1-9393-177D3334F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kicker-03-label">
            <a:extLst xmlns:a="http://schemas.openxmlformats.org/drawingml/2006/main">
              <a:ext uri="{FF2B5EF4-FFF2-40B4-BE49-F238E27FC236}">
                <a16:creationId xmlns:a16="http://schemas.microsoft.com/office/drawing/2014/main" id="{FB8A5481-9971-42A6-8E1D-F8072265E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03 / GROUP CRITIQUE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E58CE14-3F63-40D3-8603-1BE1479E7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4850"/>
            <a:ext cx="8096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Critique the operating decision, not the writing style.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2C41E13-1ABE-4197-AADC-039CE59CC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191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Peers should find one false assumption, missing proof need, or unclear owner.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E6035EA-8137-4398-8D2C-5F7C1C698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00800"/>
            <a:ext cx="12192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9523B20-723D-4261-9F7B-271A24320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00800"/>
            <a:ext cx="1714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32776FD-157A-42D4-B578-574721A18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64008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32CD093-AE26-4E77-886D-9906ABEAB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FA9835E-E214-4676-91C9-C0BE7D561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03 - ICP, Segments, And Demand Focus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69A4FFEB-C971-4593-8ECA-4224B4CD1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modules/module-01-industrial-demand-generation/lessons/03-icp-segments-and-demand-focus.md @ 9e28222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24A13FE-F864-4A3E-902A-C1658C8AF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9/15</a:t>
            </a:r>
          </a:p>
        </p:txBody>
      </p:sp>
    </p:spTree>
    <p:extLst>
      <p:ext uri="{BB962C8B-B14F-4D97-AF65-F5344CB8AC3E}">
        <p14:creationId xmlns:p14="http://schemas.microsoft.com/office/powerpoint/2010/main" val="317248135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9F5D4C9-4E4F-4C53-98AE-5E5C4072B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2A4F98-F7BC-45B6-9E2B-48045CBDB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A22037-F116-4041-9E17-519FE9E4C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03-marker">
            <a:extLst xmlns:a="http://schemas.openxmlformats.org/drawingml/2006/main">
              <a:ext uri="{FF2B5EF4-FFF2-40B4-BE49-F238E27FC236}">
                <a16:creationId xmlns:a16="http://schemas.microsoft.com/office/drawing/2014/main" id="{9F0E04AE-BAA8-48E5-A0FB-CFD12496D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03-label">
            <a:extLst xmlns:a="http://schemas.openxmlformats.org/drawingml/2006/main">
              <a:ext uri="{FF2B5EF4-FFF2-40B4-BE49-F238E27FC236}">
                <a16:creationId xmlns:a16="http://schemas.microsoft.com/office/drawing/2014/main" id="{44880FA1-4372-4EE1-96F1-A50450317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03 / STRUCTURED DRAFTING DRILL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E0D0AF-28B7-4F8F-ACE0-A5F70967A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4850"/>
            <a:ext cx="8096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Structure the first draft before the room critiques it.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1F33EC-301A-42AD-A6C2-4250F09F1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191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The brief is constrained by source evidence, assumptions, output standard, and validation.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A8A473-EBDD-476F-869A-9730E3B2B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0DE48E-FD25-4F82-A645-15A7C0BB9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03 - ICP, Segments, And Demand Focus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CD6C67-70D6-4EBF-AEFA-ECC6150F1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modules/module-01-industrial-demand-generation/lessons/03-icp-segments-and-demand-focus.md @ 9e28222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1D4574-D0E9-492E-BEA3-01153CBD3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10/15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1C8E96-7716-4AE6-8C93-9162F92F8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809750"/>
            <a:ext cx="12192000" cy="459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9525">
            <a:solidFill>
              <a:srgbClr val="F5F6F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BAFA4A7-343E-4593-A6ED-63EF3E8EC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38350"/>
            <a:ext cx="5619750" cy="3181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012237-8B62-4AE4-97E5-DDC49A7A6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193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A681DA-6B86-47FF-AFF2-AACD8C1AD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3431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DRAFTING BRIEF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17759A0-0C0B-4B83-B2D4-4854A3432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62250"/>
            <a:ext cx="4610100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Compare three candidate industrial segments by fit, trigger, access, commercial value, committee feasibility, proof availability, and pilot feasibility. Recommend one 90-day ICP, explain why it is narrow enough, define explicit disqualification rules, and list risks or assumptions the team must validate.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5647AEE-EBC0-4723-BF57-76D0E09FB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038350"/>
            <a:ext cx="4933950" cy="3181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AF7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33AD04B-F541-4C55-9D44-C7A28EE62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4193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1EB06A3-E5F6-48C3-B6AF-0F0C5558B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3431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REQUIRED OUTPUT STANDARD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9748E09-0A05-49B6-929B-B07A6C8A5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8479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894E210-5B42-4574-8840-1D2B00270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781300"/>
            <a:ext cx="3619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Ranks by fit, trigger, access, value, and feasibility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1199BD3-CE5D-4FDA-9099-042068A9F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3242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21626B0-DA48-4018-A452-F6499BA3F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257550"/>
            <a:ext cx="3619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Explains why the chosen segment is narrow enough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48BFDEA-18E3-4A17-8498-BB67C2D38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8004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30DDE15-3F3A-4D48-8503-DFFF6A4BD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733800"/>
            <a:ext cx="3619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Includes explicit rejection rules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9502E6D-16F8-4B77-8412-76ED491CB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2767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00DF785-C61E-410A-95D3-947574EA7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210050"/>
            <a:ext cx="3619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Names likely committee roles and demand signals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D4BBF77-5C33-45EE-B3F2-B5705148C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43CCF7F-722A-4C7C-A87B-1C119B30A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03 - ICP, Segments, And Demand Focus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68202C2-45EC-4F40-8CEF-DB23DE103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modules/module-01-industrial-demand-generation/lessons/03-icp-segments-and-demand-focus.md @ 9e28222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88F5DEA-264B-4804-A5F2-26E4107B5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10/15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80F1731-CDF8-4B28-BF2B-270C31190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88ECB50-8B2D-4A5C-A75D-AB91E7E5A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CEBAAA9-A5F2-4E5B-B8D7-959D6226C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kicker-03-marker">
            <a:extLst xmlns:a="http://schemas.openxmlformats.org/drawingml/2006/main">
              <a:ext uri="{FF2B5EF4-FFF2-40B4-BE49-F238E27FC236}">
                <a16:creationId xmlns:a16="http://schemas.microsoft.com/office/drawing/2014/main" id="{2A5EBF6F-547D-492F-A342-76F41F823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kicker-03-label">
            <a:extLst xmlns:a="http://schemas.openxmlformats.org/drawingml/2006/main">
              <a:ext uri="{FF2B5EF4-FFF2-40B4-BE49-F238E27FC236}">
                <a16:creationId xmlns:a16="http://schemas.microsoft.com/office/drawing/2014/main" id="{24272E9A-2DCB-43F8-92AE-43D95592B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03 / STRUCTURED DRAFTING DRILL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B9957AE-541E-4496-8C08-060F06E25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4850"/>
            <a:ext cx="8096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Structure the first draft before the room critiques it.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4B9E034-EDEF-43A2-8BF1-9281D942C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191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The brief is constrained by source evidence, assumptions, output standard, and validation.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CDB8632-45AA-453E-AD18-6BCA37D3C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00800"/>
            <a:ext cx="12192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0F0FD11-E99A-402B-BC13-25CBDC186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00800"/>
            <a:ext cx="1714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C6930C8-354F-4D56-BF4C-BA10527C3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64008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C7EBA73-6D6A-49BF-90F3-1B63C0755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FD4F0D5-DD15-4108-8639-72F1D3B5C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03 - ICP, Segments, And Demand Focus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85BC85A-BE00-4EF6-9C4E-5DFF010C4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modules/module-01-industrial-demand-generation/lessons/03-icp-segments-and-demand-focus.md @ 9e28222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971552E-F7BC-4AEB-A195-85D5FEE2A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10/15</a:t>
            </a:r>
          </a:p>
        </p:txBody>
      </p:sp>
    </p:spTree>
    <p:extLst>
      <p:ext uri="{BB962C8B-B14F-4D97-AF65-F5344CB8AC3E}">
        <p14:creationId xmlns:p14="http://schemas.microsoft.com/office/powerpoint/2010/main" val="889863069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5049AB1-3A52-41FE-9F7B-6A26A5E15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F63DC0-43AD-4D04-AF5B-D7AC20972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1CBD89-B2BC-404D-A42F-977211F04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03-marker">
            <a:extLst xmlns:a="http://schemas.openxmlformats.org/drawingml/2006/main">
              <a:ext uri="{FF2B5EF4-FFF2-40B4-BE49-F238E27FC236}">
                <a16:creationId xmlns:a16="http://schemas.microsoft.com/office/drawing/2014/main" id="{53D30A30-53AC-41CC-8A3E-9F359BA8F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03-label">
            <a:extLst xmlns:a="http://schemas.openxmlformats.org/drawingml/2006/main">
              <a:ext uri="{FF2B5EF4-FFF2-40B4-BE49-F238E27FC236}">
                <a16:creationId xmlns:a16="http://schemas.microsoft.com/office/drawing/2014/main" id="{8E087599-9022-45E5-ADBB-F5692B575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03 / QUALITY CONTROL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AAAF68-9A4A-403B-93FC-1DC98E8BC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4850"/>
            <a:ext cx="8096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Reject weak artifacts before they become operating practice.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FC2194-2BB7-480A-B547-B9E05A2F5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191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This slide gives the instructor a rejection standard.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ED1EED-6909-4EC4-AE8F-0FCE37664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B102B7-B9CA-4577-8411-2D99ADE0C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03 - ICP, Segments, And Demand Focus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42B4FC1-FF10-4195-ABBE-D13AA51A1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modules/module-01-industrial-demand-generation/lessons/03-icp-segments-and-demand-focus.md @ 9e28222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C62E2E-0754-4044-B5CB-F4DDF2887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11/15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01A94D-71DA-4991-B646-DF5FDB82C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809750"/>
            <a:ext cx="11963400" cy="459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D9A235D-4E45-48A0-A418-8A41F77B3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809750"/>
            <a:ext cx="7677150" cy="459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152C73-320F-4F8A-A299-B43BE8BE8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69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49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053237-093B-4294-B7AC-8A2F1346D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907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REJECT OR REPAIR WHEN THE ARTIFACT...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24B469D-0EE3-4379-ABE8-0DBC886BF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146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49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37CBE8-B120-49B6-93FE-74B060018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47950"/>
            <a:ext cx="5924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Reject market size as the main reason.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5C03FDC-8B05-48A4-82E7-81EEF1861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718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49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D017E5-9375-4619-A146-F66E3D8C1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05150"/>
            <a:ext cx="5924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Reject broad categories without triggers.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24A2375-B005-4953-B2DD-46EFC93DD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290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49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61D840F-4BCA-40E0-8743-0C181F7D2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62350"/>
            <a:ext cx="5924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Reject segments with no commercial value threshold.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528E073-788C-4D94-9B81-EA31AB99E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862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49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44B6D27-172D-4564-B543-3E2563875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19550"/>
            <a:ext cx="5924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Reject digital-access assumptions where relationship channels dominate.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9E61F9D-4F9B-41F3-9B15-8C99E82B6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434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49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CEE4BE5-2758-4A05-BBCB-41BF5E8E5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76750"/>
            <a:ext cx="5924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Reject any pilot without disqualification.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716E817-61BF-4539-95FA-A0FC09C85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809750"/>
            <a:ext cx="4286250" cy="459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AF7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BB2DC33-C99C-4FFF-AC64-C26250D00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2669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A3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80EC159-25E2-4DF2-8FAF-177D01116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1907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QUALITY CONTROL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44F9A8C-3931-4B7C-A86E-52AF54632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647950"/>
            <a:ext cx="2857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The correction standard is not nicer wording. It is better industrial judgment: category specificity, proof, owner, field, SLA, cadence, and disqualification where needed.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26E4D2E-B4CC-43C4-B953-109FB1E6D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5353050"/>
            <a:ext cx="26479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9525">
            <a:solidFill>
              <a:srgbClr val="12232B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65A4C79-0ABF-43A6-A402-3225899C2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5505450"/>
            <a:ext cx="1428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AFC3C8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AFC3C8"/>
                </a:solidFill>
                <a:latin typeface="Aptos"/>
                <a:ea typeface="Aptos"/>
                <a:cs typeface="Aptos"/>
              </a:rPr>
              <a:t>INSTRUCTOR CUE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5DC7E5E-3D67-436D-BC6F-7BF9E1BD1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5676900"/>
            <a:ext cx="2190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Ask what the artifact assumes.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5F2C313-E6F1-47A4-8176-AC315BFB7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17A9F00-9F0B-474D-8D7E-440C2EEF4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03 - ICP, Segments, And Demand Focus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9CE7753-1AEB-4821-B5D1-D941C8E78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modules/module-01-industrial-demand-generation/lessons/03-icp-segments-and-demand-focus.md @ 9e28222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812006F-BCCA-49B9-B1C3-03E64CA7B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11/15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E97A720-9C63-48E9-8CC0-57C698460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0B2F02F-DBA0-46E4-8835-A916FD474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01AD4FE-B355-420E-B93E-138367AD8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kicker-03-marker">
            <a:extLst xmlns:a="http://schemas.openxmlformats.org/drawingml/2006/main">
              <a:ext uri="{FF2B5EF4-FFF2-40B4-BE49-F238E27FC236}">
                <a16:creationId xmlns:a16="http://schemas.microsoft.com/office/drawing/2014/main" id="{1FAC0EF2-E555-4E0A-8B7B-56CF610BE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kicker-03-label">
            <a:extLst xmlns:a="http://schemas.openxmlformats.org/drawingml/2006/main">
              <a:ext uri="{FF2B5EF4-FFF2-40B4-BE49-F238E27FC236}">
                <a16:creationId xmlns:a16="http://schemas.microsoft.com/office/drawing/2014/main" id="{6CF3232C-0CF0-45D7-9550-75ABE454E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03 / QUALITY CONTROL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0BDB7C0-1040-4438-ABA6-2E9B0F693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4850"/>
            <a:ext cx="8096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Reject weak artifacts before they become operating practice.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5AE47F9-75F7-44C3-883F-52ED63174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191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This slide gives the instructor a rejection standard.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B2430CB-1714-4854-9CCB-FDD71DE85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00800"/>
            <a:ext cx="12192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AE142CD-2849-424D-93FC-1020A9430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00800"/>
            <a:ext cx="1714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341A14C-09F0-44E4-9FAD-A02E365B5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64008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33C3D34-04B0-4E01-9AC6-77675EDD4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1F3C14A-EC20-4D3C-AC40-9507868AE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03 - ICP, Segments, And Demand Focus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90F002F-36E1-4A9F-BE99-C712644C9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modules/module-01-industrial-demand-generation/lessons/03-icp-segments-and-demand-focus.md @ 9e28222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8287D52-B207-44E9-A230-79E9CA257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11/15</a:t>
            </a:r>
          </a:p>
        </p:txBody>
      </p:sp>
    </p:spTree>
    <p:extLst>
      <p:ext uri="{BB962C8B-B14F-4D97-AF65-F5344CB8AC3E}">
        <p14:creationId xmlns:p14="http://schemas.microsoft.com/office/powerpoint/2010/main" val="1214840286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5475E0C-B8F7-4BEB-A6C0-8147B3BE1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268307-F254-43A3-82DE-57E515094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065E3C-B3B8-406F-A24C-7129ED778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03-marker">
            <a:extLst xmlns:a="http://schemas.openxmlformats.org/drawingml/2006/main">
              <a:ext uri="{FF2B5EF4-FFF2-40B4-BE49-F238E27FC236}">
                <a16:creationId xmlns:a16="http://schemas.microsoft.com/office/drawing/2014/main" id="{74EB8BAD-E176-406E-891E-40538D01A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03-label">
            <a:extLst xmlns:a="http://schemas.openxmlformats.org/drawingml/2006/main">
              <a:ext uri="{FF2B5EF4-FFF2-40B4-BE49-F238E27FC236}">
                <a16:creationId xmlns:a16="http://schemas.microsoft.com/office/drawing/2014/main" id="{1882D974-772C-45BA-BFD2-B148DC160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03 / REVOPS TRANSLATION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7D875B-554C-415E-A504-20D8BD550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4850"/>
            <a:ext cx="8096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RevOps should prove that focus is real.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761047-EB31-4D33-A7B1-EB3C3C353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191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Every artifact must become inspectable in a field, board, owner model, or cadence.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FADA7B-E24C-42A3-B747-771455133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A8D680-994A-403F-BAEF-18B2AB70C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03 - ICP, Segments, And Demand Focus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9180A9-5171-4A33-AC23-D82B04DC6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modules/module-01-industrial-demand-generation/lessons/03-icp-segments-and-demand-focus.md @ 9e28222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1676026-F5FF-4E74-A592-958382D19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12/15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6D16A5-A706-47B6-912D-BD6369363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66950"/>
            <a:ext cx="3333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9447789-82F7-4EEC-A3D0-0F68E97EF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66950"/>
            <a:ext cx="571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6742480-99A8-42F6-9959-197044EC6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38400"/>
            <a:ext cx="2933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026"/>
                </a:solidFill>
                <a:latin typeface="Aptos"/>
                <a:ea typeface="Aptos"/>
                <a:cs typeface="Aptos"/>
              </a:rPr>
              <a:t>ICP fit score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C89A77-476D-40EA-8B89-9EE592D79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266950"/>
            <a:ext cx="3333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7D38362-7E05-4890-A0E2-D4F7FB86C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266950"/>
            <a:ext cx="571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43E2963-030F-490A-BE66-442FD6486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38400"/>
            <a:ext cx="2933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026"/>
                </a:solidFill>
                <a:latin typeface="Aptos"/>
                <a:ea typeface="Aptos"/>
                <a:cs typeface="Aptos"/>
              </a:rPr>
              <a:t>Fit reason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4D13BE1-5623-4930-B0E3-CE516E67A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266950"/>
            <a:ext cx="3333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444C026-810A-4DAE-B7DF-6031A6496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266950"/>
            <a:ext cx="571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A3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41DBC74-8400-4A62-8A13-C9B9328C5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438400"/>
            <a:ext cx="2933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026"/>
                </a:solidFill>
                <a:latin typeface="Aptos"/>
                <a:ea typeface="Aptos"/>
                <a:cs typeface="Aptos"/>
              </a:rPr>
              <a:t>Trigger type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1CA615B-1386-4337-A516-B1C47E210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62300"/>
            <a:ext cx="3333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E4FE991-B290-4982-A0C9-C34F7BB6B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62300"/>
            <a:ext cx="571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B621746-81A2-47C1-9CAA-E7F60CA5A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33750"/>
            <a:ext cx="2933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026"/>
                </a:solidFill>
                <a:latin typeface="Aptos"/>
                <a:ea typeface="Aptos"/>
                <a:cs typeface="Aptos"/>
              </a:rPr>
              <a:t>Trigger evidence and date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FAACC17-A378-4B81-9B95-14BEF0744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162300"/>
            <a:ext cx="3333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A7830C1-DFEF-48C5-ACEF-A679E820C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162300"/>
            <a:ext cx="571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3F697DF-CF90-42C4-AB96-022536ADD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333750"/>
            <a:ext cx="2933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026"/>
                </a:solidFill>
                <a:latin typeface="Aptos"/>
                <a:ea typeface="Aptos"/>
                <a:cs typeface="Aptos"/>
              </a:rPr>
              <a:t>Pilot segment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02DE580-023B-4C95-87F5-C9872A8EB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162300"/>
            <a:ext cx="3333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C8CB539-E90D-4D0C-B3AB-5A5A0E5A2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162300"/>
            <a:ext cx="571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A3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A987CD1-12F7-4340-9E3A-EF1BE11F6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333750"/>
            <a:ext cx="2933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026"/>
                </a:solidFill>
                <a:latin typeface="Aptos"/>
                <a:ea typeface="Aptos"/>
                <a:cs typeface="Aptos"/>
              </a:rPr>
              <a:t>Access path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CC69628-69AF-4D72-9969-487847A59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57650"/>
            <a:ext cx="3333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D790B8C-98CF-40AA-A1D7-6EFFA79A8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57650"/>
            <a:ext cx="571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327B869-A05D-4800-8862-DB4DDCAD5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29100"/>
            <a:ext cx="2933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026"/>
                </a:solidFill>
                <a:latin typeface="Aptos"/>
                <a:ea typeface="Aptos"/>
                <a:cs typeface="Aptos"/>
              </a:rPr>
              <a:t>Disqualification reason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82A4F47-33E7-45FF-AE95-381925B04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057650"/>
            <a:ext cx="3333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0E1CE97-3802-4B62-A3EA-927CCB93C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057650"/>
            <a:ext cx="571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3990192-687E-49D4-AA9D-46C8118F2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229100"/>
            <a:ext cx="2933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026"/>
                </a:solidFill>
                <a:latin typeface="Aptos"/>
                <a:ea typeface="Aptos"/>
                <a:cs typeface="Aptos"/>
              </a:rPr>
              <a:t>Progression state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1DC14C0-DC20-402F-9D14-9D034C2B9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5353050"/>
            <a:ext cx="26479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9525">
            <a:solidFill>
              <a:srgbClr val="12232B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663A740-CAB7-4A3A-B150-F861856D6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5505450"/>
            <a:ext cx="1428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AFC3C8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AFC3C8"/>
                </a:solidFill>
                <a:latin typeface="Aptos"/>
                <a:ea typeface="Aptos"/>
                <a:cs typeface="Aptos"/>
              </a:rPr>
              <a:t>INSTRUCTOR CUE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91285E5-77D8-45FF-8E5A-4786F5A30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5676900"/>
            <a:ext cx="2190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If it cannot be tracked, it is not operational yet.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FEB0EE0-A922-4C36-A8B7-4B3D987FF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4D14482-6CB2-45C5-9DD6-6F65A684D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03 - ICP, Segments, And Demand Focus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C0C151B-DF25-40D5-B0AF-B6C330536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modules/module-01-industrial-demand-generation/lessons/03-icp-segments-and-demand-focus.md @ 9e28222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B22E498-1C5D-41C1-B128-75E869930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12/15</a:t>
            </a:r>
          </a:p>
        </p:txBody>
      </p:sp>
    </p:spTree>
    <p:extLst>
      <p:ext uri="{BB962C8B-B14F-4D97-AF65-F5344CB8AC3E}">
        <p14:creationId xmlns:p14="http://schemas.microsoft.com/office/powerpoint/2010/main" val="1323033702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F5725DA-9560-4CAF-B17C-454E21992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65338C-D9B8-47BD-ABFB-8613DEC34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3B6F4C-E5D4-437B-BC52-26CBE7322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03-marker">
            <a:extLst xmlns:a="http://schemas.openxmlformats.org/drawingml/2006/main">
              <a:ext uri="{FF2B5EF4-FFF2-40B4-BE49-F238E27FC236}">
                <a16:creationId xmlns:a16="http://schemas.microsoft.com/office/drawing/2014/main" id="{9CCA3CD9-0A06-4026-AEF9-F9278BB63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03-label">
            <a:extLst xmlns:a="http://schemas.openxmlformats.org/drawingml/2006/main">
              <a:ext uri="{FF2B5EF4-FFF2-40B4-BE49-F238E27FC236}">
                <a16:creationId xmlns:a16="http://schemas.microsoft.com/office/drawing/2014/main" id="{7007ABE8-D62D-4BC1-AF41-C7AC05801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03 / FAILURE MODES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2115B9-C304-4274-8C1B-860EDA661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4850"/>
            <a:ext cx="8096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Name the anti-pattern before it becomes field behavior.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61BFA6-0FE1-4160-A575-FBC828861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191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Use this slide to make weak work easier to reject in the moment.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CE2695-41D3-415D-8168-2F9B87844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FB63A5-6F61-435C-B758-6C68628D0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03 - ICP, Segments, And Demand Focus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2D4542-7069-4E09-BF95-255144DD1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modules/module-01-industrial-demand-generation/lessons/03-icp-segments-and-demand-focus.md @ 9e28222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4B8C9A-A624-491A-B0E4-067052DC2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13/15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7FE2CF-B529-4488-BFF3-EDA9D7E93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809750"/>
            <a:ext cx="11963400" cy="459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00DB64-E485-47D7-BC04-5A82BD15D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809750"/>
            <a:ext cx="11963400" cy="459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8DFE985-1C80-4857-AFCE-584E489FA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809750"/>
            <a:ext cx="119634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9525">
            <a:solidFill>
              <a:srgbClr val="12232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7D6D49-6D2D-4520-B37A-6865CF597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9240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Failure mode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E53AB08-A439-45E8-B267-367599E91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924050"/>
            <a:ext cx="2762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What it looks like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D64CE2D-D62F-41D0-B676-1D91464B6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1924050"/>
            <a:ext cx="2857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Correction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5C7C678-7A12-4074-B298-3AC1548B6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2209800"/>
            <a:ext cx="11963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32BDDC2-0E41-4ED2-A8FF-46FDF983F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23812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26"/>
                </a:solidFill>
                <a:latin typeface="Aptos"/>
                <a:ea typeface="Aptos"/>
                <a:cs typeface="Aptos"/>
              </a:rPr>
              <a:t>Broad market fantasy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C4E254-A690-46D7-8484-B34F766D0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381250"/>
            <a:ext cx="285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We serve all manufacturers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8FDCE91-7DEC-4F26-9EB2-01E48F800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381250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Narrow by trigger, application, value, and access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5C7974B-F295-4C6A-8F25-EE13E8AA7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2933700"/>
            <a:ext cx="119634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095C077-C2AB-4A04-865E-EA2026F5B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2933700"/>
            <a:ext cx="11963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70A736F-CF28-4669-B0F0-23A235309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31051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26"/>
                </a:solidFill>
                <a:latin typeface="Aptos"/>
                <a:ea typeface="Aptos"/>
                <a:cs typeface="Aptos"/>
              </a:rPr>
              <a:t>Logo wish list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8D7F194-B3A4-41AB-B0CA-8F7070D39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105150"/>
            <a:ext cx="285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Accounts chosen because they are famous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3F141C3-67EB-4ED2-8676-08D90BF25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105150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Require fit, trigger, proof, and access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5D548FD-A2C6-4E41-8162-3040F72DF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3657600"/>
            <a:ext cx="11963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C96DEAE-F3DF-4233-8A6B-2EE79B06A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38290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26"/>
                </a:solidFill>
                <a:latin typeface="Aptos"/>
                <a:ea typeface="Aptos"/>
                <a:cs typeface="Aptos"/>
              </a:rPr>
              <a:t>Price-led inbound trap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B799E38-0666-473E-BB87-A33982537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829050"/>
            <a:ext cx="285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Weak-fit RFQs consume effort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9AB0E1D-9915-4B69-9F0F-B1924BD5E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829050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Route low-fit inquiries differently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DA5C903-570B-441E-98FF-387782268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4381500"/>
            <a:ext cx="119634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AD3152C-67CF-42B5-9D32-1A0C1CC02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4381500"/>
            <a:ext cx="11963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A29AE02-378A-44C4-AE7C-2C90C7E8B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5529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26"/>
                </a:solidFill>
                <a:latin typeface="Aptos"/>
                <a:ea typeface="Aptos"/>
                <a:cs typeface="Aptos"/>
              </a:rPr>
              <a:t>No exclusion logic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8CF6552-3D3D-4A8E-9CBB-3F3891F50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552950"/>
            <a:ext cx="285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Every account stays in the system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3E9DB6F-9F49-400B-BFCA-DD7DEEAF7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552950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Add downgrade and disqualification rules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AD6037F-3085-440D-904A-6D2E63032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0A4EE7E-06F4-4822-A4EB-C9C122A04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03 - ICP, Segments, And Demand Focus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C725018-C2F0-4820-826E-C24B3BAB1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modules/module-01-industrial-demand-generation/lessons/03-icp-segments-and-demand-focus.md @ 9e28222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B5EBC73-02FB-4407-9016-5205B3B62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13/15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6440EDC-C848-47A1-B19E-DEAC18330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6746D5C-B7FC-4E08-A365-3D1FB8701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0EE8FDF-B23B-481F-BD26-59E1619A9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kicker-03-marker">
            <a:extLst xmlns:a="http://schemas.openxmlformats.org/drawingml/2006/main">
              <a:ext uri="{FF2B5EF4-FFF2-40B4-BE49-F238E27FC236}">
                <a16:creationId xmlns:a16="http://schemas.microsoft.com/office/drawing/2014/main" id="{12F61815-E45B-46BC-99EC-8E2D9C3E8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kicker-03-label">
            <a:extLst xmlns:a="http://schemas.openxmlformats.org/drawingml/2006/main">
              <a:ext uri="{FF2B5EF4-FFF2-40B4-BE49-F238E27FC236}">
                <a16:creationId xmlns:a16="http://schemas.microsoft.com/office/drawing/2014/main" id="{06D71804-FB36-49B5-902F-A3CB8A387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03 / FAILURE MODES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CB33782-48C4-4308-A942-781E9433B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4850"/>
            <a:ext cx="8096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Name the anti-pattern before it becomes field behavior.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49734D0-E65D-47EC-90F4-6D52C36A6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191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Use this slide to make weak work easier to reject in the moment.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A5AA687-22D4-403D-8160-16C3F31E7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00800"/>
            <a:ext cx="12192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98D319C-5130-48C6-B712-0B5F7E930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00800"/>
            <a:ext cx="1714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25E20C4-C409-4D59-8336-3F046E9BD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64008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462CD54-2FD5-45B5-A281-44095EEE5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78CDA73-9389-42FF-89AC-1FA772DD8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03 - ICP, Segments, And Demand Focus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3426BFF-B5DD-4128-B634-539C434CD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modules/module-01-industrial-demand-generation/lessons/03-icp-segments-and-demand-focus.md @ 9e28222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E12C82A-FF6B-4D34-BECD-352032AAD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13/15</a:t>
            </a:r>
          </a:p>
        </p:txBody>
      </p:sp>
    </p:spTree>
    <p:extLst>
      <p:ext uri="{BB962C8B-B14F-4D97-AF65-F5344CB8AC3E}">
        <p14:creationId xmlns:p14="http://schemas.microsoft.com/office/powerpoint/2010/main" val="771359062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DD58604-49B6-4ADD-BD9E-702B12FF3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F18B84-B9EF-4065-BDE4-B5AAA57A3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8E7F47-6203-4E2A-AF75-B8E43843C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03-marker">
            <a:extLst xmlns:a="http://schemas.openxmlformats.org/drawingml/2006/main">
              <a:ext uri="{FF2B5EF4-FFF2-40B4-BE49-F238E27FC236}">
                <a16:creationId xmlns:a16="http://schemas.microsoft.com/office/drawing/2014/main" id="{96AE32A9-A4E4-4DFF-9EFC-3EEADB4D8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03-label">
            <a:extLst xmlns:a="http://schemas.openxmlformats.org/drawingml/2006/main">
              <a:ext uri="{FF2B5EF4-FFF2-40B4-BE49-F238E27FC236}">
                <a16:creationId xmlns:a16="http://schemas.microsoft.com/office/drawing/2014/main" id="{802FB110-69B2-4714-B055-C15B3D405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03 / FINAL ARTIFACT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8C2DA7-0305-4CC1-B1A1-97A8CC486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4850"/>
            <a:ext cx="8096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What learners must leave this lesson able to submit.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6B9581-7523-45FB-A5A8-3223E4F83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191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Treat this as the exit gate before transitioning.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A7D4AA-2111-4B9F-B9B3-0C9503408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BE3C9E-C328-4730-B6E0-CA928719F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03 - ICP, Segments, And Demand Focus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05434D-2AC7-4AE7-9063-9BD3BA0FE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modules/module-01-industrial-demand-generation/lessons/03-icp-segments-and-demand-focus.md @ 9e28222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779C5F-8FF6-4801-BC6D-20F7B9F07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14/15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436D4C-62B9-45E7-8F23-3DC7B3F12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809750"/>
            <a:ext cx="11963400" cy="459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0892D3-786A-43E7-89D7-66B4EF748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809750"/>
            <a:ext cx="6819900" cy="459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D44A23-8FC2-4997-AF96-A99BCF659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69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35E7FB7-4F00-4AEE-9E96-27F15E0CB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907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ARTIFACT CHECKLIST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390B420-EBA5-4112-8D39-FEFDD0C7B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146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515EB18-BA1E-43F0-942B-11C85C804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47950"/>
            <a:ext cx="2495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90-day ICP focus statement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563B79-0C3D-47E8-9923-65CE5FEA6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718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7BE7FFB-B1BE-4BA8-B6AB-F56F3877E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05150"/>
            <a:ext cx="2495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Priority sector and account profile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A89E134-D458-4662-B2B8-1BBB9422A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290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52326F3-BB2E-461D-98DE-1CF81AFC8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62350"/>
            <a:ext cx="2495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Trigger, technical fit, commercial fit, geography, and buying process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7073846-9030-43EF-A9E4-41ABF88CD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7146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EC2BDB3-48EB-4FD7-9A72-8CED74DD0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647950"/>
            <a:ext cx="2495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Access path and buying committee assumptions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1543CEB-CEE3-4E03-B83D-3F20D1C44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1718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DC11B7A-DB27-42B7-BEC0-A90BA7904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105150"/>
            <a:ext cx="2495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At least five disqualification rules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C89E240-1A64-4234-997C-F4A1CE269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6290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CA7D4D5-6A36-4C8A-8BC6-D6B188507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562350"/>
            <a:ext cx="2495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6"/>
                </a:solidFill>
                <a:latin typeface="Aptos"/>
                <a:ea typeface="Aptos"/>
                <a:cs typeface="Aptos"/>
              </a:rPr>
              <a:t>Account progression signal to measure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0E88B72-AC5C-4F41-B5FB-B2ED7CE6E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1809750"/>
            <a:ext cx="5143500" cy="459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9525">
            <a:solidFill>
              <a:srgbClr val="12232B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D91AE55-A46E-43F8-946C-40DF531C2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3431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95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68741B7-300C-4D60-9652-5B2C654F8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2669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COMPLETION STANDARD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7A64D80-621B-4D27-9FEE-A638FF9A3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781300"/>
            <a:ext cx="34290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5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The artifact passes only if sales, marketing, RevOps, and leadership can inspect it and know what to do next.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A0E6F5B-A204-4D35-9384-5A7422C70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705350"/>
            <a:ext cx="3238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D6E3E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D6E3E5"/>
                </a:solidFill>
                <a:latin typeface="Aptos"/>
                <a:ea typeface="Aptos"/>
                <a:cs typeface="Aptos"/>
              </a:rPr>
              <a:t>If it could be used unchanged by a generic SaaS company, it fails.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6562B04-93B6-4DD6-9D64-4C2C7A7E5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6B99416-EF99-481D-AFF7-CCDD4268E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03 - ICP, Segments, And Demand Focus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3973080-74D1-44CC-9D7D-792816C98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modules/module-01-industrial-demand-generation/lessons/03-icp-segments-and-demand-focus.md @ 9e28222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FF2606C-A3EE-45F9-B001-71584EE08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14/15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0A0C6A8-2A73-4717-BEC2-2265E099B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686AD0A-866A-46E9-AA03-262500442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011D925-A57A-43BB-8358-650ECB1C5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kicker-03-marker">
            <a:extLst xmlns:a="http://schemas.openxmlformats.org/drawingml/2006/main">
              <a:ext uri="{FF2B5EF4-FFF2-40B4-BE49-F238E27FC236}">
                <a16:creationId xmlns:a16="http://schemas.microsoft.com/office/drawing/2014/main" id="{3E9CE3E1-35C3-40FB-BAA7-452276C30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kicker-03-label">
            <a:extLst xmlns:a="http://schemas.openxmlformats.org/drawingml/2006/main">
              <a:ext uri="{FF2B5EF4-FFF2-40B4-BE49-F238E27FC236}">
                <a16:creationId xmlns:a16="http://schemas.microsoft.com/office/drawing/2014/main" id="{5EB078F4-70F8-4350-BE45-0B551BEE7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03 / FINAL ARTIFACT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E07A908-C8C5-4A87-BDDF-16DB81918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4850"/>
            <a:ext cx="8096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What learners must leave this lesson able to submit.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751AF06-AE63-4390-80FA-BFE687FA3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191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Treat this as the exit gate before transitioning.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FD0BE06-D587-49C0-B321-FD61ECA87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00800"/>
            <a:ext cx="12192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943A754-BF72-44D5-8B9B-076259137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00800"/>
            <a:ext cx="1714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8E3B47E-D228-49C6-A3D3-B4DD5C32B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6400800"/>
            <a:ext cx="57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1624B9F-EAC9-4724-AFF2-CBD1F3277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CCA6659-02F2-4DD2-9513-43C006292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03 - ICP, Segments, And Demand Focus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E4AE14D-8DF8-476D-97F0-1023B8540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modules/module-01-industrial-demand-generation/lessons/03-icp-segments-and-demand-focus.md @ 9e28222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0BB46A5-FF88-419D-9960-DB5B8D598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14/15</a:t>
            </a:r>
          </a:p>
        </p:txBody>
      </p:sp>
    </p:spTree>
    <p:extLst>
      <p:ext uri="{BB962C8B-B14F-4D97-AF65-F5344CB8AC3E}">
        <p14:creationId xmlns:p14="http://schemas.microsoft.com/office/powerpoint/2010/main" val="2095528254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88DFB8D-6437-4885-8405-531057B88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C80FE0-D5BC-4B5E-BEC1-CB999151B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DB45EB-FFAE-41FE-A515-E35602D86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03-marker">
            <a:extLst xmlns:a="http://schemas.openxmlformats.org/drawingml/2006/main">
              <a:ext uri="{FF2B5EF4-FFF2-40B4-BE49-F238E27FC236}">
                <a16:creationId xmlns:a16="http://schemas.microsoft.com/office/drawing/2014/main" id="{F4BE3CF4-7A9A-4F8A-A66F-DB64E7EC7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D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03-label">
            <a:extLst xmlns:a="http://schemas.openxmlformats.org/drawingml/2006/main">
              <a:ext uri="{FF2B5EF4-FFF2-40B4-BE49-F238E27FC236}">
                <a16:creationId xmlns:a16="http://schemas.microsoft.com/office/drawing/2014/main" id="{0DBF0F2C-43BA-4164-A366-A5FC40EE2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752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MODULE 1 / LESSON 03 / TRANSITION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17AD8F-A9CA-499E-9BE3-F898EB75A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23950"/>
            <a:ext cx="8382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Carry forward: ICP and disqualification scorecard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D58342-4CA9-4D26-AA4A-49A2CED6A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90750"/>
            <a:ext cx="72390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464CC9-585B-48D7-9978-9123D3C67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0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3B2AEB-0D9A-4283-9273-8CFB9DF4F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4955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BRIDGE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8D8F74-8072-4A3C-92DF-2D6313374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57500"/>
            <a:ext cx="6096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0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0">
                <a:solidFill>
                  <a:srgbClr val="172026"/>
                </a:solidFill>
                <a:latin typeface="Aptos Display"/>
                <a:ea typeface="Aptos Display"/>
                <a:cs typeface="Aptos Display"/>
              </a:rPr>
              <a:t>A focused ICP makes the next work possible: mapping the actual questions that block movement inside that segment.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89FD0C-AB88-442F-BD2A-DB075C8EA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190750"/>
            <a:ext cx="32575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32B"/>
          </a:solidFill>
          <a:ln xmlns:a="http://schemas.openxmlformats.org/drawingml/2006/main" w="9525">
            <a:solidFill>
              <a:srgbClr val="12232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8A6F7E-0A6C-458B-9E26-2CBAA40A9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5717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95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6442EBE-49FC-4D8E-96F9-BDDFACBAB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4955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9646A"/>
                </a:solidFill>
                <a:latin typeface="Aptos"/>
                <a:ea typeface="Aptos"/>
                <a:cs typeface="Aptos"/>
              </a:rPr>
              <a:t>NEXT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80FD7B-A3B5-4090-8107-C37CED5B1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876550"/>
            <a:ext cx="2381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Lesson 04 - MOIN: Map Of Informational Needs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DEDFAF5-7F24-408F-B95F-EE1249516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57700"/>
            <a:ext cx="109156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AF7"/>
          </a:solidFill>
          <a:ln xmlns:a="http://schemas.openxmlformats.org/drawingml/2006/main" w="9525">
            <a:solidFill>
              <a:srgbClr val="D9DDD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FA0456A-73DD-4445-B57D-809949E89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762500"/>
            <a:ext cx="9906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Recurring instructor check: sales impact / signal / RevOps field / buyer content / review risk / industrial failure mode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33A24DA-C053-4820-98A9-CDFD64B43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1091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B86962-4EB6-4C99-8E6B-27783BC1C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Lesson 03 - ICP, Segments, And Demand Focus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0206DF0-1C1C-4D04-BEF9-5F330A3F1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6553200"/>
            <a:ext cx="4095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Source: modules/module-01-industrial-demand-generation/lessons/03-icp-segments-and-demand-focus.md @ 9e28222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2E68BE3-7AAC-41BE-998A-8D6A376D5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9646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9646A"/>
                </a:solidFill>
                <a:latin typeface="Aptos"/>
                <a:ea typeface="Aptos"/>
                <a:cs typeface="Aptos"/>
              </a:rPr>
              <a:t>15/15</a:t>
            </a:r>
          </a:p>
        </p:txBody>
      </p:sp>
    </p:spTree>
    <p:extLst>
      <p:ext uri="{BB962C8B-B14F-4D97-AF65-F5344CB8AC3E}">
        <p14:creationId xmlns:p14="http://schemas.microsoft.com/office/powerpoint/2010/main" val="87048186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2026-05-16T17:39:23.6750000Z</dcterms:created>
  <dcterms:modified xsi:type="dcterms:W3CDTF">2026-05-16T17:39:23.6750000Z</dcterms:modified>
</coreProperties>
</file>