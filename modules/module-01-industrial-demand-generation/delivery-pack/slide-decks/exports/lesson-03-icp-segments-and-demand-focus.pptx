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496b895db749ad" /><Relationship Type="http://schemas.openxmlformats.org/officeDocument/2006/relationships/extended-properties" Target="/docProps/app.xml" Id="R4f7ecdc7bce94f74" /><Relationship Type="http://schemas.openxmlformats.org/officeDocument/2006/relationships/officeDocument" Target="/ppt/presentation.xml" Id="R91a08c37ce6543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a1524744f9454a"/>
  </p:sldMasterIdLst>
  <p:notesMasterIdLst>
    <p:notesMasterId xmlns:r="http://schemas.openxmlformats.org/officeDocument/2006/relationships" r:id="R860f6c82424f45e0"/>
  </p:notesMasterIdLst>
  <p:sldIdLst>
    <p:sldId xmlns:r="http://schemas.openxmlformats.org/officeDocument/2006/relationships" id="256" r:id="R9af0f3c4c6dd49b9"/>
    <p:sldId xmlns:r="http://schemas.openxmlformats.org/officeDocument/2006/relationships" id="257" r:id="R4fa275a363c844e9"/>
    <p:sldId xmlns:r="http://schemas.openxmlformats.org/officeDocument/2006/relationships" id="258" r:id="Re3a6d337947d4d7d"/>
    <p:sldId xmlns:r="http://schemas.openxmlformats.org/officeDocument/2006/relationships" id="259" r:id="R089b77e17971408f"/>
    <p:sldId xmlns:r="http://schemas.openxmlformats.org/officeDocument/2006/relationships" id="260" r:id="R532364e716c94127"/>
    <p:sldId xmlns:r="http://schemas.openxmlformats.org/officeDocument/2006/relationships" id="261" r:id="Ree75b6c049714930"/>
    <p:sldId xmlns:r="http://schemas.openxmlformats.org/officeDocument/2006/relationships" id="262" r:id="Rd90c7273f4d049d9"/>
    <p:sldId xmlns:r="http://schemas.openxmlformats.org/officeDocument/2006/relationships" id="263" r:id="Ra193a93eeac34d74"/>
    <p:sldId xmlns:r="http://schemas.openxmlformats.org/officeDocument/2006/relationships" id="264" r:id="R9609d870db4c4fdd"/>
    <p:sldId xmlns:r="http://schemas.openxmlformats.org/officeDocument/2006/relationships" id="265" r:id="R80a8f551250a44b8"/>
    <p:sldId xmlns:r="http://schemas.openxmlformats.org/officeDocument/2006/relationships" id="266" r:id="R3632e661945d4f4b"/>
    <p:sldId xmlns:r="http://schemas.openxmlformats.org/officeDocument/2006/relationships" id="267" r:id="R3056e51b1e534625"/>
    <p:sldId xmlns:r="http://schemas.openxmlformats.org/officeDocument/2006/relationships" id="268" r:id="R413ed27c428e46f0"/>
    <p:sldId xmlns:r="http://schemas.openxmlformats.org/officeDocument/2006/relationships" id="269" r:id="Rf42f72972e7a47aa"/>
    <p:sldId xmlns:r="http://schemas.openxmlformats.org/officeDocument/2006/relationships" id="270" r:id="R3383f5ee1e844e9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1524744f9454a" /><Relationship Type="http://schemas.openxmlformats.org/officeDocument/2006/relationships/theme" Target="/ppt/theme/theme1.xml" Id="Rff727b45a34a4502" /><Relationship Type="http://schemas.openxmlformats.org/officeDocument/2006/relationships/notesMaster" Target="/ppt/notesMasters/notesMaster1.xml" Id="R860f6c82424f45e0" /><Relationship Type="http://schemas.openxmlformats.org/officeDocument/2006/relationships/presProps" Target="/ppt/presProps.xml" Id="Rb0169c7979d74dae" /><Relationship Type="http://schemas.openxmlformats.org/officeDocument/2006/relationships/viewProps" Target="/ppt/viewProps.xml" Id="R9ed445076a144993" /><Relationship Type="http://schemas.openxmlformats.org/officeDocument/2006/relationships/tableStyles" Target="/ppt/tableStyles.xml" Id="R9112c93fc0be4a40" /><Relationship Type="http://schemas.openxmlformats.org/officeDocument/2006/relationships/slide" Target="/ppt/slides/slide1.xml" Id="R9af0f3c4c6dd49b9" /><Relationship Type="http://schemas.openxmlformats.org/officeDocument/2006/relationships/slide" Target="/ppt/slides/slide2.xml" Id="R4fa275a363c844e9" /><Relationship Type="http://schemas.openxmlformats.org/officeDocument/2006/relationships/slide" Target="/ppt/slides/slide3.xml" Id="Re3a6d337947d4d7d" /><Relationship Type="http://schemas.openxmlformats.org/officeDocument/2006/relationships/slide" Target="/ppt/slides/slide4.xml" Id="R089b77e17971408f" /><Relationship Type="http://schemas.openxmlformats.org/officeDocument/2006/relationships/slide" Target="/ppt/slides/slide5.xml" Id="R532364e716c94127" /><Relationship Type="http://schemas.openxmlformats.org/officeDocument/2006/relationships/slide" Target="/ppt/slides/slide6.xml" Id="Ree75b6c049714930" /><Relationship Type="http://schemas.openxmlformats.org/officeDocument/2006/relationships/slide" Target="/ppt/slides/slide7.xml" Id="Rd90c7273f4d049d9" /><Relationship Type="http://schemas.openxmlformats.org/officeDocument/2006/relationships/slide" Target="/ppt/slides/slide8.xml" Id="Ra193a93eeac34d74" /><Relationship Type="http://schemas.openxmlformats.org/officeDocument/2006/relationships/slide" Target="/ppt/slides/slide9.xml" Id="R9609d870db4c4fdd" /><Relationship Type="http://schemas.openxmlformats.org/officeDocument/2006/relationships/slide" Target="/ppt/slides/slide10.xml" Id="R80a8f551250a44b8" /><Relationship Type="http://schemas.openxmlformats.org/officeDocument/2006/relationships/slide" Target="/ppt/slides/slide11.xml" Id="R3632e661945d4f4b" /><Relationship Type="http://schemas.openxmlformats.org/officeDocument/2006/relationships/slide" Target="/ppt/slides/slide12.xml" Id="R3056e51b1e534625" /><Relationship Type="http://schemas.openxmlformats.org/officeDocument/2006/relationships/slide" Target="/ppt/slides/slide13.xml" Id="R413ed27c428e46f0" /><Relationship Type="http://schemas.openxmlformats.org/officeDocument/2006/relationships/slide" Target="/ppt/slides/slide14.xml" Id="Rf42f72972e7a47aa" /><Relationship Type="http://schemas.openxmlformats.org/officeDocument/2006/relationships/slide" Target="/ppt/slides/slide15.xml" Id="R3383f5ee1e844e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57823fe3d4842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fab7d0bcb44489" /><Relationship Type="http://schemas.openxmlformats.org/officeDocument/2006/relationships/notesMaster" Target="/ppt/notesMasters/notesMaster1.xml" Id="Rb96773aad47140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196d043e064be3" /><Relationship Type="http://schemas.openxmlformats.org/officeDocument/2006/relationships/notesMaster" Target="/ppt/notesMasters/notesMaster1.xml" Id="Ref7b7035465a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5738654dc646b9" /><Relationship Type="http://schemas.openxmlformats.org/officeDocument/2006/relationships/notesMaster" Target="/ppt/notesMasters/notesMaster1.xml" Id="R149a6477af5c45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9692109dda4410" /><Relationship Type="http://schemas.openxmlformats.org/officeDocument/2006/relationships/notesMaster" Target="/ppt/notesMasters/notesMaster1.xml" Id="R95ba4b63b7a540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7dcf2950e44494" /><Relationship Type="http://schemas.openxmlformats.org/officeDocument/2006/relationships/notesMaster" Target="/ppt/notesMasters/notesMaster1.xml" Id="Ra410fa0e699442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a624bc930f4937" /><Relationship Type="http://schemas.openxmlformats.org/officeDocument/2006/relationships/notesMaster" Target="/ppt/notesMasters/notesMaster1.xml" Id="R1ef460e5711a44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4bacb73c741cc" /><Relationship Type="http://schemas.openxmlformats.org/officeDocument/2006/relationships/notesMaster" Target="/ppt/notesMasters/notesMaster1.xml" Id="Rc97993e5e1aa46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abe856f245f43b7" /><Relationship Type="http://schemas.openxmlformats.org/officeDocument/2006/relationships/notesMaster" Target="/ppt/notesMasters/notesMaster1.xml" Id="R1590347de7684d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04135e991e4950" /><Relationship Type="http://schemas.openxmlformats.org/officeDocument/2006/relationships/notesMaster" Target="/ppt/notesMasters/notesMaster1.xml" Id="Rfc0383b561bb4d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a5e5da62eb4e7a" /><Relationship Type="http://schemas.openxmlformats.org/officeDocument/2006/relationships/notesMaster" Target="/ppt/notesMasters/notesMaster1.xml" Id="R3e95675324dc4d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4c859b14d14ddc" /><Relationship Type="http://schemas.openxmlformats.org/officeDocument/2006/relationships/notesMaster" Target="/ppt/notesMasters/notesMaster1.xml" Id="R5a3fbc0c4c5144b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ccf59b0e5e42a0" /><Relationship Type="http://schemas.openxmlformats.org/officeDocument/2006/relationships/notesMaster" Target="/ppt/notesMasters/notesMaster1.xml" Id="Rcf3499222a354f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8ad9a02790345bf" /><Relationship Type="http://schemas.openxmlformats.org/officeDocument/2006/relationships/notesMaster" Target="/ppt/notesMasters/notesMaster1.xml" Id="R2dc092ae3b8f4b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dd956ff7ef487d" /><Relationship Type="http://schemas.openxmlformats.org/officeDocument/2006/relationships/notesMaster" Target="/ppt/notesMasters/notesMaster1.xml" Id="R2206057f764f4a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80a1453aa574508" /><Relationship Type="http://schemas.openxmlformats.org/officeDocument/2006/relationships/notesMaster" Target="/ppt/notesMasters/notesMaster1.xml" Id="R5dc54216dbef4f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1d2a6a22c4e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879d9ff31304a3f" /><Relationship Type="http://schemas.openxmlformats.org/officeDocument/2006/relationships/slideLayout" Target="/ppt/slideLayouts/slideLayout2.xml" Id="R4f5154478520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5154478520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d3da874e444710" /><Relationship Type="http://schemas.openxmlformats.org/officeDocument/2006/relationships/notesSlide" Target="/ppt/notesSlides/notesSlide1.xml" Id="Rf4280966f338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2cb14f05f94990" /><Relationship Type="http://schemas.openxmlformats.org/officeDocument/2006/relationships/notesSlide" Target="/ppt/notesSlides/notesSlide2.xml" Id="Re7264e8fc8ab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99eb5d44344e84" /><Relationship Type="http://schemas.openxmlformats.org/officeDocument/2006/relationships/notesSlide" Target="/ppt/notesSlides/notesSlide3.xml" Id="R684ee434ecef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211a6c0a3e4475" /><Relationship Type="http://schemas.openxmlformats.org/officeDocument/2006/relationships/notesSlide" Target="/ppt/notesSlides/notesSlide4.xml" Id="R95716bd312354e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270b1d014743dc" /><Relationship Type="http://schemas.openxmlformats.org/officeDocument/2006/relationships/notesSlide" Target="/ppt/notesSlides/notesSlide5.xml" Id="R3f9ad889509d4e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d90b8f73d448f2" /><Relationship Type="http://schemas.openxmlformats.org/officeDocument/2006/relationships/notesSlide" Target="/ppt/notesSlides/notesSlide6.xml" Id="R75b107af65b548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1d6cc6dd9e4a1f" /><Relationship Type="http://schemas.openxmlformats.org/officeDocument/2006/relationships/notesSlide" Target="/ppt/notesSlides/notesSlide7.xml" Id="R46e1a2414f964b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026b5dbb97441d" /><Relationship Type="http://schemas.openxmlformats.org/officeDocument/2006/relationships/notesSlide" Target="/ppt/notesSlides/notesSlide8.xml" Id="R63436e9fd71f4a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0111eba7e49da" /><Relationship Type="http://schemas.openxmlformats.org/officeDocument/2006/relationships/notesSlide" Target="/ppt/notesSlides/notesSlide9.xml" Id="R92c83384caab4e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cd27cf743463a" /><Relationship Type="http://schemas.openxmlformats.org/officeDocument/2006/relationships/notesSlide" Target="/ppt/notesSlides/notesSlide10.xml" Id="R7beeb44f7c7b43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6b20ec3fe14dcd" /><Relationship Type="http://schemas.openxmlformats.org/officeDocument/2006/relationships/notesSlide" Target="/ppt/notesSlides/notesSlide11.xml" Id="Rc45aa850c5f547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d2af1afb944607" /><Relationship Type="http://schemas.openxmlformats.org/officeDocument/2006/relationships/notesSlide" Target="/ppt/notesSlides/notesSlide12.xml" Id="R42d41926a7304d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23516382d64039" /><Relationship Type="http://schemas.openxmlformats.org/officeDocument/2006/relationships/notesSlide" Target="/ppt/notesSlides/notesSlide13.xml" Id="Rfe03b83d0f1448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2071bef224b95" /><Relationship Type="http://schemas.openxmlformats.org/officeDocument/2006/relationships/notesSlide" Target="/ppt/notesSlides/notesSlide14.xml" Id="R0403b655f13042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34ef114f849e8" /><Relationship Type="http://schemas.openxmlformats.org/officeDocument/2006/relationships/notesSlide" Target="/ppt/notesSlides/notesSlide15.xml" Id="Ra547787a57bc44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F89456-7C94-448F-85D3-0E438C0B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671A2-0887-4964-B96C-425CA2C2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F932-7C0E-4A5A-B764-79F0052B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6894592-3A59-49D0-A1CA-17916588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51B0547F-BCA4-49F1-A97D-5C4D3CE8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INSTRUCTOR PROJECTION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BE411-2E9E-4C7B-8E3A-B74B3BC4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ICP, Segments, And Demand 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7DA9D9-6638-44D0-8D1D-85CF546F1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704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Demand Generation / Live workshop projection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28CA8-3DF1-4813-9CBC-977D63B7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DCE8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2A991B-8B74-4544-8B31-B6EC2B06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22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D3823-BBD0-4B96-BE6B-2E0CD919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33750"/>
            <a:ext cx="1295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F0DF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26CF4-8482-4E6B-B81E-01267BBC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81375"/>
            <a:ext cx="1104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Instructor-led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BF22E-AE15-47BF-BC1F-404800AF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337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E4E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4DD330-74F7-4A76-A040-D0DBE3CC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81375"/>
            <a:ext cx="1028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Artifact-first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6A130-4F76-401C-B275-696DC32B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895350"/>
            <a:ext cx="33337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32D80-4961-42FB-8AAE-BADE56CE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276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5FD18-469F-407E-A540-064CE8CA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200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CEC67-261C-4E33-8CC9-4B7F038D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04950"/>
            <a:ext cx="2724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ICP and disqualification scorecard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689B8-87C0-41D0-B4FD-1C990732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FEF47-9C4E-45B1-8265-00D3432B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71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WORKSHOP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8DB7C-41C2-46FD-8A0A-530B5D8C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76550"/>
            <a:ext cx="260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Teach the operating decision, run the diagnostic, then force a usable artifact. The slide is a prompt, not the handout.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8A4B2-EBE7-4F7C-9B8E-C01355B6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529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64D31-AFDA-494D-B749-0F74756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76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 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9CC095-25EF-474A-BF56-3AC8D372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81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9e28222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154008-DFB4-4BEE-A588-90E5C43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39B63-9625-49D2-8B1B-D8B25655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72C6CF-9458-46CB-A147-5D44B423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5F9556-B872-478E-B951-6278CC5F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1/15</a:t>
            </a:r>
          </a:p>
        </p:txBody>
      </p:sp>
    </p:spTree>
    <p:extLst>
      <p:ext uri="{BB962C8B-B14F-4D97-AF65-F5344CB8AC3E}">
        <p14:creationId xmlns:p14="http://schemas.microsoft.com/office/powerpoint/2010/main" val="2543173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935425-65D4-4ED2-A75B-02E8233A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2D9D8-2366-4F12-949A-4EA93301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3DF52-56CE-4335-B0F8-C58F56C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B166F95-B6A0-4790-805B-DAE2812E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C82A79F5-B608-450B-B961-4F512D9A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LESSON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3E84B-DC6B-485E-836D-055915B4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promise is an operating capability, not a concept label.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4030B-48AB-4784-B107-ED9815A7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set the standard for the artifact learners must produce.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FECBA-7FD7-46DD-880B-4ED2C162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B4FBF0-DEA5-4332-9243-0B61B608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6F882-E5E4-413D-A05A-C4703F3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E9170-9FA7-4641-9A65-1612EE8C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B86C2-6C35-4019-A787-83E3F895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619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5A368-CE5C-4524-AC8F-3039CA58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561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Choose a narrow industrial demand focus for a 90-day pilot, define ICP triggers and exclusions, and stop wasting effort on visible but weak accounts.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C6E0B-8C20-40F4-AA39-AF40E98B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8B35A-C60A-4139-90E2-A964EF90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An ICP and disqualification scorecard plus a written 90-day demand focus statement.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7E14E0-65E0-4E61-AFD6-61BF4AE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38350"/>
            <a:ext cx="4248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C80F1-201E-4440-BE8F-EBE7BA02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003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F756F-8158-450D-81C2-8BDC91A1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STANCE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C728FA-5566-4B9E-B708-3CE7793B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0CB696-F1A8-45E1-897C-3EB102A2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for evidence before opinion.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5967C-9F49-4B71-9968-A11FC1E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52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5824D-D991-46D1-97E2-E1E00754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the workbook for capture.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FB24A-3685-476A-BA55-E638B8B0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52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FD545F-A843-4006-A9C8-A82E1DA4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8615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Keep AI useful but subordinate to human correction.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38BE3F-B4E1-4F42-8524-F80D9AE3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952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D0CE74-01AA-482C-9CA6-5BCA339C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86200"/>
            <a:ext cx="3124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 not accept generic SaaS or lead-gen answers.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9E583-2314-4F6B-9C13-9C8B905C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B26606-DB3D-4CA5-A48D-170624F4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A37FB-61F8-42E4-81F2-126512A6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0E4CAD-0D0E-4644-92C4-2A283C04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2307176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52021C-5FFA-4B89-A4F0-AB49F014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8E7BD-9C53-4E17-9EDB-58E61CCE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D882C-D7CD-42CE-B2DF-4DBA9A4E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99B27D1-A16E-488F-864F-FCAAD8C8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4E1FD1E4-42F4-41B9-BFD8-2BED7D10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5A53D-2491-4BB4-B4C2-3666A7DC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Industrial GTM punishes shallow assumptions.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02AFC5-B727-4431-928D-D534E63A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instructor should tie every point back to long-cycle risk, committee proof, and trusted circulation.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1ACA4-16A6-401F-A0BA-AB71867A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B17CF-B106-45AB-B420-0D7DB995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40A95-DB67-421F-ABF9-DC1552EC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4119A-7948-46EA-98A2-E994DAC2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2E307-857A-4086-BC50-3AB8095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5143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F3D11-60BD-4FF8-849E-B05831B7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05EC7-2DB8-4E8E-B2A3-095BB928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INDUSTRIAL 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E1903-1CC5-408B-B1E5-BE310061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44B47B-1560-4231-9E6F-85F3665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Industrial demand generation is resource-intensive: SME input, trusted distribution, sales context, proof,...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CFD18-F19A-4622-A26F-3CBD7A9D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6719D-01DF-43E2-82CA-DF347C62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Broad TAM language turns content generic and pollutes signal routing.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212BC-92DF-4587-A9C3-806F0BA3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1B72A-C2F8-4039-8F4F-BF7BDC55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 pilot learns faster when the segment is narrow enough to produce specific questions, proof, access paths,...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9809CD-A942-4074-8A13-889C259A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8557A-1A88-4699-AF53-ACB8DF95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4171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Focus is revenue discipline, not positioning theater.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A1667-1FE3-45F2-B8F1-A8A6F5AF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334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F3ABC3-DA0A-4764-A6E2-B7331DE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812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297A5-3A6C-4554-959B-C806E024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INSTRUCTOR CORRECTION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5F92D2-33C8-4A8C-B310-F54C885E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D3A39-3C91-454B-856D-01D5959B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26DC97-2E0E-41DD-AAFC-A2327FC1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146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activity to account movement.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45EDD-9670-4E73-B734-6D848DE8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761FE6-CE47-4E4A-B85C-DA039C65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90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F10A4-5D98-4417-8581-689AA68A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527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one persona to committee risk.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7F8F5-A3A7-4389-BD3B-B76C34FB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4250DC-7FE2-405A-B0CF-981B435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290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3F4DDD-7148-46B4-A32D-78A0C8D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909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content volume to buyer uncertainty.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C283D7-7CEC-4664-A440-5B9A1650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9C07D0-1BFB-48C9-8ED7-D7C17DA6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71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884774-6CC6-41FA-BAD2-229E4A40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2907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engagement scoring to signal interpretation.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70617B-9EDA-449F-A96E-16A679C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B4333C7-A06F-4DE6-B60D-CDA5CDF1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983459-15FD-4924-B2D9-AF276CA4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67225"/>
            <a:ext cx="4019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Move from reporting to weekly operating decisions.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71CECE-5313-4C7F-B76B-7A88A387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695913-3E60-458F-9EC5-9FDADAC8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581AD7-4BFF-4E06-BB2D-B86AC797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A1F589-7736-4364-9896-5CF34279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14463049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F320F3-14A1-44FC-A373-38B13302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2FCCF-779D-46E8-83AD-C0F9BE0D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5B413-1613-478E-9EB4-498D0EEF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5E7C1ADA-800B-4F25-9A2F-3ABCE5FF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BBAB5D3C-0BB8-4492-98A5-2BD9985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CORE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E02ED-4BE1-40AC-BA84-4B1FD18B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 real industrial ICP is more than firmographics.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BC29E0-3D6A-487B-8364-F24D6768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BC109C-F2E7-4ACC-9664-304F70C8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B84973-D083-4771-A844-C5F33F1D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FC6A0-0F84-41F8-AC2F-AEAB52E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661BF-7CA9-46CB-B7B2-57153A83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C1DE72-EFB3-4334-A14E-7596D2AE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AB2FD-916B-4AE1-B106-E422AA28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62363-572D-454D-BE78-1D93BBB1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A5336-22F4-4A06-B8F1-177A1CC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NATIVE OPERATING DIAGRAM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902AC-17F4-46DB-AD6B-D96C8902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D7797D-5BD4-47FD-9479-02A8E281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153719-7AD3-41F0-9E56-48F28914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405DB-8A0B-42C4-AAC4-3F4E905B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Sector or category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05613-C408-4284-BB4F-C2F449EE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53794B-3813-4C9D-9B04-B6DF56C5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E158D0-F57C-49AB-AD9A-25AF775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93B7A3-A2F4-4A33-8148-59F50E84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703013-BDCA-4A60-991D-235F9D1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 type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4A34B-C8C5-4BEE-94F7-1CF99BCB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65391B-C1AB-4B1C-95A4-E998BB5C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CA75A7-691E-4BE8-831D-4DEB283E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F599BF-C320-4E5B-AD29-87BCEC196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5E950E-2A0A-4869-8FD9-F02E00BF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Trigger or timing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8372CB-0932-4CA7-B9E5-DE4FB14A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7A6574-094C-44FE-8434-0B9D9C57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FCFC9C-108E-44BB-88E4-6F9BCD9E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02D0CB-AB98-426C-BF36-24E84E18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795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7953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52C631-AC4E-4323-8BBB-D39BB4C1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3845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Technical fit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58673F-EC6C-4D4B-A81E-012078C7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65165B-B61A-45B1-9F97-931E68F7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1957C7-F801-4457-AC9E-E584669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61C7F8-CB20-454E-A680-548AC841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Commercial fit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463E0F-F511-4D09-92B9-2A645846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6797FD-29E5-41C4-B87B-4F060148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9025AA-7ED4-4B25-AF1F-9BF510F7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5E0E11B-ED03-41F4-BEA9-F5A42630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85D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5D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1C8D6D0-0A60-457D-875B-0A5422F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Buying process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3BC84D3-0078-4D7B-BD1C-00DC8E26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53390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5C1939-F24D-42DE-840F-4DC45D24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E8522-8F20-4220-B0F8-268F32D6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76700"/>
            <a:ext cx="2609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92EE00-8A52-4E8D-9559-B83A2EA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481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7A3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A3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457E7B-4DBC-4423-B206-C874E72C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29100"/>
            <a:ext cx="2076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Access path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C4F9A6-D22F-4713-8DF1-87FEE544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143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CCA340-CB45-4C48-AFB3-9B536C0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1104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Flowchart companion: assets/flowcharts/04-icp-focus-and-disqualification.svg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173AF2-DB4B-4243-BDBD-FEA0DA9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C34342-718A-41D2-A4CA-4C7CE240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8C6B19-01A9-4182-BB13-1E3D7B4D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A0C3A4-4571-424E-99E3-CFBDAD74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DD7647-4896-4BD3-B1F3-00CCC527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EC6D8B-627E-4F03-970D-BEE79C0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C6B786-96A0-4AAD-B741-4789612D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4126D61-20DF-42C5-87E3-389E92AB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1AA424C3-E3D7-4CA7-8D9C-3E29A0C2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CORE FRAMEWORK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A3A70D-F80D-4037-A1B3-B230618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 real industrial ICP is more than firmographics.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35C5023-274B-443F-829E-65689434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the diagram as the visual anchor; the visible path is the teachable sequence.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406274-68F2-488B-9E3D-DC63B6EE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BED8BC7-A67D-40D6-A2F0-9D4FC118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EC96073-DDAB-4E7E-8BB4-CDBDC85F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CFE0528-3B73-4C76-9E04-ADAB70FB7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389B24-38C1-4AD3-8192-F6C7FD24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373C241-0C4F-42C9-991E-2114964B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11AD1A5-03EF-4BAB-B51B-2D43A9C2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135768885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DF4A4-09F1-44D2-B6B5-5CA159EE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DF6F0-3C09-426A-9079-697515FE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42FC0-DB0C-46E3-9D5C-1BFE2D1B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4D55308-1965-47AA-B0AC-FE91B197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DB447F4-0238-4826-9D29-90E43191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MENTAL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301B0-47E7-418E-93DF-1F14F018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Pick the segment where the pilot can create movement.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BC4256-B331-416F-B17B-260E2FBA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Keep this slide conversational: make learners say what would change in their current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60B36-B9DB-4191-873C-823B36C6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FE71-66F7-4CEC-AF70-3FA3EED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2AD30-1718-49F1-AFF0-DF0CF51D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1D47E-86B6-48DE-84BA-BEB19D30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BB4CD-1686-4FAF-92AB-3FBB2106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0147B-AA63-4684-876D-53B90196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6A3B0-5625-42E9-9B97-D405C74A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D6072"/>
                </a:solidFill>
                <a:latin typeface="Aptos Display"/>
                <a:ea typeface="Aptos Display"/>
                <a:cs typeface="Aptos Display"/>
              </a:rPr>
              <a:t>Pain intensity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61A3A-354F-402B-8652-FA94A12E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Is the problem worth solving now?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D7690-37CE-4D85-8DDF-4689FA6F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87D5A-6409-4E74-969D-EF0F7A5C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413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8CCBB-965A-4D5B-B291-7F9D220B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A85D2A"/>
                </a:solidFill>
                <a:latin typeface="Aptos Display"/>
                <a:ea typeface="Aptos Display"/>
                <a:cs typeface="Aptos Display"/>
              </a:rPr>
              <a:t>Trigger visibility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A1BB5-F662-46C2-8E80-A882A05C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9963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Can timing be detected?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A4C9C-3017-4E94-A98F-0699D88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E07A41-1D45-4DA3-A980-E4CB10D5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A1B36-5FCE-4EA4-B833-7F6EACA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667A39"/>
                </a:solidFill>
                <a:latin typeface="Aptos Display"/>
                <a:ea typeface="Aptos Display"/>
                <a:cs typeface="Aptos Display"/>
              </a:rPr>
              <a:t>Access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C39CB-A0FA-446C-ABA3-2A9D8C3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Can trusted channels reach the committee?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FF847-6821-4A69-A938-4436F60B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0FB065-22A4-4ADB-A109-432DD82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538" y="2266950"/>
            <a:ext cx="2557463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A23E17-9C0D-4ABC-8595-FCF55996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2590800"/>
            <a:ext cx="213836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7953B"/>
                </a:solidFill>
                <a:latin typeface="Aptos Display"/>
                <a:ea typeface="Aptos Display"/>
                <a:cs typeface="Aptos Display"/>
              </a:rPr>
              <a:t>Proof availability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CBB35-8B2B-4EF8-B58B-073683E1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088" y="3257550"/>
            <a:ext cx="2138363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Can evidence be built quickly enough?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60D3E-1955-4FBA-85EE-50AACEAD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1A8B14-BCE3-42AC-BECB-F466B73B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684D1-10D9-4448-8913-D1B7895B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Ask: which box is weakest in your current category?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0D2399-A99E-4CA1-A502-CBA131BE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D1E0B4-1329-40AE-ADCC-17C46D1E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05C7C0-D8FB-4497-AF3B-7F2DFF4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A43EE-63AF-4A94-A48F-A412FAA7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11156048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C70F7-1424-4CB6-A056-2CB183AA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783D3-5DBB-4C9D-931B-D7F4CD75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38F5E-192B-4EBD-89CE-D0A45862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57048AF8-4559-4741-80DA-77119039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838B79A2-ED56-42B6-BF70-06FAA105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COMPOSITE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24AEC-C3EF-43C3-9CAE-1B48EEDD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precision fabrication supplier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FC982-56B6-415F-B61C-2CFC4059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43FD73-2F09-4410-946D-DE8CD2FE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5238D-A432-4444-819E-32881AAA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F6D4E-18C8-4E54-BEE8-10576493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5E6A3-F9ED-48D8-AAEC-F2B62F10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309D1A-43A7-40C9-8769-879A795B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EE413D-3363-4BFA-95FC-CAF120C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9D6739-A2F2-4FEB-97C5-80246B8C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D2C48-88C0-4EEF-9674-6CBA202D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PATTERN AND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70043-F0FA-4DE1-AACB-32469F9A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5ED0F-8BB4-4B7F-9F14-1260B56C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company says its market is all OEMs that outsource manufacturing.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D2FBD-A56F-4678-90B1-C65FDCCE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653FB3-7853-4AF3-9778-B45F20EF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That is too broad for demand generation and creates weak content, distribution, and routing.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63101-4731-4DEA-AC1D-85983D6D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515A0-000D-46B8-8BBB-8831FEA6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sharper pilot ICP is export-oriented equipment OEMs needing medium-to-high complexity fabricated components with...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3CE2B-AADF-4B8E-87C1-C3680312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CA36F-92E2-4B86-BDEC-FCE3609A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01155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Exclude one-off fabrication jobs, no-repeat accounts, and lowest-price procurement comparisons.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110B09-786A-489A-A69F-59ECFC67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0D124-0DF3-47B8-A869-8E7EC66B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A4ADB-709F-4A80-ADCB-8B9BBB16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9AFF5-23FE-4CF0-B558-010DFC19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43CEDC-D174-4EB6-AE27-EFB05C2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1C4B5-89B6-4D09-B0CC-5A5C4FA9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C933B1-0FDB-4714-8269-A71BEC1C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05A8839-6550-4F32-A590-4BCAC984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02DBB54-BC05-40C4-9334-BF413B00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COMPOSITE EXAMPLE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A320C8-F4BC-4BE6-AA27-F2F50285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Composite precision fabrication supplier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632E3B-7207-4058-B3D8-379D8462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as an anonymized industrial pattern, not a named-company case study.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33051-4426-4367-9B24-68FFACDF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E689F7-AFBA-4DC5-89F2-04353A23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35DBF-CC2D-4894-8572-1C319823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952A8E-1795-40C5-BA77-BFFF1004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435E1E-1B54-4AAE-972B-5A34D56A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A22A08-BF6C-47CE-96C3-17C53DD3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6818D7-57BA-4076-8A26-303A4FB9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133627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2F9DF-506B-4586-B854-CC51B64E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606D3-C22B-4E27-8EA6-20B53A97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1C7EA8-5F98-4984-BF11-190BC08D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B9854235-D486-4932-BA07-658741C1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0852FD8C-3DF9-475F-801C-2EA362E9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DIAGNOSTIC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5EE0-77AC-46C8-9479-4ED7A697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Run the room on one hard operating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2C7D9-DE30-449E-A221-0B22E77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is the short live diagnostic before the exercise.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5833B-9718-46F6-B534-92F5A0E0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E508F-33B5-40B7-8A25-00443658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9F1FF-93C7-40C0-9D34-1E03A6CF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0FF8F9-C805-4FB0-B045-5721CDE8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F9FD0-76B1-445E-9EAA-0598E474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09156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B4816C-54DE-4C10-8834-10A42C7E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058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Which accounts are valuable enough, specific enough, and reachable enough to justify demand generation effort?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5F05E-2EB9-4704-B9AB-CCB1CED2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AC96A-66C0-4AB3-BB88-0C008BE6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PROMPT STACK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D6C59-8B96-49ED-8966-E869575B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D6033-DD7F-422C-9FF1-7B63E3B2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trigger makes the problem current?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EE535-E810-4AA8-810F-0B42718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05075-D065-4135-9882-670D583C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Which roles must be educated?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DC863-2982-4827-9F0C-2A0515BE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BB1B9-8F21-46FE-A0F3-F0EEAB2B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proof already exists?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2590EA-CF8E-4B0F-8153-5D641EDA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05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8662F-E062-4F20-A2E9-2DD67B84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account types create low-quality RFQs?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1607AD-EBA9-4564-B898-972AEE88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00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88AED1-6B5C-46E4-AD61-9C1F9ED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Where does sales currently waste time?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4C2E2D-2B6F-43B5-AAA5-F8AE5BCF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268F00-9652-4A69-9076-75BAABF9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29200"/>
            <a:ext cx="4210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segment can produce learning in 90 days?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1BA156-797D-402E-AC30-226C428D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CFEA5A-9113-4273-A842-5B509E7C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87A519-5E45-4AF4-924E-07A1CBA0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6C138-0BEF-4368-A607-5054430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16876547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0E0F0D-8917-4809-80C3-A525CF0D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BA1B3-15A2-4383-AD58-02153F4D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46A1C-3C8F-46BD-A70D-013EBDF3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AE868DC-2E1B-4F08-BD1F-C5BF095B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0C689CE-1718-4483-BA43-896F4E52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EXERCISE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D05C4-39EC-4504-84D5-317A7301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Segment comparison and focus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6DB0E-6DA1-4E34-81A2-3310E86D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exercise produces a working artifact, not class discussion notes.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6AD05-0A71-49F1-B3E7-45F0006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BE3D1-C21A-4C41-9B49-34058F83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729DC7-A0AE-4562-8C7B-24DC676D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095C7D-4362-4473-B566-B68446FA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5FECA-638E-4615-8E8B-05DA6F4A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3143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9EEE0-9A40-4032-829A-B9BED437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895CA-1A09-4018-B3A0-1779E907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TIMEBOX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27953-CA2F-4316-B7B7-891B8693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266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7 min segment scoring, 5 min focus statement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6A4FE-2D6A-484C-9C98-E93D6598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11BD6-B743-47D4-8F47-3548773E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D0C73-3EBE-45CB-8BDB-DA5706E1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324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ICP and disqualification scorecard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C371F9-F7BD-4E99-8EA7-ACDC131E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38350"/>
            <a:ext cx="73342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AA5D2A-17CD-4640-8A35-1ABEF2E1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E42BBE-94F6-4AD2-A30D-8829D1C9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LEARNER ACTIONS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00EA10-5B68-47C0-8270-206A40E1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D259E-7421-45FF-8A1B-2FD9D515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E4949-42D2-4F40-B58C-833A3619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717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Compare three candidate segments by fit evidence, trigger evidence, access path, value potential,...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A323AA-2C9A-45DA-83D8-6C6A8DA7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DF104-344C-468B-B962-7776A6A2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575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53E21-EB5A-461E-B08A-EE347AED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194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Choose one 90-day focus segment.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B9D181-B6CE-4A73-A57F-A6F06D4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9D8"/>
          </a:solidFill>
          <a:ln xmlns:a="http://schemas.openxmlformats.org/drawingml/2006/main" w="9525">
            <a:solidFill>
              <a:srgbClr val="667A3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5B127D-1CBB-457C-8777-21E5ACF1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052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65C4D-FD2D-4E8A-903D-C3083ED8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67175"/>
            <a:ext cx="5695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Write the demand focus statement and at least five rejection rules.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5D5C45-B7AE-48CC-A727-645C1BDA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194B3A-EE33-4F15-B3C8-2389E172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27170B-C67C-4799-869F-0B14F75A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12905-89AE-475B-B34D-ACAEFD9F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23435925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F9FA5B-C4EC-44C7-ACE0-3325A58B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2E54C-F64D-4F7E-B6D1-A3481DB3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D0371-F10A-4FFE-A590-FEC71A4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1B07691-D217-4054-BC2C-04BD5179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6FB7E30-220B-4F93-85BD-2E03AD10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GROUP CRITIQUE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4A555-8B7D-4BE5-8548-536015D6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7A59D-87F8-4620-8A25-B5AB7274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D7CB3-27B5-4A07-8404-7BD26BCD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8A22C-4168-4C14-B472-9A07AA86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73D623-4477-4C15-B551-732BAFE8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8E436-5AC1-4744-A6F9-8D4B4E64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D6A77-32F9-4ED9-B918-6978D04D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B5295-284C-45F2-B223-DC7B2CE8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90C39-4F87-40A4-837A-BD8A2B499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569BB-B1AF-4BED-BBCF-E17415A1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TEST THE ARTIFACT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BBEEB-3B36-4ECB-AE67-4FA20F30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81EA1F-C1F7-4DE3-8CF5-92D220C9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AF28B-D849-4D26-AD86-0D6BED6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Is the ICP narrow enough for 90 days?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2B0F5-235B-4F12-B6A3-17C1800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4012C4-8ED7-44BC-B4B1-FB59AC58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42F47-4A5F-4907-87C2-994D5A8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accounts should be excluded immediately?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37D30-80FF-424E-8B87-1B3C4718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E9"/>
          </a:solidFill>
          <a:ln xmlns:a="http://schemas.openxmlformats.org/drawingml/2006/main" w="9525">
            <a:solidFill>
              <a:srgbClr val="1D607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D54663-309C-474D-B2BE-22BD238E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D1AE6C-3A6D-4222-906F-BD220716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signal would prove the segment is moving?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A49F2C-CF5E-4089-9CF8-6B864BE4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9577F3-466F-46A0-BCCA-9F9A7693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FORCE THE REPAIR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46BFE-A4D2-4ACC-B4DC-A7BCB24C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B2729-EE4A-4F96-9B3B-F74AE60A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765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D2CE8-DDE9-4CB0-BF22-8D1FCB0B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384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buyer roles must be visible?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69F42D-46B1-4CCC-984F-1E909830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3159F6-4849-43C2-9B9E-85DFD74B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F744DF-EC21-4366-AA9A-875B43A5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2897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content becomes specific because the ICP is narrow?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B5C310-DBCE-479F-A2F8-01F2ADB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247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FD5"/>
          </a:solidFill>
          <a:ln xmlns:a="http://schemas.openxmlformats.org/drawingml/2006/main" w="9525">
            <a:solidFill>
              <a:srgbClr val="A85D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9B19F7-05EF-41B0-9A32-7F1DBD5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247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D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D607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5F0AEA-5378-4356-9A4D-A93745D6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9525"/>
            <a:ext cx="436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What will leadership be tempted to broaden too early?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AA34F9-9EAB-424A-9CFB-85F2D6D7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B579AC-EC10-4A71-9C46-44FBF66C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16F9A-88E9-460F-A45F-31172668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146A49-0ABF-4F35-A93B-F14E8F43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BB8894-E72C-49DA-AFAD-E346D14C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376738-3CBE-412E-9B3A-93CF2839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6C18BF-62A6-4161-86E1-CAA6B662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0B3640D-EA66-429F-877A-028786C8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A98974A7-1FD7-4CF5-9460-2201509F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GROUP CRITIQUE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0B53B6E-6987-4D52-8FC1-653CAAAD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Critique the operating decision, not the writing style.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34D281-6ACD-4FE4-A41E-3F383A1D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Peers should find one false assumption, missing proof need, or unclear owner.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70DA10-60DD-4134-BE94-B60C8F11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331E9FB-1E33-4990-8BC4-AD24B35F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3603D4-7E20-41F3-B7EE-6C46766B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292427-86A7-4C9D-9D11-36BFFD1A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3FB172-AD39-47B6-B3BA-1B4EBFB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0634441-ABC9-4512-8542-5936E5DE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DD3FE6-02CC-48A0-825D-8183DC6E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2498464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336E5-4213-4FEA-B85C-1C866ED4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0E545-7095-4B6A-89BD-CFA62520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C71C3-C6C9-4BC7-B539-3B3B64E9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9F51F775-B94B-49F3-BDF6-5F41B708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BEFC443-DC53-4F67-8940-CEE30094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AI-ASSISTED EXERCISE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D2077-846C-48C2-BFCF-FF112CFB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AI to structure the attempt, then make humans responsible for judgment.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25E98-97AA-4B31-A139-00169F08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prompt is constrained by source, assumptions, output standard, and human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54403B-CB85-45CD-A489-AE802BFF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C9AEF-704F-4C88-9485-DB50DF4C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CE408C-79E8-4BB9-A0B4-0E14B00E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6F217-A5F2-47CF-B1BD-EBACE70F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58D2D3-8137-4E7E-85C2-4B2A1266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AB346-FA3D-42F3-B29F-F9844EE5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0960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E04F06-FFC3-43A4-8D10-58139E32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F7F45-7530-4B03-896F-2EE96824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PROMPT TO GIVE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409ED-34CE-40D1-AE74-BB512406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 three candidate industrial segments by fit, trigger, access, commercial value, committee feasibility, proof availability, and pilot feasibility. Recommend one 90-day ICP, explain why it is narrow enough, define explicit disqualification rules, and list risks or assumptions humans must validate.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8669A-689E-4265-B8C4-A1581F52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867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AF0AEB-9454-4729-BED8-43358A4C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6DFB4-F04C-4ACF-BA80-9D76861A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REQUIRED OUTPUT STANDARD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BCD4B1-D27C-4E97-87C7-7651B383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6603A-1728-4D0E-8813-6D7FBED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Ranks by fit, trigger, access, value, and feasibility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A3F33-AB18-48E2-8042-03542A81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908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68F3AB-A8E9-4840-8D1A-FE83E586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1242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Explains why the chosen segment is narrow enough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46F1FA-33A2-435A-8032-DA693201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67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D7A491-2D59-4AAE-97C6-F0F9F5AC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0045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Includes explicit rejection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55853-E309-4969-B06B-4959B9E6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433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4B85C-E03D-4D3D-B6D3-DFD10B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76700"/>
            <a:ext cx="4210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Names likely committee roles and demand signals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E5CD4-2A28-4CF5-8A47-30FF3F1E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8BD77-B0D5-4866-B2D2-9F67153C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A06573-A89D-45FF-B9C0-D7755E4F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939CA0-E493-4D52-9338-E234A41D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3F7F63-4971-4ACB-A8D9-8EC630E1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9C54FF-8F2E-477D-857C-29F4CF68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DF5BA5-4BFC-4D65-85AD-D02E060C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D289C6C0-361D-4630-94C3-82E6B390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CEBC8625-FA69-4E68-ACE9-07577FB4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AI-ASSISTED EXERCISE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8F3C12-AC7A-4E9C-9B61-AC86BB8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Use AI to structure the attempt, then make humans responsible for judgment.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AB67BA-F688-47FA-B1D2-E92060ED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The prompt is constrained by source, assumptions, output standard, and human validation.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337C35-1B35-4E51-B1B8-7ACA9DF7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646B3F-3D0C-43CD-8022-8EC4FFBE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12C973-2CF0-4F55-90E1-A8DE597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6979654-3B7B-482A-A981-554F4B3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FAE03B-4B2C-4EF6-842A-0BC8DE59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AC0B4FA-B214-473B-A6F8-CC9D8930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8650F9C-A6EA-48E9-A567-C2F61DD2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179373051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6E1AD-DB05-4398-A567-6BB8B431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62D4-A8C2-4F48-993D-9ADF7236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07BCD-7F1B-4CFC-9693-E531B28F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2401A92C-6C7F-4D09-90DB-0BB1DAA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65B7875E-5806-4EB9-9D24-2B0552968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HUMAN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55AC4-7B49-420B-9628-E188E1E0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draft structure. Humans must repair industrial reality.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8E52F-DCEF-4607-A4AB-6FC1BB7D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A09C4-9BD0-4DC9-B9DF-A71427D8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A3A15A-E542-48EC-A4A3-24D54D89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E4F02-50B6-4C51-A24C-DE769527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6B8BF-D38D-4346-8A9F-0830A85D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9A6617-8D02-4DEC-976B-3D0D2754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CAE1EE-235D-440B-9249-0BFAA679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76771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302B9B-59A2-436A-9E1B-A470C5BE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88C60-2766-4E4D-8761-DEB7D3D7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REJECT OR REPAIR WHEN AI OUTPUT...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F4FACA-123E-462B-BD64-A6190954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8D4FC-7457-45DB-957A-B962EDD5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market size as the main reason.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6880C-70C2-464D-8862-BF97855C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1D9D0-7350-416B-A912-F3079EEF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broad categories without triggers.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14D95-97A5-42B1-AC67-755BE3C1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77C4B7-548A-4FF0-A4CC-7B5E09D3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segments with no commercial value threshold.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5F1DA0-046E-4828-8DEB-C1C3A5A3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29EB1-92DB-4736-9D53-8120F56F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digital-access assumptions where relationship channels dominate.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AA5260-7E15-46FB-B94C-A2C0BF6D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49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E80C06-D923-4532-A118-9C0E7D63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924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Reject any pilot without disqualification.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2A486-DD2E-4776-AE99-25D8AFF5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428625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E80883-AE04-4BA2-B76C-91316E51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18524D-46CF-4E59-A2CB-805B7169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QUALITY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3E021A-84C0-45B1-B6CC-73774F65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4795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The correction standard is not nicer wording. It is better industrial judgment: category specificity, proof, owner, field, SLA, cadence, and disqualification where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4A45B4-DE3C-4615-ABCB-89BF8BAC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C2C5BF-B476-44B1-B00A-0752D841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3B296-6D08-4E28-B787-C183A11C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Ask what the AI is guessing.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E658B8-C9B1-4038-A0F2-AB6DF3E8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1064CD-74C5-4CCD-9911-4AB77075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2268C6-82DE-41CC-BAD7-9A12992E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4E4F35-AA57-4741-BED8-C2DE41DE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2C07CB-D5E6-4CAA-8739-4B4AB6EF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463EB1-318F-4167-953E-FD22792A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398795-12C3-4D37-9667-4A0B1C76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24CA4B20-7055-4378-BC60-018B0509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3C3D1076-2501-4F6E-BBD6-C6054514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HUMAN CORRECTION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2495B4-7740-4296-9089-EF1334A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AI can draft structure. Humans must repair industrial reality.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F3E24C2-F1C1-4D04-A87D-8EEF471D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This slide gives the instructor a rejection standard.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A941F8-546F-40A8-BF55-D736B133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C62725-BC94-4DD0-B864-DDFA652E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B153B2-9745-469B-8289-5AFE8092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DF0AD1A-67BD-4DA3-AAC0-B72F9616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EBDE8D-3EA0-42A9-B942-4A1118C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939BF3-487A-4527-80D4-93B2EFA2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1331F0-EF6D-4846-8639-32E1EAC9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171196621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765841-2120-4086-B88A-18CDE47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7FA71-65BE-4A84-97AE-6C1D0D7FA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3CB5D-D117-4B46-A4B9-DDE65CAE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F04BF174-C4F9-4625-BDBB-BE0A32C6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5FBD51EC-BAFC-4B3E-BAF3-25497119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REVOPS TRANSLATION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556AE-122C-4AF3-B873-6F7E1DAB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RevOps should prove that focus is real.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8551A-8E8A-49D5-9E31-DD7BB9CC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artifact must become inspectable in a field, board, owner model, or cadence.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EF71D-85CB-4B08-AAD8-FE1ACED7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A16F0-5E64-4025-A98B-EBE8202C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0370D-1B4B-4DE8-9AEA-3677741C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2B5E5-5ECB-417F-88FC-4CD8B04D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4C786-C497-4557-8A5C-6062CE47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E6552A-3307-4F23-96B1-69CFFF16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C8ED65-245B-43F2-A4F8-12BA62CB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ICP fit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95EC3A-D17C-4DC6-A520-68B877A65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3F2E3D-AB75-4096-822B-5E16578A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1DEED-D7AF-469B-9ECE-53BD88F5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Fit reason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587F3-C57A-4960-A609-EE0D01AB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FC6E3-56D3-435D-8E23-AAC15A3D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669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F18CFC-8FBE-467C-B9F7-917D9301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384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Trigger 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66A5A-1CBD-4031-BC5A-D28D75FC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7D87A-E916-43D0-AAC0-238B086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FE3A1-2A35-409A-9923-F46DC74F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Trigger evidence and 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C09425-5D5B-4F6E-8164-96A214A0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238A6-F366-4344-8D79-A9893E12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B71C7-F230-4576-A5FA-474D6890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Pilot segment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E51BF9-AF20-4F17-B0EA-9E9FB341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1DCE06-722D-4D58-BAB9-8CFEDC6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623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A3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A8F99-43CA-4934-800B-A978988B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Access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006B0C-5B79-4F5F-933E-D158BCF41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C52414-BA58-4333-B603-397F17A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24C24-9FB8-468A-9459-80319920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Disqualification reason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18B8EF-0B81-471C-A1C3-B12C2C6C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3333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782D25-70DE-41A1-853B-D26120E1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5765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0C9C21-37FF-4B6A-94A5-B83EB650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933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Progression state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6625AF-6026-43A0-B622-4FD69ECD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53050"/>
            <a:ext cx="26479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3A0E5-F88F-454A-9D24-1D62C66DF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505450"/>
            <a:ext cx="142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FC3C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FC3C8"/>
                </a:solidFill>
                <a:latin typeface="Aptos"/>
                <a:ea typeface="Aptos"/>
                <a:cs typeface="Aptos"/>
              </a:rPr>
              <a:t>INSTRUCTOR CUE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AB0973-240C-4262-AFFA-BAD46336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6769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If it cannot be tracked, it is not operational yet.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68E4A4-ED83-4E9F-A4B5-4F17636D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FF17689-4610-42B6-87EF-50DC5EFE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4A5E6F-6A65-43BB-A463-910C375A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5E6671-8A21-45DD-A9EB-532443A2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91413848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205CCE-C31D-4385-94A2-0D40AFD3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40CB1-E99D-46EA-886C-61541556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ED20B-0A7B-45A4-9041-6BB307BC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73B089D-AAA9-4D64-9415-73854872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BF54969-46D1-4B1D-B26E-430A6A4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FAILURE MODES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738C9-1227-4A61-AECF-E3EB21B2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5C7F2-C029-448E-B3F6-D9B4AA3F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45C71-A401-4354-AA40-07330AD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749D39-361F-4E8B-ABAB-D9FA9F98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F2E5A-EBE8-431C-97EA-1953FFF2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8569E-0AC5-4DCA-9E66-EA9FC1B4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6B061-655F-45DC-AF0B-F2E8CC6E9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64752-1D8F-411C-A1F8-2B625CC3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57556-1237-4052-B43B-21DF5CB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538B9-D163-49D4-97F4-4FAC8995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240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13234-9C29-40C8-AD92-89D6E100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24050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looks like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B46AD-42C9-42FC-A7AA-EB55DC69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Correction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E496C-DB4E-41DD-98B9-FFA3881E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2098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FF430-EAB6-4DA3-86FE-61185FA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3812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Broad market fantasy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FF44D5-3DB8-48F5-B621-AF9F4D46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We serve all manufacturers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C1504-8359-41DA-92A5-C21E839F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81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Narrow by trigger, application, value, and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D6977-1AFF-40B6-AF1F-6F69360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977AE-4A79-4D26-B2E3-FBFFD5BC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9337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3671CE-85CA-47FB-85A6-7038095C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1051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Logo wish 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4702E-4EB6-4DE3-BF70-3918F8E8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051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Accounts chosen because they are famous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B38B69-70E3-4B1E-8FCC-2B8D5DDF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Require fit, trigger, proof, and access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19F99-08E5-4F65-8AF0-B3A8114F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576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00C804-5348-492F-A50C-22C4F121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29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Price-led inbound trap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B20D96-1A21-4B02-A86C-5120BC1B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290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Weak-fit RFQs consume effort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461E6-CD69-4A50-A912-7CF4C3E1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Route low-fit inquiries differently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ACD82A-4E33-4D40-B1CF-28543A0F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E085B8-B83D-437E-8491-D9690CAE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381500"/>
            <a:ext cx="1196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B6148-BB5C-44F9-B040-1C59F2F7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5529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No exclusion logic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E3ADE5-0C63-44D0-A03F-FD0FE131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529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Every account stays in the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9D4002-6487-41FA-9D5B-DCDF7936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529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Add downgrade and disqualification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837445-92A9-410B-8E34-7B57602E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3A8DFF-BC62-47AC-964B-A1607B6C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4E230D-4B91-47E3-86D0-9D850EB8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3DEAC8-0313-4A5C-ACE1-3C203D79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A7DCA1-1791-4DB8-8140-D8F6D46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6EF80D-EF62-40B4-A0E8-9D371F3C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C19EC6-7485-483B-BBF4-FEB8A85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260F63C-000F-4AA8-87DD-66EAB2F3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1B6737B9-4155-48CD-8A8F-C6BFD381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47913F-028B-4799-931C-79A4A621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Name the anti-pattern before it becomes field behavior.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094391-4D5B-4640-A474-2DC15B6A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Use this slide to make weak work easier to reject in the moment.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542CA7-7FF5-4ADB-89E2-F21BE0F7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433503B-CE33-453A-AB1C-7D176E19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5C04FD-E9CF-4FF9-9063-FCBDB43D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3343C1-573D-4D9E-8760-00380820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007227-0442-4FFB-836D-EFB5B424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98B570-0235-4E95-8DA0-0A6C4052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CCDD2C-139D-471F-86ED-D3E86307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91032263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D0180D-30C2-4BA3-8CE3-8FA55790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92CC6-B875-431F-97DB-CEA335E2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A2988-1D5B-49C5-8BCC-F77CABEB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B2148947-5DD6-46E3-900A-D7B69138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90A3FB36-5CE2-402F-A340-53B51555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FINAL 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03487-A90F-4B9B-AFBD-AC6C839D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3E9C7-B264-41DC-BF49-5912E5FF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63F51-9593-4F0C-AF19-FABFF0A5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BB687-FC7C-4C54-AA71-78F10A4E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2C6D7-5BE7-424F-87ED-895797C7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4EDCD-BD1B-4B7B-B733-1130AAB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7754B-790D-4716-8C27-3B4E0CF7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119634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B9EA55-6684-48BB-B3D2-9B927D9D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809750"/>
            <a:ext cx="68199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8093F-49F7-4479-BAD9-AE50828B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DD15E-780F-4C79-872A-546E39BA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ARTIFACT CHECKLIST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5A21B-8406-4C51-80CA-CE4686CC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70032-4B12-4DA8-A748-51A7D738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90-day ICP focus statement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51979-E7C1-461D-AEF1-0FD2380E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5D5B15-9380-4617-BAC5-DF84A6AD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Priority sector and account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71586-5F2A-41E8-BEAB-900A86C0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741987-79D7-4AB6-ABC0-02D89D27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Trigger, technical fit, commercial fit, geography, and buying process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1BF7D0-E6D5-4791-BD30-455B2EC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146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0A013-7C01-498C-888D-F2FD528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479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Access path and buying committee assumptions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F0C79A-C40F-49AE-8C92-B68D8AAB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718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298580-A765-4026-96AF-20F0895A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051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At least five disqualification rules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A6AD0-5BCD-4429-ABBC-89F33A0D0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7EA642-10B7-4BC2-90C7-F2E7471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62350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6"/>
                </a:solidFill>
                <a:latin typeface="Aptos"/>
                <a:ea typeface="Aptos"/>
                <a:cs typeface="Aptos"/>
              </a:rPr>
              <a:t>Account progression signal to measure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5A6568-92EB-4EF0-A389-57EEF165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09750"/>
            <a:ext cx="5143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4663CA-E6A5-4F09-86CB-640B6BCE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90A074-CE28-44A9-8A28-893D8627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COMPLETION STANDARD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2E277A-6ADB-4605-B24C-1511DD36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81300"/>
            <a:ext cx="3429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artifact passes only if sales, marketing, RevOps, leadership, and an AI agent could inspect it and know what to do next.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8F1D66-CE19-4742-87D9-3A5C329A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5350"/>
            <a:ext cx="323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6E3E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6E3E5"/>
                </a:solidFill>
                <a:latin typeface="Aptos"/>
                <a:ea typeface="Aptos"/>
                <a:cs typeface="Aptos"/>
              </a:rPr>
              <a:t>If it could be used unchanged by a generic SaaS company, it fails.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8A5756-B433-4A40-A7C0-E09D8345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C4D553-BE9A-46CE-994A-DC9FD5D9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40959-6609-4F1B-A14F-C000DBE4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B03A22-6602-4368-846E-8D8B2CB5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5A6CEC-9AF3-47CE-AEA4-0CB32806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E4DE4D-1526-471D-BBEC-A1DEEFB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7C27CE-0CDB-46F2-917F-ECCE4E01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0B84E3E1-CCBA-4338-9C01-9FCCFE83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99F9F90-358D-46F5-B96D-4A00F83C3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FINAL ARTIFACT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06F68BE-A55D-4C8C-BB1E-35BF971C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04850"/>
            <a:ext cx="809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learners must leave this lesson able to submit.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F40358-723B-4EF9-9A54-2C984EA3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Treat this as the exit gate before transitioning.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C13BDB-8B30-4811-B988-6AD79F42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DBA096-B8DA-44A0-9412-5AB4E9D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71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DDC5B6-2812-431A-9CCE-BEF70436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40080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C8A5F9-E917-4B70-828F-067920E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B6851AC-C57F-43CB-8585-68EC0669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D39863-E718-4534-B2D1-56FF9A88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59DEECB-1A0D-4019-96A0-1B5A014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10347672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AA6332-D682-473E-8FF7-E390548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BF8D0-9D4F-4126-BF57-7DF8C90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14CC0-1BDB-414C-BECF-5578768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AD942754-5BBE-44FE-840B-CBD70B7C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0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D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2CBD17A5-C958-47CA-B64E-C391CA43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MODULE 1 / LESSON 03 / TRANSITION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F0AB4-143B-4125-81E1-8F94372B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8382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Carry forward: ICP and disqualification scorecard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602CD-C093-4714-8763-FD929181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723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79352-D5BE-4B2A-98E4-61907771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0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FF328-1700-42E2-A7E1-7EEFC68E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5F910-13ED-47F4-B19D-E078BE87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9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0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 focused ICP makes the next work possible: mapping the actual questions that block movement inside that segment.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72B439-C471-4359-AB96-C99F84E0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9075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32B"/>
          </a:solidFill>
          <a:ln xmlns:a="http://schemas.openxmlformats.org/drawingml/2006/main" w="9525">
            <a:solidFill>
              <a:srgbClr val="1223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7E039-86AF-449F-B81C-AE9C42E7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12AB9-2E33-4F11-A3CE-AFD3E598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9646A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C44C4-243B-4110-B779-5689D57B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76550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Lesson 04 - MOIN: Map Of Informational Needs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FB2282-2956-4EBC-A882-D46FB2AF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57700"/>
            <a:ext cx="109156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9525">
            <a:solidFill>
              <a:srgbClr val="D9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EB1C3-6DDB-4638-9931-ECBC11F7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990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Recurring instructor check: sales impact / signal / RevOps field / buyer content / AI risk / industrial 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B58BD-3670-4B08-B454-00CFD047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0915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E29824-D2D9-4F1B-A923-5E46F0120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Lesson 03 - ICP, Segments, And Demand Focus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363F7-D951-4A30-8734-B0738DDF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532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Source: modules/module-01-industrial-demand-generation/lessons/03-icp-segments-and-demand-focus.md @ 9e28222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A8C5A-3A73-48AE-ABF4-63596CAB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532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964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9646A"/>
                </a:solidFill>
                <a:latin typeface="Aptos"/>
                <a:ea typeface="Aptos"/>
                <a:cs typeface="Aptos"/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1088443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2026-05-16T17:00:39.7430000Z</dcterms:created>
  <dcterms:modified xsi:type="dcterms:W3CDTF">2026-05-16T17:00:39.7430000Z</dcterms:modified>
</coreProperties>
</file>