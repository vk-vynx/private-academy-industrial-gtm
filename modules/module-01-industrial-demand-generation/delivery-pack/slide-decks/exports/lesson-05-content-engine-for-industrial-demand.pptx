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b82c353f134428" /><Relationship Type="http://schemas.openxmlformats.org/officeDocument/2006/relationships/extended-properties" Target="/docProps/app.xml" Id="R114f01e93c4546d5" /><Relationship Type="http://schemas.openxmlformats.org/officeDocument/2006/relationships/officeDocument" Target="/ppt/presentation.xml" Id="Rd18e950602234350" /></Relationships>
</file>

<file path=ppt/presentation.xml><?xml version="1.0" encoding="utf-8"?>
<p:presentation xmlns:p="http://schemas.openxmlformats.org/presentationml/2006/main">
  <p:sldMasterIdLst>
    <p:sldMasterId xmlns:r="http://schemas.openxmlformats.org/officeDocument/2006/relationships" id="2147483648" r:id="R76b8315454114ac2"/>
  </p:sldMasterIdLst>
  <p:notesMasterIdLst>
    <p:notesMasterId xmlns:r="http://schemas.openxmlformats.org/officeDocument/2006/relationships" r:id="Re96835e759864402"/>
  </p:notesMasterIdLst>
  <p:sldIdLst>
    <p:sldId xmlns:r="http://schemas.openxmlformats.org/officeDocument/2006/relationships" id="256" r:id="R3fe4ae9699584a6b"/>
    <p:sldId xmlns:r="http://schemas.openxmlformats.org/officeDocument/2006/relationships" id="257" r:id="R56eee4dd9ac4407a"/>
    <p:sldId xmlns:r="http://schemas.openxmlformats.org/officeDocument/2006/relationships" id="258" r:id="Rffaed5992e044997"/>
    <p:sldId xmlns:r="http://schemas.openxmlformats.org/officeDocument/2006/relationships" id="259" r:id="Rcd2e0e59800347a3"/>
    <p:sldId xmlns:r="http://schemas.openxmlformats.org/officeDocument/2006/relationships" id="260" r:id="R3bd82cbbddb64991"/>
    <p:sldId xmlns:r="http://schemas.openxmlformats.org/officeDocument/2006/relationships" id="261" r:id="Ra5e1be78725b4bc5"/>
    <p:sldId xmlns:r="http://schemas.openxmlformats.org/officeDocument/2006/relationships" id="262" r:id="Rd03e1b9a8db348ce"/>
    <p:sldId xmlns:r="http://schemas.openxmlformats.org/officeDocument/2006/relationships" id="263" r:id="Rbe58df7bdde7439e"/>
    <p:sldId xmlns:r="http://schemas.openxmlformats.org/officeDocument/2006/relationships" id="264" r:id="R91ea9aa251114c47"/>
    <p:sldId xmlns:r="http://schemas.openxmlformats.org/officeDocument/2006/relationships" id="265" r:id="Re21f94297fa949bc"/>
    <p:sldId xmlns:r="http://schemas.openxmlformats.org/officeDocument/2006/relationships" id="266" r:id="Rb0ac383c96f54644"/>
    <p:sldId xmlns:r="http://schemas.openxmlformats.org/officeDocument/2006/relationships" id="267" r:id="Rc5a3d4f1b74f46ff"/>
    <p:sldId xmlns:r="http://schemas.openxmlformats.org/officeDocument/2006/relationships" id="268" r:id="R096239fdff2a4c97"/>
    <p:sldId xmlns:r="http://schemas.openxmlformats.org/officeDocument/2006/relationships" id="269" r:id="R5c90ad8853bd4773"/>
    <p:sldId xmlns:r="http://schemas.openxmlformats.org/officeDocument/2006/relationships" id="270" r:id="Rb397570d63684b2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76b8315454114ac2" /><Relationship Type="http://schemas.openxmlformats.org/officeDocument/2006/relationships/theme" Target="/ppt/theme/theme1.xml" Id="Rd07ce7467a814a99" /><Relationship Type="http://schemas.openxmlformats.org/officeDocument/2006/relationships/notesMaster" Target="/ppt/notesMasters/notesMaster1.xml" Id="Re96835e759864402" /><Relationship Type="http://schemas.openxmlformats.org/officeDocument/2006/relationships/presProps" Target="/ppt/presProps.xml" Id="R07714ff44d384d40" /><Relationship Type="http://schemas.openxmlformats.org/officeDocument/2006/relationships/viewProps" Target="/ppt/viewProps.xml" Id="R65ced69fd7744d27" /><Relationship Type="http://schemas.openxmlformats.org/officeDocument/2006/relationships/tableStyles" Target="/ppt/tableStyles.xml" Id="R25dc2a3f433d4671" /><Relationship Type="http://schemas.openxmlformats.org/officeDocument/2006/relationships/slide" Target="/ppt/slides/slide1.xml" Id="R3fe4ae9699584a6b" /><Relationship Type="http://schemas.openxmlformats.org/officeDocument/2006/relationships/slide" Target="/ppt/slides/slide2.xml" Id="R56eee4dd9ac4407a" /><Relationship Type="http://schemas.openxmlformats.org/officeDocument/2006/relationships/slide" Target="/ppt/slides/slide3.xml" Id="Rffaed5992e044997" /><Relationship Type="http://schemas.openxmlformats.org/officeDocument/2006/relationships/slide" Target="/ppt/slides/slide4.xml" Id="Rcd2e0e59800347a3" /><Relationship Type="http://schemas.openxmlformats.org/officeDocument/2006/relationships/slide" Target="/ppt/slides/slide5.xml" Id="R3bd82cbbddb64991" /><Relationship Type="http://schemas.openxmlformats.org/officeDocument/2006/relationships/slide" Target="/ppt/slides/slide6.xml" Id="Ra5e1be78725b4bc5" /><Relationship Type="http://schemas.openxmlformats.org/officeDocument/2006/relationships/slide" Target="/ppt/slides/slide7.xml" Id="Rd03e1b9a8db348ce" /><Relationship Type="http://schemas.openxmlformats.org/officeDocument/2006/relationships/slide" Target="/ppt/slides/slide8.xml" Id="Rbe58df7bdde7439e" /><Relationship Type="http://schemas.openxmlformats.org/officeDocument/2006/relationships/slide" Target="/ppt/slides/slide9.xml" Id="R91ea9aa251114c47" /><Relationship Type="http://schemas.openxmlformats.org/officeDocument/2006/relationships/slide" Target="/ppt/slides/slide10.xml" Id="Re21f94297fa949bc" /><Relationship Type="http://schemas.openxmlformats.org/officeDocument/2006/relationships/slide" Target="/ppt/slides/slide11.xml" Id="Rb0ac383c96f54644" /><Relationship Type="http://schemas.openxmlformats.org/officeDocument/2006/relationships/slide" Target="/ppt/slides/slide12.xml" Id="Rc5a3d4f1b74f46ff" /><Relationship Type="http://schemas.openxmlformats.org/officeDocument/2006/relationships/slide" Target="/ppt/slides/slide13.xml" Id="R096239fdff2a4c97" /><Relationship Type="http://schemas.openxmlformats.org/officeDocument/2006/relationships/slide" Target="/ppt/slides/slide14.xml" Id="R5c90ad8853bd4773" /><Relationship Type="http://schemas.openxmlformats.org/officeDocument/2006/relationships/slide" Target="/ppt/slides/slide15.xml" Id="Rb397570d63684b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42ce321ae1f04e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847c1e9e2146c1" /><Relationship Type="http://schemas.openxmlformats.org/officeDocument/2006/relationships/notesMaster" Target="/ppt/notesMasters/notesMaster1.xml" Id="R3f315265ae844a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4532b494d54685" /><Relationship Type="http://schemas.openxmlformats.org/officeDocument/2006/relationships/notesMaster" Target="/ppt/notesMasters/notesMaster1.xml" Id="Re1d9984e882147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5bfad14b5f4012" /><Relationship Type="http://schemas.openxmlformats.org/officeDocument/2006/relationships/notesMaster" Target="/ppt/notesMasters/notesMaster1.xml" Id="R263e55d1483d48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9437052a134b7e" /><Relationship Type="http://schemas.openxmlformats.org/officeDocument/2006/relationships/notesMaster" Target="/ppt/notesMasters/notesMaster1.xml" Id="R137feef9854546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49c0d0974a4424" /><Relationship Type="http://schemas.openxmlformats.org/officeDocument/2006/relationships/notesMaster" Target="/ppt/notesMasters/notesMaster1.xml" Id="R3888881046b14a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d4629b84894d08" /><Relationship Type="http://schemas.openxmlformats.org/officeDocument/2006/relationships/notesMaster" Target="/ppt/notesMasters/notesMaster1.xml" Id="R38f91cf6e1aa4e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3ad5ed45e34b6c" /><Relationship Type="http://schemas.openxmlformats.org/officeDocument/2006/relationships/notesMaster" Target="/ppt/notesMasters/notesMaster1.xml" Id="R32e898ebdb3b43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5d0d9cc52b4598" /><Relationship Type="http://schemas.openxmlformats.org/officeDocument/2006/relationships/notesMaster" Target="/ppt/notesMasters/notesMaster1.xml" Id="R957bb6a81c3b40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4b82565b69146d6" /><Relationship Type="http://schemas.openxmlformats.org/officeDocument/2006/relationships/notesMaster" Target="/ppt/notesMasters/notesMaster1.xml" Id="R6edf895741854f9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10516ebb2b434f" /><Relationship Type="http://schemas.openxmlformats.org/officeDocument/2006/relationships/notesMaster" Target="/ppt/notesMasters/notesMaster1.xml" Id="R2f781ff8cd7349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e3c81e52163453a" /><Relationship Type="http://schemas.openxmlformats.org/officeDocument/2006/relationships/notesMaster" Target="/ppt/notesMasters/notesMaster1.xml" Id="R53be4033b9a4425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7ed2691cfc54147" /><Relationship Type="http://schemas.openxmlformats.org/officeDocument/2006/relationships/notesMaster" Target="/ppt/notesMasters/notesMaster1.xml" Id="Rb9df32222354420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3688a2c6e54022" /><Relationship Type="http://schemas.openxmlformats.org/officeDocument/2006/relationships/notesMaster" Target="/ppt/notesMasters/notesMaster1.xml" Id="Ra29575c56671416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c4d1ce3a3294aa0" /><Relationship Type="http://schemas.openxmlformats.org/officeDocument/2006/relationships/notesMaster" Target="/ppt/notesMasters/notesMaster1.xml" Id="R6ec6de225d984ec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120490079454de7" /><Relationship Type="http://schemas.openxmlformats.org/officeDocument/2006/relationships/notesMaster" Target="/ppt/notesMasters/notesMaster1.xml" Id="R2e113153eaba4f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ee80facdf1245e5"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b59eca32540c4ccd" /><Relationship Type="http://schemas.openxmlformats.org/officeDocument/2006/relationships/slideLayout" Target="/ppt/slideLayouts/slideLayout2.xml" Id="R1308712cb0e64f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08712cb0e64f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fa4c7c233f4a47fb" /><Relationship Type="http://schemas.openxmlformats.org/officeDocument/2006/relationships/notesSlide" Target="/ppt/notesSlides/notesSlide1.xml" Id="R748689c15da744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fb6d02d39ae487a" /><Relationship Type="http://schemas.openxmlformats.org/officeDocument/2006/relationships/notesSlide" Target="/ppt/notesSlides/notesSlide2.xml" Id="R9c1b91a57c5f4d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cea1b550a354dd4" /><Relationship Type="http://schemas.openxmlformats.org/officeDocument/2006/relationships/notesSlide" Target="/ppt/notesSlides/notesSlide3.xml" Id="Ra672b435bc0645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609475d92bc4da6" /><Relationship Type="http://schemas.openxmlformats.org/officeDocument/2006/relationships/notesSlide" Target="/ppt/notesSlides/notesSlide4.xml" Id="R6a9e70e620b049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1a543796e99425f" /><Relationship Type="http://schemas.openxmlformats.org/officeDocument/2006/relationships/notesSlide" Target="/ppt/notesSlides/notesSlide5.xml" Id="R162e1574aa8840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0773ee7d7c34085" /><Relationship Type="http://schemas.openxmlformats.org/officeDocument/2006/relationships/notesSlide" Target="/ppt/notesSlides/notesSlide6.xml" Id="Rb31332a8984049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a1573b568aee4a37" /><Relationship Type="http://schemas.openxmlformats.org/officeDocument/2006/relationships/notesSlide" Target="/ppt/notesSlides/notesSlide7.xml" Id="R6d904adb7e3940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860153680714303" /><Relationship Type="http://schemas.openxmlformats.org/officeDocument/2006/relationships/notesSlide" Target="/ppt/notesSlides/notesSlide8.xml" Id="Refa337b380e745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9e71038c5e924cb8" /><Relationship Type="http://schemas.openxmlformats.org/officeDocument/2006/relationships/notesSlide" Target="/ppt/notesSlides/notesSlide9.xml" Id="R6ee59ab51d1c4e3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b30d082ded9c4183" /><Relationship Type="http://schemas.openxmlformats.org/officeDocument/2006/relationships/notesSlide" Target="/ppt/notesSlides/notesSlide10.xml" Id="R07c3ac3e85d941d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7178564a95d04afd" /><Relationship Type="http://schemas.openxmlformats.org/officeDocument/2006/relationships/notesSlide" Target="/ppt/notesSlides/notesSlide11.xml" Id="R4ec095b030cd4a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89d57b20afd84cb5" /><Relationship Type="http://schemas.openxmlformats.org/officeDocument/2006/relationships/notesSlide" Target="/ppt/notesSlides/notesSlide12.xml" Id="Rff28b6475c8446b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7d39cf8b37f44d1f" /><Relationship Type="http://schemas.openxmlformats.org/officeDocument/2006/relationships/notesSlide" Target="/ppt/notesSlides/notesSlide13.xml" Id="Rde87aa1877f6436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3256833e459741d5" /><Relationship Type="http://schemas.openxmlformats.org/officeDocument/2006/relationships/notesSlide" Target="/ppt/notesSlides/notesSlide14.xml" Id="R3ff2e87e49234ac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3d97be6d8b794f54" /><Relationship Type="http://schemas.openxmlformats.org/officeDocument/2006/relationships/notesSlide" Target="/ppt/notesSlides/notesSlide15.xml" Id="R8f17ed0a5f3c44c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BB723C2-E945-401F-97DB-BB52BEE77B3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698E361-F698-48D3-8056-7BEC5F5D3F4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C679CEF-F28B-4AAF-AD13-9351903A4841}"/>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5-marker">
            <a:extLst xmlns:a="http://schemas.openxmlformats.org/drawingml/2006/main">
              <a:ext uri="{FF2B5EF4-FFF2-40B4-BE49-F238E27FC236}">
                <a16:creationId xmlns:a16="http://schemas.microsoft.com/office/drawing/2014/main" id="{19A87A4A-8CDE-4959-A70F-AC48A74072B9}"/>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5-label">
            <a:extLst xmlns:a="http://schemas.openxmlformats.org/drawingml/2006/main">
              <a:ext uri="{FF2B5EF4-FFF2-40B4-BE49-F238E27FC236}">
                <a16:creationId xmlns:a16="http://schemas.microsoft.com/office/drawing/2014/main" id="{92F124C1-4A2A-414E-846F-77C3ABF210FB}"/>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INSTRUCTOR PROJECTION DECK</a:t>
            </a:r>
          </a:p>
        </p:txBody>
      </p:sp>
      <p:sp>
        <p:nvSpPr>
          <p:cNvPr id="6" name="">
            <a:extLst xmlns:a="http://schemas.openxmlformats.org/drawingml/2006/main">
              <a:ext uri="{FF2B5EF4-FFF2-40B4-BE49-F238E27FC236}">
                <a16:creationId xmlns:a16="http://schemas.microsoft.com/office/drawing/2014/main" id="{2B28B015-971C-44FE-AE89-C2ABA9AD6C4F}"/>
              </a:ext>
            </a:extLst>
          </p:cNvPr>
          <p:cNvSpPr>
            <a:spLocks xmlns:a="http://schemas.openxmlformats.org/drawingml/2006/main" noGrp="1"/>
          </p:cNvSpPr>
          <p:nvPr/>
        </p:nvSpPr>
        <p:spPr>
          <a:xfrm xmlns:a="http://schemas.openxmlformats.org/drawingml/2006/main">
            <a:off x="514350" y="1066800"/>
            <a:ext cx="723900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172026"/>
                </a:solidFill>
                <a:latin typeface="Aptos Display"/>
                <a:ea typeface="Aptos Display"/>
                <a:cs typeface="Aptos Display"/>
              </a:defRPr>
            </a:pPr>
            <a:r>
              <a:rPr sz="3150" b="1">
                <a:solidFill>
                  <a:srgbClr val="172026"/>
                </a:solidFill>
                <a:latin typeface="Aptos Display"/>
                <a:ea typeface="Aptos Display"/>
                <a:cs typeface="Aptos Display"/>
              </a:rPr>
              <a:t>Content Engine For Industrial Demand</a:t>
            </a:r>
          </a:p>
        </p:txBody>
      </p:sp>
      <p:sp>
        <p:nvSpPr>
          <p:cNvPr id="7" name="">
            <a:extLst xmlns:a="http://schemas.openxmlformats.org/drawingml/2006/main">
              <a:ext uri="{FF2B5EF4-FFF2-40B4-BE49-F238E27FC236}">
                <a16:creationId xmlns:a16="http://schemas.microsoft.com/office/drawing/2014/main" id="{80A38645-54A8-4F30-8C3E-7069A8A1AF9F}"/>
              </a:ext>
            </a:extLst>
          </p:cNvPr>
          <p:cNvSpPr>
            <a:spLocks xmlns:a="http://schemas.openxmlformats.org/drawingml/2006/main" noGrp="1"/>
          </p:cNvSpPr>
          <p:nvPr/>
        </p:nvSpPr>
        <p:spPr>
          <a:xfrm xmlns:a="http://schemas.openxmlformats.org/drawingml/2006/main">
            <a:off x="514350" y="2457450"/>
            <a:ext cx="70485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9646A"/>
                </a:solidFill>
                <a:latin typeface="Aptos"/>
                <a:ea typeface="Aptos"/>
                <a:cs typeface="Aptos"/>
              </a:defRPr>
            </a:pPr>
            <a:r>
              <a:rPr sz="1350" b="0">
                <a:solidFill>
                  <a:srgbClr val="59646A"/>
                </a:solidFill>
                <a:latin typeface="Aptos"/>
                <a:ea typeface="Aptos"/>
                <a:cs typeface="Aptos"/>
              </a:rPr>
              <a:t>Industrial Demand Generation / Live workshop projection system</a:t>
            </a:r>
          </a:p>
        </p:txBody>
      </p:sp>
      <p:sp>
        <p:nvSpPr>
          <p:cNvPr id="8" name="">
            <a:extLst xmlns:a="http://schemas.openxmlformats.org/drawingml/2006/main">
              <a:ext uri="{FF2B5EF4-FFF2-40B4-BE49-F238E27FC236}">
                <a16:creationId xmlns:a16="http://schemas.microsoft.com/office/drawing/2014/main" id="{68D66D4A-2EA2-4359-BA5C-A35FBD686A15}"/>
              </a:ext>
            </a:extLst>
          </p:cNvPr>
          <p:cNvSpPr>
            <a:spLocks xmlns:a="http://schemas.openxmlformats.org/drawingml/2006/main" noGrp="1"/>
          </p:cNvSpPr>
          <p:nvPr/>
        </p:nvSpPr>
        <p:spPr>
          <a:xfrm xmlns:a="http://schemas.openxmlformats.org/drawingml/2006/main">
            <a:off x="514350" y="3333750"/>
            <a:ext cx="1143000" cy="266700"/>
          </a:xfrm>
          <a:prstGeom xmlns:a="http://schemas.openxmlformats.org/drawingml/2006/main" prst="rect">
            <a:avLst/>
          </a:prstGeom>
          <a:solidFill xmlns:a="http://schemas.openxmlformats.org/drawingml/2006/main">
            <a:srgbClr val="DCE8E9"/>
          </a:solidFill>
          <a:ln xmlns:a="http://schemas.openxmlformats.org/drawingml/2006/main" w="9525">
            <a:solidFill>
              <a:srgbClr val="DCE8E9"/>
            </a:solidFill>
            <a:prstDash val="solid"/>
          </a:ln>
        </p:spPr>
      </p:sp>
      <p:sp>
        <p:nvSpPr>
          <p:cNvPr id="9" name="">
            <a:extLst xmlns:a="http://schemas.openxmlformats.org/drawingml/2006/main">
              <a:ext uri="{FF2B5EF4-FFF2-40B4-BE49-F238E27FC236}">
                <a16:creationId xmlns:a16="http://schemas.microsoft.com/office/drawing/2014/main" id="{9F908862-2274-4226-AE02-B55B37667068}"/>
              </a:ext>
            </a:extLst>
          </p:cNvPr>
          <p:cNvSpPr>
            <a:spLocks xmlns:a="http://schemas.openxmlformats.org/drawingml/2006/main" noGrp="1"/>
          </p:cNvSpPr>
          <p:nvPr/>
        </p:nvSpPr>
        <p:spPr>
          <a:xfrm xmlns:a="http://schemas.openxmlformats.org/drawingml/2006/main">
            <a:off x="609600" y="3381375"/>
            <a:ext cx="95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1D6072"/>
                </a:solidFill>
                <a:latin typeface="Aptos"/>
                <a:ea typeface="Aptos"/>
                <a:cs typeface="Aptos"/>
              </a:defRPr>
            </a:pPr>
            <a:r>
              <a:rPr sz="675" b="1">
                <a:solidFill>
                  <a:srgbClr val="1D6072"/>
                </a:solidFill>
                <a:latin typeface="Aptos"/>
                <a:ea typeface="Aptos"/>
                <a:cs typeface="Aptos"/>
              </a:rPr>
              <a:t>22 min</a:t>
            </a:r>
          </a:p>
        </p:txBody>
      </p:sp>
      <p:sp>
        <p:nvSpPr>
          <p:cNvPr id="10" name="">
            <a:extLst xmlns:a="http://schemas.openxmlformats.org/drawingml/2006/main">
              <a:ext uri="{FF2B5EF4-FFF2-40B4-BE49-F238E27FC236}">
                <a16:creationId xmlns:a16="http://schemas.microsoft.com/office/drawing/2014/main" id="{9A1938C8-BCD9-41FE-92C0-FCA67B87657C}"/>
              </a:ext>
            </a:extLst>
          </p:cNvPr>
          <p:cNvSpPr>
            <a:spLocks xmlns:a="http://schemas.openxmlformats.org/drawingml/2006/main" noGrp="1"/>
          </p:cNvSpPr>
          <p:nvPr/>
        </p:nvSpPr>
        <p:spPr>
          <a:xfrm xmlns:a="http://schemas.openxmlformats.org/drawingml/2006/main">
            <a:off x="1790700" y="3333750"/>
            <a:ext cx="1295400" cy="266700"/>
          </a:xfrm>
          <a:prstGeom xmlns:a="http://schemas.openxmlformats.org/drawingml/2006/main" prst="rect">
            <a:avLst/>
          </a:prstGeom>
          <a:solidFill xmlns:a="http://schemas.openxmlformats.org/drawingml/2006/main">
            <a:srgbClr val="F0DFD5"/>
          </a:solidFill>
          <a:ln xmlns:a="http://schemas.openxmlformats.org/drawingml/2006/main" w="9525">
            <a:solidFill>
              <a:srgbClr val="F0DFD5"/>
            </a:solidFill>
            <a:prstDash val="solid"/>
          </a:ln>
        </p:spPr>
      </p:sp>
      <p:sp>
        <p:nvSpPr>
          <p:cNvPr id="11" name="">
            <a:extLst xmlns:a="http://schemas.openxmlformats.org/drawingml/2006/main">
              <a:ext uri="{FF2B5EF4-FFF2-40B4-BE49-F238E27FC236}">
                <a16:creationId xmlns:a16="http://schemas.microsoft.com/office/drawing/2014/main" id="{443DF47F-6D4B-4F9A-ADFB-DF7310B99DEE}"/>
              </a:ext>
            </a:extLst>
          </p:cNvPr>
          <p:cNvSpPr>
            <a:spLocks xmlns:a="http://schemas.openxmlformats.org/drawingml/2006/main" noGrp="1"/>
          </p:cNvSpPr>
          <p:nvPr/>
        </p:nvSpPr>
        <p:spPr>
          <a:xfrm xmlns:a="http://schemas.openxmlformats.org/drawingml/2006/main">
            <a:off x="1885950" y="3381375"/>
            <a:ext cx="11049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A85D2A"/>
                </a:solidFill>
                <a:latin typeface="Aptos"/>
                <a:ea typeface="Aptos"/>
                <a:cs typeface="Aptos"/>
              </a:defRPr>
            </a:pPr>
            <a:r>
              <a:rPr sz="675" b="1">
                <a:solidFill>
                  <a:srgbClr val="A85D2A"/>
                </a:solidFill>
                <a:latin typeface="Aptos"/>
                <a:ea typeface="Aptos"/>
                <a:cs typeface="Aptos"/>
              </a:rPr>
              <a:t>Instructor-led</a:t>
            </a:r>
          </a:p>
        </p:txBody>
      </p:sp>
      <p:sp>
        <p:nvSpPr>
          <p:cNvPr id="12" name="">
            <a:extLst xmlns:a="http://schemas.openxmlformats.org/drawingml/2006/main">
              <a:ext uri="{FF2B5EF4-FFF2-40B4-BE49-F238E27FC236}">
                <a16:creationId xmlns:a16="http://schemas.microsoft.com/office/drawing/2014/main" id="{A2A11DBA-8C53-4515-8E7D-4C0E22C3332C}"/>
              </a:ext>
            </a:extLst>
          </p:cNvPr>
          <p:cNvSpPr>
            <a:spLocks xmlns:a="http://schemas.openxmlformats.org/drawingml/2006/main" noGrp="1"/>
          </p:cNvSpPr>
          <p:nvPr/>
        </p:nvSpPr>
        <p:spPr>
          <a:xfrm xmlns:a="http://schemas.openxmlformats.org/drawingml/2006/main">
            <a:off x="3219450" y="3333750"/>
            <a:ext cx="1219200" cy="266700"/>
          </a:xfrm>
          <a:prstGeom xmlns:a="http://schemas.openxmlformats.org/drawingml/2006/main" prst="rect">
            <a:avLst/>
          </a:prstGeom>
          <a:solidFill xmlns:a="http://schemas.openxmlformats.org/drawingml/2006/main">
            <a:srgbClr val="E4E9D8"/>
          </a:solidFill>
          <a:ln xmlns:a="http://schemas.openxmlformats.org/drawingml/2006/main" w="9525">
            <a:solidFill>
              <a:srgbClr val="E4E9D8"/>
            </a:solidFill>
            <a:prstDash val="solid"/>
          </a:ln>
        </p:spPr>
      </p:sp>
      <p:sp>
        <p:nvSpPr>
          <p:cNvPr id="13" name="">
            <a:extLst xmlns:a="http://schemas.openxmlformats.org/drawingml/2006/main">
              <a:ext uri="{FF2B5EF4-FFF2-40B4-BE49-F238E27FC236}">
                <a16:creationId xmlns:a16="http://schemas.microsoft.com/office/drawing/2014/main" id="{D01AAE64-8557-4700-A6AE-131C440B955F}"/>
              </a:ext>
            </a:extLst>
          </p:cNvPr>
          <p:cNvSpPr>
            <a:spLocks xmlns:a="http://schemas.openxmlformats.org/drawingml/2006/main" noGrp="1"/>
          </p:cNvSpPr>
          <p:nvPr/>
        </p:nvSpPr>
        <p:spPr>
          <a:xfrm xmlns:a="http://schemas.openxmlformats.org/drawingml/2006/main">
            <a:off x="3314700" y="3381375"/>
            <a:ext cx="1028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667A39"/>
                </a:solidFill>
                <a:latin typeface="Aptos"/>
                <a:ea typeface="Aptos"/>
                <a:cs typeface="Aptos"/>
              </a:defRPr>
            </a:pPr>
            <a:r>
              <a:rPr sz="675" b="1">
                <a:solidFill>
                  <a:srgbClr val="667A39"/>
                </a:solidFill>
                <a:latin typeface="Aptos"/>
                <a:ea typeface="Aptos"/>
                <a:cs typeface="Aptos"/>
              </a:rPr>
              <a:t>Artifact-first</a:t>
            </a:r>
          </a:p>
        </p:txBody>
      </p:sp>
      <p:sp>
        <p:nvSpPr>
          <p:cNvPr id="14" name="">
            <a:extLst xmlns:a="http://schemas.openxmlformats.org/drawingml/2006/main">
              <a:ext uri="{FF2B5EF4-FFF2-40B4-BE49-F238E27FC236}">
                <a16:creationId xmlns:a16="http://schemas.microsoft.com/office/drawing/2014/main" id="{E31CC90E-3AB8-4C87-82F7-E99CE56FC2B6}"/>
              </a:ext>
            </a:extLst>
          </p:cNvPr>
          <p:cNvSpPr>
            <a:spLocks xmlns:a="http://schemas.openxmlformats.org/drawingml/2006/main" noGrp="1"/>
          </p:cNvSpPr>
          <p:nvPr/>
        </p:nvSpPr>
        <p:spPr>
          <a:xfrm xmlns:a="http://schemas.openxmlformats.org/drawingml/2006/main">
            <a:off x="8096250" y="895350"/>
            <a:ext cx="3333750" cy="43434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5" name="">
            <a:extLst xmlns:a="http://schemas.openxmlformats.org/drawingml/2006/main">
              <a:ext uri="{FF2B5EF4-FFF2-40B4-BE49-F238E27FC236}">
                <a16:creationId xmlns:a16="http://schemas.microsoft.com/office/drawing/2014/main" id="{FE7D2099-4152-4064-9CC9-0A6B72EAAFAF}"/>
              </a:ext>
            </a:extLst>
          </p:cNvPr>
          <p:cNvSpPr>
            <a:spLocks xmlns:a="http://schemas.openxmlformats.org/drawingml/2006/main" noGrp="1"/>
          </p:cNvSpPr>
          <p:nvPr/>
        </p:nvSpPr>
        <p:spPr>
          <a:xfrm xmlns:a="http://schemas.openxmlformats.org/drawingml/2006/main">
            <a:off x="8362950" y="1276350"/>
            <a:ext cx="266700" cy="190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10DD2721-1161-4CC6-8345-A1E4E6797910}"/>
              </a:ext>
            </a:extLst>
          </p:cNvPr>
          <p:cNvSpPr>
            <a:spLocks xmlns:a="http://schemas.openxmlformats.org/drawingml/2006/main" noGrp="1"/>
          </p:cNvSpPr>
          <p:nvPr/>
        </p:nvSpPr>
        <p:spPr>
          <a:xfrm xmlns:a="http://schemas.openxmlformats.org/drawingml/2006/main">
            <a:off x="8724900" y="12001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LESSON OUTPUT</a:t>
            </a:r>
          </a:p>
        </p:txBody>
      </p:sp>
      <p:sp>
        <p:nvSpPr>
          <p:cNvPr id="17" name="">
            <a:extLst xmlns:a="http://schemas.openxmlformats.org/drawingml/2006/main">
              <a:ext uri="{FF2B5EF4-FFF2-40B4-BE49-F238E27FC236}">
                <a16:creationId xmlns:a16="http://schemas.microsoft.com/office/drawing/2014/main" id="{20AB733D-A17B-484A-9E6E-8406C1CCC113}"/>
              </a:ext>
            </a:extLst>
          </p:cNvPr>
          <p:cNvSpPr>
            <a:spLocks xmlns:a="http://schemas.openxmlformats.org/drawingml/2006/main" noGrp="1"/>
          </p:cNvSpPr>
          <p:nvPr/>
        </p:nvSpPr>
        <p:spPr>
          <a:xfrm xmlns:a="http://schemas.openxmlformats.org/drawingml/2006/main">
            <a:off x="8362950" y="1504950"/>
            <a:ext cx="27241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6"/>
                </a:solidFill>
                <a:latin typeface="Aptos Display"/>
                <a:ea typeface="Aptos Display"/>
                <a:cs typeface="Aptos Display"/>
              </a:defRPr>
            </a:pPr>
            <a:r>
              <a:rPr sz="1650" b="1">
                <a:solidFill>
                  <a:srgbClr val="172026"/>
                </a:solidFill>
                <a:latin typeface="Aptos Display"/>
                <a:ea typeface="Aptos Display"/>
                <a:cs typeface="Aptos Display"/>
              </a:rPr>
              <a:t>Content plan by demand state</a:t>
            </a:r>
          </a:p>
        </p:txBody>
      </p:sp>
      <p:sp>
        <p:nvSpPr>
          <p:cNvPr id="18" name="">
            <a:extLst xmlns:a="http://schemas.openxmlformats.org/drawingml/2006/main">
              <a:ext uri="{FF2B5EF4-FFF2-40B4-BE49-F238E27FC236}">
                <a16:creationId xmlns:a16="http://schemas.microsoft.com/office/drawing/2014/main" id="{28DEF708-5DB6-44C5-9876-EA85BD8E35DE}"/>
              </a:ext>
            </a:extLst>
          </p:cNvPr>
          <p:cNvSpPr>
            <a:spLocks xmlns:a="http://schemas.openxmlformats.org/drawingml/2006/main" noGrp="1"/>
          </p:cNvSpPr>
          <p:nvPr/>
        </p:nvSpPr>
        <p:spPr>
          <a:xfrm xmlns:a="http://schemas.openxmlformats.org/drawingml/2006/main">
            <a:off x="8362950" y="2647950"/>
            <a:ext cx="266700" cy="190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F8E0FC27-E8CE-476C-81C1-F47634564FE5}"/>
              </a:ext>
            </a:extLst>
          </p:cNvPr>
          <p:cNvSpPr>
            <a:spLocks xmlns:a="http://schemas.openxmlformats.org/drawingml/2006/main" noGrp="1"/>
          </p:cNvSpPr>
          <p:nvPr/>
        </p:nvSpPr>
        <p:spPr>
          <a:xfrm xmlns:a="http://schemas.openxmlformats.org/drawingml/2006/main">
            <a:off x="8724900" y="2571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WORKSHOP RULE</a:t>
            </a:r>
          </a:p>
        </p:txBody>
      </p:sp>
      <p:sp>
        <p:nvSpPr>
          <p:cNvPr id="20" name="">
            <a:extLst xmlns:a="http://schemas.openxmlformats.org/drawingml/2006/main">
              <a:ext uri="{FF2B5EF4-FFF2-40B4-BE49-F238E27FC236}">
                <a16:creationId xmlns:a16="http://schemas.microsoft.com/office/drawing/2014/main" id="{38DE8BD9-21DE-4D30-9DBE-079A2E32D89C}"/>
              </a:ext>
            </a:extLst>
          </p:cNvPr>
          <p:cNvSpPr>
            <a:spLocks xmlns:a="http://schemas.openxmlformats.org/drawingml/2006/main" noGrp="1"/>
          </p:cNvSpPr>
          <p:nvPr/>
        </p:nvSpPr>
        <p:spPr>
          <a:xfrm xmlns:a="http://schemas.openxmlformats.org/drawingml/2006/main">
            <a:off x="8362950" y="2876550"/>
            <a:ext cx="26098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Teach the operating decision, run the diagnostic, then force a usable artifact. The slide is a prompt, not the handout.</a:t>
            </a:r>
          </a:p>
        </p:txBody>
      </p:sp>
      <p:sp>
        <p:nvSpPr>
          <p:cNvPr id="21" name="">
            <a:extLst xmlns:a="http://schemas.openxmlformats.org/drawingml/2006/main">
              <a:ext uri="{FF2B5EF4-FFF2-40B4-BE49-F238E27FC236}">
                <a16:creationId xmlns:a16="http://schemas.microsoft.com/office/drawing/2014/main" id="{0B173F16-D883-4E3F-AD3F-09E47BF07F86}"/>
              </a:ext>
            </a:extLst>
          </p:cNvPr>
          <p:cNvSpPr>
            <a:spLocks xmlns:a="http://schemas.openxmlformats.org/drawingml/2006/main" noGrp="1"/>
          </p:cNvSpPr>
          <p:nvPr/>
        </p:nvSpPr>
        <p:spPr>
          <a:xfrm xmlns:a="http://schemas.openxmlformats.org/drawingml/2006/main">
            <a:off x="8362950" y="4152900"/>
            <a:ext cx="266700" cy="19050"/>
          </a:xfrm>
          <a:prstGeom xmlns:a="http://schemas.openxmlformats.org/drawingml/2006/main" prst="rect">
            <a:avLst/>
          </a:prstGeom>
          <a:solidFill xmlns:a="http://schemas.openxmlformats.org/drawingml/2006/main">
            <a:srgbClr val="667A39"/>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C6FD83E5-5D16-472E-B5A9-7DB415E0EE6C}"/>
              </a:ext>
            </a:extLst>
          </p:cNvPr>
          <p:cNvSpPr>
            <a:spLocks xmlns:a="http://schemas.openxmlformats.org/drawingml/2006/main" noGrp="1"/>
          </p:cNvSpPr>
          <p:nvPr/>
        </p:nvSpPr>
        <p:spPr>
          <a:xfrm xmlns:a="http://schemas.openxmlformats.org/drawingml/2006/main">
            <a:off x="8724900" y="40767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SOURCE COMMIT</a:t>
            </a:r>
          </a:p>
        </p:txBody>
      </p:sp>
      <p:sp>
        <p:nvSpPr>
          <p:cNvPr id="23" name="">
            <a:extLst xmlns:a="http://schemas.openxmlformats.org/drawingml/2006/main">
              <a:ext uri="{FF2B5EF4-FFF2-40B4-BE49-F238E27FC236}">
                <a16:creationId xmlns:a16="http://schemas.microsoft.com/office/drawing/2014/main" id="{97E1E75A-5ED5-4E65-BFA1-1C9BD49C58FA}"/>
              </a:ext>
            </a:extLst>
          </p:cNvPr>
          <p:cNvSpPr>
            <a:spLocks xmlns:a="http://schemas.openxmlformats.org/drawingml/2006/main" noGrp="1"/>
          </p:cNvSpPr>
          <p:nvPr/>
        </p:nvSpPr>
        <p:spPr>
          <a:xfrm xmlns:a="http://schemas.openxmlformats.org/drawingml/2006/main">
            <a:off x="8362950" y="438150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72026"/>
                </a:solidFill>
                <a:latin typeface="Aptos"/>
                <a:ea typeface="Aptos"/>
                <a:cs typeface="Aptos"/>
              </a:defRPr>
            </a:pPr>
            <a:r>
              <a:rPr sz="1200" b="1">
                <a:solidFill>
                  <a:srgbClr val="172026"/>
                </a:solidFill>
                <a:latin typeface="Aptos"/>
                <a:ea typeface="Aptos"/>
                <a:cs typeface="Aptos"/>
              </a:rPr>
              <a:t>9e28222</a:t>
            </a:r>
          </a:p>
        </p:txBody>
      </p:sp>
      <p:sp>
        <p:nvSpPr>
          <p:cNvPr id="24" name="">
            <a:extLst xmlns:a="http://schemas.openxmlformats.org/drawingml/2006/main">
              <a:ext uri="{FF2B5EF4-FFF2-40B4-BE49-F238E27FC236}">
                <a16:creationId xmlns:a16="http://schemas.microsoft.com/office/drawing/2014/main" id="{2E8CB0B5-6E74-458B-AF22-4C7ED132343D}"/>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C472BEA9-24AB-4E84-9218-C30F178E9B0E}"/>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26" name="">
            <a:extLst xmlns:a="http://schemas.openxmlformats.org/drawingml/2006/main">
              <a:ext uri="{FF2B5EF4-FFF2-40B4-BE49-F238E27FC236}">
                <a16:creationId xmlns:a16="http://schemas.microsoft.com/office/drawing/2014/main" id="{C2E1BE59-6292-411D-848A-F7DAF75E4EE5}"/>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27" name="">
            <a:extLst xmlns:a="http://schemas.openxmlformats.org/drawingml/2006/main">
              <a:ext uri="{FF2B5EF4-FFF2-40B4-BE49-F238E27FC236}">
                <a16:creationId xmlns:a16="http://schemas.microsoft.com/office/drawing/2014/main" id="{7F3DF1EE-FA18-42E0-AE50-90BAD4CA5369}"/>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1/15</a:t>
            </a:r>
          </a:p>
        </p:txBody>
      </p:sp>
    </p:spTree>
    <p:extLst>
      <p:ext uri="{BB962C8B-B14F-4D97-AF65-F5344CB8AC3E}">
        <p14:creationId xmlns:p14="http://schemas.microsoft.com/office/powerpoint/2010/main" val="192439336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5960E54-AF60-4177-98DA-582942E6D55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1DAAC57-8F75-4BE9-9BBD-EE1B70FF1F2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45D7E37-7C41-4907-96F5-13CDF5B105AA}"/>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5-marker">
            <a:extLst xmlns:a="http://schemas.openxmlformats.org/drawingml/2006/main">
              <a:ext uri="{FF2B5EF4-FFF2-40B4-BE49-F238E27FC236}">
                <a16:creationId xmlns:a16="http://schemas.microsoft.com/office/drawing/2014/main" id="{F5511C96-3ECD-4DA5-998E-3CD3627BDFFA}"/>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5-label">
            <a:extLst xmlns:a="http://schemas.openxmlformats.org/drawingml/2006/main">
              <a:ext uri="{FF2B5EF4-FFF2-40B4-BE49-F238E27FC236}">
                <a16:creationId xmlns:a16="http://schemas.microsoft.com/office/drawing/2014/main" id="{42BB7D1D-FB50-4F31-B96D-9AFD2A488F4B}"/>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LESSON PROMISE</a:t>
            </a:r>
          </a:p>
        </p:txBody>
      </p:sp>
      <p:sp>
        <p:nvSpPr>
          <p:cNvPr id="6" name="">
            <a:extLst xmlns:a="http://schemas.openxmlformats.org/drawingml/2006/main">
              <a:ext uri="{FF2B5EF4-FFF2-40B4-BE49-F238E27FC236}">
                <a16:creationId xmlns:a16="http://schemas.microsoft.com/office/drawing/2014/main" id="{9BE99462-683C-429F-A982-4EDB315580EB}"/>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The promise is an operating capability, not a concept label.</a:t>
            </a:r>
          </a:p>
        </p:txBody>
      </p:sp>
      <p:sp>
        <p:nvSpPr>
          <p:cNvPr id="7" name="">
            <a:extLst xmlns:a="http://schemas.openxmlformats.org/drawingml/2006/main">
              <a:ext uri="{FF2B5EF4-FFF2-40B4-BE49-F238E27FC236}">
                <a16:creationId xmlns:a16="http://schemas.microsoft.com/office/drawing/2014/main" id="{54AE44E2-FE34-4267-A818-987E9FDBB318}"/>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Use this slide to set the standard for the artifact learners must produce.</a:t>
            </a:r>
          </a:p>
        </p:txBody>
      </p:sp>
      <p:sp>
        <p:nvSpPr>
          <p:cNvPr id="8" name="">
            <a:extLst xmlns:a="http://schemas.openxmlformats.org/drawingml/2006/main">
              <a:ext uri="{FF2B5EF4-FFF2-40B4-BE49-F238E27FC236}">
                <a16:creationId xmlns:a16="http://schemas.microsoft.com/office/drawing/2014/main" id="{BA3F2B45-ECBB-4189-B02C-5BCF86D4061E}"/>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70C20A5-22C0-44D5-A1E8-63A075CAC72E}"/>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10" name="">
            <a:extLst xmlns:a="http://schemas.openxmlformats.org/drawingml/2006/main">
              <a:ext uri="{FF2B5EF4-FFF2-40B4-BE49-F238E27FC236}">
                <a16:creationId xmlns:a16="http://schemas.microsoft.com/office/drawing/2014/main" id="{BFF2C6AB-1318-44FD-9464-B58E7BABD103}"/>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11" name="">
            <a:extLst xmlns:a="http://schemas.openxmlformats.org/drawingml/2006/main">
              <a:ext uri="{FF2B5EF4-FFF2-40B4-BE49-F238E27FC236}">
                <a16:creationId xmlns:a16="http://schemas.microsoft.com/office/drawing/2014/main" id="{8626D193-9FD6-4F5D-AA70-51D087D61421}"/>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2/15</a:t>
            </a:r>
          </a:p>
        </p:txBody>
      </p:sp>
      <p:sp>
        <p:nvSpPr>
          <p:cNvPr id="12" name="">
            <a:extLst xmlns:a="http://schemas.openxmlformats.org/drawingml/2006/main">
              <a:ext uri="{FF2B5EF4-FFF2-40B4-BE49-F238E27FC236}">
                <a16:creationId xmlns:a16="http://schemas.microsoft.com/office/drawing/2014/main" id="{8009EFDD-5124-46DE-ABB6-AB877EFB99F3}"/>
              </a:ext>
            </a:extLst>
          </p:cNvPr>
          <p:cNvSpPr>
            <a:spLocks xmlns:a="http://schemas.openxmlformats.org/drawingml/2006/main" noGrp="1"/>
          </p:cNvSpPr>
          <p:nvPr/>
        </p:nvSpPr>
        <p:spPr>
          <a:xfrm xmlns:a="http://schemas.openxmlformats.org/drawingml/2006/main">
            <a:off x="514350" y="2038350"/>
            <a:ext cx="619125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3" name="">
            <a:extLst xmlns:a="http://schemas.openxmlformats.org/drawingml/2006/main">
              <a:ext uri="{FF2B5EF4-FFF2-40B4-BE49-F238E27FC236}">
                <a16:creationId xmlns:a16="http://schemas.microsoft.com/office/drawing/2014/main" id="{ACDDCB0B-1377-4D72-819D-D5814745F440}"/>
              </a:ext>
            </a:extLst>
          </p:cNvPr>
          <p:cNvSpPr>
            <a:spLocks xmlns:a="http://schemas.openxmlformats.org/drawingml/2006/main" noGrp="1"/>
          </p:cNvSpPr>
          <p:nvPr/>
        </p:nvSpPr>
        <p:spPr>
          <a:xfrm xmlns:a="http://schemas.openxmlformats.org/drawingml/2006/main">
            <a:off x="800100" y="2324100"/>
            <a:ext cx="561975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72026"/>
                </a:solidFill>
                <a:latin typeface="Aptos Display"/>
                <a:ea typeface="Aptos Display"/>
                <a:cs typeface="Aptos Display"/>
              </a:defRPr>
            </a:pPr>
            <a:r>
              <a:rPr sz="1875" b="1">
                <a:solidFill>
                  <a:srgbClr val="172026"/>
                </a:solidFill>
                <a:latin typeface="Aptos Display"/>
                <a:ea typeface="Aptos Display"/>
                <a:cs typeface="Aptos Display"/>
              </a:rPr>
              <a:t>Turn MOIN into an industrial content engine that creates trust, supports sales, produces account signals, and reduces buying committee risk.</a:t>
            </a:r>
          </a:p>
        </p:txBody>
      </p:sp>
      <p:sp>
        <p:nvSpPr>
          <p:cNvPr id="14" name="">
            <a:extLst xmlns:a="http://schemas.openxmlformats.org/drawingml/2006/main">
              <a:ext uri="{FF2B5EF4-FFF2-40B4-BE49-F238E27FC236}">
                <a16:creationId xmlns:a16="http://schemas.microsoft.com/office/drawing/2014/main" id="{14E2E883-DF08-49FC-9141-7858E727BFFA}"/>
              </a:ext>
            </a:extLst>
          </p:cNvPr>
          <p:cNvSpPr>
            <a:spLocks xmlns:a="http://schemas.openxmlformats.org/drawingml/2006/main" noGrp="1"/>
          </p:cNvSpPr>
          <p:nvPr/>
        </p:nvSpPr>
        <p:spPr>
          <a:xfrm xmlns:a="http://schemas.openxmlformats.org/drawingml/2006/main">
            <a:off x="800100" y="3676650"/>
            <a:ext cx="5334000" cy="190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1E6B58AD-B22D-43C9-B022-5CF123B2A954}"/>
              </a:ext>
            </a:extLst>
          </p:cNvPr>
          <p:cNvSpPr>
            <a:spLocks xmlns:a="http://schemas.openxmlformats.org/drawingml/2006/main" noGrp="1"/>
          </p:cNvSpPr>
          <p:nvPr/>
        </p:nvSpPr>
        <p:spPr>
          <a:xfrm xmlns:a="http://schemas.openxmlformats.org/drawingml/2006/main">
            <a:off x="800100" y="3905250"/>
            <a:ext cx="5334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9646A"/>
                </a:solidFill>
                <a:latin typeface="Aptos"/>
                <a:ea typeface="Aptos"/>
                <a:cs typeface="Aptos"/>
              </a:defRPr>
            </a:pPr>
            <a:r>
              <a:rPr sz="1200" b="0">
                <a:solidFill>
                  <a:srgbClr val="59646A"/>
                </a:solidFill>
                <a:latin typeface="Aptos"/>
                <a:ea typeface="Aptos"/>
                <a:cs typeface="Aptos"/>
              </a:rPr>
              <a:t>A content plan by demand state with SME input, sales use, distribution path, and signal design for each asset.</a:t>
            </a:r>
          </a:p>
        </p:txBody>
      </p:sp>
      <p:sp>
        <p:nvSpPr>
          <p:cNvPr id="16" name="">
            <a:extLst xmlns:a="http://schemas.openxmlformats.org/drawingml/2006/main">
              <a:ext uri="{FF2B5EF4-FFF2-40B4-BE49-F238E27FC236}">
                <a16:creationId xmlns:a16="http://schemas.microsoft.com/office/drawing/2014/main" id="{79B9F8FD-C4C8-4657-A50F-6AE20EB6B36A}"/>
              </a:ext>
            </a:extLst>
          </p:cNvPr>
          <p:cNvSpPr>
            <a:spLocks xmlns:a="http://schemas.openxmlformats.org/drawingml/2006/main" noGrp="1"/>
          </p:cNvSpPr>
          <p:nvPr/>
        </p:nvSpPr>
        <p:spPr>
          <a:xfrm xmlns:a="http://schemas.openxmlformats.org/drawingml/2006/main">
            <a:off x="7181850" y="2038350"/>
            <a:ext cx="4248150" cy="2381250"/>
          </a:xfrm>
          <a:prstGeom xmlns:a="http://schemas.openxmlformats.org/drawingml/2006/main" prst="rect">
            <a:avLst/>
          </a:prstGeom>
          <a:solidFill xmlns:a="http://schemas.openxmlformats.org/drawingml/2006/main">
            <a:srgbClr val="12232B"/>
          </a:solidFill>
          <a:ln xmlns:a="http://schemas.openxmlformats.org/drawingml/2006/main" w="9525">
            <a:solidFill>
              <a:srgbClr val="12232B"/>
            </a:solidFill>
            <a:prstDash val="solid"/>
          </a:ln>
        </p:spPr>
      </p:sp>
      <p:sp>
        <p:nvSpPr>
          <p:cNvPr id="17" name="">
            <a:extLst xmlns:a="http://schemas.openxmlformats.org/drawingml/2006/main">
              <a:ext uri="{FF2B5EF4-FFF2-40B4-BE49-F238E27FC236}">
                <a16:creationId xmlns:a16="http://schemas.microsoft.com/office/drawing/2014/main" id="{0DA4D7D2-CB39-4906-8E09-5BEABD33A021}"/>
              </a:ext>
            </a:extLst>
          </p:cNvPr>
          <p:cNvSpPr>
            <a:spLocks xmlns:a="http://schemas.openxmlformats.org/drawingml/2006/main" noGrp="1"/>
          </p:cNvSpPr>
          <p:nvPr/>
        </p:nvSpPr>
        <p:spPr>
          <a:xfrm xmlns:a="http://schemas.openxmlformats.org/drawingml/2006/main">
            <a:off x="7505700" y="2400300"/>
            <a:ext cx="266700" cy="19050"/>
          </a:xfrm>
          <a:prstGeom xmlns:a="http://schemas.openxmlformats.org/drawingml/2006/main" prst="rect">
            <a:avLst/>
          </a:prstGeom>
          <a:solidFill xmlns:a="http://schemas.openxmlformats.org/drawingml/2006/main">
            <a:srgbClr val="B7953B"/>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258695D3-737F-4D79-A6F8-2FE9981DD5C2}"/>
              </a:ext>
            </a:extLst>
          </p:cNvPr>
          <p:cNvSpPr>
            <a:spLocks xmlns:a="http://schemas.openxmlformats.org/drawingml/2006/main" noGrp="1"/>
          </p:cNvSpPr>
          <p:nvPr/>
        </p:nvSpPr>
        <p:spPr>
          <a:xfrm xmlns:a="http://schemas.openxmlformats.org/drawingml/2006/main">
            <a:off x="7867650" y="23241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INSTRUCTOR STANCE</a:t>
            </a:r>
          </a:p>
        </p:txBody>
      </p:sp>
      <p:sp>
        <p:nvSpPr>
          <p:cNvPr id="19" name="">
            <a:extLst xmlns:a="http://schemas.openxmlformats.org/drawingml/2006/main">
              <a:ext uri="{FF2B5EF4-FFF2-40B4-BE49-F238E27FC236}">
                <a16:creationId xmlns:a16="http://schemas.microsoft.com/office/drawing/2014/main" id="{FCF17A75-F994-46E2-B229-F6F534B7A90D}"/>
              </a:ext>
            </a:extLst>
          </p:cNvPr>
          <p:cNvSpPr>
            <a:spLocks xmlns:a="http://schemas.openxmlformats.org/drawingml/2006/main" noGrp="1"/>
          </p:cNvSpPr>
          <p:nvPr/>
        </p:nvSpPr>
        <p:spPr>
          <a:xfrm xmlns:a="http://schemas.openxmlformats.org/drawingml/2006/main">
            <a:off x="7505700" y="2752725"/>
            <a:ext cx="57150" cy="57150"/>
          </a:xfrm>
          <a:prstGeom xmlns:a="http://schemas.openxmlformats.org/drawingml/2006/main" prst="rect">
            <a:avLst/>
          </a:prstGeom>
          <a:solidFill xmlns:a="http://schemas.openxmlformats.org/drawingml/2006/main">
            <a:srgbClr val="B7953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561D36DF-739B-407E-9252-CF86DF071794}"/>
              </a:ext>
            </a:extLst>
          </p:cNvPr>
          <p:cNvSpPr>
            <a:spLocks xmlns:a="http://schemas.openxmlformats.org/drawingml/2006/main" noGrp="1"/>
          </p:cNvSpPr>
          <p:nvPr/>
        </p:nvSpPr>
        <p:spPr>
          <a:xfrm xmlns:a="http://schemas.openxmlformats.org/drawingml/2006/main">
            <a:off x="7677150" y="2686050"/>
            <a:ext cx="3124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Ask for evidence before opinion.</a:t>
            </a:r>
          </a:p>
        </p:txBody>
      </p:sp>
      <p:sp>
        <p:nvSpPr>
          <p:cNvPr id="21" name="">
            <a:extLst xmlns:a="http://schemas.openxmlformats.org/drawingml/2006/main">
              <a:ext uri="{FF2B5EF4-FFF2-40B4-BE49-F238E27FC236}">
                <a16:creationId xmlns:a16="http://schemas.microsoft.com/office/drawing/2014/main" id="{C146BBF8-EC43-48E4-8D61-E34BD2D880C3}"/>
              </a:ext>
            </a:extLst>
          </p:cNvPr>
          <p:cNvSpPr>
            <a:spLocks xmlns:a="http://schemas.openxmlformats.org/drawingml/2006/main" noGrp="1"/>
          </p:cNvSpPr>
          <p:nvPr/>
        </p:nvSpPr>
        <p:spPr>
          <a:xfrm xmlns:a="http://schemas.openxmlformats.org/drawingml/2006/main">
            <a:off x="7505700" y="3152775"/>
            <a:ext cx="57150" cy="57150"/>
          </a:xfrm>
          <a:prstGeom xmlns:a="http://schemas.openxmlformats.org/drawingml/2006/main" prst="rect">
            <a:avLst/>
          </a:prstGeom>
          <a:solidFill xmlns:a="http://schemas.openxmlformats.org/drawingml/2006/main">
            <a:srgbClr val="B7953B"/>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C0BBC270-74D6-44FC-8953-441BED9AFC1C}"/>
              </a:ext>
            </a:extLst>
          </p:cNvPr>
          <p:cNvSpPr>
            <a:spLocks xmlns:a="http://schemas.openxmlformats.org/drawingml/2006/main" noGrp="1"/>
          </p:cNvSpPr>
          <p:nvPr/>
        </p:nvSpPr>
        <p:spPr>
          <a:xfrm xmlns:a="http://schemas.openxmlformats.org/drawingml/2006/main">
            <a:off x="7677150" y="3086100"/>
            <a:ext cx="3124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Use the workbook for capture.</a:t>
            </a:r>
          </a:p>
        </p:txBody>
      </p:sp>
      <p:sp>
        <p:nvSpPr>
          <p:cNvPr id="23" name="">
            <a:extLst xmlns:a="http://schemas.openxmlformats.org/drawingml/2006/main">
              <a:ext uri="{FF2B5EF4-FFF2-40B4-BE49-F238E27FC236}">
                <a16:creationId xmlns:a16="http://schemas.microsoft.com/office/drawing/2014/main" id="{48B9F36C-F315-4F2A-A2F1-6CB624E9ECB6}"/>
              </a:ext>
            </a:extLst>
          </p:cNvPr>
          <p:cNvSpPr>
            <a:spLocks xmlns:a="http://schemas.openxmlformats.org/drawingml/2006/main" noGrp="1"/>
          </p:cNvSpPr>
          <p:nvPr/>
        </p:nvSpPr>
        <p:spPr>
          <a:xfrm xmlns:a="http://schemas.openxmlformats.org/drawingml/2006/main">
            <a:off x="7505700" y="3552825"/>
            <a:ext cx="57150" cy="57150"/>
          </a:xfrm>
          <a:prstGeom xmlns:a="http://schemas.openxmlformats.org/drawingml/2006/main" prst="rect">
            <a:avLst/>
          </a:prstGeom>
          <a:solidFill xmlns:a="http://schemas.openxmlformats.org/drawingml/2006/main">
            <a:srgbClr val="B7953B"/>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2C99AF2B-97F8-4EAE-9E4E-F8731A1D2576}"/>
              </a:ext>
            </a:extLst>
          </p:cNvPr>
          <p:cNvSpPr>
            <a:spLocks xmlns:a="http://schemas.openxmlformats.org/drawingml/2006/main" noGrp="1"/>
          </p:cNvSpPr>
          <p:nvPr/>
        </p:nvSpPr>
        <p:spPr>
          <a:xfrm xmlns:a="http://schemas.openxmlformats.org/drawingml/2006/main">
            <a:off x="7677150" y="3486150"/>
            <a:ext cx="3124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Keep AI useful but subordinate to human correction.</a:t>
            </a:r>
          </a:p>
        </p:txBody>
      </p:sp>
      <p:sp>
        <p:nvSpPr>
          <p:cNvPr id="25" name="">
            <a:extLst xmlns:a="http://schemas.openxmlformats.org/drawingml/2006/main">
              <a:ext uri="{FF2B5EF4-FFF2-40B4-BE49-F238E27FC236}">
                <a16:creationId xmlns:a16="http://schemas.microsoft.com/office/drawing/2014/main" id="{C93A7BD3-4F79-4862-8A62-40F32E0AC919}"/>
              </a:ext>
            </a:extLst>
          </p:cNvPr>
          <p:cNvSpPr>
            <a:spLocks xmlns:a="http://schemas.openxmlformats.org/drawingml/2006/main" noGrp="1"/>
          </p:cNvSpPr>
          <p:nvPr/>
        </p:nvSpPr>
        <p:spPr>
          <a:xfrm xmlns:a="http://schemas.openxmlformats.org/drawingml/2006/main">
            <a:off x="7505700" y="3952875"/>
            <a:ext cx="57150" cy="57150"/>
          </a:xfrm>
          <a:prstGeom xmlns:a="http://schemas.openxmlformats.org/drawingml/2006/main" prst="rect">
            <a:avLst/>
          </a:prstGeom>
          <a:solidFill xmlns:a="http://schemas.openxmlformats.org/drawingml/2006/main">
            <a:srgbClr val="B7953B"/>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AC6D85CD-C0E6-42E4-AC01-F4E7286D6F6E}"/>
              </a:ext>
            </a:extLst>
          </p:cNvPr>
          <p:cNvSpPr>
            <a:spLocks xmlns:a="http://schemas.openxmlformats.org/drawingml/2006/main" noGrp="1"/>
          </p:cNvSpPr>
          <p:nvPr/>
        </p:nvSpPr>
        <p:spPr>
          <a:xfrm xmlns:a="http://schemas.openxmlformats.org/drawingml/2006/main">
            <a:off x="7677150" y="3886200"/>
            <a:ext cx="3124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Do not accept generic SaaS or lead-gen answers.</a:t>
            </a:r>
          </a:p>
        </p:txBody>
      </p:sp>
      <p:sp>
        <p:nvSpPr>
          <p:cNvPr id="27" name="">
            <a:extLst xmlns:a="http://schemas.openxmlformats.org/drawingml/2006/main">
              <a:ext uri="{FF2B5EF4-FFF2-40B4-BE49-F238E27FC236}">
                <a16:creationId xmlns:a16="http://schemas.microsoft.com/office/drawing/2014/main" id="{3CB8A34B-2E1D-45B8-AD3D-B2E69D0A54BF}"/>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90468A41-71E7-4323-8DB0-16EE7564EDA2}"/>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29" name="">
            <a:extLst xmlns:a="http://schemas.openxmlformats.org/drawingml/2006/main">
              <a:ext uri="{FF2B5EF4-FFF2-40B4-BE49-F238E27FC236}">
                <a16:creationId xmlns:a16="http://schemas.microsoft.com/office/drawing/2014/main" id="{B9DC07CA-06BF-42D9-A61E-D7BFAD97E77E}"/>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30" name="">
            <a:extLst xmlns:a="http://schemas.openxmlformats.org/drawingml/2006/main">
              <a:ext uri="{FF2B5EF4-FFF2-40B4-BE49-F238E27FC236}">
                <a16:creationId xmlns:a16="http://schemas.microsoft.com/office/drawing/2014/main" id="{64FFA8F2-A269-424D-8068-FEA325EAF06B}"/>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2/15</a:t>
            </a:r>
          </a:p>
        </p:txBody>
      </p:sp>
    </p:spTree>
    <p:extLst>
      <p:ext uri="{BB962C8B-B14F-4D97-AF65-F5344CB8AC3E}">
        <p14:creationId xmlns:p14="http://schemas.microsoft.com/office/powerpoint/2010/main" val="37769560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F63342D-D981-417A-A18F-1110999BE1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23AD4D5-F3A6-4877-911B-9C3A3906537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A1F6299-E815-4C52-A546-E84052FC3FE6}"/>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5-marker">
            <a:extLst xmlns:a="http://schemas.openxmlformats.org/drawingml/2006/main">
              <a:ext uri="{FF2B5EF4-FFF2-40B4-BE49-F238E27FC236}">
                <a16:creationId xmlns:a16="http://schemas.microsoft.com/office/drawing/2014/main" id="{D04C297D-A5EA-4AA3-BD62-1627E0162D0B}"/>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5-label">
            <a:extLst xmlns:a="http://schemas.openxmlformats.org/drawingml/2006/main">
              <a:ext uri="{FF2B5EF4-FFF2-40B4-BE49-F238E27FC236}">
                <a16:creationId xmlns:a16="http://schemas.microsoft.com/office/drawing/2014/main" id="{02D71586-C7B3-45DA-A8A2-4AE6333F1C68}"/>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WHY IT MATTERS</a:t>
            </a:r>
          </a:p>
        </p:txBody>
      </p:sp>
      <p:sp>
        <p:nvSpPr>
          <p:cNvPr id="6" name="">
            <a:extLst xmlns:a="http://schemas.openxmlformats.org/drawingml/2006/main">
              <a:ext uri="{FF2B5EF4-FFF2-40B4-BE49-F238E27FC236}">
                <a16:creationId xmlns:a16="http://schemas.microsoft.com/office/drawing/2014/main" id="{39B5B782-C12F-40BA-8A3C-BF9B13F3784D}"/>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Industrial GTM punishes shallow assumptions.</a:t>
            </a:r>
          </a:p>
        </p:txBody>
      </p:sp>
      <p:sp>
        <p:nvSpPr>
          <p:cNvPr id="7" name="">
            <a:extLst xmlns:a="http://schemas.openxmlformats.org/drawingml/2006/main">
              <a:ext uri="{FF2B5EF4-FFF2-40B4-BE49-F238E27FC236}">
                <a16:creationId xmlns:a16="http://schemas.microsoft.com/office/drawing/2014/main" id="{52067D38-DB9D-4238-8337-006FCE3CE70F}"/>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The instructor should tie every point back to long-cycle risk, committee proof, and trusted circulation.</a:t>
            </a:r>
          </a:p>
        </p:txBody>
      </p:sp>
      <p:sp>
        <p:nvSpPr>
          <p:cNvPr id="8" name="">
            <a:extLst xmlns:a="http://schemas.openxmlformats.org/drawingml/2006/main">
              <a:ext uri="{FF2B5EF4-FFF2-40B4-BE49-F238E27FC236}">
                <a16:creationId xmlns:a16="http://schemas.microsoft.com/office/drawing/2014/main" id="{24CCB333-DBDF-4D74-B091-73678F9AE120}"/>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938B7C9-0614-4783-ADDF-1E84AD634FCD}"/>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10" name="">
            <a:extLst xmlns:a="http://schemas.openxmlformats.org/drawingml/2006/main">
              <a:ext uri="{FF2B5EF4-FFF2-40B4-BE49-F238E27FC236}">
                <a16:creationId xmlns:a16="http://schemas.microsoft.com/office/drawing/2014/main" id="{C5F21734-0B00-479D-B9A1-1BB456F21100}"/>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11" name="">
            <a:extLst xmlns:a="http://schemas.openxmlformats.org/drawingml/2006/main">
              <a:ext uri="{FF2B5EF4-FFF2-40B4-BE49-F238E27FC236}">
                <a16:creationId xmlns:a16="http://schemas.microsoft.com/office/drawing/2014/main" id="{53A1B7B9-592F-4E02-9C6E-E905BD5B3D50}"/>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3/15</a:t>
            </a:r>
          </a:p>
        </p:txBody>
      </p:sp>
      <p:sp>
        <p:nvSpPr>
          <p:cNvPr id="12" name="">
            <a:extLst xmlns:a="http://schemas.openxmlformats.org/drawingml/2006/main">
              <a:ext uri="{FF2B5EF4-FFF2-40B4-BE49-F238E27FC236}">
                <a16:creationId xmlns:a16="http://schemas.microsoft.com/office/drawing/2014/main" id="{C5938294-5E71-48FE-A1E1-4E7CD83E730E}"/>
              </a:ext>
            </a:extLst>
          </p:cNvPr>
          <p:cNvSpPr>
            <a:spLocks xmlns:a="http://schemas.openxmlformats.org/drawingml/2006/main" noGrp="1"/>
          </p:cNvSpPr>
          <p:nvPr/>
        </p:nvSpPr>
        <p:spPr>
          <a:xfrm xmlns:a="http://schemas.openxmlformats.org/drawingml/2006/main">
            <a:off x="514350" y="2019300"/>
            <a:ext cx="5143500" cy="32004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3" name="">
            <a:extLst xmlns:a="http://schemas.openxmlformats.org/drawingml/2006/main">
              <a:ext uri="{FF2B5EF4-FFF2-40B4-BE49-F238E27FC236}">
                <a16:creationId xmlns:a16="http://schemas.microsoft.com/office/drawing/2014/main" id="{62645E19-4041-44B6-AC9E-CD6EAC58B114}"/>
              </a:ext>
            </a:extLst>
          </p:cNvPr>
          <p:cNvSpPr>
            <a:spLocks xmlns:a="http://schemas.openxmlformats.org/drawingml/2006/main" noGrp="1"/>
          </p:cNvSpPr>
          <p:nvPr/>
        </p:nvSpPr>
        <p:spPr>
          <a:xfrm xmlns:a="http://schemas.openxmlformats.org/drawingml/2006/main">
            <a:off x="819150" y="2381250"/>
            <a:ext cx="266700" cy="190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21A3B270-1926-47EE-9D26-646075B55A2E}"/>
              </a:ext>
            </a:extLst>
          </p:cNvPr>
          <p:cNvSpPr>
            <a:spLocks xmlns:a="http://schemas.openxmlformats.org/drawingml/2006/main" noGrp="1"/>
          </p:cNvSpPr>
          <p:nvPr/>
        </p:nvSpPr>
        <p:spPr>
          <a:xfrm xmlns:a="http://schemas.openxmlformats.org/drawingml/2006/main">
            <a:off x="1181100" y="23050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INDUSTRIAL REALITY</a:t>
            </a:r>
          </a:p>
        </p:txBody>
      </p:sp>
      <p:sp>
        <p:nvSpPr>
          <p:cNvPr id="15" name="">
            <a:extLst xmlns:a="http://schemas.openxmlformats.org/drawingml/2006/main">
              <a:ext uri="{FF2B5EF4-FFF2-40B4-BE49-F238E27FC236}">
                <a16:creationId xmlns:a16="http://schemas.microsoft.com/office/drawing/2014/main" id="{0F4E9F28-38D8-4503-AE34-36F9C5DC894A}"/>
              </a:ext>
            </a:extLst>
          </p:cNvPr>
          <p:cNvSpPr>
            <a:spLocks xmlns:a="http://schemas.openxmlformats.org/drawingml/2006/main" noGrp="1"/>
          </p:cNvSpPr>
          <p:nvPr/>
        </p:nvSpPr>
        <p:spPr>
          <a:xfrm xmlns:a="http://schemas.openxmlformats.org/drawingml/2006/main">
            <a:off x="819150" y="275272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1A434871-D28B-4413-8E8F-27D146B774E5}"/>
              </a:ext>
            </a:extLst>
          </p:cNvPr>
          <p:cNvSpPr>
            <a:spLocks xmlns:a="http://schemas.openxmlformats.org/drawingml/2006/main" noGrp="1"/>
          </p:cNvSpPr>
          <p:nvPr/>
        </p:nvSpPr>
        <p:spPr>
          <a:xfrm xmlns:a="http://schemas.openxmlformats.org/drawingml/2006/main">
            <a:off x="990600" y="2686050"/>
            <a:ext cx="41719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Industrial content is not a publishing calendar.</a:t>
            </a:r>
          </a:p>
        </p:txBody>
      </p:sp>
      <p:sp>
        <p:nvSpPr>
          <p:cNvPr id="17" name="">
            <a:extLst xmlns:a="http://schemas.openxmlformats.org/drawingml/2006/main">
              <a:ext uri="{FF2B5EF4-FFF2-40B4-BE49-F238E27FC236}">
                <a16:creationId xmlns:a16="http://schemas.microsoft.com/office/drawing/2014/main" id="{87039643-2A87-4D5F-AFBD-A6DA7986CCB3}"/>
              </a:ext>
            </a:extLst>
          </p:cNvPr>
          <p:cNvSpPr>
            <a:spLocks xmlns:a="http://schemas.openxmlformats.org/drawingml/2006/main" noGrp="1"/>
          </p:cNvSpPr>
          <p:nvPr/>
        </p:nvSpPr>
        <p:spPr>
          <a:xfrm xmlns:a="http://schemas.openxmlformats.org/drawingml/2006/main">
            <a:off x="819150" y="322897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C8F5FACD-D6F8-4DBA-AFCE-0F0C4C0B4719}"/>
              </a:ext>
            </a:extLst>
          </p:cNvPr>
          <p:cNvSpPr>
            <a:spLocks xmlns:a="http://schemas.openxmlformats.org/drawingml/2006/main" noGrp="1"/>
          </p:cNvSpPr>
          <p:nvPr/>
        </p:nvSpPr>
        <p:spPr>
          <a:xfrm xmlns:a="http://schemas.openxmlformats.org/drawingml/2006/main">
            <a:off x="990600" y="3162300"/>
            <a:ext cx="41719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Useful assets help buyers understand problems, compare approaches, reduce risk, and explain the case internally.</a:t>
            </a:r>
          </a:p>
        </p:txBody>
      </p:sp>
      <p:sp>
        <p:nvSpPr>
          <p:cNvPr id="19" name="">
            <a:extLst xmlns:a="http://schemas.openxmlformats.org/drawingml/2006/main">
              <a:ext uri="{FF2B5EF4-FFF2-40B4-BE49-F238E27FC236}">
                <a16:creationId xmlns:a16="http://schemas.microsoft.com/office/drawing/2014/main" id="{CD5AA814-41F6-4669-B1BA-22FDB1157A00}"/>
              </a:ext>
            </a:extLst>
          </p:cNvPr>
          <p:cNvSpPr>
            <a:spLocks xmlns:a="http://schemas.openxmlformats.org/drawingml/2006/main" noGrp="1"/>
          </p:cNvSpPr>
          <p:nvPr/>
        </p:nvSpPr>
        <p:spPr>
          <a:xfrm xmlns:a="http://schemas.openxmlformats.org/drawingml/2006/main">
            <a:off x="819150" y="370522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0826966A-F19E-4CA4-ABD9-49391AC8D05C}"/>
              </a:ext>
            </a:extLst>
          </p:cNvPr>
          <p:cNvSpPr>
            <a:spLocks xmlns:a="http://schemas.openxmlformats.org/drawingml/2006/main" noGrp="1"/>
          </p:cNvSpPr>
          <p:nvPr/>
        </p:nvSpPr>
        <p:spPr>
          <a:xfrm xmlns:a="http://schemas.openxmlformats.org/drawingml/2006/main">
            <a:off x="990600" y="3638550"/>
            <a:ext cx="41719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The same assets help sales warm accounts, interpret demand state, support champions, and identify proof gaps.</a:t>
            </a:r>
          </a:p>
        </p:txBody>
      </p:sp>
      <p:sp>
        <p:nvSpPr>
          <p:cNvPr id="21" name="">
            <a:extLst xmlns:a="http://schemas.openxmlformats.org/drawingml/2006/main">
              <a:ext uri="{FF2B5EF4-FFF2-40B4-BE49-F238E27FC236}">
                <a16:creationId xmlns:a16="http://schemas.microsoft.com/office/drawing/2014/main" id="{CB47E2B7-DAB9-4C6D-AF44-09CC51292A7D}"/>
              </a:ext>
            </a:extLst>
          </p:cNvPr>
          <p:cNvSpPr>
            <a:spLocks xmlns:a="http://schemas.openxmlformats.org/drawingml/2006/main" noGrp="1"/>
          </p:cNvSpPr>
          <p:nvPr/>
        </p:nvSpPr>
        <p:spPr>
          <a:xfrm xmlns:a="http://schemas.openxmlformats.org/drawingml/2006/main">
            <a:off x="819150" y="418147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385B3667-8C47-49D5-B10C-5B06CBEAD4F5}"/>
              </a:ext>
            </a:extLst>
          </p:cNvPr>
          <p:cNvSpPr>
            <a:spLocks xmlns:a="http://schemas.openxmlformats.org/drawingml/2006/main" noGrp="1"/>
          </p:cNvSpPr>
          <p:nvPr/>
        </p:nvSpPr>
        <p:spPr>
          <a:xfrm xmlns:a="http://schemas.openxmlformats.org/drawingml/2006/main">
            <a:off x="990600" y="4114800"/>
            <a:ext cx="41719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Content without sales use, distribution, or signal design becomes volume.</a:t>
            </a:r>
          </a:p>
        </p:txBody>
      </p:sp>
      <p:sp>
        <p:nvSpPr>
          <p:cNvPr id="23" name="">
            <a:extLst xmlns:a="http://schemas.openxmlformats.org/drawingml/2006/main">
              <a:ext uri="{FF2B5EF4-FFF2-40B4-BE49-F238E27FC236}">
                <a16:creationId xmlns:a16="http://schemas.microsoft.com/office/drawing/2014/main" id="{37AD314E-D2D1-446F-8FE5-87BAB52D7E35}"/>
              </a:ext>
            </a:extLst>
          </p:cNvPr>
          <p:cNvSpPr>
            <a:spLocks xmlns:a="http://schemas.openxmlformats.org/drawingml/2006/main" noGrp="1"/>
          </p:cNvSpPr>
          <p:nvPr/>
        </p:nvSpPr>
        <p:spPr>
          <a:xfrm xmlns:a="http://schemas.openxmlformats.org/drawingml/2006/main">
            <a:off x="6096000" y="2019300"/>
            <a:ext cx="5334000" cy="3200400"/>
          </a:xfrm>
          <a:prstGeom xmlns:a="http://schemas.openxmlformats.org/drawingml/2006/main" prst="rect">
            <a:avLst/>
          </a:prstGeom>
          <a:solidFill xmlns:a="http://schemas.openxmlformats.org/drawingml/2006/main">
            <a:srgbClr val="F9FAF7"/>
          </a:solidFill>
          <a:ln xmlns:a="http://schemas.openxmlformats.org/drawingml/2006/main" w="9525">
            <a:solidFill>
              <a:srgbClr val="D9DDD6"/>
            </a:solidFill>
            <a:prstDash val="solid"/>
          </a:ln>
        </p:spPr>
      </p:sp>
      <p:sp>
        <p:nvSpPr>
          <p:cNvPr id="24" name="">
            <a:extLst xmlns:a="http://schemas.openxmlformats.org/drawingml/2006/main">
              <a:ext uri="{FF2B5EF4-FFF2-40B4-BE49-F238E27FC236}">
                <a16:creationId xmlns:a16="http://schemas.microsoft.com/office/drawing/2014/main" id="{E66A34B6-11EB-4A72-9C8C-342D8F52F3A4}"/>
              </a:ext>
            </a:extLst>
          </p:cNvPr>
          <p:cNvSpPr>
            <a:spLocks xmlns:a="http://schemas.openxmlformats.org/drawingml/2006/main" noGrp="1"/>
          </p:cNvSpPr>
          <p:nvPr/>
        </p:nvSpPr>
        <p:spPr>
          <a:xfrm xmlns:a="http://schemas.openxmlformats.org/drawingml/2006/main">
            <a:off x="6400800" y="2381250"/>
            <a:ext cx="266700" cy="190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48024E6C-A2B2-4A83-BC96-1F949F39C297}"/>
              </a:ext>
            </a:extLst>
          </p:cNvPr>
          <p:cNvSpPr>
            <a:spLocks xmlns:a="http://schemas.openxmlformats.org/drawingml/2006/main" noGrp="1"/>
          </p:cNvSpPr>
          <p:nvPr/>
        </p:nvSpPr>
        <p:spPr>
          <a:xfrm xmlns:a="http://schemas.openxmlformats.org/drawingml/2006/main">
            <a:off x="6762750" y="23050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INSTRUCTOR CORRECTION</a:t>
            </a:r>
          </a:p>
        </p:txBody>
      </p:sp>
      <p:sp>
        <p:nvSpPr>
          <p:cNvPr id="26" name="">
            <a:extLst xmlns:a="http://schemas.openxmlformats.org/drawingml/2006/main">
              <a:ext uri="{FF2B5EF4-FFF2-40B4-BE49-F238E27FC236}">
                <a16:creationId xmlns:a16="http://schemas.microsoft.com/office/drawing/2014/main" id="{C3B6AB52-8AB7-4E3E-8403-43D203F75D51}"/>
              </a:ext>
            </a:extLst>
          </p:cNvPr>
          <p:cNvSpPr>
            <a:spLocks xmlns:a="http://schemas.openxmlformats.org/drawingml/2006/main" noGrp="1"/>
          </p:cNvSpPr>
          <p:nvPr/>
        </p:nvSpPr>
        <p:spPr>
          <a:xfrm xmlns:a="http://schemas.openxmlformats.org/drawingml/2006/main">
            <a:off x="6400800" y="2724150"/>
            <a:ext cx="247650" cy="247650"/>
          </a:xfrm>
          <a:prstGeom xmlns:a="http://schemas.openxmlformats.org/drawingml/2006/main" prst="rect">
            <a:avLst/>
          </a:prstGeom>
          <a:solidFill xmlns:a="http://schemas.openxmlformats.org/drawingml/2006/main">
            <a:srgbClr val="F0DFD5"/>
          </a:solidFill>
          <a:ln xmlns:a="http://schemas.openxmlformats.org/drawingml/2006/main" w="9525">
            <a:solidFill>
              <a:srgbClr val="A85D2A"/>
            </a:solidFill>
            <a:prstDash val="solid"/>
          </a:ln>
        </p:spPr>
      </p:sp>
      <p:sp>
        <p:nvSpPr>
          <p:cNvPr id="27" name="">
            <a:extLst xmlns:a="http://schemas.openxmlformats.org/drawingml/2006/main">
              <a:ext uri="{FF2B5EF4-FFF2-40B4-BE49-F238E27FC236}">
                <a16:creationId xmlns:a16="http://schemas.microsoft.com/office/drawing/2014/main" id="{894028DB-8E48-44EA-AAA9-3736492422BA}"/>
              </a:ext>
            </a:extLst>
          </p:cNvPr>
          <p:cNvSpPr>
            <a:spLocks xmlns:a="http://schemas.openxmlformats.org/drawingml/2006/main" noGrp="1"/>
          </p:cNvSpPr>
          <p:nvPr/>
        </p:nvSpPr>
        <p:spPr>
          <a:xfrm xmlns:a="http://schemas.openxmlformats.org/drawingml/2006/main">
            <a:off x="6400800" y="275272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1</a:t>
            </a:r>
          </a:p>
        </p:txBody>
      </p:sp>
      <p:sp>
        <p:nvSpPr>
          <p:cNvPr id="28" name="">
            <a:extLst xmlns:a="http://schemas.openxmlformats.org/drawingml/2006/main">
              <a:ext uri="{FF2B5EF4-FFF2-40B4-BE49-F238E27FC236}">
                <a16:creationId xmlns:a16="http://schemas.microsoft.com/office/drawing/2014/main" id="{4FEFE43A-83DB-4A59-971F-45C9DCBFBF28}"/>
              </a:ext>
            </a:extLst>
          </p:cNvPr>
          <p:cNvSpPr>
            <a:spLocks xmlns:a="http://schemas.openxmlformats.org/drawingml/2006/main" noGrp="1"/>
          </p:cNvSpPr>
          <p:nvPr/>
        </p:nvSpPr>
        <p:spPr>
          <a:xfrm xmlns:a="http://schemas.openxmlformats.org/drawingml/2006/main">
            <a:off x="6800850" y="2714625"/>
            <a:ext cx="40195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Move from activity to account movement.</a:t>
            </a:r>
          </a:p>
        </p:txBody>
      </p:sp>
      <p:sp>
        <p:nvSpPr>
          <p:cNvPr id="29" name="">
            <a:extLst xmlns:a="http://schemas.openxmlformats.org/drawingml/2006/main">
              <a:ext uri="{FF2B5EF4-FFF2-40B4-BE49-F238E27FC236}">
                <a16:creationId xmlns:a16="http://schemas.microsoft.com/office/drawing/2014/main" id="{D8DE363A-6487-4552-8C72-C086BE0913D0}"/>
              </a:ext>
            </a:extLst>
          </p:cNvPr>
          <p:cNvSpPr>
            <a:spLocks xmlns:a="http://schemas.openxmlformats.org/drawingml/2006/main" noGrp="1"/>
          </p:cNvSpPr>
          <p:nvPr/>
        </p:nvSpPr>
        <p:spPr>
          <a:xfrm xmlns:a="http://schemas.openxmlformats.org/drawingml/2006/main">
            <a:off x="6400800" y="3162300"/>
            <a:ext cx="247650" cy="247650"/>
          </a:xfrm>
          <a:prstGeom xmlns:a="http://schemas.openxmlformats.org/drawingml/2006/main" prst="rect">
            <a:avLst/>
          </a:prstGeom>
          <a:solidFill xmlns:a="http://schemas.openxmlformats.org/drawingml/2006/main">
            <a:srgbClr val="F0DFD5"/>
          </a:solidFill>
          <a:ln xmlns:a="http://schemas.openxmlformats.org/drawingml/2006/main" w="9525">
            <a:solidFill>
              <a:srgbClr val="A85D2A"/>
            </a:solidFill>
            <a:prstDash val="solid"/>
          </a:ln>
        </p:spPr>
      </p:sp>
      <p:sp>
        <p:nvSpPr>
          <p:cNvPr id="30" name="">
            <a:extLst xmlns:a="http://schemas.openxmlformats.org/drawingml/2006/main">
              <a:ext uri="{FF2B5EF4-FFF2-40B4-BE49-F238E27FC236}">
                <a16:creationId xmlns:a16="http://schemas.microsoft.com/office/drawing/2014/main" id="{5FBD1112-A86A-4971-8013-D681D275A6C7}"/>
              </a:ext>
            </a:extLst>
          </p:cNvPr>
          <p:cNvSpPr>
            <a:spLocks xmlns:a="http://schemas.openxmlformats.org/drawingml/2006/main" noGrp="1"/>
          </p:cNvSpPr>
          <p:nvPr/>
        </p:nvSpPr>
        <p:spPr>
          <a:xfrm xmlns:a="http://schemas.openxmlformats.org/drawingml/2006/main">
            <a:off x="6400800" y="319087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2</a:t>
            </a:r>
          </a:p>
        </p:txBody>
      </p:sp>
      <p:sp>
        <p:nvSpPr>
          <p:cNvPr id="31" name="">
            <a:extLst xmlns:a="http://schemas.openxmlformats.org/drawingml/2006/main">
              <a:ext uri="{FF2B5EF4-FFF2-40B4-BE49-F238E27FC236}">
                <a16:creationId xmlns:a16="http://schemas.microsoft.com/office/drawing/2014/main" id="{3A03CA0D-0150-4D51-8A06-F87568F745F8}"/>
              </a:ext>
            </a:extLst>
          </p:cNvPr>
          <p:cNvSpPr>
            <a:spLocks xmlns:a="http://schemas.openxmlformats.org/drawingml/2006/main" noGrp="1"/>
          </p:cNvSpPr>
          <p:nvPr/>
        </p:nvSpPr>
        <p:spPr>
          <a:xfrm xmlns:a="http://schemas.openxmlformats.org/drawingml/2006/main">
            <a:off x="6800850" y="3152775"/>
            <a:ext cx="40195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Move from one persona to committee risk.</a:t>
            </a:r>
          </a:p>
        </p:txBody>
      </p:sp>
      <p:sp>
        <p:nvSpPr>
          <p:cNvPr id="32" name="">
            <a:extLst xmlns:a="http://schemas.openxmlformats.org/drawingml/2006/main">
              <a:ext uri="{FF2B5EF4-FFF2-40B4-BE49-F238E27FC236}">
                <a16:creationId xmlns:a16="http://schemas.microsoft.com/office/drawing/2014/main" id="{65783E3E-07E8-4464-9080-AE1C525DC6AE}"/>
              </a:ext>
            </a:extLst>
          </p:cNvPr>
          <p:cNvSpPr>
            <a:spLocks xmlns:a="http://schemas.openxmlformats.org/drawingml/2006/main" noGrp="1"/>
          </p:cNvSpPr>
          <p:nvPr/>
        </p:nvSpPr>
        <p:spPr>
          <a:xfrm xmlns:a="http://schemas.openxmlformats.org/drawingml/2006/main">
            <a:off x="6400800" y="3600450"/>
            <a:ext cx="247650" cy="247650"/>
          </a:xfrm>
          <a:prstGeom xmlns:a="http://schemas.openxmlformats.org/drawingml/2006/main" prst="rect">
            <a:avLst/>
          </a:prstGeom>
          <a:solidFill xmlns:a="http://schemas.openxmlformats.org/drawingml/2006/main">
            <a:srgbClr val="F0DFD5"/>
          </a:solidFill>
          <a:ln xmlns:a="http://schemas.openxmlformats.org/drawingml/2006/main" w="9525">
            <a:solidFill>
              <a:srgbClr val="A85D2A"/>
            </a:solidFill>
            <a:prstDash val="solid"/>
          </a:ln>
        </p:spPr>
      </p:sp>
      <p:sp>
        <p:nvSpPr>
          <p:cNvPr id="33" name="">
            <a:extLst xmlns:a="http://schemas.openxmlformats.org/drawingml/2006/main">
              <a:ext uri="{FF2B5EF4-FFF2-40B4-BE49-F238E27FC236}">
                <a16:creationId xmlns:a16="http://schemas.microsoft.com/office/drawing/2014/main" id="{CFE422AB-36EC-46CC-87FA-4467A7028AB7}"/>
              </a:ext>
            </a:extLst>
          </p:cNvPr>
          <p:cNvSpPr>
            <a:spLocks xmlns:a="http://schemas.openxmlformats.org/drawingml/2006/main" noGrp="1"/>
          </p:cNvSpPr>
          <p:nvPr/>
        </p:nvSpPr>
        <p:spPr>
          <a:xfrm xmlns:a="http://schemas.openxmlformats.org/drawingml/2006/main">
            <a:off x="6400800" y="362902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3</a:t>
            </a:r>
          </a:p>
        </p:txBody>
      </p:sp>
      <p:sp>
        <p:nvSpPr>
          <p:cNvPr id="34" name="">
            <a:extLst xmlns:a="http://schemas.openxmlformats.org/drawingml/2006/main">
              <a:ext uri="{FF2B5EF4-FFF2-40B4-BE49-F238E27FC236}">
                <a16:creationId xmlns:a16="http://schemas.microsoft.com/office/drawing/2014/main" id="{4966FEB6-A845-456F-AE44-1BB99341077D}"/>
              </a:ext>
            </a:extLst>
          </p:cNvPr>
          <p:cNvSpPr>
            <a:spLocks xmlns:a="http://schemas.openxmlformats.org/drawingml/2006/main" noGrp="1"/>
          </p:cNvSpPr>
          <p:nvPr/>
        </p:nvSpPr>
        <p:spPr>
          <a:xfrm xmlns:a="http://schemas.openxmlformats.org/drawingml/2006/main">
            <a:off x="6800850" y="3590925"/>
            <a:ext cx="40195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Move from content volume to buyer uncertainty.</a:t>
            </a:r>
          </a:p>
        </p:txBody>
      </p:sp>
      <p:sp>
        <p:nvSpPr>
          <p:cNvPr id="35" name="">
            <a:extLst xmlns:a="http://schemas.openxmlformats.org/drawingml/2006/main">
              <a:ext uri="{FF2B5EF4-FFF2-40B4-BE49-F238E27FC236}">
                <a16:creationId xmlns:a16="http://schemas.microsoft.com/office/drawing/2014/main" id="{E2845916-2ACC-4E1F-8E92-70FCAAE0132A}"/>
              </a:ext>
            </a:extLst>
          </p:cNvPr>
          <p:cNvSpPr>
            <a:spLocks xmlns:a="http://schemas.openxmlformats.org/drawingml/2006/main" noGrp="1"/>
          </p:cNvSpPr>
          <p:nvPr/>
        </p:nvSpPr>
        <p:spPr>
          <a:xfrm xmlns:a="http://schemas.openxmlformats.org/drawingml/2006/main">
            <a:off x="6400800" y="4038600"/>
            <a:ext cx="247650" cy="247650"/>
          </a:xfrm>
          <a:prstGeom xmlns:a="http://schemas.openxmlformats.org/drawingml/2006/main" prst="rect">
            <a:avLst/>
          </a:prstGeom>
          <a:solidFill xmlns:a="http://schemas.openxmlformats.org/drawingml/2006/main">
            <a:srgbClr val="F0DFD5"/>
          </a:solidFill>
          <a:ln xmlns:a="http://schemas.openxmlformats.org/drawingml/2006/main" w="9525">
            <a:solidFill>
              <a:srgbClr val="A85D2A"/>
            </a:solidFill>
            <a:prstDash val="solid"/>
          </a:ln>
        </p:spPr>
      </p:sp>
      <p:sp>
        <p:nvSpPr>
          <p:cNvPr id="36" name="">
            <a:extLst xmlns:a="http://schemas.openxmlformats.org/drawingml/2006/main">
              <a:ext uri="{FF2B5EF4-FFF2-40B4-BE49-F238E27FC236}">
                <a16:creationId xmlns:a16="http://schemas.microsoft.com/office/drawing/2014/main" id="{2E9D05B0-7F69-4509-BA5A-8BDF76CDC515}"/>
              </a:ext>
            </a:extLst>
          </p:cNvPr>
          <p:cNvSpPr>
            <a:spLocks xmlns:a="http://schemas.openxmlformats.org/drawingml/2006/main" noGrp="1"/>
          </p:cNvSpPr>
          <p:nvPr/>
        </p:nvSpPr>
        <p:spPr>
          <a:xfrm xmlns:a="http://schemas.openxmlformats.org/drawingml/2006/main">
            <a:off x="6400800" y="406717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4</a:t>
            </a:r>
          </a:p>
        </p:txBody>
      </p:sp>
      <p:sp>
        <p:nvSpPr>
          <p:cNvPr id="37" name="">
            <a:extLst xmlns:a="http://schemas.openxmlformats.org/drawingml/2006/main">
              <a:ext uri="{FF2B5EF4-FFF2-40B4-BE49-F238E27FC236}">
                <a16:creationId xmlns:a16="http://schemas.microsoft.com/office/drawing/2014/main" id="{564ADBBF-BC4A-4EB9-AAE6-165FBD9223CE}"/>
              </a:ext>
            </a:extLst>
          </p:cNvPr>
          <p:cNvSpPr>
            <a:spLocks xmlns:a="http://schemas.openxmlformats.org/drawingml/2006/main" noGrp="1"/>
          </p:cNvSpPr>
          <p:nvPr/>
        </p:nvSpPr>
        <p:spPr>
          <a:xfrm xmlns:a="http://schemas.openxmlformats.org/drawingml/2006/main">
            <a:off x="6800850" y="4029075"/>
            <a:ext cx="40195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Move from engagement scoring to signal interpretation.</a:t>
            </a:r>
          </a:p>
        </p:txBody>
      </p:sp>
      <p:sp>
        <p:nvSpPr>
          <p:cNvPr id="38" name="">
            <a:extLst xmlns:a="http://schemas.openxmlformats.org/drawingml/2006/main">
              <a:ext uri="{FF2B5EF4-FFF2-40B4-BE49-F238E27FC236}">
                <a16:creationId xmlns:a16="http://schemas.microsoft.com/office/drawing/2014/main" id="{425B1A91-BE48-487C-80DE-791D270B00F9}"/>
              </a:ext>
            </a:extLst>
          </p:cNvPr>
          <p:cNvSpPr>
            <a:spLocks xmlns:a="http://schemas.openxmlformats.org/drawingml/2006/main" noGrp="1"/>
          </p:cNvSpPr>
          <p:nvPr/>
        </p:nvSpPr>
        <p:spPr>
          <a:xfrm xmlns:a="http://schemas.openxmlformats.org/drawingml/2006/main">
            <a:off x="6400800" y="4476750"/>
            <a:ext cx="247650" cy="247650"/>
          </a:xfrm>
          <a:prstGeom xmlns:a="http://schemas.openxmlformats.org/drawingml/2006/main" prst="rect">
            <a:avLst/>
          </a:prstGeom>
          <a:solidFill xmlns:a="http://schemas.openxmlformats.org/drawingml/2006/main">
            <a:srgbClr val="F0DFD5"/>
          </a:solidFill>
          <a:ln xmlns:a="http://schemas.openxmlformats.org/drawingml/2006/main" w="9525">
            <a:solidFill>
              <a:srgbClr val="A85D2A"/>
            </a:solidFill>
            <a:prstDash val="solid"/>
          </a:ln>
        </p:spPr>
      </p:sp>
      <p:sp>
        <p:nvSpPr>
          <p:cNvPr id="39" name="">
            <a:extLst xmlns:a="http://schemas.openxmlformats.org/drawingml/2006/main">
              <a:ext uri="{FF2B5EF4-FFF2-40B4-BE49-F238E27FC236}">
                <a16:creationId xmlns:a16="http://schemas.microsoft.com/office/drawing/2014/main" id="{92035677-1423-49F2-9984-C1EC495DF790}"/>
              </a:ext>
            </a:extLst>
          </p:cNvPr>
          <p:cNvSpPr>
            <a:spLocks xmlns:a="http://schemas.openxmlformats.org/drawingml/2006/main" noGrp="1"/>
          </p:cNvSpPr>
          <p:nvPr/>
        </p:nvSpPr>
        <p:spPr>
          <a:xfrm xmlns:a="http://schemas.openxmlformats.org/drawingml/2006/main">
            <a:off x="6400800" y="450532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5</a:t>
            </a:r>
          </a:p>
        </p:txBody>
      </p:sp>
      <p:sp>
        <p:nvSpPr>
          <p:cNvPr id="40" name="">
            <a:extLst xmlns:a="http://schemas.openxmlformats.org/drawingml/2006/main">
              <a:ext uri="{FF2B5EF4-FFF2-40B4-BE49-F238E27FC236}">
                <a16:creationId xmlns:a16="http://schemas.microsoft.com/office/drawing/2014/main" id="{B9850FEA-C1AF-4AF6-9699-D3F8B8049020}"/>
              </a:ext>
            </a:extLst>
          </p:cNvPr>
          <p:cNvSpPr>
            <a:spLocks xmlns:a="http://schemas.openxmlformats.org/drawingml/2006/main" noGrp="1"/>
          </p:cNvSpPr>
          <p:nvPr/>
        </p:nvSpPr>
        <p:spPr>
          <a:xfrm xmlns:a="http://schemas.openxmlformats.org/drawingml/2006/main">
            <a:off x="6800850" y="4467225"/>
            <a:ext cx="40195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Move from reporting to weekly operating decisions.</a:t>
            </a:r>
          </a:p>
        </p:txBody>
      </p:sp>
      <p:sp>
        <p:nvSpPr>
          <p:cNvPr id="41" name="">
            <a:extLst xmlns:a="http://schemas.openxmlformats.org/drawingml/2006/main">
              <a:ext uri="{FF2B5EF4-FFF2-40B4-BE49-F238E27FC236}">
                <a16:creationId xmlns:a16="http://schemas.microsoft.com/office/drawing/2014/main" id="{7DBBC0AA-BB0C-4A24-A7B1-923E8DEAA9F6}"/>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A8C4AA1A-6399-40F9-9303-2C53AF4A912D}"/>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43" name="">
            <a:extLst xmlns:a="http://schemas.openxmlformats.org/drawingml/2006/main">
              <a:ext uri="{FF2B5EF4-FFF2-40B4-BE49-F238E27FC236}">
                <a16:creationId xmlns:a16="http://schemas.microsoft.com/office/drawing/2014/main" id="{1D474C56-4D5D-4433-BB88-55301DECCA25}"/>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44" name="">
            <a:extLst xmlns:a="http://schemas.openxmlformats.org/drawingml/2006/main">
              <a:ext uri="{FF2B5EF4-FFF2-40B4-BE49-F238E27FC236}">
                <a16:creationId xmlns:a16="http://schemas.microsoft.com/office/drawing/2014/main" id="{3921F619-42B9-4138-BE26-A7E64253ECBE}"/>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3/15</a:t>
            </a:r>
          </a:p>
        </p:txBody>
      </p:sp>
    </p:spTree>
    <p:extLst>
      <p:ext uri="{BB962C8B-B14F-4D97-AF65-F5344CB8AC3E}">
        <p14:creationId xmlns:p14="http://schemas.microsoft.com/office/powerpoint/2010/main" val="97595769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030537-A2BB-4954-B3CB-BDBD90C07A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D64D665-1910-4F41-8CD0-1752F426D8F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E20374A-57C8-4EBE-80AE-F70E75DE1BFB}"/>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5-marker">
            <a:extLst xmlns:a="http://schemas.openxmlformats.org/drawingml/2006/main">
              <a:ext uri="{FF2B5EF4-FFF2-40B4-BE49-F238E27FC236}">
                <a16:creationId xmlns:a16="http://schemas.microsoft.com/office/drawing/2014/main" id="{5CD7ACC1-0602-4FD3-9A6C-8F247250CB79}"/>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5-label">
            <a:extLst xmlns:a="http://schemas.openxmlformats.org/drawingml/2006/main">
              <a:ext uri="{FF2B5EF4-FFF2-40B4-BE49-F238E27FC236}">
                <a16:creationId xmlns:a16="http://schemas.microsoft.com/office/drawing/2014/main" id="{37AAB2C1-57B9-4EB4-85A3-4A6CA6C8D45F}"/>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CORE FRAMEWORK</a:t>
            </a:r>
          </a:p>
        </p:txBody>
      </p:sp>
      <p:sp>
        <p:nvSpPr>
          <p:cNvPr id="6" name="">
            <a:extLst xmlns:a="http://schemas.openxmlformats.org/drawingml/2006/main">
              <a:ext uri="{FF2B5EF4-FFF2-40B4-BE49-F238E27FC236}">
                <a16:creationId xmlns:a16="http://schemas.microsoft.com/office/drawing/2014/main" id="{007A1EC3-C009-44EE-9E7B-EF362A8804B4}"/>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Every asset needs a job.</a:t>
            </a:r>
          </a:p>
        </p:txBody>
      </p:sp>
      <p:sp>
        <p:nvSpPr>
          <p:cNvPr id="7" name="">
            <a:extLst xmlns:a="http://schemas.openxmlformats.org/drawingml/2006/main">
              <a:ext uri="{FF2B5EF4-FFF2-40B4-BE49-F238E27FC236}">
                <a16:creationId xmlns:a16="http://schemas.microsoft.com/office/drawing/2014/main" id="{5FB5FD87-7875-40E8-A1C0-8658BCF1F9B6}"/>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Use the diagram as the visual anchor; the visible path is the teachable sequence.</a:t>
            </a:r>
          </a:p>
        </p:txBody>
      </p:sp>
      <p:sp>
        <p:nvSpPr>
          <p:cNvPr id="8" name="">
            <a:extLst xmlns:a="http://schemas.openxmlformats.org/drawingml/2006/main">
              <a:ext uri="{FF2B5EF4-FFF2-40B4-BE49-F238E27FC236}">
                <a16:creationId xmlns:a16="http://schemas.microsoft.com/office/drawing/2014/main" id="{8D8355C4-9896-4A6B-97C7-8F624B534683}"/>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08D693BF-07C0-4CC9-AC78-E170FF53E258}"/>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10" name="">
            <a:extLst xmlns:a="http://schemas.openxmlformats.org/drawingml/2006/main">
              <a:ext uri="{FF2B5EF4-FFF2-40B4-BE49-F238E27FC236}">
                <a16:creationId xmlns:a16="http://schemas.microsoft.com/office/drawing/2014/main" id="{26D4EDDF-4097-460D-9554-47FF5AA53EB2}"/>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11" name="">
            <a:extLst xmlns:a="http://schemas.openxmlformats.org/drawingml/2006/main">
              <a:ext uri="{FF2B5EF4-FFF2-40B4-BE49-F238E27FC236}">
                <a16:creationId xmlns:a16="http://schemas.microsoft.com/office/drawing/2014/main" id="{20B303D7-44AA-40E9-B0BC-9D97F944A0E4}"/>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4/15</a:t>
            </a:r>
          </a:p>
        </p:txBody>
      </p:sp>
      <p:sp>
        <p:nvSpPr>
          <p:cNvPr id="12" name="">
            <a:extLst xmlns:a="http://schemas.openxmlformats.org/drawingml/2006/main">
              <a:ext uri="{FF2B5EF4-FFF2-40B4-BE49-F238E27FC236}">
                <a16:creationId xmlns:a16="http://schemas.microsoft.com/office/drawing/2014/main" id="{C9ECAF8B-EE48-48A2-9E44-88B2F5068D8D}"/>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88EE5C63-9FF7-4BC4-8BDB-262E570E73A5}"/>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CFCFA"/>
          </a:solidFill>
          <a:ln xmlns:a="http://schemas.openxmlformats.org/drawingml/2006/main" w="9525">
            <a:solidFill>
              <a:srgbClr val="D9DDD6"/>
            </a:solidFill>
            <a:prstDash val="solid"/>
          </a:ln>
        </p:spPr>
      </p:sp>
      <p:sp>
        <p:nvSpPr>
          <p:cNvPr id="14" name="">
            <a:extLst xmlns:a="http://schemas.openxmlformats.org/drawingml/2006/main">
              <a:ext uri="{FF2B5EF4-FFF2-40B4-BE49-F238E27FC236}">
                <a16:creationId xmlns:a16="http://schemas.microsoft.com/office/drawing/2014/main" id="{6614C492-D67D-43E9-BFC1-1FA6B03DE113}"/>
              </a:ext>
            </a:extLst>
          </p:cNvPr>
          <p:cNvSpPr>
            <a:spLocks xmlns:a="http://schemas.openxmlformats.org/drawingml/2006/main" noGrp="1"/>
          </p:cNvSpPr>
          <p:nvPr/>
        </p:nvSpPr>
        <p:spPr>
          <a:xfrm xmlns:a="http://schemas.openxmlformats.org/drawingml/2006/main">
            <a:off x="457200" y="2114550"/>
            <a:ext cx="266700" cy="190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48638551-E29D-450B-944A-A977FA0E035E}"/>
              </a:ext>
            </a:extLst>
          </p:cNvPr>
          <p:cNvSpPr>
            <a:spLocks xmlns:a="http://schemas.openxmlformats.org/drawingml/2006/main" noGrp="1"/>
          </p:cNvSpPr>
          <p:nvPr/>
        </p:nvSpPr>
        <p:spPr>
          <a:xfrm xmlns:a="http://schemas.openxmlformats.org/drawingml/2006/main">
            <a:off x="819150" y="20383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NATIVE OPERATING DIAGRAM</a:t>
            </a:r>
          </a:p>
        </p:txBody>
      </p:sp>
      <p:sp>
        <p:nvSpPr>
          <p:cNvPr id="16" name="">
            <a:extLst xmlns:a="http://schemas.openxmlformats.org/drawingml/2006/main">
              <a:ext uri="{FF2B5EF4-FFF2-40B4-BE49-F238E27FC236}">
                <a16:creationId xmlns:a16="http://schemas.microsoft.com/office/drawing/2014/main" id="{D6B7CBA6-5BA5-4E43-9F71-A41BE6F6577F}"/>
              </a:ext>
            </a:extLst>
          </p:cNvPr>
          <p:cNvSpPr>
            <a:spLocks xmlns:a="http://schemas.openxmlformats.org/drawingml/2006/main" noGrp="1"/>
          </p:cNvSpPr>
          <p:nvPr/>
        </p:nvSpPr>
        <p:spPr>
          <a:xfrm xmlns:a="http://schemas.openxmlformats.org/drawingml/2006/main">
            <a:off x="495300" y="2686050"/>
            <a:ext cx="26098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7" name="">
            <a:extLst xmlns:a="http://schemas.openxmlformats.org/drawingml/2006/main">
              <a:ext uri="{FF2B5EF4-FFF2-40B4-BE49-F238E27FC236}">
                <a16:creationId xmlns:a16="http://schemas.microsoft.com/office/drawing/2014/main" id="{ABB32609-4A21-468B-A040-C2548BEF7AC0}"/>
              </a:ext>
            </a:extLst>
          </p:cNvPr>
          <p:cNvSpPr>
            <a:spLocks xmlns:a="http://schemas.openxmlformats.org/drawingml/2006/main" noGrp="1"/>
          </p:cNvSpPr>
          <p:nvPr/>
        </p:nvSpPr>
        <p:spPr>
          <a:xfrm xmlns:a="http://schemas.openxmlformats.org/drawingml/2006/main">
            <a:off x="495300" y="2686050"/>
            <a:ext cx="26098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025D3325-6799-41AD-8E8E-A21AB8302453}"/>
              </a:ext>
            </a:extLst>
          </p:cNvPr>
          <p:cNvSpPr>
            <a:spLocks xmlns:a="http://schemas.openxmlformats.org/drawingml/2006/main" noGrp="1"/>
          </p:cNvSpPr>
          <p:nvPr/>
        </p:nvSpPr>
        <p:spPr>
          <a:xfrm xmlns:a="http://schemas.openxmlformats.org/drawingml/2006/main">
            <a:off x="609600" y="2857500"/>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1D6072"/>
                </a:solidFill>
                <a:latin typeface="Aptos"/>
                <a:ea typeface="Aptos"/>
                <a:cs typeface="Aptos"/>
              </a:defRPr>
            </a:pPr>
            <a:r>
              <a:rPr sz="975" b="1">
                <a:solidFill>
                  <a:srgbClr val="1D6072"/>
                </a:solidFill>
                <a:latin typeface="Aptos"/>
                <a:ea typeface="Aptos"/>
                <a:cs typeface="Aptos"/>
              </a:rPr>
              <a:t>1</a:t>
            </a:r>
          </a:p>
        </p:txBody>
      </p:sp>
      <p:sp>
        <p:nvSpPr>
          <p:cNvPr id="19" name="">
            <a:extLst xmlns:a="http://schemas.openxmlformats.org/drawingml/2006/main">
              <a:ext uri="{FF2B5EF4-FFF2-40B4-BE49-F238E27FC236}">
                <a16:creationId xmlns:a16="http://schemas.microsoft.com/office/drawing/2014/main" id="{747D4D9D-1EBC-4192-A3FF-B8A71CA33E7D}"/>
              </a:ext>
            </a:extLst>
          </p:cNvPr>
          <p:cNvSpPr>
            <a:spLocks xmlns:a="http://schemas.openxmlformats.org/drawingml/2006/main" noGrp="1"/>
          </p:cNvSpPr>
          <p:nvPr/>
        </p:nvSpPr>
        <p:spPr>
          <a:xfrm xmlns:a="http://schemas.openxmlformats.org/drawingml/2006/main">
            <a:off x="895350" y="2838450"/>
            <a:ext cx="20764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72026"/>
                </a:solidFill>
                <a:latin typeface="Aptos"/>
                <a:ea typeface="Aptos"/>
                <a:cs typeface="Aptos"/>
              </a:defRPr>
            </a:pPr>
            <a:r>
              <a:rPr sz="900" b="1">
                <a:solidFill>
                  <a:srgbClr val="172026"/>
                </a:solidFill>
                <a:latin typeface="Aptos"/>
                <a:ea typeface="Aptos"/>
                <a:cs typeface="Aptos"/>
              </a:rPr>
              <a:t>Problem education</a:t>
            </a:r>
          </a:p>
        </p:txBody>
      </p:sp>
      <p:sp>
        <p:nvSpPr>
          <p:cNvPr id="20" name="">
            <a:extLst xmlns:a="http://schemas.openxmlformats.org/drawingml/2006/main">
              <a:ext uri="{FF2B5EF4-FFF2-40B4-BE49-F238E27FC236}">
                <a16:creationId xmlns:a16="http://schemas.microsoft.com/office/drawing/2014/main" id="{C2AC8398-5CB7-4479-85DB-FE5C9EDAAB17}"/>
              </a:ext>
            </a:extLst>
          </p:cNvPr>
          <p:cNvSpPr>
            <a:spLocks xmlns:a="http://schemas.openxmlformats.org/drawingml/2006/main" noGrp="1"/>
          </p:cNvSpPr>
          <p:nvPr/>
        </p:nvSpPr>
        <p:spPr>
          <a:xfrm xmlns:a="http://schemas.openxmlformats.org/drawingml/2006/main">
            <a:off x="3143250" y="3143250"/>
            <a:ext cx="152400" cy="19050"/>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F8022E4F-E1A1-4C01-A800-D82D91509F01}"/>
              </a:ext>
            </a:extLst>
          </p:cNvPr>
          <p:cNvSpPr>
            <a:spLocks xmlns:a="http://schemas.openxmlformats.org/drawingml/2006/main" noGrp="1"/>
          </p:cNvSpPr>
          <p:nvPr/>
        </p:nvSpPr>
        <p:spPr>
          <a:xfrm xmlns:a="http://schemas.openxmlformats.org/drawingml/2006/main">
            <a:off x="3314700" y="2686050"/>
            <a:ext cx="26098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22" name="">
            <a:extLst xmlns:a="http://schemas.openxmlformats.org/drawingml/2006/main">
              <a:ext uri="{FF2B5EF4-FFF2-40B4-BE49-F238E27FC236}">
                <a16:creationId xmlns:a16="http://schemas.microsoft.com/office/drawing/2014/main" id="{37A969DA-6374-4510-A744-1DD3523FE6D0}"/>
              </a:ext>
            </a:extLst>
          </p:cNvPr>
          <p:cNvSpPr>
            <a:spLocks xmlns:a="http://schemas.openxmlformats.org/drawingml/2006/main" noGrp="1"/>
          </p:cNvSpPr>
          <p:nvPr/>
        </p:nvSpPr>
        <p:spPr>
          <a:xfrm xmlns:a="http://schemas.openxmlformats.org/drawingml/2006/main">
            <a:off x="3314700" y="2686050"/>
            <a:ext cx="26098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ABCB3406-76A9-4F85-9174-7C501EE122EA}"/>
              </a:ext>
            </a:extLst>
          </p:cNvPr>
          <p:cNvSpPr>
            <a:spLocks xmlns:a="http://schemas.openxmlformats.org/drawingml/2006/main" noGrp="1"/>
          </p:cNvSpPr>
          <p:nvPr/>
        </p:nvSpPr>
        <p:spPr>
          <a:xfrm xmlns:a="http://schemas.openxmlformats.org/drawingml/2006/main">
            <a:off x="3429000" y="2857500"/>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A85D2A"/>
                </a:solidFill>
                <a:latin typeface="Aptos"/>
                <a:ea typeface="Aptos"/>
                <a:cs typeface="Aptos"/>
              </a:defRPr>
            </a:pPr>
            <a:r>
              <a:rPr sz="975" b="1">
                <a:solidFill>
                  <a:srgbClr val="A85D2A"/>
                </a:solidFill>
                <a:latin typeface="Aptos"/>
                <a:ea typeface="Aptos"/>
                <a:cs typeface="Aptos"/>
              </a:rPr>
              <a:t>2</a:t>
            </a:r>
          </a:p>
        </p:txBody>
      </p:sp>
      <p:sp>
        <p:nvSpPr>
          <p:cNvPr id="24" name="">
            <a:extLst xmlns:a="http://schemas.openxmlformats.org/drawingml/2006/main">
              <a:ext uri="{FF2B5EF4-FFF2-40B4-BE49-F238E27FC236}">
                <a16:creationId xmlns:a16="http://schemas.microsoft.com/office/drawing/2014/main" id="{E8CBDED8-80EC-439C-9CF7-0BC09A1ADA28}"/>
              </a:ext>
            </a:extLst>
          </p:cNvPr>
          <p:cNvSpPr>
            <a:spLocks xmlns:a="http://schemas.openxmlformats.org/drawingml/2006/main" noGrp="1"/>
          </p:cNvSpPr>
          <p:nvPr/>
        </p:nvSpPr>
        <p:spPr>
          <a:xfrm xmlns:a="http://schemas.openxmlformats.org/drawingml/2006/main">
            <a:off x="3714750" y="2838450"/>
            <a:ext cx="20764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72026"/>
                </a:solidFill>
                <a:latin typeface="Aptos"/>
                <a:ea typeface="Aptos"/>
                <a:cs typeface="Aptos"/>
              </a:defRPr>
            </a:pPr>
            <a:r>
              <a:rPr sz="900" b="1">
                <a:solidFill>
                  <a:srgbClr val="172026"/>
                </a:solidFill>
                <a:latin typeface="Aptos"/>
                <a:ea typeface="Aptos"/>
                <a:cs typeface="Aptos"/>
              </a:rPr>
              <a:t>Application education</a:t>
            </a:r>
          </a:p>
        </p:txBody>
      </p:sp>
      <p:sp>
        <p:nvSpPr>
          <p:cNvPr id="25" name="">
            <a:extLst xmlns:a="http://schemas.openxmlformats.org/drawingml/2006/main">
              <a:ext uri="{FF2B5EF4-FFF2-40B4-BE49-F238E27FC236}">
                <a16:creationId xmlns:a16="http://schemas.microsoft.com/office/drawing/2014/main" id="{37DDAD79-CC67-4E10-8DD9-8C039C3142CC}"/>
              </a:ext>
            </a:extLst>
          </p:cNvPr>
          <p:cNvSpPr>
            <a:spLocks xmlns:a="http://schemas.openxmlformats.org/drawingml/2006/main" noGrp="1"/>
          </p:cNvSpPr>
          <p:nvPr/>
        </p:nvSpPr>
        <p:spPr>
          <a:xfrm xmlns:a="http://schemas.openxmlformats.org/drawingml/2006/main">
            <a:off x="5962650" y="3143250"/>
            <a:ext cx="152400" cy="19050"/>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570145DE-17E7-4045-AAB3-B01824F4219C}"/>
              </a:ext>
            </a:extLst>
          </p:cNvPr>
          <p:cNvSpPr>
            <a:spLocks xmlns:a="http://schemas.openxmlformats.org/drawingml/2006/main" noGrp="1"/>
          </p:cNvSpPr>
          <p:nvPr/>
        </p:nvSpPr>
        <p:spPr>
          <a:xfrm xmlns:a="http://schemas.openxmlformats.org/drawingml/2006/main">
            <a:off x="6134100" y="2686050"/>
            <a:ext cx="26098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27" name="">
            <a:extLst xmlns:a="http://schemas.openxmlformats.org/drawingml/2006/main">
              <a:ext uri="{FF2B5EF4-FFF2-40B4-BE49-F238E27FC236}">
                <a16:creationId xmlns:a16="http://schemas.microsoft.com/office/drawing/2014/main" id="{672CF296-E6C0-4D51-941F-1E1489D28E03}"/>
              </a:ext>
            </a:extLst>
          </p:cNvPr>
          <p:cNvSpPr>
            <a:spLocks xmlns:a="http://schemas.openxmlformats.org/drawingml/2006/main" noGrp="1"/>
          </p:cNvSpPr>
          <p:nvPr/>
        </p:nvSpPr>
        <p:spPr>
          <a:xfrm xmlns:a="http://schemas.openxmlformats.org/drawingml/2006/main">
            <a:off x="6134100" y="2686050"/>
            <a:ext cx="2609850" cy="57150"/>
          </a:xfrm>
          <a:prstGeom xmlns:a="http://schemas.openxmlformats.org/drawingml/2006/main" prst="rect">
            <a:avLst/>
          </a:prstGeom>
          <a:solidFill xmlns:a="http://schemas.openxmlformats.org/drawingml/2006/main">
            <a:srgbClr val="667A39"/>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5C27801D-54CF-4791-BC1D-19BEDC155F7D}"/>
              </a:ext>
            </a:extLst>
          </p:cNvPr>
          <p:cNvSpPr>
            <a:spLocks xmlns:a="http://schemas.openxmlformats.org/drawingml/2006/main" noGrp="1"/>
          </p:cNvSpPr>
          <p:nvPr/>
        </p:nvSpPr>
        <p:spPr>
          <a:xfrm xmlns:a="http://schemas.openxmlformats.org/drawingml/2006/main">
            <a:off x="6248400" y="2857500"/>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667A39"/>
                </a:solidFill>
                <a:latin typeface="Aptos"/>
                <a:ea typeface="Aptos"/>
                <a:cs typeface="Aptos"/>
              </a:defRPr>
            </a:pPr>
            <a:r>
              <a:rPr sz="975" b="1">
                <a:solidFill>
                  <a:srgbClr val="667A39"/>
                </a:solidFill>
                <a:latin typeface="Aptos"/>
                <a:ea typeface="Aptos"/>
                <a:cs typeface="Aptos"/>
              </a:rPr>
              <a:t>3</a:t>
            </a:r>
          </a:p>
        </p:txBody>
      </p:sp>
      <p:sp>
        <p:nvSpPr>
          <p:cNvPr id="29" name="">
            <a:extLst xmlns:a="http://schemas.openxmlformats.org/drawingml/2006/main">
              <a:ext uri="{FF2B5EF4-FFF2-40B4-BE49-F238E27FC236}">
                <a16:creationId xmlns:a16="http://schemas.microsoft.com/office/drawing/2014/main" id="{466C3D3F-7E53-4F69-98B2-BF8C13E94B40}"/>
              </a:ext>
            </a:extLst>
          </p:cNvPr>
          <p:cNvSpPr>
            <a:spLocks xmlns:a="http://schemas.openxmlformats.org/drawingml/2006/main" noGrp="1"/>
          </p:cNvSpPr>
          <p:nvPr/>
        </p:nvSpPr>
        <p:spPr>
          <a:xfrm xmlns:a="http://schemas.openxmlformats.org/drawingml/2006/main">
            <a:off x="6534150" y="2838450"/>
            <a:ext cx="20764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72026"/>
                </a:solidFill>
                <a:latin typeface="Aptos"/>
                <a:ea typeface="Aptos"/>
                <a:cs typeface="Aptos"/>
              </a:defRPr>
            </a:pPr>
            <a:r>
              <a:rPr sz="900" b="1">
                <a:solidFill>
                  <a:srgbClr val="172026"/>
                </a:solidFill>
                <a:latin typeface="Aptos"/>
                <a:ea typeface="Aptos"/>
                <a:cs typeface="Aptos"/>
              </a:rPr>
              <a:t>Decision criteria</a:t>
            </a:r>
          </a:p>
        </p:txBody>
      </p:sp>
      <p:sp>
        <p:nvSpPr>
          <p:cNvPr id="30" name="">
            <a:extLst xmlns:a="http://schemas.openxmlformats.org/drawingml/2006/main">
              <a:ext uri="{FF2B5EF4-FFF2-40B4-BE49-F238E27FC236}">
                <a16:creationId xmlns:a16="http://schemas.microsoft.com/office/drawing/2014/main" id="{91B3DDF5-146B-4E65-BC2E-ADF1EE727688}"/>
              </a:ext>
            </a:extLst>
          </p:cNvPr>
          <p:cNvSpPr>
            <a:spLocks xmlns:a="http://schemas.openxmlformats.org/drawingml/2006/main" noGrp="1"/>
          </p:cNvSpPr>
          <p:nvPr/>
        </p:nvSpPr>
        <p:spPr>
          <a:xfrm xmlns:a="http://schemas.openxmlformats.org/drawingml/2006/main">
            <a:off x="8782050" y="3143250"/>
            <a:ext cx="152400" cy="19050"/>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D3961173-16BF-45BD-AF59-1A60F47EA73F}"/>
              </a:ext>
            </a:extLst>
          </p:cNvPr>
          <p:cNvSpPr>
            <a:spLocks xmlns:a="http://schemas.openxmlformats.org/drawingml/2006/main" noGrp="1"/>
          </p:cNvSpPr>
          <p:nvPr/>
        </p:nvSpPr>
        <p:spPr>
          <a:xfrm xmlns:a="http://schemas.openxmlformats.org/drawingml/2006/main">
            <a:off x="8953500" y="2686050"/>
            <a:ext cx="26098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32" name="">
            <a:extLst xmlns:a="http://schemas.openxmlformats.org/drawingml/2006/main">
              <a:ext uri="{FF2B5EF4-FFF2-40B4-BE49-F238E27FC236}">
                <a16:creationId xmlns:a16="http://schemas.microsoft.com/office/drawing/2014/main" id="{60CA8299-2D65-4EC7-8932-E32A112DEA01}"/>
              </a:ext>
            </a:extLst>
          </p:cNvPr>
          <p:cNvSpPr>
            <a:spLocks xmlns:a="http://schemas.openxmlformats.org/drawingml/2006/main" noGrp="1"/>
          </p:cNvSpPr>
          <p:nvPr/>
        </p:nvSpPr>
        <p:spPr>
          <a:xfrm xmlns:a="http://schemas.openxmlformats.org/drawingml/2006/main">
            <a:off x="8953500" y="2686050"/>
            <a:ext cx="2609850" cy="57150"/>
          </a:xfrm>
          <a:prstGeom xmlns:a="http://schemas.openxmlformats.org/drawingml/2006/main" prst="rect">
            <a:avLst/>
          </a:prstGeom>
          <a:solidFill xmlns:a="http://schemas.openxmlformats.org/drawingml/2006/main">
            <a:srgbClr val="B7953B"/>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2AE9F206-C9CD-437E-9BD5-B54B3C865106}"/>
              </a:ext>
            </a:extLst>
          </p:cNvPr>
          <p:cNvSpPr>
            <a:spLocks xmlns:a="http://schemas.openxmlformats.org/drawingml/2006/main" noGrp="1"/>
          </p:cNvSpPr>
          <p:nvPr/>
        </p:nvSpPr>
        <p:spPr>
          <a:xfrm xmlns:a="http://schemas.openxmlformats.org/drawingml/2006/main">
            <a:off x="9067800" y="2857500"/>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B7953B"/>
                </a:solidFill>
                <a:latin typeface="Aptos"/>
                <a:ea typeface="Aptos"/>
                <a:cs typeface="Aptos"/>
              </a:defRPr>
            </a:pPr>
            <a:r>
              <a:rPr sz="975" b="1">
                <a:solidFill>
                  <a:srgbClr val="B7953B"/>
                </a:solidFill>
                <a:latin typeface="Aptos"/>
                <a:ea typeface="Aptos"/>
                <a:cs typeface="Aptos"/>
              </a:rPr>
              <a:t>4</a:t>
            </a:r>
          </a:p>
        </p:txBody>
      </p:sp>
      <p:sp>
        <p:nvSpPr>
          <p:cNvPr id="34" name="">
            <a:extLst xmlns:a="http://schemas.openxmlformats.org/drawingml/2006/main">
              <a:ext uri="{FF2B5EF4-FFF2-40B4-BE49-F238E27FC236}">
                <a16:creationId xmlns:a16="http://schemas.microsoft.com/office/drawing/2014/main" id="{A571B31D-D17D-4AA8-A189-5A0012D86D90}"/>
              </a:ext>
            </a:extLst>
          </p:cNvPr>
          <p:cNvSpPr>
            <a:spLocks xmlns:a="http://schemas.openxmlformats.org/drawingml/2006/main" noGrp="1"/>
          </p:cNvSpPr>
          <p:nvPr/>
        </p:nvSpPr>
        <p:spPr>
          <a:xfrm xmlns:a="http://schemas.openxmlformats.org/drawingml/2006/main">
            <a:off x="9353550" y="2838450"/>
            <a:ext cx="20764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72026"/>
                </a:solidFill>
                <a:latin typeface="Aptos"/>
                <a:ea typeface="Aptos"/>
                <a:cs typeface="Aptos"/>
              </a:defRPr>
            </a:pPr>
            <a:r>
              <a:rPr sz="900" b="1">
                <a:solidFill>
                  <a:srgbClr val="172026"/>
                </a:solidFill>
                <a:latin typeface="Aptos"/>
                <a:ea typeface="Aptos"/>
                <a:cs typeface="Aptos"/>
              </a:rPr>
              <a:t>Proof</a:t>
            </a:r>
          </a:p>
        </p:txBody>
      </p:sp>
      <p:sp>
        <p:nvSpPr>
          <p:cNvPr id="35" name="">
            <a:extLst xmlns:a="http://schemas.openxmlformats.org/drawingml/2006/main">
              <a:ext uri="{FF2B5EF4-FFF2-40B4-BE49-F238E27FC236}">
                <a16:creationId xmlns:a16="http://schemas.microsoft.com/office/drawing/2014/main" id="{4C60C773-FF2F-4CAD-B495-701E8112D178}"/>
              </a:ext>
            </a:extLst>
          </p:cNvPr>
          <p:cNvSpPr>
            <a:spLocks xmlns:a="http://schemas.openxmlformats.org/drawingml/2006/main" noGrp="1"/>
          </p:cNvSpPr>
          <p:nvPr/>
        </p:nvSpPr>
        <p:spPr>
          <a:xfrm xmlns:a="http://schemas.openxmlformats.org/drawingml/2006/main">
            <a:off x="495300" y="4076700"/>
            <a:ext cx="26098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36" name="">
            <a:extLst xmlns:a="http://schemas.openxmlformats.org/drawingml/2006/main">
              <a:ext uri="{FF2B5EF4-FFF2-40B4-BE49-F238E27FC236}">
                <a16:creationId xmlns:a16="http://schemas.microsoft.com/office/drawing/2014/main" id="{1A0D0066-716F-441E-BC59-684FFDBAE7DD}"/>
              </a:ext>
            </a:extLst>
          </p:cNvPr>
          <p:cNvSpPr>
            <a:spLocks xmlns:a="http://schemas.openxmlformats.org/drawingml/2006/main" noGrp="1"/>
          </p:cNvSpPr>
          <p:nvPr/>
        </p:nvSpPr>
        <p:spPr>
          <a:xfrm xmlns:a="http://schemas.openxmlformats.org/drawingml/2006/main">
            <a:off x="495300" y="4076700"/>
            <a:ext cx="26098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47462673-2235-4A42-8DBA-F2F9581755B1}"/>
              </a:ext>
            </a:extLst>
          </p:cNvPr>
          <p:cNvSpPr>
            <a:spLocks xmlns:a="http://schemas.openxmlformats.org/drawingml/2006/main" noGrp="1"/>
          </p:cNvSpPr>
          <p:nvPr/>
        </p:nvSpPr>
        <p:spPr>
          <a:xfrm xmlns:a="http://schemas.openxmlformats.org/drawingml/2006/main">
            <a:off x="609600" y="4248150"/>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1D6072"/>
                </a:solidFill>
                <a:latin typeface="Aptos"/>
                <a:ea typeface="Aptos"/>
                <a:cs typeface="Aptos"/>
              </a:defRPr>
            </a:pPr>
            <a:r>
              <a:rPr sz="975" b="1">
                <a:solidFill>
                  <a:srgbClr val="1D6072"/>
                </a:solidFill>
                <a:latin typeface="Aptos"/>
                <a:ea typeface="Aptos"/>
                <a:cs typeface="Aptos"/>
              </a:rPr>
              <a:t>5</a:t>
            </a:r>
          </a:p>
        </p:txBody>
      </p:sp>
      <p:sp>
        <p:nvSpPr>
          <p:cNvPr id="38" name="">
            <a:extLst xmlns:a="http://schemas.openxmlformats.org/drawingml/2006/main">
              <a:ext uri="{FF2B5EF4-FFF2-40B4-BE49-F238E27FC236}">
                <a16:creationId xmlns:a16="http://schemas.microsoft.com/office/drawing/2014/main" id="{3CC4074B-955B-4699-A2B8-8249D6F2899C}"/>
              </a:ext>
            </a:extLst>
          </p:cNvPr>
          <p:cNvSpPr>
            <a:spLocks xmlns:a="http://schemas.openxmlformats.org/drawingml/2006/main" noGrp="1"/>
          </p:cNvSpPr>
          <p:nvPr/>
        </p:nvSpPr>
        <p:spPr>
          <a:xfrm xmlns:a="http://schemas.openxmlformats.org/drawingml/2006/main">
            <a:off x="895350" y="4229100"/>
            <a:ext cx="20764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72026"/>
                </a:solidFill>
                <a:latin typeface="Aptos"/>
                <a:ea typeface="Aptos"/>
                <a:cs typeface="Aptos"/>
              </a:defRPr>
            </a:pPr>
            <a:r>
              <a:rPr sz="900" b="1">
                <a:solidFill>
                  <a:srgbClr val="172026"/>
                </a:solidFill>
                <a:latin typeface="Aptos"/>
                <a:ea typeface="Aptos"/>
                <a:cs typeface="Aptos"/>
              </a:rPr>
              <a:t>Buyer enablement</a:t>
            </a:r>
          </a:p>
        </p:txBody>
      </p:sp>
      <p:sp>
        <p:nvSpPr>
          <p:cNvPr id="39" name="">
            <a:extLst xmlns:a="http://schemas.openxmlformats.org/drawingml/2006/main">
              <a:ext uri="{FF2B5EF4-FFF2-40B4-BE49-F238E27FC236}">
                <a16:creationId xmlns:a16="http://schemas.microsoft.com/office/drawing/2014/main" id="{1C6D3F21-9CA9-4C6C-9011-105CF9098983}"/>
              </a:ext>
            </a:extLst>
          </p:cNvPr>
          <p:cNvSpPr>
            <a:spLocks xmlns:a="http://schemas.openxmlformats.org/drawingml/2006/main" noGrp="1"/>
          </p:cNvSpPr>
          <p:nvPr/>
        </p:nvSpPr>
        <p:spPr>
          <a:xfrm xmlns:a="http://schemas.openxmlformats.org/drawingml/2006/main">
            <a:off x="3143250" y="4533900"/>
            <a:ext cx="152400" cy="19050"/>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84C61A00-E0BA-420B-A9B4-CD41D9ACA575}"/>
              </a:ext>
            </a:extLst>
          </p:cNvPr>
          <p:cNvSpPr>
            <a:spLocks xmlns:a="http://schemas.openxmlformats.org/drawingml/2006/main" noGrp="1"/>
          </p:cNvSpPr>
          <p:nvPr/>
        </p:nvSpPr>
        <p:spPr>
          <a:xfrm xmlns:a="http://schemas.openxmlformats.org/drawingml/2006/main">
            <a:off x="3314700" y="4076700"/>
            <a:ext cx="26098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41" name="">
            <a:extLst xmlns:a="http://schemas.openxmlformats.org/drawingml/2006/main">
              <a:ext uri="{FF2B5EF4-FFF2-40B4-BE49-F238E27FC236}">
                <a16:creationId xmlns:a16="http://schemas.microsoft.com/office/drawing/2014/main" id="{5758E3A7-C98B-4372-A37B-66CC40CF5898}"/>
              </a:ext>
            </a:extLst>
          </p:cNvPr>
          <p:cNvSpPr>
            <a:spLocks xmlns:a="http://schemas.openxmlformats.org/drawingml/2006/main" noGrp="1"/>
          </p:cNvSpPr>
          <p:nvPr/>
        </p:nvSpPr>
        <p:spPr>
          <a:xfrm xmlns:a="http://schemas.openxmlformats.org/drawingml/2006/main">
            <a:off x="3314700" y="4076700"/>
            <a:ext cx="26098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7BBFCEFE-6D45-4968-8E47-471E67522FBC}"/>
              </a:ext>
            </a:extLst>
          </p:cNvPr>
          <p:cNvSpPr>
            <a:spLocks xmlns:a="http://schemas.openxmlformats.org/drawingml/2006/main" noGrp="1"/>
          </p:cNvSpPr>
          <p:nvPr/>
        </p:nvSpPr>
        <p:spPr>
          <a:xfrm xmlns:a="http://schemas.openxmlformats.org/drawingml/2006/main">
            <a:off x="3429000" y="4248150"/>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A85D2A"/>
                </a:solidFill>
                <a:latin typeface="Aptos"/>
                <a:ea typeface="Aptos"/>
                <a:cs typeface="Aptos"/>
              </a:defRPr>
            </a:pPr>
            <a:r>
              <a:rPr sz="975" b="1">
                <a:solidFill>
                  <a:srgbClr val="A85D2A"/>
                </a:solidFill>
                <a:latin typeface="Aptos"/>
                <a:ea typeface="Aptos"/>
                <a:cs typeface="Aptos"/>
              </a:rPr>
              <a:t>6</a:t>
            </a:r>
          </a:p>
        </p:txBody>
      </p:sp>
      <p:sp>
        <p:nvSpPr>
          <p:cNvPr id="43" name="">
            <a:extLst xmlns:a="http://schemas.openxmlformats.org/drawingml/2006/main">
              <a:ext uri="{FF2B5EF4-FFF2-40B4-BE49-F238E27FC236}">
                <a16:creationId xmlns:a16="http://schemas.microsoft.com/office/drawing/2014/main" id="{F3A3E502-B13E-4C58-B9B7-0B046D3718FA}"/>
              </a:ext>
            </a:extLst>
          </p:cNvPr>
          <p:cNvSpPr>
            <a:spLocks xmlns:a="http://schemas.openxmlformats.org/drawingml/2006/main" noGrp="1"/>
          </p:cNvSpPr>
          <p:nvPr/>
        </p:nvSpPr>
        <p:spPr>
          <a:xfrm xmlns:a="http://schemas.openxmlformats.org/drawingml/2006/main">
            <a:off x="3714750" y="4229100"/>
            <a:ext cx="20764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72026"/>
                </a:solidFill>
                <a:latin typeface="Aptos"/>
                <a:ea typeface="Aptos"/>
                <a:cs typeface="Aptos"/>
              </a:defRPr>
            </a:pPr>
            <a:r>
              <a:rPr sz="900" b="1">
                <a:solidFill>
                  <a:srgbClr val="172026"/>
                </a:solidFill>
                <a:latin typeface="Aptos"/>
                <a:ea typeface="Aptos"/>
                <a:cs typeface="Aptos"/>
              </a:rPr>
              <a:t>Demand capture</a:t>
            </a:r>
          </a:p>
        </p:txBody>
      </p:sp>
      <p:sp>
        <p:nvSpPr>
          <p:cNvPr id="44" name="">
            <a:extLst xmlns:a="http://schemas.openxmlformats.org/drawingml/2006/main">
              <a:ext uri="{FF2B5EF4-FFF2-40B4-BE49-F238E27FC236}">
                <a16:creationId xmlns:a16="http://schemas.microsoft.com/office/drawing/2014/main" id="{DD0F355F-8024-4617-9EC0-7997B1A8001D}"/>
              </a:ext>
            </a:extLst>
          </p:cNvPr>
          <p:cNvSpPr>
            <a:spLocks xmlns:a="http://schemas.openxmlformats.org/drawingml/2006/main" noGrp="1"/>
          </p:cNvSpPr>
          <p:nvPr/>
        </p:nvSpPr>
        <p:spPr>
          <a:xfrm xmlns:a="http://schemas.openxmlformats.org/drawingml/2006/main">
            <a:off x="5962650" y="4533900"/>
            <a:ext cx="152400" cy="19050"/>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B6A65F78-9B45-43D5-AA77-62CF57A7908B}"/>
              </a:ext>
            </a:extLst>
          </p:cNvPr>
          <p:cNvSpPr>
            <a:spLocks xmlns:a="http://schemas.openxmlformats.org/drawingml/2006/main" noGrp="1"/>
          </p:cNvSpPr>
          <p:nvPr/>
        </p:nvSpPr>
        <p:spPr>
          <a:xfrm xmlns:a="http://schemas.openxmlformats.org/drawingml/2006/main">
            <a:off x="6134100" y="4076700"/>
            <a:ext cx="26098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46" name="">
            <a:extLst xmlns:a="http://schemas.openxmlformats.org/drawingml/2006/main">
              <a:ext uri="{FF2B5EF4-FFF2-40B4-BE49-F238E27FC236}">
                <a16:creationId xmlns:a16="http://schemas.microsoft.com/office/drawing/2014/main" id="{02655307-F49D-449E-BC26-4A9ED9DE6F16}"/>
              </a:ext>
            </a:extLst>
          </p:cNvPr>
          <p:cNvSpPr>
            <a:spLocks xmlns:a="http://schemas.openxmlformats.org/drawingml/2006/main" noGrp="1"/>
          </p:cNvSpPr>
          <p:nvPr/>
        </p:nvSpPr>
        <p:spPr>
          <a:xfrm xmlns:a="http://schemas.openxmlformats.org/drawingml/2006/main">
            <a:off x="6134100" y="4076700"/>
            <a:ext cx="2609850" cy="57150"/>
          </a:xfrm>
          <a:prstGeom xmlns:a="http://schemas.openxmlformats.org/drawingml/2006/main" prst="rect">
            <a:avLst/>
          </a:prstGeom>
          <a:solidFill xmlns:a="http://schemas.openxmlformats.org/drawingml/2006/main">
            <a:srgbClr val="667A39"/>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63CC9E4F-C98D-4876-B53E-99025727DC44}"/>
              </a:ext>
            </a:extLst>
          </p:cNvPr>
          <p:cNvSpPr>
            <a:spLocks xmlns:a="http://schemas.openxmlformats.org/drawingml/2006/main" noGrp="1"/>
          </p:cNvSpPr>
          <p:nvPr/>
        </p:nvSpPr>
        <p:spPr>
          <a:xfrm xmlns:a="http://schemas.openxmlformats.org/drawingml/2006/main">
            <a:off x="6248400" y="4248150"/>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667A39"/>
                </a:solidFill>
                <a:latin typeface="Aptos"/>
                <a:ea typeface="Aptos"/>
                <a:cs typeface="Aptos"/>
              </a:defRPr>
            </a:pPr>
            <a:r>
              <a:rPr sz="975" b="1">
                <a:solidFill>
                  <a:srgbClr val="667A39"/>
                </a:solidFill>
                <a:latin typeface="Aptos"/>
                <a:ea typeface="Aptos"/>
                <a:cs typeface="Aptos"/>
              </a:rPr>
              <a:t>7</a:t>
            </a:r>
          </a:p>
        </p:txBody>
      </p:sp>
      <p:sp>
        <p:nvSpPr>
          <p:cNvPr id="48" name="">
            <a:extLst xmlns:a="http://schemas.openxmlformats.org/drawingml/2006/main">
              <a:ext uri="{FF2B5EF4-FFF2-40B4-BE49-F238E27FC236}">
                <a16:creationId xmlns:a16="http://schemas.microsoft.com/office/drawing/2014/main" id="{8D155AD9-8432-4D82-AA44-E3078BA1FF67}"/>
              </a:ext>
            </a:extLst>
          </p:cNvPr>
          <p:cNvSpPr>
            <a:spLocks xmlns:a="http://schemas.openxmlformats.org/drawingml/2006/main" noGrp="1"/>
          </p:cNvSpPr>
          <p:nvPr/>
        </p:nvSpPr>
        <p:spPr>
          <a:xfrm xmlns:a="http://schemas.openxmlformats.org/drawingml/2006/main">
            <a:off x="6534150" y="4229100"/>
            <a:ext cx="20764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72026"/>
                </a:solidFill>
                <a:latin typeface="Aptos"/>
                <a:ea typeface="Aptos"/>
                <a:cs typeface="Aptos"/>
              </a:defRPr>
            </a:pPr>
            <a:r>
              <a:rPr sz="900" b="1">
                <a:solidFill>
                  <a:srgbClr val="172026"/>
                </a:solidFill>
                <a:latin typeface="Aptos"/>
                <a:ea typeface="Aptos"/>
                <a:cs typeface="Aptos"/>
              </a:rPr>
              <a:t>Sales support</a:t>
            </a:r>
          </a:p>
        </p:txBody>
      </p:sp>
      <p:sp>
        <p:nvSpPr>
          <p:cNvPr id="49" name="">
            <a:extLst xmlns:a="http://schemas.openxmlformats.org/drawingml/2006/main">
              <a:ext uri="{FF2B5EF4-FFF2-40B4-BE49-F238E27FC236}">
                <a16:creationId xmlns:a16="http://schemas.microsoft.com/office/drawing/2014/main" id="{B9DC37BD-3C27-412F-A2FA-CBBBE435E5FB}"/>
              </a:ext>
            </a:extLst>
          </p:cNvPr>
          <p:cNvSpPr>
            <a:spLocks xmlns:a="http://schemas.openxmlformats.org/drawingml/2006/main" noGrp="1"/>
          </p:cNvSpPr>
          <p:nvPr/>
        </p:nvSpPr>
        <p:spPr>
          <a:xfrm xmlns:a="http://schemas.openxmlformats.org/drawingml/2006/main">
            <a:off x="495300" y="5772150"/>
            <a:ext cx="11430000" cy="381000"/>
          </a:xfrm>
          <a:prstGeom xmlns:a="http://schemas.openxmlformats.org/drawingml/2006/main" prst="rect">
            <a:avLst/>
          </a:prstGeom>
          <a:solidFill xmlns:a="http://schemas.openxmlformats.org/drawingml/2006/main">
            <a:srgbClr val="12232B"/>
          </a:solidFill>
          <a:ln xmlns:a="http://schemas.openxmlformats.org/drawingml/2006/main" w="9525">
            <a:solidFill>
              <a:srgbClr val="12232B"/>
            </a:solidFill>
            <a:prstDash val="solid"/>
          </a:ln>
        </p:spPr>
      </p:sp>
      <p:sp>
        <p:nvSpPr>
          <p:cNvPr id="50" name="">
            <a:extLst xmlns:a="http://schemas.openxmlformats.org/drawingml/2006/main">
              <a:ext uri="{FF2B5EF4-FFF2-40B4-BE49-F238E27FC236}">
                <a16:creationId xmlns:a16="http://schemas.microsoft.com/office/drawing/2014/main" id="{334DE5D9-B8B7-42FE-B86F-EDA7D96D9AEA}"/>
              </a:ext>
            </a:extLst>
          </p:cNvPr>
          <p:cNvSpPr>
            <a:spLocks xmlns:a="http://schemas.openxmlformats.org/drawingml/2006/main" noGrp="1"/>
          </p:cNvSpPr>
          <p:nvPr/>
        </p:nvSpPr>
        <p:spPr>
          <a:xfrm xmlns:a="http://schemas.openxmlformats.org/drawingml/2006/main">
            <a:off x="685800" y="5876925"/>
            <a:ext cx="1104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750" b="0">
                <a:solidFill>
                  <a:srgbClr val="D6E3E5"/>
                </a:solidFill>
                <a:latin typeface="Aptos"/>
                <a:ea typeface="Aptos"/>
                <a:cs typeface="Aptos"/>
              </a:defRPr>
            </a:pPr>
            <a:r>
              <a:rPr sz="750" b="0">
                <a:solidFill>
                  <a:srgbClr val="D6E3E5"/>
                </a:solidFill>
                <a:latin typeface="Aptos"/>
                <a:ea typeface="Aptos"/>
                <a:cs typeface="Aptos"/>
              </a:rPr>
              <a:t>Flowchart companion: assets/flowcharts/06-content-engine-to-signal.svg</a:t>
            </a:r>
          </a:p>
        </p:txBody>
      </p:sp>
      <p:sp>
        <p:nvSpPr>
          <p:cNvPr id="51" name="">
            <a:extLst xmlns:a="http://schemas.openxmlformats.org/drawingml/2006/main">
              <a:ext uri="{FF2B5EF4-FFF2-40B4-BE49-F238E27FC236}">
                <a16:creationId xmlns:a16="http://schemas.microsoft.com/office/drawing/2014/main" id="{66468F38-B19B-403C-844F-09FE17B50D6D}"/>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52" name="">
            <a:extLst xmlns:a="http://schemas.openxmlformats.org/drawingml/2006/main">
              <a:ext uri="{FF2B5EF4-FFF2-40B4-BE49-F238E27FC236}">
                <a16:creationId xmlns:a16="http://schemas.microsoft.com/office/drawing/2014/main" id="{FE365859-7CF7-4D94-921A-3EA5A8695FB4}"/>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53" name="">
            <a:extLst xmlns:a="http://schemas.openxmlformats.org/drawingml/2006/main">
              <a:ext uri="{FF2B5EF4-FFF2-40B4-BE49-F238E27FC236}">
                <a16:creationId xmlns:a16="http://schemas.microsoft.com/office/drawing/2014/main" id="{C97E7E72-F7B0-49F0-94C7-BBE2040021B7}"/>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54" name="">
            <a:extLst xmlns:a="http://schemas.openxmlformats.org/drawingml/2006/main">
              <a:ext uri="{FF2B5EF4-FFF2-40B4-BE49-F238E27FC236}">
                <a16:creationId xmlns:a16="http://schemas.microsoft.com/office/drawing/2014/main" id="{48E599EF-8CC2-4755-B0C6-802AF0BC3FB5}"/>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4/15</a:t>
            </a:r>
          </a:p>
        </p:txBody>
      </p:sp>
      <p:sp>
        <p:nvSpPr>
          <p:cNvPr id="55" name="">
            <a:extLst xmlns:a="http://schemas.openxmlformats.org/drawingml/2006/main">
              <a:ext uri="{FF2B5EF4-FFF2-40B4-BE49-F238E27FC236}">
                <a16:creationId xmlns:a16="http://schemas.microsoft.com/office/drawing/2014/main" id="{735B1C22-5B24-4FA0-98FE-616C99799FE3}"/>
              </a:ext>
            </a:extLst>
          </p:cNvPr>
          <p:cNvSpPr>
            <a:spLocks xmlns:a="http://schemas.openxmlformats.org/drawingml/2006/main" noGrp="1"/>
          </p:cNvSpPr>
          <p:nvPr/>
        </p:nvSpPr>
        <p:spPr>
          <a:xfrm xmlns:a="http://schemas.openxmlformats.org/drawingml/2006/main">
            <a:off x="0" y="0"/>
            <a:ext cx="12192000" cy="18097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56" name="">
            <a:extLst xmlns:a="http://schemas.openxmlformats.org/drawingml/2006/main">
              <a:ext uri="{FF2B5EF4-FFF2-40B4-BE49-F238E27FC236}">
                <a16:creationId xmlns:a16="http://schemas.microsoft.com/office/drawing/2014/main" id="{5841A9F0-5662-4B78-9F3B-975410CC2526}"/>
              </a:ext>
            </a:extLst>
          </p:cNvPr>
          <p:cNvSpPr>
            <a:spLocks xmlns:a="http://schemas.openxmlformats.org/drawingml/2006/main" noGrp="1"/>
          </p:cNvSpPr>
          <p:nvPr/>
        </p:nvSpPr>
        <p:spPr>
          <a:xfrm xmlns:a="http://schemas.openxmlformats.org/drawingml/2006/main">
            <a:off x="0" y="0"/>
            <a:ext cx="171450" cy="180975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57" name="">
            <a:extLst xmlns:a="http://schemas.openxmlformats.org/drawingml/2006/main">
              <a:ext uri="{FF2B5EF4-FFF2-40B4-BE49-F238E27FC236}">
                <a16:creationId xmlns:a16="http://schemas.microsoft.com/office/drawing/2014/main" id="{9F12410C-6034-4294-ADDA-A272042EB3AE}"/>
              </a:ext>
            </a:extLst>
          </p:cNvPr>
          <p:cNvSpPr>
            <a:spLocks xmlns:a="http://schemas.openxmlformats.org/drawingml/2006/main" noGrp="1"/>
          </p:cNvSpPr>
          <p:nvPr/>
        </p:nvSpPr>
        <p:spPr>
          <a:xfrm xmlns:a="http://schemas.openxmlformats.org/drawingml/2006/main">
            <a:off x="171450" y="0"/>
            <a:ext cx="57150" cy="18097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8" name="kicker-05-marker">
            <a:extLst xmlns:a="http://schemas.openxmlformats.org/drawingml/2006/main">
              <a:ext uri="{FF2B5EF4-FFF2-40B4-BE49-F238E27FC236}">
                <a16:creationId xmlns:a16="http://schemas.microsoft.com/office/drawing/2014/main" id="{34DC5250-7543-433A-8E06-6350798B4B43}"/>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9" name="kicker-05-label">
            <a:extLst xmlns:a="http://schemas.openxmlformats.org/drawingml/2006/main">
              <a:ext uri="{FF2B5EF4-FFF2-40B4-BE49-F238E27FC236}">
                <a16:creationId xmlns:a16="http://schemas.microsoft.com/office/drawing/2014/main" id="{743A89D2-EA2E-4E45-B673-2B0C00A715D7}"/>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CORE FRAMEWORK</a:t>
            </a:r>
          </a:p>
        </p:txBody>
      </p:sp>
      <p:sp>
        <p:nvSpPr>
          <p:cNvPr id="60" name="">
            <a:extLst xmlns:a="http://schemas.openxmlformats.org/drawingml/2006/main">
              <a:ext uri="{FF2B5EF4-FFF2-40B4-BE49-F238E27FC236}">
                <a16:creationId xmlns:a16="http://schemas.microsoft.com/office/drawing/2014/main" id="{4EECB080-C735-4703-9633-C11D4EF94EA8}"/>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Every asset needs a job.</a:t>
            </a:r>
          </a:p>
        </p:txBody>
      </p:sp>
      <p:sp>
        <p:nvSpPr>
          <p:cNvPr id="61" name="">
            <a:extLst xmlns:a="http://schemas.openxmlformats.org/drawingml/2006/main">
              <a:ext uri="{FF2B5EF4-FFF2-40B4-BE49-F238E27FC236}">
                <a16:creationId xmlns:a16="http://schemas.microsoft.com/office/drawing/2014/main" id="{5FDA8410-B966-4047-B739-9CAA9C7995DF}"/>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Use the diagram as the visual anchor; the visible path is the teachable sequence.</a:t>
            </a:r>
          </a:p>
        </p:txBody>
      </p:sp>
      <p:sp>
        <p:nvSpPr>
          <p:cNvPr id="62" name="">
            <a:extLst xmlns:a="http://schemas.openxmlformats.org/drawingml/2006/main">
              <a:ext uri="{FF2B5EF4-FFF2-40B4-BE49-F238E27FC236}">
                <a16:creationId xmlns:a16="http://schemas.microsoft.com/office/drawing/2014/main" id="{ABF77658-9483-4B51-8054-75B6410685B5}"/>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63" name="">
            <a:extLst xmlns:a="http://schemas.openxmlformats.org/drawingml/2006/main">
              <a:ext uri="{FF2B5EF4-FFF2-40B4-BE49-F238E27FC236}">
                <a16:creationId xmlns:a16="http://schemas.microsoft.com/office/drawing/2014/main" id="{0FABE114-CB13-486C-8254-89B813DF749F}"/>
              </a:ext>
            </a:extLst>
          </p:cNvPr>
          <p:cNvSpPr>
            <a:spLocks xmlns:a="http://schemas.openxmlformats.org/drawingml/2006/main" noGrp="1"/>
          </p:cNvSpPr>
          <p:nvPr/>
        </p:nvSpPr>
        <p:spPr>
          <a:xfrm xmlns:a="http://schemas.openxmlformats.org/drawingml/2006/main">
            <a:off x="0" y="6400800"/>
            <a:ext cx="171450" cy="4572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64" name="">
            <a:extLst xmlns:a="http://schemas.openxmlformats.org/drawingml/2006/main">
              <a:ext uri="{FF2B5EF4-FFF2-40B4-BE49-F238E27FC236}">
                <a16:creationId xmlns:a16="http://schemas.microsoft.com/office/drawing/2014/main" id="{B08FD746-ABC4-4808-95E9-C8B666B2D514}"/>
              </a:ext>
            </a:extLst>
          </p:cNvPr>
          <p:cNvSpPr>
            <a:spLocks xmlns:a="http://schemas.openxmlformats.org/drawingml/2006/main" noGrp="1"/>
          </p:cNvSpPr>
          <p:nvPr/>
        </p:nvSpPr>
        <p:spPr>
          <a:xfrm xmlns:a="http://schemas.openxmlformats.org/drawingml/2006/main">
            <a:off x="171450" y="6400800"/>
            <a:ext cx="57150" cy="457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65" name="">
            <a:extLst xmlns:a="http://schemas.openxmlformats.org/drawingml/2006/main">
              <a:ext uri="{FF2B5EF4-FFF2-40B4-BE49-F238E27FC236}">
                <a16:creationId xmlns:a16="http://schemas.microsoft.com/office/drawing/2014/main" id="{B41060AD-3B3A-4FF9-974E-B837A974429F}"/>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66" name="">
            <a:extLst xmlns:a="http://schemas.openxmlformats.org/drawingml/2006/main">
              <a:ext uri="{FF2B5EF4-FFF2-40B4-BE49-F238E27FC236}">
                <a16:creationId xmlns:a16="http://schemas.microsoft.com/office/drawing/2014/main" id="{7B3B6340-4C82-4DD5-A803-B36556BE9D72}"/>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67" name="">
            <a:extLst xmlns:a="http://schemas.openxmlformats.org/drawingml/2006/main">
              <a:ext uri="{FF2B5EF4-FFF2-40B4-BE49-F238E27FC236}">
                <a16:creationId xmlns:a16="http://schemas.microsoft.com/office/drawing/2014/main" id="{9699728F-A6B9-4704-B6C9-0FF5D0DC4150}"/>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68" name="">
            <a:extLst xmlns:a="http://schemas.openxmlformats.org/drawingml/2006/main">
              <a:ext uri="{FF2B5EF4-FFF2-40B4-BE49-F238E27FC236}">
                <a16:creationId xmlns:a16="http://schemas.microsoft.com/office/drawing/2014/main" id="{EB58151E-FCA3-4DF8-BCF3-A539DCD12CC6}"/>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4/15</a:t>
            </a:r>
          </a:p>
        </p:txBody>
      </p:sp>
    </p:spTree>
    <p:extLst>
      <p:ext uri="{BB962C8B-B14F-4D97-AF65-F5344CB8AC3E}">
        <p14:creationId xmlns:p14="http://schemas.microsoft.com/office/powerpoint/2010/main" val="23924563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0FE5B97-23A8-4671-96D1-2E2CE2A5F3B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43820DF-4639-4662-86E9-C270AB0E505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8AE45E0-2E03-415F-A4FC-4FA611D3CF52}"/>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5-marker">
            <a:extLst xmlns:a="http://schemas.openxmlformats.org/drawingml/2006/main">
              <a:ext uri="{FF2B5EF4-FFF2-40B4-BE49-F238E27FC236}">
                <a16:creationId xmlns:a16="http://schemas.microsoft.com/office/drawing/2014/main" id="{1CCAFB04-7237-431B-B13A-C24144BFECCD}"/>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5-label">
            <a:extLst xmlns:a="http://schemas.openxmlformats.org/drawingml/2006/main">
              <a:ext uri="{FF2B5EF4-FFF2-40B4-BE49-F238E27FC236}">
                <a16:creationId xmlns:a16="http://schemas.microsoft.com/office/drawing/2014/main" id="{35F54A04-41F1-4985-A630-C70FA63F5ABE}"/>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MENTAL MODEL</a:t>
            </a:r>
          </a:p>
        </p:txBody>
      </p:sp>
      <p:sp>
        <p:nvSpPr>
          <p:cNvPr id="6" name="">
            <a:extLst xmlns:a="http://schemas.openxmlformats.org/drawingml/2006/main">
              <a:ext uri="{FF2B5EF4-FFF2-40B4-BE49-F238E27FC236}">
                <a16:creationId xmlns:a16="http://schemas.microsoft.com/office/drawing/2014/main" id="{F008F8B0-0FAF-4BEE-9EB2-28570E743063}"/>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Build by demand state, not by calendar slot.</a:t>
            </a:r>
          </a:p>
        </p:txBody>
      </p:sp>
      <p:sp>
        <p:nvSpPr>
          <p:cNvPr id="7" name="">
            <a:extLst xmlns:a="http://schemas.openxmlformats.org/drawingml/2006/main">
              <a:ext uri="{FF2B5EF4-FFF2-40B4-BE49-F238E27FC236}">
                <a16:creationId xmlns:a16="http://schemas.microsoft.com/office/drawing/2014/main" id="{ECE1D610-10D7-4036-AF4C-0A6B173626CB}"/>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Keep this slide conversational: make learners say what would change in their current system.</a:t>
            </a:r>
          </a:p>
        </p:txBody>
      </p:sp>
      <p:sp>
        <p:nvSpPr>
          <p:cNvPr id="8" name="">
            <a:extLst xmlns:a="http://schemas.openxmlformats.org/drawingml/2006/main">
              <a:ext uri="{FF2B5EF4-FFF2-40B4-BE49-F238E27FC236}">
                <a16:creationId xmlns:a16="http://schemas.microsoft.com/office/drawing/2014/main" id="{C1E88AB0-A638-4AD3-9F89-AB47797DC0E7}"/>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A404C72D-7B93-4C32-9262-841C5846B6DB}"/>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10" name="">
            <a:extLst xmlns:a="http://schemas.openxmlformats.org/drawingml/2006/main">
              <a:ext uri="{FF2B5EF4-FFF2-40B4-BE49-F238E27FC236}">
                <a16:creationId xmlns:a16="http://schemas.microsoft.com/office/drawing/2014/main" id="{9D9D19C2-46C0-4501-B5BE-02139EE54AFA}"/>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11" name="">
            <a:extLst xmlns:a="http://schemas.openxmlformats.org/drawingml/2006/main">
              <a:ext uri="{FF2B5EF4-FFF2-40B4-BE49-F238E27FC236}">
                <a16:creationId xmlns:a16="http://schemas.microsoft.com/office/drawing/2014/main" id="{26DDFB1E-C9BA-4FB8-BFA2-DA73C4EE6818}"/>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5/15</a:t>
            </a:r>
          </a:p>
        </p:txBody>
      </p:sp>
      <p:sp>
        <p:nvSpPr>
          <p:cNvPr id="12" name="">
            <a:extLst xmlns:a="http://schemas.openxmlformats.org/drawingml/2006/main">
              <a:ext uri="{FF2B5EF4-FFF2-40B4-BE49-F238E27FC236}">
                <a16:creationId xmlns:a16="http://schemas.microsoft.com/office/drawing/2014/main" id="{E64EB4C2-C211-4220-98C0-C3BCF5E98B8A}"/>
              </a:ext>
            </a:extLst>
          </p:cNvPr>
          <p:cNvSpPr>
            <a:spLocks xmlns:a="http://schemas.openxmlformats.org/drawingml/2006/main" noGrp="1"/>
          </p:cNvSpPr>
          <p:nvPr/>
        </p:nvSpPr>
        <p:spPr>
          <a:xfrm xmlns:a="http://schemas.openxmlformats.org/drawingml/2006/main">
            <a:off x="514350" y="2266950"/>
            <a:ext cx="2557463"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3" name="">
            <a:extLst xmlns:a="http://schemas.openxmlformats.org/drawingml/2006/main">
              <a:ext uri="{FF2B5EF4-FFF2-40B4-BE49-F238E27FC236}">
                <a16:creationId xmlns:a16="http://schemas.microsoft.com/office/drawing/2014/main" id="{EE1FFBD2-9C7A-4EBD-837E-066C777F8DD5}"/>
              </a:ext>
            </a:extLst>
          </p:cNvPr>
          <p:cNvSpPr>
            <a:spLocks xmlns:a="http://schemas.openxmlformats.org/drawingml/2006/main" noGrp="1"/>
          </p:cNvSpPr>
          <p:nvPr/>
        </p:nvSpPr>
        <p:spPr>
          <a:xfrm xmlns:a="http://schemas.openxmlformats.org/drawingml/2006/main">
            <a:off x="514350" y="2266950"/>
            <a:ext cx="2557463" cy="66675"/>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28133FFB-9718-4A38-BFA2-FEDBF5B75E84}"/>
              </a:ext>
            </a:extLst>
          </p:cNvPr>
          <p:cNvSpPr>
            <a:spLocks xmlns:a="http://schemas.openxmlformats.org/drawingml/2006/main" noGrp="1"/>
          </p:cNvSpPr>
          <p:nvPr/>
        </p:nvSpPr>
        <p:spPr>
          <a:xfrm xmlns:a="http://schemas.openxmlformats.org/drawingml/2006/main">
            <a:off x="723900" y="2590800"/>
            <a:ext cx="2138363"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D6072"/>
                </a:solidFill>
                <a:latin typeface="Aptos Display"/>
                <a:ea typeface="Aptos Display"/>
                <a:cs typeface="Aptos Display"/>
              </a:defRPr>
            </a:pPr>
            <a:r>
              <a:rPr sz="1800" b="1">
                <a:solidFill>
                  <a:srgbClr val="1D6072"/>
                </a:solidFill>
                <a:latin typeface="Aptos Display"/>
                <a:ea typeface="Aptos Display"/>
                <a:cs typeface="Aptos Display"/>
              </a:rPr>
              <a:t>Content demand</a:t>
            </a:r>
          </a:p>
        </p:txBody>
      </p:sp>
      <p:sp>
        <p:nvSpPr>
          <p:cNvPr id="15" name="">
            <a:extLst xmlns:a="http://schemas.openxmlformats.org/drawingml/2006/main">
              <a:ext uri="{FF2B5EF4-FFF2-40B4-BE49-F238E27FC236}">
                <a16:creationId xmlns:a16="http://schemas.microsoft.com/office/drawing/2014/main" id="{1A596D16-36A0-4656-A745-5B0D7DA23C08}"/>
              </a:ext>
            </a:extLst>
          </p:cNvPr>
          <p:cNvSpPr>
            <a:spLocks xmlns:a="http://schemas.openxmlformats.org/drawingml/2006/main" noGrp="1"/>
          </p:cNvSpPr>
          <p:nvPr/>
        </p:nvSpPr>
        <p:spPr>
          <a:xfrm xmlns:a="http://schemas.openxmlformats.org/drawingml/2006/main">
            <a:off x="723900" y="3257550"/>
            <a:ext cx="2138363"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Risk guide, trend note, benchmark, process explainer.</a:t>
            </a:r>
          </a:p>
        </p:txBody>
      </p:sp>
      <p:sp>
        <p:nvSpPr>
          <p:cNvPr id="16" name="">
            <a:extLst xmlns:a="http://schemas.openxmlformats.org/drawingml/2006/main">
              <a:ext uri="{FF2B5EF4-FFF2-40B4-BE49-F238E27FC236}">
                <a16:creationId xmlns:a16="http://schemas.microsoft.com/office/drawing/2014/main" id="{58083433-B459-44E5-83F8-453F229D7E16}"/>
              </a:ext>
            </a:extLst>
          </p:cNvPr>
          <p:cNvSpPr>
            <a:spLocks xmlns:a="http://schemas.openxmlformats.org/drawingml/2006/main" noGrp="1"/>
          </p:cNvSpPr>
          <p:nvPr/>
        </p:nvSpPr>
        <p:spPr>
          <a:xfrm xmlns:a="http://schemas.openxmlformats.org/drawingml/2006/main">
            <a:off x="3300413" y="2266950"/>
            <a:ext cx="2557463"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7" name="">
            <a:extLst xmlns:a="http://schemas.openxmlformats.org/drawingml/2006/main">
              <a:ext uri="{FF2B5EF4-FFF2-40B4-BE49-F238E27FC236}">
                <a16:creationId xmlns:a16="http://schemas.microsoft.com/office/drawing/2014/main" id="{59411B04-ED96-42C5-9E69-833BC70F3630}"/>
              </a:ext>
            </a:extLst>
          </p:cNvPr>
          <p:cNvSpPr>
            <a:spLocks xmlns:a="http://schemas.openxmlformats.org/drawingml/2006/main" noGrp="1"/>
          </p:cNvSpPr>
          <p:nvPr/>
        </p:nvSpPr>
        <p:spPr>
          <a:xfrm xmlns:a="http://schemas.openxmlformats.org/drawingml/2006/main">
            <a:off x="3300413" y="2266950"/>
            <a:ext cx="2557463" cy="66675"/>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70931029-CAFB-4951-A565-66324A93C283}"/>
              </a:ext>
            </a:extLst>
          </p:cNvPr>
          <p:cNvSpPr>
            <a:spLocks xmlns:a="http://schemas.openxmlformats.org/drawingml/2006/main" noGrp="1"/>
          </p:cNvSpPr>
          <p:nvPr/>
        </p:nvSpPr>
        <p:spPr>
          <a:xfrm xmlns:a="http://schemas.openxmlformats.org/drawingml/2006/main">
            <a:off x="3509963" y="2590800"/>
            <a:ext cx="2138363"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A85D2A"/>
                </a:solidFill>
                <a:latin typeface="Aptos Display"/>
                <a:ea typeface="Aptos Display"/>
                <a:cs typeface="Aptos Display"/>
              </a:defRPr>
            </a:pPr>
            <a:r>
              <a:rPr sz="1800" b="1">
                <a:solidFill>
                  <a:srgbClr val="A85D2A"/>
                </a:solidFill>
                <a:latin typeface="Aptos Display"/>
                <a:ea typeface="Aptos Display"/>
                <a:cs typeface="Aptos Display"/>
              </a:rPr>
              <a:t>Solution demand</a:t>
            </a:r>
          </a:p>
        </p:txBody>
      </p:sp>
      <p:sp>
        <p:nvSpPr>
          <p:cNvPr id="19" name="">
            <a:extLst xmlns:a="http://schemas.openxmlformats.org/drawingml/2006/main">
              <a:ext uri="{FF2B5EF4-FFF2-40B4-BE49-F238E27FC236}">
                <a16:creationId xmlns:a16="http://schemas.microsoft.com/office/drawing/2014/main" id="{C4095CC5-F169-44DE-9C53-99420E40098B}"/>
              </a:ext>
            </a:extLst>
          </p:cNvPr>
          <p:cNvSpPr>
            <a:spLocks xmlns:a="http://schemas.openxmlformats.org/drawingml/2006/main" noGrp="1"/>
          </p:cNvSpPr>
          <p:nvPr/>
        </p:nvSpPr>
        <p:spPr>
          <a:xfrm xmlns:a="http://schemas.openxmlformats.org/drawingml/2006/main">
            <a:off x="3509963" y="3257550"/>
            <a:ext cx="2138363"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Selection guide, calculator, checklist, application framework.</a:t>
            </a:r>
          </a:p>
        </p:txBody>
      </p:sp>
      <p:sp>
        <p:nvSpPr>
          <p:cNvPr id="20" name="">
            <a:extLst xmlns:a="http://schemas.openxmlformats.org/drawingml/2006/main">
              <a:ext uri="{FF2B5EF4-FFF2-40B4-BE49-F238E27FC236}">
                <a16:creationId xmlns:a16="http://schemas.microsoft.com/office/drawing/2014/main" id="{F37F6ABA-D40E-4865-9B94-BF7C9EF7FF80}"/>
              </a:ext>
            </a:extLst>
          </p:cNvPr>
          <p:cNvSpPr>
            <a:spLocks xmlns:a="http://schemas.openxmlformats.org/drawingml/2006/main" noGrp="1"/>
          </p:cNvSpPr>
          <p:nvPr/>
        </p:nvSpPr>
        <p:spPr>
          <a:xfrm xmlns:a="http://schemas.openxmlformats.org/drawingml/2006/main">
            <a:off x="6086475" y="2266950"/>
            <a:ext cx="2557463"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21" name="">
            <a:extLst xmlns:a="http://schemas.openxmlformats.org/drawingml/2006/main">
              <a:ext uri="{FF2B5EF4-FFF2-40B4-BE49-F238E27FC236}">
                <a16:creationId xmlns:a16="http://schemas.microsoft.com/office/drawing/2014/main" id="{6E03F28B-B07E-4FF0-8BEC-DD3B31DF1559}"/>
              </a:ext>
            </a:extLst>
          </p:cNvPr>
          <p:cNvSpPr>
            <a:spLocks xmlns:a="http://schemas.openxmlformats.org/drawingml/2006/main" noGrp="1"/>
          </p:cNvSpPr>
          <p:nvPr/>
        </p:nvSpPr>
        <p:spPr>
          <a:xfrm xmlns:a="http://schemas.openxmlformats.org/drawingml/2006/main">
            <a:off x="6086475" y="2266950"/>
            <a:ext cx="2557463" cy="66675"/>
          </a:xfrm>
          <a:prstGeom xmlns:a="http://schemas.openxmlformats.org/drawingml/2006/main" prst="rect">
            <a:avLst/>
          </a:prstGeom>
          <a:solidFill xmlns:a="http://schemas.openxmlformats.org/drawingml/2006/main">
            <a:srgbClr val="667A39"/>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664D70A1-425D-4E81-AC87-CACFC874680A}"/>
              </a:ext>
            </a:extLst>
          </p:cNvPr>
          <p:cNvSpPr>
            <a:spLocks xmlns:a="http://schemas.openxmlformats.org/drawingml/2006/main" noGrp="1"/>
          </p:cNvSpPr>
          <p:nvPr/>
        </p:nvSpPr>
        <p:spPr>
          <a:xfrm xmlns:a="http://schemas.openxmlformats.org/drawingml/2006/main">
            <a:off x="6296025" y="2590800"/>
            <a:ext cx="2138363"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667A39"/>
                </a:solidFill>
                <a:latin typeface="Aptos Display"/>
                <a:ea typeface="Aptos Display"/>
                <a:cs typeface="Aptos Display"/>
              </a:defRPr>
            </a:pPr>
            <a:r>
              <a:rPr sz="1800" b="1">
                <a:solidFill>
                  <a:srgbClr val="667A39"/>
                </a:solidFill>
                <a:latin typeface="Aptos Display"/>
                <a:ea typeface="Aptos Display"/>
                <a:cs typeface="Aptos Display"/>
              </a:rPr>
              <a:t>Vendor demand</a:t>
            </a:r>
          </a:p>
        </p:txBody>
      </p:sp>
      <p:sp>
        <p:nvSpPr>
          <p:cNvPr id="23" name="">
            <a:extLst xmlns:a="http://schemas.openxmlformats.org/drawingml/2006/main">
              <a:ext uri="{FF2B5EF4-FFF2-40B4-BE49-F238E27FC236}">
                <a16:creationId xmlns:a16="http://schemas.microsoft.com/office/drawing/2014/main" id="{01C93787-1553-4916-B4F3-FD73AEF71C5C}"/>
              </a:ext>
            </a:extLst>
          </p:cNvPr>
          <p:cNvSpPr>
            <a:spLocks xmlns:a="http://schemas.openxmlformats.org/drawingml/2006/main" noGrp="1"/>
          </p:cNvSpPr>
          <p:nvPr/>
        </p:nvSpPr>
        <p:spPr>
          <a:xfrm xmlns:a="http://schemas.openxmlformats.org/drawingml/2006/main">
            <a:off x="6296025" y="3257550"/>
            <a:ext cx="2138363"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Technical dossier, validation proof, TCO, implementation plan.</a:t>
            </a:r>
          </a:p>
        </p:txBody>
      </p:sp>
      <p:sp>
        <p:nvSpPr>
          <p:cNvPr id="24" name="">
            <a:extLst xmlns:a="http://schemas.openxmlformats.org/drawingml/2006/main">
              <a:ext uri="{FF2B5EF4-FFF2-40B4-BE49-F238E27FC236}">
                <a16:creationId xmlns:a16="http://schemas.microsoft.com/office/drawing/2014/main" id="{0331DF25-CD38-4DE6-9F52-29BB0DF71AD9}"/>
              </a:ext>
            </a:extLst>
          </p:cNvPr>
          <p:cNvSpPr>
            <a:spLocks xmlns:a="http://schemas.openxmlformats.org/drawingml/2006/main" noGrp="1"/>
          </p:cNvSpPr>
          <p:nvPr/>
        </p:nvSpPr>
        <p:spPr>
          <a:xfrm xmlns:a="http://schemas.openxmlformats.org/drawingml/2006/main">
            <a:off x="8872538" y="2266950"/>
            <a:ext cx="2557463"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25" name="">
            <a:extLst xmlns:a="http://schemas.openxmlformats.org/drawingml/2006/main">
              <a:ext uri="{FF2B5EF4-FFF2-40B4-BE49-F238E27FC236}">
                <a16:creationId xmlns:a16="http://schemas.microsoft.com/office/drawing/2014/main" id="{49F7D1D0-BBFA-4251-89F4-6934D42435AF}"/>
              </a:ext>
            </a:extLst>
          </p:cNvPr>
          <p:cNvSpPr>
            <a:spLocks xmlns:a="http://schemas.openxmlformats.org/drawingml/2006/main" noGrp="1"/>
          </p:cNvSpPr>
          <p:nvPr/>
        </p:nvSpPr>
        <p:spPr>
          <a:xfrm xmlns:a="http://schemas.openxmlformats.org/drawingml/2006/main">
            <a:off x="8872538" y="2266950"/>
            <a:ext cx="2557463" cy="66675"/>
          </a:xfrm>
          <a:prstGeom xmlns:a="http://schemas.openxmlformats.org/drawingml/2006/main" prst="rect">
            <a:avLst/>
          </a:prstGeom>
          <a:solidFill xmlns:a="http://schemas.openxmlformats.org/drawingml/2006/main">
            <a:srgbClr val="B7953B"/>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76E13A58-0B98-4324-BEBA-793CD0C98AED}"/>
              </a:ext>
            </a:extLst>
          </p:cNvPr>
          <p:cNvSpPr>
            <a:spLocks xmlns:a="http://schemas.openxmlformats.org/drawingml/2006/main" noGrp="1"/>
          </p:cNvSpPr>
          <p:nvPr/>
        </p:nvSpPr>
        <p:spPr>
          <a:xfrm xmlns:a="http://schemas.openxmlformats.org/drawingml/2006/main">
            <a:off x="9082088" y="2590800"/>
            <a:ext cx="2138363"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B7953B"/>
                </a:solidFill>
                <a:latin typeface="Aptos Display"/>
                <a:ea typeface="Aptos Display"/>
                <a:cs typeface="Aptos Display"/>
              </a:defRPr>
            </a:pPr>
            <a:r>
              <a:rPr sz="1800" b="1">
                <a:solidFill>
                  <a:srgbClr val="B7953B"/>
                </a:solidFill>
                <a:latin typeface="Aptos Display"/>
                <a:ea typeface="Aptos Display"/>
                <a:cs typeface="Aptos Display"/>
              </a:rPr>
              <a:t>Buyer enablement</a:t>
            </a:r>
          </a:p>
        </p:txBody>
      </p:sp>
      <p:sp>
        <p:nvSpPr>
          <p:cNvPr id="27" name="">
            <a:extLst xmlns:a="http://schemas.openxmlformats.org/drawingml/2006/main">
              <a:ext uri="{FF2B5EF4-FFF2-40B4-BE49-F238E27FC236}">
                <a16:creationId xmlns:a16="http://schemas.microsoft.com/office/drawing/2014/main" id="{199EF5D6-075D-4934-863B-00F17F256390}"/>
              </a:ext>
            </a:extLst>
          </p:cNvPr>
          <p:cNvSpPr>
            <a:spLocks xmlns:a="http://schemas.openxmlformats.org/drawingml/2006/main" noGrp="1"/>
          </p:cNvSpPr>
          <p:nvPr/>
        </p:nvSpPr>
        <p:spPr>
          <a:xfrm xmlns:a="http://schemas.openxmlformats.org/drawingml/2006/main">
            <a:off x="9082088" y="3257550"/>
            <a:ext cx="2138363"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Internal case, objection handler, procurement or finance proof.</a:t>
            </a:r>
          </a:p>
        </p:txBody>
      </p:sp>
      <p:sp>
        <p:nvSpPr>
          <p:cNvPr id="28" name="">
            <a:extLst xmlns:a="http://schemas.openxmlformats.org/drawingml/2006/main">
              <a:ext uri="{FF2B5EF4-FFF2-40B4-BE49-F238E27FC236}">
                <a16:creationId xmlns:a16="http://schemas.microsoft.com/office/drawing/2014/main" id="{C0FEA04D-5AC8-4B74-8248-FAC5CF0DC705}"/>
              </a:ext>
            </a:extLst>
          </p:cNvPr>
          <p:cNvSpPr>
            <a:spLocks xmlns:a="http://schemas.openxmlformats.org/drawingml/2006/main" noGrp="1"/>
          </p:cNvSpPr>
          <p:nvPr/>
        </p:nvSpPr>
        <p:spPr>
          <a:xfrm xmlns:a="http://schemas.openxmlformats.org/drawingml/2006/main">
            <a:off x="8782050" y="5353050"/>
            <a:ext cx="2647950" cy="838200"/>
          </a:xfrm>
          <a:prstGeom xmlns:a="http://schemas.openxmlformats.org/drawingml/2006/main" prst="rect">
            <a:avLst/>
          </a:prstGeom>
          <a:solidFill xmlns:a="http://schemas.openxmlformats.org/drawingml/2006/main">
            <a:srgbClr val="12232B"/>
          </a:solidFill>
          <a:ln xmlns:a="http://schemas.openxmlformats.org/drawingml/2006/main" w="9525">
            <a:solidFill>
              <a:srgbClr val="12232B"/>
            </a:solidFill>
            <a:prstDash val="solid"/>
          </a:ln>
        </p:spPr>
      </p:sp>
      <p:sp>
        <p:nvSpPr>
          <p:cNvPr id="29" name="">
            <a:extLst xmlns:a="http://schemas.openxmlformats.org/drawingml/2006/main">
              <a:ext uri="{FF2B5EF4-FFF2-40B4-BE49-F238E27FC236}">
                <a16:creationId xmlns:a16="http://schemas.microsoft.com/office/drawing/2014/main" id="{D1F01E52-1D5C-4382-9ADE-5EC20D6988FA}"/>
              </a:ext>
            </a:extLst>
          </p:cNvPr>
          <p:cNvSpPr>
            <a:spLocks xmlns:a="http://schemas.openxmlformats.org/drawingml/2006/main" noGrp="1"/>
          </p:cNvSpPr>
          <p:nvPr/>
        </p:nvSpPr>
        <p:spPr>
          <a:xfrm xmlns:a="http://schemas.openxmlformats.org/drawingml/2006/main">
            <a:off x="8972550" y="5505450"/>
            <a:ext cx="142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AFC3C8"/>
                </a:solidFill>
                <a:latin typeface="Aptos"/>
                <a:ea typeface="Aptos"/>
                <a:cs typeface="Aptos"/>
              </a:defRPr>
            </a:pPr>
            <a:r>
              <a:rPr sz="675" b="1">
                <a:solidFill>
                  <a:srgbClr val="AFC3C8"/>
                </a:solidFill>
                <a:latin typeface="Aptos"/>
                <a:ea typeface="Aptos"/>
                <a:cs typeface="Aptos"/>
              </a:rPr>
              <a:t>INSTRUCTOR CUE</a:t>
            </a:r>
          </a:p>
        </p:txBody>
      </p:sp>
      <p:sp>
        <p:nvSpPr>
          <p:cNvPr id="30" name="">
            <a:extLst xmlns:a="http://schemas.openxmlformats.org/drawingml/2006/main">
              <a:ext uri="{FF2B5EF4-FFF2-40B4-BE49-F238E27FC236}">
                <a16:creationId xmlns:a16="http://schemas.microsoft.com/office/drawing/2014/main" id="{9D942968-8A39-420C-9B78-3C66ECD55720}"/>
              </a:ext>
            </a:extLst>
          </p:cNvPr>
          <p:cNvSpPr>
            <a:spLocks xmlns:a="http://schemas.openxmlformats.org/drawingml/2006/main" noGrp="1"/>
          </p:cNvSpPr>
          <p:nvPr/>
        </p:nvSpPr>
        <p:spPr>
          <a:xfrm xmlns:a="http://schemas.openxmlformats.org/drawingml/2006/main">
            <a:off x="8972550" y="5676900"/>
            <a:ext cx="2190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FFFFF"/>
                </a:solidFill>
                <a:latin typeface="Aptos"/>
                <a:ea typeface="Aptos"/>
                <a:cs typeface="Aptos"/>
              </a:defRPr>
            </a:pPr>
            <a:r>
              <a:rPr sz="975" b="0">
                <a:solidFill>
                  <a:srgbClr val="FFFFFF"/>
                </a:solidFill>
                <a:latin typeface="Aptos"/>
                <a:ea typeface="Aptos"/>
                <a:cs typeface="Aptos"/>
              </a:rPr>
              <a:t>Ask: which box is weakest in your current category?</a:t>
            </a:r>
          </a:p>
        </p:txBody>
      </p:sp>
      <p:sp>
        <p:nvSpPr>
          <p:cNvPr id="31" name="">
            <a:extLst xmlns:a="http://schemas.openxmlformats.org/drawingml/2006/main">
              <a:ext uri="{FF2B5EF4-FFF2-40B4-BE49-F238E27FC236}">
                <a16:creationId xmlns:a16="http://schemas.microsoft.com/office/drawing/2014/main" id="{3451EE3E-1D22-416A-9598-06D9758F5EF7}"/>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AA056CE3-999A-4920-8CEC-E6A24042F7D8}"/>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33" name="">
            <a:extLst xmlns:a="http://schemas.openxmlformats.org/drawingml/2006/main">
              <a:ext uri="{FF2B5EF4-FFF2-40B4-BE49-F238E27FC236}">
                <a16:creationId xmlns:a16="http://schemas.microsoft.com/office/drawing/2014/main" id="{2211C5A9-C26C-4DEE-81F0-AFCA3BF2CCD9}"/>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34" name="">
            <a:extLst xmlns:a="http://schemas.openxmlformats.org/drawingml/2006/main">
              <a:ext uri="{FF2B5EF4-FFF2-40B4-BE49-F238E27FC236}">
                <a16:creationId xmlns:a16="http://schemas.microsoft.com/office/drawing/2014/main" id="{B1DF2415-1B92-48ED-A3E3-A80EBE7BE647}"/>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5/15</a:t>
            </a:r>
          </a:p>
        </p:txBody>
      </p:sp>
    </p:spTree>
    <p:extLst>
      <p:ext uri="{BB962C8B-B14F-4D97-AF65-F5344CB8AC3E}">
        <p14:creationId xmlns:p14="http://schemas.microsoft.com/office/powerpoint/2010/main" val="144743469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9817EAE-E4D1-4BF7-AC79-864874C5ECA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DB7E207-164A-40D6-A049-F7ED37CBE39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4CB88F8-1FAC-480C-BA1D-D195BFAE42FB}"/>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5-marker">
            <a:extLst xmlns:a="http://schemas.openxmlformats.org/drawingml/2006/main">
              <a:ext uri="{FF2B5EF4-FFF2-40B4-BE49-F238E27FC236}">
                <a16:creationId xmlns:a16="http://schemas.microsoft.com/office/drawing/2014/main" id="{C34CD514-403B-4473-9853-809838AAF1BB}"/>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5-label">
            <a:extLst xmlns:a="http://schemas.openxmlformats.org/drawingml/2006/main">
              <a:ext uri="{FF2B5EF4-FFF2-40B4-BE49-F238E27FC236}">
                <a16:creationId xmlns:a16="http://schemas.microsoft.com/office/drawing/2014/main" id="{4A166E9E-54D6-49DC-A611-F34491E802D3}"/>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COMPOSITE EXAMPLE</a:t>
            </a:r>
          </a:p>
        </p:txBody>
      </p:sp>
      <p:sp>
        <p:nvSpPr>
          <p:cNvPr id="6" name="">
            <a:extLst xmlns:a="http://schemas.openxmlformats.org/drawingml/2006/main">
              <a:ext uri="{FF2B5EF4-FFF2-40B4-BE49-F238E27FC236}">
                <a16:creationId xmlns:a16="http://schemas.microsoft.com/office/drawing/2014/main" id="{CF783421-F29F-4A05-9AA7-A6F6A14EBB7E}"/>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Composite transformer and electrical equipment supplier</a:t>
            </a:r>
          </a:p>
        </p:txBody>
      </p:sp>
      <p:sp>
        <p:nvSpPr>
          <p:cNvPr id="7" name="">
            <a:extLst xmlns:a="http://schemas.openxmlformats.org/drawingml/2006/main">
              <a:ext uri="{FF2B5EF4-FFF2-40B4-BE49-F238E27FC236}">
                <a16:creationId xmlns:a16="http://schemas.microsoft.com/office/drawing/2014/main" id="{D45A5205-87C7-4EF9-96DE-F3EA42538289}"/>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Use as an anonymized industrial pattern, not a named-company case study.</a:t>
            </a:r>
          </a:p>
        </p:txBody>
      </p:sp>
      <p:sp>
        <p:nvSpPr>
          <p:cNvPr id="8" name="">
            <a:extLst xmlns:a="http://schemas.openxmlformats.org/drawingml/2006/main">
              <a:ext uri="{FF2B5EF4-FFF2-40B4-BE49-F238E27FC236}">
                <a16:creationId xmlns:a16="http://schemas.microsoft.com/office/drawing/2014/main" id="{88A3F47A-10AC-4D1E-B74E-6132EA7412A0}"/>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B6FEACD7-C6E8-429A-A131-19619FE63606}"/>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10" name="">
            <a:extLst xmlns:a="http://schemas.openxmlformats.org/drawingml/2006/main">
              <a:ext uri="{FF2B5EF4-FFF2-40B4-BE49-F238E27FC236}">
                <a16:creationId xmlns:a16="http://schemas.microsoft.com/office/drawing/2014/main" id="{3F8F7946-20ED-4382-8A3F-4B9CF62270C4}"/>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11" name="">
            <a:extLst xmlns:a="http://schemas.openxmlformats.org/drawingml/2006/main">
              <a:ext uri="{FF2B5EF4-FFF2-40B4-BE49-F238E27FC236}">
                <a16:creationId xmlns:a16="http://schemas.microsoft.com/office/drawing/2014/main" id="{2DC6F42F-383A-498B-9E66-905AD78A6B94}"/>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6/15</a:t>
            </a:r>
          </a:p>
        </p:txBody>
      </p:sp>
      <p:sp>
        <p:nvSpPr>
          <p:cNvPr id="12" name="">
            <a:extLst xmlns:a="http://schemas.openxmlformats.org/drawingml/2006/main">
              <a:ext uri="{FF2B5EF4-FFF2-40B4-BE49-F238E27FC236}">
                <a16:creationId xmlns:a16="http://schemas.microsoft.com/office/drawing/2014/main" id="{0EE80FA7-F9FB-4BDC-A4D8-68B72013DD58}"/>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152527BE-8169-4DC7-9DBE-3800F64E2A91}"/>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4" name="">
            <a:extLst xmlns:a="http://schemas.openxmlformats.org/drawingml/2006/main">
              <a:ext uri="{FF2B5EF4-FFF2-40B4-BE49-F238E27FC236}">
                <a16:creationId xmlns:a16="http://schemas.microsoft.com/office/drawing/2014/main" id="{04723B2D-5F36-4314-8BCA-358FEF11E389}"/>
              </a:ext>
            </a:extLst>
          </p:cNvPr>
          <p:cNvSpPr>
            <a:spLocks xmlns:a="http://schemas.openxmlformats.org/drawingml/2006/main" noGrp="1"/>
          </p:cNvSpPr>
          <p:nvPr/>
        </p:nvSpPr>
        <p:spPr>
          <a:xfrm xmlns:a="http://schemas.openxmlformats.org/drawingml/2006/main">
            <a:off x="609600" y="2266950"/>
            <a:ext cx="266700" cy="190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0606F5D5-3A14-4BC7-856C-6D64F466A283}"/>
              </a:ext>
            </a:extLst>
          </p:cNvPr>
          <p:cNvSpPr>
            <a:spLocks xmlns:a="http://schemas.openxmlformats.org/drawingml/2006/main" noGrp="1"/>
          </p:cNvSpPr>
          <p:nvPr/>
        </p:nvSpPr>
        <p:spPr>
          <a:xfrm xmlns:a="http://schemas.openxmlformats.org/drawingml/2006/main">
            <a:off x="971550" y="2190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PATTERN AND REPAIR</a:t>
            </a:r>
          </a:p>
        </p:txBody>
      </p:sp>
      <p:sp>
        <p:nvSpPr>
          <p:cNvPr id="16" name="">
            <a:extLst xmlns:a="http://schemas.openxmlformats.org/drawingml/2006/main">
              <a:ext uri="{FF2B5EF4-FFF2-40B4-BE49-F238E27FC236}">
                <a16:creationId xmlns:a16="http://schemas.microsoft.com/office/drawing/2014/main" id="{1C78AFF5-28B5-4C66-B715-124D2DFE5A2A}"/>
              </a:ext>
            </a:extLst>
          </p:cNvPr>
          <p:cNvSpPr>
            <a:spLocks xmlns:a="http://schemas.openxmlformats.org/drawingml/2006/main" noGrp="1"/>
          </p:cNvSpPr>
          <p:nvPr/>
        </p:nvSpPr>
        <p:spPr>
          <a:xfrm xmlns:a="http://schemas.openxmlformats.org/drawingml/2006/main">
            <a:off x="609600" y="2714625"/>
            <a:ext cx="571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DD8A0DD6-6F3A-40AF-A56E-BBC23BB29C9E}"/>
              </a:ext>
            </a:extLst>
          </p:cNvPr>
          <p:cNvSpPr>
            <a:spLocks xmlns:a="http://schemas.openxmlformats.org/drawingml/2006/main" noGrp="1"/>
          </p:cNvSpPr>
          <p:nvPr/>
        </p:nvSpPr>
        <p:spPr>
          <a:xfrm xmlns:a="http://schemas.openxmlformats.org/drawingml/2006/main">
            <a:off x="781050" y="2647950"/>
            <a:ext cx="10115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The current asset base is brochures, certificates, and tender responses.</a:t>
            </a:r>
          </a:p>
        </p:txBody>
      </p:sp>
      <p:sp>
        <p:nvSpPr>
          <p:cNvPr id="18" name="">
            <a:extLst xmlns:a="http://schemas.openxmlformats.org/drawingml/2006/main">
              <a:ext uri="{FF2B5EF4-FFF2-40B4-BE49-F238E27FC236}">
                <a16:creationId xmlns:a16="http://schemas.microsoft.com/office/drawing/2014/main" id="{359C8363-F2FE-418E-BB54-9063C2D48259}"/>
              </a:ext>
            </a:extLst>
          </p:cNvPr>
          <p:cNvSpPr>
            <a:spLocks xmlns:a="http://schemas.openxmlformats.org/drawingml/2006/main" noGrp="1"/>
          </p:cNvSpPr>
          <p:nvPr/>
        </p:nvSpPr>
        <p:spPr>
          <a:xfrm xmlns:a="http://schemas.openxmlformats.org/drawingml/2006/main">
            <a:off x="609600" y="3267075"/>
            <a:ext cx="571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C4809C25-9D53-44E8-B699-F12828CDD4DB}"/>
              </a:ext>
            </a:extLst>
          </p:cNvPr>
          <p:cNvSpPr>
            <a:spLocks xmlns:a="http://schemas.openxmlformats.org/drawingml/2006/main" noGrp="1"/>
          </p:cNvSpPr>
          <p:nvPr/>
        </p:nvSpPr>
        <p:spPr>
          <a:xfrm xmlns:a="http://schemas.openxmlformats.org/drawingml/2006/main">
            <a:off x="781050" y="3200400"/>
            <a:ext cx="10115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Sales says buyers compare price late and consultants often control specifications before the supplier enters.</a:t>
            </a:r>
          </a:p>
        </p:txBody>
      </p:sp>
      <p:sp>
        <p:nvSpPr>
          <p:cNvPr id="20" name="">
            <a:extLst xmlns:a="http://schemas.openxmlformats.org/drawingml/2006/main">
              <a:ext uri="{FF2B5EF4-FFF2-40B4-BE49-F238E27FC236}">
                <a16:creationId xmlns:a16="http://schemas.microsoft.com/office/drawing/2014/main" id="{0BD06415-91AB-4A21-8ADA-C4349A7B5003}"/>
              </a:ext>
            </a:extLst>
          </p:cNvPr>
          <p:cNvSpPr>
            <a:spLocks xmlns:a="http://schemas.openxmlformats.org/drawingml/2006/main" noGrp="1"/>
          </p:cNvSpPr>
          <p:nvPr/>
        </p:nvSpPr>
        <p:spPr>
          <a:xfrm xmlns:a="http://schemas.openxmlformats.org/drawingml/2006/main">
            <a:off x="609600" y="3819525"/>
            <a:ext cx="571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9E4B8AA8-E278-416E-8EF8-2CF8F375C876}"/>
              </a:ext>
            </a:extLst>
          </p:cNvPr>
          <p:cNvSpPr>
            <a:spLocks xmlns:a="http://schemas.openxmlformats.org/drawingml/2006/main" noGrp="1"/>
          </p:cNvSpPr>
          <p:nvPr/>
        </p:nvSpPr>
        <p:spPr>
          <a:xfrm xmlns:a="http://schemas.openxmlformats.org/drawingml/2006/main">
            <a:off x="781050" y="3752850"/>
            <a:ext cx="10115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The upstream content engine covers lifecycle losses, specification clarity, service readiness, vendor comparison, and TCO.</a:t>
            </a:r>
          </a:p>
        </p:txBody>
      </p:sp>
      <p:sp>
        <p:nvSpPr>
          <p:cNvPr id="22" name="">
            <a:extLst xmlns:a="http://schemas.openxmlformats.org/drawingml/2006/main">
              <a:ext uri="{FF2B5EF4-FFF2-40B4-BE49-F238E27FC236}">
                <a16:creationId xmlns:a16="http://schemas.microsoft.com/office/drawing/2014/main" id="{45E99369-6B25-408D-9405-45818E5880BA}"/>
              </a:ext>
            </a:extLst>
          </p:cNvPr>
          <p:cNvSpPr>
            <a:spLocks xmlns:a="http://schemas.openxmlformats.org/drawingml/2006/main" noGrp="1"/>
          </p:cNvSpPr>
          <p:nvPr/>
        </p:nvSpPr>
        <p:spPr>
          <a:xfrm xmlns:a="http://schemas.openxmlformats.org/drawingml/2006/main">
            <a:off x="609600" y="4371975"/>
            <a:ext cx="571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13F542B5-4FAE-4E2E-9229-674496FC699B}"/>
              </a:ext>
            </a:extLst>
          </p:cNvPr>
          <p:cNvSpPr>
            <a:spLocks xmlns:a="http://schemas.openxmlformats.org/drawingml/2006/main" noGrp="1"/>
          </p:cNvSpPr>
          <p:nvPr/>
        </p:nvSpPr>
        <p:spPr>
          <a:xfrm xmlns:a="http://schemas.openxmlformats.org/drawingml/2006/main">
            <a:off x="781050" y="4305300"/>
            <a:ext cx="10115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Each asset has a buyer role, demand state, sales use, and signal.</a:t>
            </a:r>
          </a:p>
        </p:txBody>
      </p:sp>
      <p:sp>
        <p:nvSpPr>
          <p:cNvPr id="24" name="">
            <a:extLst xmlns:a="http://schemas.openxmlformats.org/drawingml/2006/main">
              <a:ext uri="{FF2B5EF4-FFF2-40B4-BE49-F238E27FC236}">
                <a16:creationId xmlns:a16="http://schemas.microsoft.com/office/drawing/2014/main" id="{A5A1B1AA-0545-4958-BFBA-5672E7D2D887}"/>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BE4FE7EE-9869-4F44-8E39-45623EF6FB8A}"/>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26" name="">
            <a:extLst xmlns:a="http://schemas.openxmlformats.org/drawingml/2006/main">
              <a:ext uri="{FF2B5EF4-FFF2-40B4-BE49-F238E27FC236}">
                <a16:creationId xmlns:a16="http://schemas.microsoft.com/office/drawing/2014/main" id="{E5D2AC10-7B7E-4B44-A662-AD20D175A4A0}"/>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27" name="">
            <a:extLst xmlns:a="http://schemas.openxmlformats.org/drawingml/2006/main">
              <a:ext uri="{FF2B5EF4-FFF2-40B4-BE49-F238E27FC236}">
                <a16:creationId xmlns:a16="http://schemas.microsoft.com/office/drawing/2014/main" id="{B8E3D9AF-39EE-4310-9F18-CF25F6FFBD4C}"/>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6/15</a:t>
            </a:r>
          </a:p>
        </p:txBody>
      </p:sp>
      <p:sp>
        <p:nvSpPr>
          <p:cNvPr id="28" name="">
            <a:extLst xmlns:a="http://schemas.openxmlformats.org/drawingml/2006/main">
              <a:ext uri="{FF2B5EF4-FFF2-40B4-BE49-F238E27FC236}">
                <a16:creationId xmlns:a16="http://schemas.microsoft.com/office/drawing/2014/main" id="{88A4B3A8-698D-47AD-990A-7C3CC3BE2A44}"/>
              </a:ext>
            </a:extLst>
          </p:cNvPr>
          <p:cNvSpPr>
            <a:spLocks xmlns:a="http://schemas.openxmlformats.org/drawingml/2006/main" noGrp="1"/>
          </p:cNvSpPr>
          <p:nvPr/>
        </p:nvSpPr>
        <p:spPr>
          <a:xfrm xmlns:a="http://schemas.openxmlformats.org/drawingml/2006/main">
            <a:off x="0" y="0"/>
            <a:ext cx="12192000" cy="18097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1D7D63BD-CE97-49EE-860E-D9B3382942EA}"/>
              </a:ext>
            </a:extLst>
          </p:cNvPr>
          <p:cNvSpPr>
            <a:spLocks xmlns:a="http://schemas.openxmlformats.org/drawingml/2006/main" noGrp="1"/>
          </p:cNvSpPr>
          <p:nvPr/>
        </p:nvSpPr>
        <p:spPr>
          <a:xfrm xmlns:a="http://schemas.openxmlformats.org/drawingml/2006/main">
            <a:off x="0" y="0"/>
            <a:ext cx="171450" cy="180975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69E3F8B9-8DBB-4437-AD6A-33F96FA32FDF}"/>
              </a:ext>
            </a:extLst>
          </p:cNvPr>
          <p:cNvSpPr>
            <a:spLocks xmlns:a="http://schemas.openxmlformats.org/drawingml/2006/main" noGrp="1"/>
          </p:cNvSpPr>
          <p:nvPr/>
        </p:nvSpPr>
        <p:spPr>
          <a:xfrm xmlns:a="http://schemas.openxmlformats.org/drawingml/2006/main">
            <a:off x="171450" y="0"/>
            <a:ext cx="57150" cy="18097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31" name="kicker-05-marker">
            <a:extLst xmlns:a="http://schemas.openxmlformats.org/drawingml/2006/main">
              <a:ext uri="{FF2B5EF4-FFF2-40B4-BE49-F238E27FC236}">
                <a16:creationId xmlns:a16="http://schemas.microsoft.com/office/drawing/2014/main" id="{5A4D7EEF-994D-4F20-80C9-284E1F752B47}"/>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32" name="kicker-05-label">
            <a:extLst xmlns:a="http://schemas.openxmlformats.org/drawingml/2006/main">
              <a:ext uri="{FF2B5EF4-FFF2-40B4-BE49-F238E27FC236}">
                <a16:creationId xmlns:a16="http://schemas.microsoft.com/office/drawing/2014/main" id="{B257A327-8827-44A3-9E37-482993A8E432}"/>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COMPOSITE EXAMPLE</a:t>
            </a:r>
          </a:p>
        </p:txBody>
      </p:sp>
      <p:sp>
        <p:nvSpPr>
          <p:cNvPr id="33" name="">
            <a:extLst xmlns:a="http://schemas.openxmlformats.org/drawingml/2006/main">
              <a:ext uri="{FF2B5EF4-FFF2-40B4-BE49-F238E27FC236}">
                <a16:creationId xmlns:a16="http://schemas.microsoft.com/office/drawing/2014/main" id="{E5D466B4-33F2-4B1C-B923-79453DBD0846}"/>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Composite transformer and electrical equipment supplier</a:t>
            </a:r>
          </a:p>
        </p:txBody>
      </p:sp>
      <p:sp>
        <p:nvSpPr>
          <p:cNvPr id="34" name="">
            <a:extLst xmlns:a="http://schemas.openxmlformats.org/drawingml/2006/main">
              <a:ext uri="{FF2B5EF4-FFF2-40B4-BE49-F238E27FC236}">
                <a16:creationId xmlns:a16="http://schemas.microsoft.com/office/drawing/2014/main" id="{57E60624-132C-4B0D-93C0-969BF3C76AFE}"/>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Use as an anonymized industrial pattern, not a named-company case study.</a:t>
            </a:r>
          </a:p>
        </p:txBody>
      </p:sp>
      <p:sp>
        <p:nvSpPr>
          <p:cNvPr id="35" name="">
            <a:extLst xmlns:a="http://schemas.openxmlformats.org/drawingml/2006/main">
              <a:ext uri="{FF2B5EF4-FFF2-40B4-BE49-F238E27FC236}">
                <a16:creationId xmlns:a16="http://schemas.microsoft.com/office/drawing/2014/main" id="{6E3657B8-205F-4DC7-A9C7-4955D19A1CA5}"/>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17233AB2-50DB-403E-9F3D-921E98DCACD5}"/>
              </a:ext>
            </a:extLst>
          </p:cNvPr>
          <p:cNvSpPr>
            <a:spLocks xmlns:a="http://schemas.openxmlformats.org/drawingml/2006/main" noGrp="1"/>
          </p:cNvSpPr>
          <p:nvPr/>
        </p:nvSpPr>
        <p:spPr>
          <a:xfrm xmlns:a="http://schemas.openxmlformats.org/drawingml/2006/main">
            <a:off x="0" y="6400800"/>
            <a:ext cx="171450" cy="4572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846CA0E7-4429-46CC-978F-1F6E4F8FC52F}"/>
              </a:ext>
            </a:extLst>
          </p:cNvPr>
          <p:cNvSpPr>
            <a:spLocks xmlns:a="http://schemas.openxmlformats.org/drawingml/2006/main" noGrp="1"/>
          </p:cNvSpPr>
          <p:nvPr/>
        </p:nvSpPr>
        <p:spPr>
          <a:xfrm xmlns:a="http://schemas.openxmlformats.org/drawingml/2006/main">
            <a:off x="171450" y="6400800"/>
            <a:ext cx="57150" cy="457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883AA2F3-82A9-4884-A7F9-A09932A3D26D}"/>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DDE4C38B-F8B0-4563-A026-7471C00A136E}"/>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40" name="">
            <a:extLst xmlns:a="http://schemas.openxmlformats.org/drawingml/2006/main">
              <a:ext uri="{FF2B5EF4-FFF2-40B4-BE49-F238E27FC236}">
                <a16:creationId xmlns:a16="http://schemas.microsoft.com/office/drawing/2014/main" id="{9D1C2BEA-46B3-4601-A7C5-977FFDF641F9}"/>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41" name="">
            <a:extLst xmlns:a="http://schemas.openxmlformats.org/drawingml/2006/main">
              <a:ext uri="{FF2B5EF4-FFF2-40B4-BE49-F238E27FC236}">
                <a16:creationId xmlns:a16="http://schemas.microsoft.com/office/drawing/2014/main" id="{BCAF1702-A5C6-4F3E-A5DE-255AA6F0C4E3}"/>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6/15</a:t>
            </a:r>
          </a:p>
        </p:txBody>
      </p:sp>
    </p:spTree>
    <p:extLst>
      <p:ext uri="{BB962C8B-B14F-4D97-AF65-F5344CB8AC3E}">
        <p14:creationId xmlns:p14="http://schemas.microsoft.com/office/powerpoint/2010/main" val="67754057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FDDC70-870A-418C-BB5B-D15A096DE8E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E55F05A-4B85-48B9-B79A-6567E3B8FB9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741AE69-8F6F-445A-8023-D16306585E3D}"/>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5-marker">
            <a:extLst xmlns:a="http://schemas.openxmlformats.org/drawingml/2006/main">
              <a:ext uri="{FF2B5EF4-FFF2-40B4-BE49-F238E27FC236}">
                <a16:creationId xmlns:a16="http://schemas.microsoft.com/office/drawing/2014/main" id="{97895118-4CC9-4BA4-A41F-0A6B877338A2}"/>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5-label">
            <a:extLst xmlns:a="http://schemas.openxmlformats.org/drawingml/2006/main">
              <a:ext uri="{FF2B5EF4-FFF2-40B4-BE49-F238E27FC236}">
                <a16:creationId xmlns:a16="http://schemas.microsoft.com/office/drawing/2014/main" id="{737BF3BA-DB02-4DB1-A08C-7B753FC3D819}"/>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DIAGNOSTIC</a:t>
            </a:r>
          </a:p>
        </p:txBody>
      </p:sp>
      <p:sp>
        <p:nvSpPr>
          <p:cNvPr id="6" name="">
            <a:extLst xmlns:a="http://schemas.openxmlformats.org/drawingml/2006/main">
              <a:ext uri="{FF2B5EF4-FFF2-40B4-BE49-F238E27FC236}">
                <a16:creationId xmlns:a16="http://schemas.microsoft.com/office/drawing/2014/main" id="{44B8E251-7778-4EE9-9A0E-799B3C636798}"/>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Run the room on one hard operating question.</a:t>
            </a:r>
          </a:p>
        </p:txBody>
      </p:sp>
      <p:sp>
        <p:nvSpPr>
          <p:cNvPr id="7" name="">
            <a:extLst xmlns:a="http://schemas.openxmlformats.org/drawingml/2006/main">
              <a:ext uri="{FF2B5EF4-FFF2-40B4-BE49-F238E27FC236}">
                <a16:creationId xmlns:a16="http://schemas.microsoft.com/office/drawing/2014/main" id="{753A828C-E6F3-4323-B837-7BC52B64D61A}"/>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This slide is the short live diagnostic before the exercise.</a:t>
            </a:r>
          </a:p>
        </p:txBody>
      </p:sp>
      <p:sp>
        <p:nvSpPr>
          <p:cNvPr id="8" name="">
            <a:extLst xmlns:a="http://schemas.openxmlformats.org/drawingml/2006/main">
              <a:ext uri="{FF2B5EF4-FFF2-40B4-BE49-F238E27FC236}">
                <a16:creationId xmlns:a16="http://schemas.microsoft.com/office/drawing/2014/main" id="{EAA96F8D-5F22-4C9D-9205-F4DD5F0C1D52}"/>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B8DF998E-C529-437D-9313-D7FFEDAD6583}"/>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10" name="">
            <a:extLst xmlns:a="http://schemas.openxmlformats.org/drawingml/2006/main">
              <a:ext uri="{FF2B5EF4-FFF2-40B4-BE49-F238E27FC236}">
                <a16:creationId xmlns:a16="http://schemas.microsoft.com/office/drawing/2014/main" id="{EDA2442C-33DD-40CC-9CE9-C7BAEF165F80}"/>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11" name="">
            <a:extLst xmlns:a="http://schemas.openxmlformats.org/drawingml/2006/main">
              <a:ext uri="{FF2B5EF4-FFF2-40B4-BE49-F238E27FC236}">
                <a16:creationId xmlns:a16="http://schemas.microsoft.com/office/drawing/2014/main" id="{1407D6B0-31EA-4D51-81BA-759A740FDD04}"/>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7/15</a:t>
            </a:r>
          </a:p>
        </p:txBody>
      </p:sp>
      <p:sp>
        <p:nvSpPr>
          <p:cNvPr id="12" name="">
            <a:extLst xmlns:a="http://schemas.openxmlformats.org/drawingml/2006/main">
              <a:ext uri="{FF2B5EF4-FFF2-40B4-BE49-F238E27FC236}">
                <a16:creationId xmlns:a16="http://schemas.microsoft.com/office/drawing/2014/main" id="{670835C5-7461-4BE4-B4F1-C4284F9A4506}"/>
              </a:ext>
            </a:extLst>
          </p:cNvPr>
          <p:cNvSpPr>
            <a:spLocks xmlns:a="http://schemas.openxmlformats.org/drawingml/2006/main" noGrp="1"/>
          </p:cNvSpPr>
          <p:nvPr/>
        </p:nvSpPr>
        <p:spPr>
          <a:xfrm xmlns:a="http://schemas.openxmlformats.org/drawingml/2006/main">
            <a:off x="514350" y="1962150"/>
            <a:ext cx="10915650" cy="1219200"/>
          </a:xfrm>
          <a:prstGeom xmlns:a="http://schemas.openxmlformats.org/drawingml/2006/main" prst="rect">
            <a:avLst/>
          </a:prstGeom>
          <a:solidFill xmlns:a="http://schemas.openxmlformats.org/drawingml/2006/main">
            <a:srgbClr val="12232B"/>
          </a:solidFill>
          <a:ln xmlns:a="http://schemas.openxmlformats.org/drawingml/2006/main" w="9525">
            <a:solidFill>
              <a:srgbClr val="12232B"/>
            </a:solidFill>
            <a:prstDash val="solid"/>
          </a:ln>
        </p:spPr>
      </p:sp>
      <p:sp>
        <p:nvSpPr>
          <p:cNvPr id="13" name="">
            <a:extLst xmlns:a="http://schemas.openxmlformats.org/drawingml/2006/main">
              <a:ext uri="{FF2B5EF4-FFF2-40B4-BE49-F238E27FC236}">
                <a16:creationId xmlns:a16="http://schemas.microsoft.com/office/drawing/2014/main" id="{BFFF4920-8A53-4CDA-9F3C-A2ECE66CB4F6}"/>
              </a:ext>
            </a:extLst>
          </p:cNvPr>
          <p:cNvSpPr>
            <a:spLocks xmlns:a="http://schemas.openxmlformats.org/drawingml/2006/main" noGrp="1"/>
          </p:cNvSpPr>
          <p:nvPr/>
        </p:nvSpPr>
        <p:spPr>
          <a:xfrm xmlns:a="http://schemas.openxmlformats.org/drawingml/2006/main">
            <a:off x="857250" y="2190750"/>
            <a:ext cx="100584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Which content assets would make the buyer smarter, safer, and more able to move internally?</a:t>
            </a:r>
          </a:p>
        </p:txBody>
      </p:sp>
      <p:sp>
        <p:nvSpPr>
          <p:cNvPr id="14" name="">
            <a:extLst xmlns:a="http://schemas.openxmlformats.org/drawingml/2006/main">
              <a:ext uri="{FF2B5EF4-FFF2-40B4-BE49-F238E27FC236}">
                <a16:creationId xmlns:a16="http://schemas.microsoft.com/office/drawing/2014/main" id="{B48C69D1-1E9D-4745-AF4B-7C359052EC3A}"/>
              </a:ext>
            </a:extLst>
          </p:cNvPr>
          <p:cNvSpPr>
            <a:spLocks xmlns:a="http://schemas.openxmlformats.org/drawingml/2006/main" noGrp="1"/>
          </p:cNvSpPr>
          <p:nvPr/>
        </p:nvSpPr>
        <p:spPr>
          <a:xfrm xmlns:a="http://schemas.openxmlformats.org/drawingml/2006/main">
            <a:off x="704850" y="3714750"/>
            <a:ext cx="266700" cy="190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1A185C8C-9758-419D-995A-163D96F7A0F1}"/>
              </a:ext>
            </a:extLst>
          </p:cNvPr>
          <p:cNvSpPr>
            <a:spLocks xmlns:a="http://schemas.openxmlformats.org/drawingml/2006/main" noGrp="1"/>
          </p:cNvSpPr>
          <p:nvPr/>
        </p:nvSpPr>
        <p:spPr>
          <a:xfrm xmlns:a="http://schemas.openxmlformats.org/drawingml/2006/main">
            <a:off x="1066800" y="36385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PROMPT STACK</a:t>
            </a:r>
          </a:p>
        </p:txBody>
      </p:sp>
      <p:sp>
        <p:nvSpPr>
          <p:cNvPr id="16" name="">
            <a:extLst xmlns:a="http://schemas.openxmlformats.org/drawingml/2006/main">
              <a:ext uri="{FF2B5EF4-FFF2-40B4-BE49-F238E27FC236}">
                <a16:creationId xmlns:a16="http://schemas.microsoft.com/office/drawing/2014/main" id="{73CAE957-76C7-4182-A543-2AEAAA9971F7}"/>
              </a:ext>
            </a:extLst>
          </p:cNvPr>
          <p:cNvSpPr>
            <a:spLocks xmlns:a="http://schemas.openxmlformats.org/drawingml/2006/main" noGrp="1"/>
          </p:cNvSpPr>
          <p:nvPr/>
        </p:nvSpPr>
        <p:spPr>
          <a:xfrm xmlns:a="http://schemas.openxmlformats.org/drawingml/2006/main">
            <a:off x="876300" y="410527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85727B8D-844B-44F0-AEA7-84D4598153CB}"/>
              </a:ext>
            </a:extLst>
          </p:cNvPr>
          <p:cNvSpPr>
            <a:spLocks xmlns:a="http://schemas.openxmlformats.org/drawingml/2006/main" noGrp="1"/>
          </p:cNvSpPr>
          <p:nvPr/>
        </p:nvSpPr>
        <p:spPr>
          <a:xfrm xmlns:a="http://schemas.openxmlformats.org/drawingml/2006/main">
            <a:off x="1047750" y="4038600"/>
            <a:ext cx="42100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What buyer question appears before the RFQ?</a:t>
            </a:r>
          </a:p>
        </p:txBody>
      </p:sp>
      <p:sp>
        <p:nvSpPr>
          <p:cNvPr id="18" name="">
            <a:extLst xmlns:a="http://schemas.openxmlformats.org/drawingml/2006/main">
              <a:ext uri="{FF2B5EF4-FFF2-40B4-BE49-F238E27FC236}">
                <a16:creationId xmlns:a16="http://schemas.microsoft.com/office/drawing/2014/main" id="{4690461A-B141-47F1-B33B-91201DD39D7C}"/>
              </a:ext>
            </a:extLst>
          </p:cNvPr>
          <p:cNvSpPr>
            <a:spLocks xmlns:a="http://schemas.openxmlformats.org/drawingml/2006/main" noGrp="1"/>
          </p:cNvSpPr>
          <p:nvPr/>
        </p:nvSpPr>
        <p:spPr>
          <a:xfrm xmlns:a="http://schemas.openxmlformats.org/drawingml/2006/main">
            <a:off x="876300" y="460057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ED8F6906-3FC4-4269-8C49-A5507F7B6D40}"/>
              </a:ext>
            </a:extLst>
          </p:cNvPr>
          <p:cNvSpPr>
            <a:spLocks xmlns:a="http://schemas.openxmlformats.org/drawingml/2006/main" noGrp="1"/>
          </p:cNvSpPr>
          <p:nvPr/>
        </p:nvSpPr>
        <p:spPr>
          <a:xfrm xmlns:a="http://schemas.openxmlformats.org/drawingml/2006/main">
            <a:off x="1047750" y="4533900"/>
            <a:ext cx="42100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What objection appears repeatedly in sales calls?</a:t>
            </a:r>
          </a:p>
        </p:txBody>
      </p:sp>
      <p:sp>
        <p:nvSpPr>
          <p:cNvPr id="20" name="">
            <a:extLst xmlns:a="http://schemas.openxmlformats.org/drawingml/2006/main">
              <a:ext uri="{FF2B5EF4-FFF2-40B4-BE49-F238E27FC236}">
                <a16:creationId xmlns:a16="http://schemas.microsoft.com/office/drawing/2014/main" id="{171ACE41-539E-4DE1-823B-84992262F08F}"/>
              </a:ext>
            </a:extLst>
          </p:cNvPr>
          <p:cNvSpPr>
            <a:spLocks xmlns:a="http://schemas.openxmlformats.org/drawingml/2006/main" noGrp="1"/>
          </p:cNvSpPr>
          <p:nvPr/>
        </p:nvSpPr>
        <p:spPr>
          <a:xfrm xmlns:a="http://schemas.openxmlformats.org/drawingml/2006/main">
            <a:off x="876300" y="509587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F3600E9B-18C5-4FFF-81EF-A573B04A6FF2}"/>
              </a:ext>
            </a:extLst>
          </p:cNvPr>
          <p:cNvSpPr>
            <a:spLocks xmlns:a="http://schemas.openxmlformats.org/drawingml/2006/main" noGrp="1"/>
          </p:cNvSpPr>
          <p:nvPr/>
        </p:nvSpPr>
        <p:spPr>
          <a:xfrm xmlns:a="http://schemas.openxmlformats.org/drawingml/2006/main">
            <a:off x="1047750" y="5029200"/>
            <a:ext cx="42100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What proof does the champion need internally?</a:t>
            </a:r>
          </a:p>
        </p:txBody>
      </p:sp>
      <p:sp>
        <p:nvSpPr>
          <p:cNvPr id="22" name="">
            <a:extLst xmlns:a="http://schemas.openxmlformats.org/drawingml/2006/main">
              <a:ext uri="{FF2B5EF4-FFF2-40B4-BE49-F238E27FC236}">
                <a16:creationId xmlns:a16="http://schemas.microsoft.com/office/drawing/2014/main" id="{67BA0AF6-82D1-4938-B885-7C33A9C615CA}"/>
              </a:ext>
            </a:extLst>
          </p:cNvPr>
          <p:cNvSpPr>
            <a:spLocks xmlns:a="http://schemas.openxmlformats.org/drawingml/2006/main" noGrp="1"/>
          </p:cNvSpPr>
          <p:nvPr/>
        </p:nvSpPr>
        <p:spPr>
          <a:xfrm xmlns:a="http://schemas.openxmlformats.org/drawingml/2006/main">
            <a:off x="6096000" y="4105275"/>
            <a:ext cx="571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93CA13F0-5038-4BA4-957A-EF4063C0E5C1}"/>
              </a:ext>
            </a:extLst>
          </p:cNvPr>
          <p:cNvSpPr>
            <a:spLocks xmlns:a="http://schemas.openxmlformats.org/drawingml/2006/main" noGrp="1"/>
          </p:cNvSpPr>
          <p:nvPr/>
        </p:nvSpPr>
        <p:spPr>
          <a:xfrm xmlns:a="http://schemas.openxmlformats.org/drawingml/2006/main">
            <a:off x="6267450" y="4038600"/>
            <a:ext cx="42100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Which committee role is under-served?</a:t>
            </a:r>
          </a:p>
        </p:txBody>
      </p:sp>
      <p:sp>
        <p:nvSpPr>
          <p:cNvPr id="24" name="">
            <a:extLst xmlns:a="http://schemas.openxmlformats.org/drawingml/2006/main">
              <a:ext uri="{FF2B5EF4-FFF2-40B4-BE49-F238E27FC236}">
                <a16:creationId xmlns:a16="http://schemas.microsoft.com/office/drawing/2014/main" id="{F1A6EDD4-6275-4073-A329-CD629990ACDB}"/>
              </a:ext>
            </a:extLst>
          </p:cNvPr>
          <p:cNvSpPr>
            <a:spLocks xmlns:a="http://schemas.openxmlformats.org/drawingml/2006/main" noGrp="1"/>
          </p:cNvSpPr>
          <p:nvPr/>
        </p:nvSpPr>
        <p:spPr>
          <a:xfrm xmlns:a="http://schemas.openxmlformats.org/drawingml/2006/main">
            <a:off x="6096000" y="4600575"/>
            <a:ext cx="571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572B0DBE-43D8-4E2B-991F-1D5FA0BDF70F}"/>
              </a:ext>
            </a:extLst>
          </p:cNvPr>
          <p:cNvSpPr>
            <a:spLocks xmlns:a="http://schemas.openxmlformats.org/drawingml/2006/main" noGrp="1"/>
          </p:cNvSpPr>
          <p:nvPr/>
        </p:nvSpPr>
        <p:spPr>
          <a:xfrm xmlns:a="http://schemas.openxmlformats.org/drawingml/2006/main">
            <a:off x="6267450" y="4533900"/>
            <a:ext cx="42100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Which asset requires SME insight before AI can draft it?</a:t>
            </a:r>
          </a:p>
        </p:txBody>
      </p:sp>
      <p:sp>
        <p:nvSpPr>
          <p:cNvPr id="26" name="">
            <a:extLst xmlns:a="http://schemas.openxmlformats.org/drawingml/2006/main">
              <a:ext uri="{FF2B5EF4-FFF2-40B4-BE49-F238E27FC236}">
                <a16:creationId xmlns:a16="http://schemas.microsoft.com/office/drawing/2014/main" id="{F67FA467-8FFE-4A27-8688-E5DFF40D6C75}"/>
              </a:ext>
            </a:extLst>
          </p:cNvPr>
          <p:cNvSpPr>
            <a:spLocks xmlns:a="http://schemas.openxmlformats.org/drawingml/2006/main" noGrp="1"/>
          </p:cNvSpPr>
          <p:nvPr/>
        </p:nvSpPr>
        <p:spPr>
          <a:xfrm xmlns:a="http://schemas.openxmlformats.org/drawingml/2006/main">
            <a:off x="6096000" y="5095875"/>
            <a:ext cx="571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FD0BD952-65FA-4567-ACEA-2B481BB3EEFC}"/>
              </a:ext>
            </a:extLst>
          </p:cNvPr>
          <p:cNvSpPr>
            <a:spLocks xmlns:a="http://schemas.openxmlformats.org/drawingml/2006/main" noGrp="1"/>
          </p:cNvSpPr>
          <p:nvPr/>
        </p:nvSpPr>
        <p:spPr>
          <a:xfrm xmlns:a="http://schemas.openxmlformats.org/drawingml/2006/main">
            <a:off x="6267450" y="5029200"/>
            <a:ext cx="42100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Which existing asset should be repaired instead of replaced?</a:t>
            </a:r>
          </a:p>
        </p:txBody>
      </p:sp>
      <p:sp>
        <p:nvSpPr>
          <p:cNvPr id="28" name="">
            <a:extLst xmlns:a="http://schemas.openxmlformats.org/drawingml/2006/main">
              <a:ext uri="{FF2B5EF4-FFF2-40B4-BE49-F238E27FC236}">
                <a16:creationId xmlns:a16="http://schemas.microsoft.com/office/drawing/2014/main" id="{0DD8092C-8807-40EC-8A37-8B0C038EA588}"/>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E5569B4C-4BD9-40E5-B9BA-9E5C79DD6DDF}"/>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30" name="">
            <a:extLst xmlns:a="http://schemas.openxmlformats.org/drawingml/2006/main">
              <a:ext uri="{FF2B5EF4-FFF2-40B4-BE49-F238E27FC236}">
                <a16:creationId xmlns:a16="http://schemas.microsoft.com/office/drawing/2014/main" id="{F56EB80B-8905-4733-9BBF-79EBC24F8D93}"/>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31" name="">
            <a:extLst xmlns:a="http://schemas.openxmlformats.org/drawingml/2006/main">
              <a:ext uri="{FF2B5EF4-FFF2-40B4-BE49-F238E27FC236}">
                <a16:creationId xmlns:a16="http://schemas.microsoft.com/office/drawing/2014/main" id="{0B9D0C90-1951-4E57-8CB8-CBB0D0AACAA9}"/>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7/15</a:t>
            </a:r>
          </a:p>
        </p:txBody>
      </p:sp>
    </p:spTree>
    <p:extLst>
      <p:ext uri="{BB962C8B-B14F-4D97-AF65-F5344CB8AC3E}">
        <p14:creationId xmlns:p14="http://schemas.microsoft.com/office/powerpoint/2010/main" val="168294789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D354FD3-C144-4152-9783-11E43D5EEB4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481F77C-CD9E-4300-8C85-2CB046995C4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107CD49-E4C3-4E7A-9B35-A8D911B52B70}"/>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5-marker">
            <a:extLst xmlns:a="http://schemas.openxmlformats.org/drawingml/2006/main">
              <a:ext uri="{FF2B5EF4-FFF2-40B4-BE49-F238E27FC236}">
                <a16:creationId xmlns:a16="http://schemas.microsoft.com/office/drawing/2014/main" id="{D1309B3C-E3AE-4088-9AD2-B41045638C72}"/>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5-label">
            <a:extLst xmlns:a="http://schemas.openxmlformats.org/drawingml/2006/main">
              <a:ext uri="{FF2B5EF4-FFF2-40B4-BE49-F238E27FC236}">
                <a16:creationId xmlns:a16="http://schemas.microsoft.com/office/drawing/2014/main" id="{7AF565FD-B37D-4E53-9D6C-FC53240809D4}"/>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EXERCISE SETUP</a:t>
            </a:r>
          </a:p>
        </p:txBody>
      </p:sp>
      <p:sp>
        <p:nvSpPr>
          <p:cNvPr id="6" name="">
            <a:extLst xmlns:a="http://schemas.openxmlformats.org/drawingml/2006/main">
              <a:ext uri="{FF2B5EF4-FFF2-40B4-BE49-F238E27FC236}">
                <a16:creationId xmlns:a16="http://schemas.microsoft.com/office/drawing/2014/main" id="{663EBC54-D85E-46E9-AA27-0675F86DE504}"/>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Build the first-five content plan</a:t>
            </a:r>
          </a:p>
        </p:txBody>
      </p:sp>
      <p:sp>
        <p:nvSpPr>
          <p:cNvPr id="7" name="">
            <a:extLst xmlns:a="http://schemas.openxmlformats.org/drawingml/2006/main">
              <a:ext uri="{FF2B5EF4-FFF2-40B4-BE49-F238E27FC236}">
                <a16:creationId xmlns:a16="http://schemas.microsoft.com/office/drawing/2014/main" id="{3FFDD73B-92E2-41C0-9510-957F8350C222}"/>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The exercise produces a working artifact, not class discussion notes.</a:t>
            </a:r>
          </a:p>
        </p:txBody>
      </p:sp>
      <p:sp>
        <p:nvSpPr>
          <p:cNvPr id="8" name="">
            <a:extLst xmlns:a="http://schemas.openxmlformats.org/drawingml/2006/main">
              <a:ext uri="{FF2B5EF4-FFF2-40B4-BE49-F238E27FC236}">
                <a16:creationId xmlns:a16="http://schemas.microsoft.com/office/drawing/2014/main" id="{A6E44281-0421-4620-861C-55C1D2252FBC}"/>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9A0A50F9-2C34-424E-A2A6-A733C0D62169}"/>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10" name="">
            <a:extLst xmlns:a="http://schemas.openxmlformats.org/drawingml/2006/main">
              <a:ext uri="{FF2B5EF4-FFF2-40B4-BE49-F238E27FC236}">
                <a16:creationId xmlns:a16="http://schemas.microsoft.com/office/drawing/2014/main" id="{DB3EDC9E-92D9-4DC6-B4C7-3C8F284AB04B}"/>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11" name="">
            <a:extLst xmlns:a="http://schemas.openxmlformats.org/drawingml/2006/main">
              <a:ext uri="{FF2B5EF4-FFF2-40B4-BE49-F238E27FC236}">
                <a16:creationId xmlns:a16="http://schemas.microsoft.com/office/drawing/2014/main" id="{A2C0E1DD-2316-445A-8BF1-04486BFD7382}"/>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8/15</a:t>
            </a:r>
          </a:p>
        </p:txBody>
      </p:sp>
      <p:sp>
        <p:nvSpPr>
          <p:cNvPr id="12" name="">
            <a:extLst xmlns:a="http://schemas.openxmlformats.org/drawingml/2006/main">
              <a:ext uri="{FF2B5EF4-FFF2-40B4-BE49-F238E27FC236}">
                <a16:creationId xmlns:a16="http://schemas.microsoft.com/office/drawing/2014/main" id="{ED219C29-34B9-4C2D-AEF0-24E4238AE4DD}"/>
              </a:ext>
            </a:extLst>
          </p:cNvPr>
          <p:cNvSpPr>
            <a:spLocks xmlns:a="http://schemas.openxmlformats.org/drawingml/2006/main" noGrp="1"/>
          </p:cNvSpPr>
          <p:nvPr/>
        </p:nvSpPr>
        <p:spPr>
          <a:xfrm xmlns:a="http://schemas.openxmlformats.org/drawingml/2006/main">
            <a:off x="514350" y="2038350"/>
            <a:ext cx="3143250" cy="30480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3" name="">
            <a:extLst xmlns:a="http://schemas.openxmlformats.org/drawingml/2006/main">
              <a:ext uri="{FF2B5EF4-FFF2-40B4-BE49-F238E27FC236}">
                <a16:creationId xmlns:a16="http://schemas.microsoft.com/office/drawing/2014/main" id="{95D18020-AEC9-4DAB-90DD-65CE24BF9C81}"/>
              </a:ext>
            </a:extLst>
          </p:cNvPr>
          <p:cNvSpPr>
            <a:spLocks xmlns:a="http://schemas.openxmlformats.org/drawingml/2006/main" noGrp="1"/>
          </p:cNvSpPr>
          <p:nvPr/>
        </p:nvSpPr>
        <p:spPr>
          <a:xfrm xmlns:a="http://schemas.openxmlformats.org/drawingml/2006/main">
            <a:off x="819150" y="2419350"/>
            <a:ext cx="266700" cy="190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38653736-C4E3-4A59-8417-96998FF4A01E}"/>
              </a:ext>
            </a:extLst>
          </p:cNvPr>
          <p:cNvSpPr>
            <a:spLocks xmlns:a="http://schemas.openxmlformats.org/drawingml/2006/main" noGrp="1"/>
          </p:cNvSpPr>
          <p:nvPr/>
        </p:nvSpPr>
        <p:spPr>
          <a:xfrm xmlns:a="http://schemas.openxmlformats.org/drawingml/2006/main">
            <a:off x="1181100" y="23431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TIMEBOX</a:t>
            </a:r>
          </a:p>
        </p:txBody>
      </p:sp>
      <p:sp>
        <p:nvSpPr>
          <p:cNvPr id="15" name="">
            <a:extLst xmlns:a="http://schemas.openxmlformats.org/drawingml/2006/main">
              <a:ext uri="{FF2B5EF4-FFF2-40B4-BE49-F238E27FC236}">
                <a16:creationId xmlns:a16="http://schemas.microsoft.com/office/drawing/2014/main" id="{2EA4A2E4-8A32-43CE-8E15-A87FD98729E0}"/>
              </a:ext>
            </a:extLst>
          </p:cNvPr>
          <p:cNvSpPr>
            <a:spLocks xmlns:a="http://schemas.openxmlformats.org/drawingml/2006/main" noGrp="1"/>
          </p:cNvSpPr>
          <p:nvPr/>
        </p:nvSpPr>
        <p:spPr>
          <a:xfrm xmlns:a="http://schemas.openxmlformats.org/drawingml/2006/main">
            <a:off x="819150" y="2705100"/>
            <a:ext cx="22669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72026"/>
                </a:solidFill>
                <a:latin typeface="Aptos Display"/>
                <a:ea typeface="Aptos Display"/>
                <a:cs typeface="Aptos Display"/>
              </a:defRPr>
            </a:pPr>
            <a:r>
              <a:rPr sz="1950" b="1">
                <a:solidFill>
                  <a:srgbClr val="172026"/>
                </a:solidFill>
                <a:latin typeface="Aptos Display"/>
                <a:ea typeface="Aptos Display"/>
                <a:cs typeface="Aptos Display"/>
              </a:rPr>
              <a:t>8 min asset plan, 4 min priority call</a:t>
            </a:r>
          </a:p>
        </p:txBody>
      </p:sp>
      <p:sp>
        <p:nvSpPr>
          <p:cNvPr id="16" name="">
            <a:extLst xmlns:a="http://schemas.openxmlformats.org/drawingml/2006/main">
              <a:ext uri="{FF2B5EF4-FFF2-40B4-BE49-F238E27FC236}">
                <a16:creationId xmlns:a16="http://schemas.microsoft.com/office/drawing/2014/main" id="{BB77D3D5-EAC2-4743-8C39-566CF91C0114}"/>
              </a:ext>
            </a:extLst>
          </p:cNvPr>
          <p:cNvSpPr>
            <a:spLocks xmlns:a="http://schemas.openxmlformats.org/drawingml/2006/main" noGrp="1"/>
          </p:cNvSpPr>
          <p:nvPr/>
        </p:nvSpPr>
        <p:spPr>
          <a:xfrm xmlns:a="http://schemas.openxmlformats.org/drawingml/2006/main">
            <a:off x="819150" y="3733800"/>
            <a:ext cx="266700" cy="190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C9A25662-4D86-4DA5-AD7A-F7EBDC032DE4}"/>
              </a:ext>
            </a:extLst>
          </p:cNvPr>
          <p:cNvSpPr>
            <a:spLocks xmlns:a="http://schemas.openxmlformats.org/drawingml/2006/main" noGrp="1"/>
          </p:cNvSpPr>
          <p:nvPr/>
        </p:nvSpPr>
        <p:spPr>
          <a:xfrm xmlns:a="http://schemas.openxmlformats.org/drawingml/2006/main">
            <a:off x="1181100" y="36576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OUTPUT</a:t>
            </a:r>
          </a:p>
        </p:txBody>
      </p:sp>
      <p:sp>
        <p:nvSpPr>
          <p:cNvPr id="18" name="">
            <a:extLst xmlns:a="http://schemas.openxmlformats.org/drawingml/2006/main">
              <a:ext uri="{FF2B5EF4-FFF2-40B4-BE49-F238E27FC236}">
                <a16:creationId xmlns:a16="http://schemas.microsoft.com/office/drawing/2014/main" id="{2B63CB64-8520-48F7-9F97-261CC102B061}"/>
              </a:ext>
            </a:extLst>
          </p:cNvPr>
          <p:cNvSpPr>
            <a:spLocks xmlns:a="http://schemas.openxmlformats.org/drawingml/2006/main" noGrp="1"/>
          </p:cNvSpPr>
          <p:nvPr/>
        </p:nvSpPr>
        <p:spPr>
          <a:xfrm xmlns:a="http://schemas.openxmlformats.org/drawingml/2006/main">
            <a:off x="819150" y="4000500"/>
            <a:ext cx="23241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9646A"/>
                </a:solidFill>
                <a:latin typeface="Aptos"/>
                <a:ea typeface="Aptos"/>
                <a:cs typeface="Aptos"/>
              </a:defRPr>
            </a:pPr>
            <a:r>
              <a:rPr sz="1275" b="0">
                <a:solidFill>
                  <a:srgbClr val="59646A"/>
                </a:solidFill>
                <a:latin typeface="Aptos"/>
                <a:ea typeface="Aptos"/>
                <a:cs typeface="Aptos"/>
              </a:rPr>
              <a:t>Content plan by demand state</a:t>
            </a:r>
          </a:p>
        </p:txBody>
      </p:sp>
      <p:sp>
        <p:nvSpPr>
          <p:cNvPr id="19" name="">
            <a:extLst xmlns:a="http://schemas.openxmlformats.org/drawingml/2006/main">
              <a:ext uri="{FF2B5EF4-FFF2-40B4-BE49-F238E27FC236}">
                <a16:creationId xmlns:a16="http://schemas.microsoft.com/office/drawing/2014/main" id="{637EBCCA-47A6-4A24-844D-D0B803722C72}"/>
              </a:ext>
            </a:extLst>
          </p:cNvPr>
          <p:cNvSpPr>
            <a:spLocks xmlns:a="http://schemas.openxmlformats.org/drawingml/2006/main" noGrp="1"/>
          </p:cNvSpPr>
          <p:nvPr/>
        </p:nvSpPr>
        <p:spPr>
          <a:xfrm xmlns:a="http://schemas.openxmlformats.org/drawingml/2006/main">
            <a:off x="4095750" y="2038350"/>
            <a:ext cx="7334250" cy="3048000"/>
          </a:xfrm>
          <a:prstGeom xmlns:a="http://schemas.openxmlformats.org/drawingml/2006/main" prst="rect">
            <a:avLst/>
          </a:prstGeom>
          <a:solidFill xmlns:a="http://schemas.openxmlformats.org/drawingml/2006/main">
            <a:srgbClr val="F9FAF7"/>
          </a:solidFill>
          <a:ln xmlns:a="http://schemas.openxmlformats.org/drawingml/2006/main" w="9525">
            <a:solidFill>
              <a:srgbClr val="D9DDD6"/>
            </a:solidFill>
            <a:prstDash val="solid"/>
          </a:ln>
        </p:spPr>
      </p:sp>
      <p:sp>
        <p:nvSpPr>
          <p:cNvPr id="20" name="">
            <a:extLst xmlns:a="http://schemas.openxmlformats.org/drawingml/2006/main">
              <a:ext uri="{FF2B5EF4-FFF2-40B4-BE49-F238E27FC236}">
                <a16:creationId xmlns:a16="http://schemas.microsoft.com/office/drawing/2014/main" id="{2E0033DB-6588-4334-B456-5C662086DAA2}"/>
              </a:ext>
            </a:extLst>
          </p:cNvPr>
          <p:cNvSpPr>
            <a:spLocks xmlns:a="http://schemas.openxmlformats.org/drawingml/2006/main" noGrp="1"/>
          </p:cNvSpPr>
          <p:nvPr/>
        </p:nvSpPr>
        <p:spPr>
          <a:xfrm xmlns:a="http://schemas.openxmlformats.org/drawingml/2006/main">
            <a:off x="4419600" y="2419350"/>
            <a:ext cx="266700" cy="19050"/>
          </a:xfrm>
          <a:prstGeom xmlns:a="http://schemas.openxmlformats.org/drawingml/2006/main" prst="rect">
            <a:avLst/>
          </a:prstGeom>
          <a:solidFill xmlns:a="http://schemas.openxmlformats.org/drawingml/2006/main">
            <a:srgbClr val="667A39"/>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E519C117-A26C-4A67-9876-D231C8028878}"/>
              </a:ext>
            </a:extLst>
          </p:cNvPr>
          <p:cNvSpPr>
            <a:spLocks xmlns:a="http://schemas.openxmlformats.org/drawingml/2006/main" noGrp="1"/>
          </p:cNvSpPr>
          <p:nvPr/>
        </p:nvSpPr>
        <p:spPr>
          <a:xfrm xmlns:a="http://schemas.openxmlformats.org/drawingml/2006/main">
            <a:off x="4781550" y="23431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LEARNER ACTIONS</a:t>
            </a:r>
          </a:p>
        </p:txBody>
      </p:sp>
      <p:sp>
        <p:nvSpPr>
          <p:cNvPr id="22" name="">
            <a:extLst xmlns:a="http://schemas.openxmlformats.org/drawingml/2006/main">
              <a:ext uri="{FF2B5EF4-FFF2-40B4-BE49-F238E27FC236}">
                <a16:creationId xmlns:a16="http://schemas.microsoft.com/office/drawing/2014/main" id="{81D24E38-8CC2-4D1B-8617-D9C85E2D8909}"/>
              </a:ext>
            </a:extLst>
          </p:cNvPr>
          <p:cNvSpPr>
            <a:spLocks xmlns:a="http://schemas.openxmlformats.org/drawingml/2006/main" noGrp="1"/>
          </p:cNvSpPr>
          <p:nvPr/>
        </p:nvSpPr>
        <p:spPr>
          <a:xfrm xmlns:a="http://schemas.openxmlformats.org/drawingml/2006/main">
            <a:off x="4419600" y="2781300"/>
            <a:ext cx="247650" cy="247650"/>
          </a:xfrm>
          <a:prstGeom xmlns:a="http://schemas.openxmlformats.org/drawingml/2006/main" prst="rect">
            <a:avLst/>
          </a:prstGeom>
          <a:solidFill xmlns:a="http://schemas.openxmlformats.org/drawingml/2006/main">
            <a:srgbClr val="E4E9D8"/>
          </a:solidFill>
          <a:ln xmlns:a="http://schemas.openxmlformats.org/drawingml/2006/main" w="9525">
            <a:solidFill>
              <a:srgbClr val="667A39"/>
            </a:solidFill>
            <a:prstDash val="solid"/>
          </a:ln>
        </p:spPr>
      </p:sp>
      <p:sp>
        <p:nvSpPr>
          <p:cNvPr id="23" name="">
            <a:extLst xmlns:a="http://schemas.openxmlformats.org/drawingml/2006/main">
              <a:ext uri="{FF2B5EF4-FFF2-40B4-BE49-F238E27FC236}">
                <a16:creationId xmlns:a16="http://schemas.microsoft.com/office/drawing/2014/main" id="{E84AE7AC-C27E-4928-A59B-09163090754A}"/>
              </a:ext>
            </a:extLst>
          </p:cNvPr>
          <p:cNvSpPr>
            <a:spLocks xmlns:a="http://schemas.openxmlformats.org/drawingml/2006/main" noGrp="1"/>
          </p:cNvSpPr>
          <p:nvPr/>
        </p:nvSpPr>
        <p:spPr>
          <a:xfrm xmlns:a="http://schemas.openxmlformats.org/drawingml/2006/main">
            <a:off x="4419600" y="280987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1</a:t>
            </a:r>
          </a:p>
        </p:txBody>
      </p:sp>
      <p:sp>
        <p:nvSpPr>
          <p:cNvPr id="24" name="">
            <a:extLst xmlns:a="http://schemas.openxmlformats.org/drawingml/2006/main">
              <a:ext uri="{FF2B5EF4-FFF2-40B4-BE49-F238E27FC236}">
                <a16:creationId xmlns:a16="http://schemas.microsoft.com/office/drawing/2014/main" id="{974F8589-897E-44A1-AE6F-77AF247DE031}"/>
              </a:ext>
            </a:extLst>
          </p:cNvPr>
          <p:cNvSpPr>
            <a:spLocks xmlns:a="http://schemas.openxmlformats.org/drawingml/2006/main" noGrp="1"/>
          </p:cNvSpPr>
          <p:nvPr/>
        </p:nvSpPr>
        <p:spPr>
          <a:xfrm xmlns:a="http://schemas.openxmlformats.org/drawingml/2006/main">
            <a:off x="4819650" y="2771775"/>
            <a:ext cx="56959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Choose at least two content-demand assets, two solution-demand assets, and one vendor-demand or...</a:t>
            </a:r>
          </a:p>
        </p:txBody>
      </p:sp>
      <p:sp>
        <p:nvSpPr>
          <p:cNvPr id="25" name="">
            <a:extLst xmlns:a="http://schemas.openxmlformats.org/drawingml/2006/main">
              <a:ext uri="{FF2B5EF4-FFF2-40B4-BE49-F238E27FC236}">
                <a16:creationId xmlns:a16="http://schemas.microsoft.com/office/drawing/2014/main" id="{BFA9E463-2C93-46C0-B804-E05FF6C669D8}"/>
              </a:ext>
            </a:extLst>
          </p:cNvPr>
          <p:cNvSpPr>
            <a:spLocks xmlns:a="http://schemas.openxmlformats.org/drawingml/2006/main" noGrp="1"/>
          </p:cNvSpPr>
          <p:nvPr/>
        </p:nvSpPr>
        <p:spPr>
          <a:xfrm xmlns:a="http://schemas.openxmlformats.org/drawingml/2006/main">
            <a:off x="4419600" y="3429000"/>
            <a:ext cx="247650" cy="247650"/>
          </a:xfrm>
          <a:prstGeom xmlns:a="http://schemas.openxmlformats.org/drawingml/2006/main" prst="rect">
            <a:avLst/>
          </a:prstGeom>
          <a:solidFill xmlns:a="http://schemas.openxmlformats.org/drawingml/2006/main">
            <a:srgbClr val="E4E9D8"/>
          </a:solidFill>
          <a:ln xmlns:a="http://schemas.openxmlformats.org/drawingml/2006/main" w="9525">
            <a:solidFill>
              <a:srgbClr val="667A39"/>
            </a:solidFill>
            <a:prstDash val="solid"/>
          </a:ln>
        </p:spPr>
      </p:sp>
      <p:sp>
        <p:nvSpPr>
          <p:cNvPr id="26" name="">
            <a:extLst xmlns:a="http://schemas.openxmlformats.org/drawingml/2006/main">
              <a:ext uri="{FF2B5EF4-FFF2-40B4-BE49-F238E27FC236}">
                <a16:creationId xmlns:a16="http://schemas.microsoft.com/office/drawing/2014/main" id="{D8B511F6-FB8B-4BCA-B876-0606914B6117}"/>
              </a:ext>
            </a:extLst>
          </p:cNvPr>
          <p:cNvSpPr>
            <a:spLocks xmlns:a="http://schemas.openxmlformats.org/drawingml/2006/main" noGrp="1"/>
          </p:cNvSpPr>
          <p:nvPr/>
        </p:nvSpPr>
        <p:spPr>
          <a:xfrm xmlns:a="http://schemas.openxmlformats.org/drawingml/2006/main">
            <a:off x="4419600" y="345757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2</a:t>
            </a:r>
          </a:p>
        </p:txBody>
      </p:sp>
      <p:sp>
        <p:nvSpPr>
          <p:cNvPr id="27" name="">
            <a:extLst xmlns:a="http://schemas.openxmlformats.org/drawingml/2006/main">
              <a:ext uri="{FF2B5EF4-FFF2-40B4-BE49-F238E27FC236}">
                <a16:creationId xmlns:a16="http://schemas.microsoft.com/office/drawing/2014/main" id="{57EE3F77-506E-4154-A081-E1583869FA71}"/>
              </a:ext>
            </a:extLst>
          </p:cNvPr>
          <p:cNvSpPr>
            <a:spLocks xmlns:a="http://schemas.openxmlformats.org/drawingml/2006/main" noGrp="1"/>
          </p:cNvSpPr>
          <p:nvPr/>
        </p:nvSpPr>
        <p:spPr>
          <a:xfrm xmlns:a="http://schemas.openxmlformats.org/drawingml/2006/main">
            <a:off x="4819650" y="3419475"/>
            <a:ext cx="56959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For each asset, define buyer question, SME input, sales use, distribution path, signal created, and...</a:t>
            </a:r>
          </a:p>
        </p:txBody>
      </p:sp>
      <p:sp>
        <p:nvSpPr>
          <p:cNvPr id="28" name="">
            <a:extLst xmlns:a="http://schemas.openxmlformats.org/drawingml/2006/main">
              <a:ext uri="{FF2B5EF4-FFF2-40B4-BE49-F238E27FC236}">
                <a16:creationId xmlns:a16="http://schemas.microsoft.com/office/drawing/2014/main" id="{4E9E10B0-BAFF-476B-AABD-89247C563432}"/>
              </a:ext>
            </a:extLst>
          </p:cNvPr>
          <p:cNvSpPr>
            <a:spLocks xmlns:a="http://schemas.openxmlformats.org/drawingml/2006/main" noGrp="1"/>
          </p:cNvSpPr>
          <p:nvPr/>
        </p:nvSpPr>
        <p:spPr>
          <a:xfrm xmlns:a="http://schemas.openxmlformats.org/drawingml/2006/main">
            <a:off x="4419600" y="4076700"/>
            <a:ext cx="247650" cy="247650"/>
          </a:xfrm>
          <a:prstGeom xmlns:a="http://schemas.openxmlformats.org/drawingml/2006/main" prst="rect">
            <a:avLst/>
          </a:prstGeom>
          <a:solidFill xmlns:a="http://schemas.openxmlformats.org/drawingml/2006/main">
            <a:srgbClr val="E4E9D8"/>
          </a:solidFill>
          <a:ln xmlns:a="http://schemas.openxmlformats.org/drawingml/2006/main" w="9525">
            <a:solidFill>
              <a:srgbClr val="667A39"/>
            </a:solidFill>
            <a:prstDash val="solid"/>
          </a:ln>
        </p:spPr>
      </p:sp>
      <p:sp>
        <p:nvSpPr>
          <p:cNvPr id="29" name="">
            <a:extLst xmlns:a="http://schemas.openxmlformats.org/drawingml/2006/main">
              <a:ext uri="{FF2B5EF4-FFF2-40B4-BE49-F238E27FC236}">
                <a16:creationId xmlns:a16="http://schemas.microsoft.com/office/drawing/2014/main" id="{87BC5487-D572-4A55-8A58-5515BC9FC045}"/>
              </a:ext>
            </a:extLst>
          </p:cNvPr>
          <p:cNvSpPr>
            <a:spLocks xmlns:a="http://schemas.openxmlformats.org/drawingml/2006/main" noGrp="1"/>
          </p:cNvSpPr>
          <p:nvPr/>
        </p:nvSpPr>
        <p:spPr>
          <a:xfrm xmlns:a="http://schemas.openxmlformats.org/drawingml/2006/main">
            <a:off x="4419600" y="410527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3</a:t>
            </a:r>
          </a:p>
        </p:txBody>
      </p:sp>
      <p:sp>
        <p:nvSpPr>
          <p:cNvPr id="30" name="">
            <a:extLst xmlns:a="http://schemas.openxmlformats.org/drawingml/2006/main">
              <a:ext uri="{FF2B5EF4-FFF2-40B4-BE49-F238E27FC236}">
                <a16:creationId xmlns:a16="http://schemas.microsoft.com/office/drawing/2014/main" id="{98205E3D-CDF8-4079-89CB-AF5246B05E98}"/>
              </a:ext>
            </a:extLst>
          </p:cNvPr>
          <p:cNvSpPr>
            <a:spLocks xmlns:a="http://schemas.openxmlformats.org/drawingml/2006/main" noGrp="1"/>
          </p:cNvSpPr>
          <p:nvPr/>
        </p:nvSpPr>
        <p:spPr>
          <a:xfrm xmlns:a="http://schemas.openxmlformats.org/drawingml/2006/main">
            <a:off x="4819650" y="4067175"/>
            <a:ext cx="56959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Label build now, repair, or later.</a:t>
            </a:r>
          </a:p>
        </p:txBody>
      </p:sp>
      <p:sp>
        <p:nvSpPr>
          <p:cNvPr id="31" name="">
            <a:extLst xmlns:a="http://schemas.openxmlformats.org/drawingml/2006/main">
              <a:ext uri="{FF2B5EF4-FFF2-40B4-BE49-F238E27FC236}">
                <a16:creationId xmlns:a16="http://schemas.microsoft.com/office/drawing/2014/main" id="{C45E36B5-DD64-4386-852A-2DF7025F3AA7}"/>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D961CD1D-2D84-40C7-BF3A-63CB2AC8FAB7}"/>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33" name="">
            <a:extLst xmlns:a="http://schemas.openxmlformats.org/drawingml/2006/main">
              <a:ext uri="{FF2B5EF4-FFF2-40B4-BE49-F238E27FC236}">
                <a16:creationId xmlns:a16="http://schemas.microsoft.com/office/drawing/2014/main" id="{85FD53EF-472E-4176-8157-D8692DC14CFC}"/>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34" name="">
            <a:extLst xmlns:a="http://schemas.openxmlformats.org/drawingml/2006/main">
              <a:ext uri="{FF2B5EF4-FFF2-40B4-BE49-F238E27FC236}">
                <a16:creationId xmlns:a16="http://schemas.microsoft.com/office/drawing/2014/main" id="{398845F4-0E58-4304-90E0-331BF289B0FA}"/>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8/15</a:t>
            </a:r>
          </a:p>
        </p:txBody>
      </p:sp>
    </p:spTree>
    <p:extLst>
      <p:ext uri="{BB962C8B-B14F-4D97-AF65-F5344CB8AC3E}">
        <p14:creationId xmlns:p14="http://schemas.microsoft.com/office/powerpoint/2010/main" val="30885471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601B758-00FC-4389-809C-C48C7B0AE6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503BF15-CBFD-4C46-9D92-70F56C9A7FE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AF75B13-5004-4386-934A-1F335DABEEEC}"/>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5-marker">
            <a:extLst xmlns:a="http://schemas.openxmlformats.org/drawingml/2006/main">
              <a:ext uri="{FF2B5EF4-FFF2-40B4-BE49-F238E27FC236}">
                <a16:creationId xmlns:a16="http://schemas.microsoft.com/office/drawing/2014/main" id="{FEA5698B-30AA-4544-B425-EEACB562050A}"/>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5-label">
            <a:extLst xmlns:a="http://schemas.openxmlformats.org/drawingml/2006/main">
              <a:ext uri="{FF2B5EF4-FFF2-40B4-BE49-F238E27FC236}">
                <a16:creationId xmlns:a16="http://schemas.microsoft.com/office/drawing/2014/main" id="{31A4F1ED-58A4-4000-86B7-59D1554FDB75}"/>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GROUP CRITIQUE</a:t>
            </a:r>
          </a:p>
        </p:txBody>
      </p:sp>
      <p:sp>
        <p:nvSpPr>
          <p:cNvPr id="6" name="">
            <a:extLst xmlns:a="http://schemas.openxmlformats.org/drawingml/2006/main">
              <a:ext uri="{FF2B5EF4-FFF2-40B4-BE49-F238E27FC236}">
                <a16:creationId xmlns:a16="http://schemas.microsoft.com/office/drawing/2014/main" id="{AB138C30-859A-40B7-9484-BA15F842005D}"/>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Critique the operating decision, not the writing style.</a:t>
            </a:r>
          </a:p>
        </p:txBody>
      </p:sp>
      <p:sp>
        <p:nvSpPr>
          <p:cNvPr id="7" name="">
            <a:extLst xmlns:a="http://schemas.openxmlformats.org/drawingml/2006/main">
              <a:ext uri="{FF2B5EF4-FFF2-40B4-BE49-F238E27FC236}">
                <a16:creationId xmlns:a16="http://schemas.microsoft.com/office/drawing/2014/main" id="{FFB05CA8-0C02-483F-81FF-0B5ADC62FB41}"/>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Peers should find one false assumption, missing proof need, or unclear owner.</a:t>
            </a:r>
          </a:p>
        </p:txBody>
      </p:sp>
      <p:sp>
        <p:nvSpPr>
          <p:cNvPr id="8" name="">
            <a:extLst xmlns:a="http://schemas.openxmlformats.org/drawingml/2006/main">
              <a:ext uri="{FF2B5EF4-FFF2-40B4-BE49-F238E27FC236}">
                <a16:creationId xmlns:a16="http://schemas.microsoft.com/office/drawing/2014/main" id="{29733E46-41AE-4AF4-B039-D247545F3CC2}"/>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69C58D1B-B855-47D9-A991-C52350FAC198}"/>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10" name="">
            <a:extLst xmlns:a="http://schemas.openxmlformats.org/drawingml/2006/main">
              <a:ext uri="{FF2B5EF4-FFF2-40B4-BE49-F238E27FC236}">
                <a16:creationId xmlns:a16="http://schemas.microsoft.com/office/drawing/2014/main" id="{250A493F-E41B-4ED4-81E7-88A219E29536}"/>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11" name="">
            <a:extLst xmlns:a="http://schemas.openxmlformats.org/drawingml/2006/main">
              <a:ext uri="{FF2B5EF4-FFF2-40B4-BE49-F238E27FC236}">
                <a16:creationId xmlns:a16="http://schemas.microsoft.com/office/drawing/2014/main" id="{6260ACB1-2FFC-4331-A480-199F89A08D43}"/>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9/15</a:t>
            </a:r>
          </a:p>
        </p:txBody>
      </p:sp>
      <p:sp>
        <p:nvSpPr>
          <p:cNvPr id="12" name="">
            <a:extLst xmlns:a="http://schemas.openxmlformats.org/drawingml/2006/main">
              <a:ext uri="{FF2B5EF4-FFF2-40B4-BE49-F238E27FC236}">
                <a16:creationId xmlns:a16="http://schemas.microsoft.com/office/drawing/2014/main" id="{E1B3A564-E350-4065-B0AF-DC4C5089D859}"/>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FA8B76B8-9CE2-451B-8D4D-C59A4B275EF9}"/>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4" name="">
            <a:extLst xmlns:a="http://schemas.openxmlformats.org/drawingml/2006/main">
              <a:ext uri="{FF2B5EF4-FFF2-40B4-BE49-F238E27FC236}">
                <a16:creationId xmlns:a16="http://schemas.microsoft.com/office/drawing/2014/main" id="{0F3730D8-72BD-4B14-B4A5-4F782F0CA074}"/>
              </a:ext>
            </a:extLst>
          </p:cNvPr>
          <p:cNvSpPr>
            <a:spLocks xmlns:a="http://schemas.openxmlformats.org/drawingml/2006/main" noGrp="1"/>
          </p:cNvSpPr>
          <p:nvPr/>
        </p:nvSpPr>
        <p:spPr>
          <a:xfrm xmlns:a="http://schemas.openxmlformats.org/drawingml/2006/main">
            <a:off x="609600" y="2266950"/>
            <a:ext cx="266700" cy="190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8C9E715F-A963-474A-872A-83A8C385A2FC}"/>
              </a:ext>
            </a:extLst>
          </p:cNvPr>
          <p:cNvSpPr>
            <a:spLocks xmlns:a="http://schemas.openxmlformats.org/drawingml/2006/main" noGrp="1"/>
          </p:cNvSpPr>
          <p:nvPr/>
        </p:nvSpPr>
        <p:spPr>
          <a:xfrm xmlns:a="http://schemas.openxmlformats.org/drawingml/2006/main">
            <a:off x="971550" y="2190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TEST THE ARTIFACT</a:t>
            </a:r>
          </a:p>
        </p:txBody>
      </p:sp>
      <p:sp>
        <p:nvSpPr>
          <p:cNvPr id="16" name="">
            <a:extLst xmlns:a="http://schemas.openxmlformats.org/drawingml/2006/main">
              <a:ext uri="{FF2B5EF4-FFF2-40B4-BE49-F238E27FC236}">
                <a16:creationId xmlns:a16="http://schemas.microsoft.com/office/drawing/2014/main" id="{3BF06194-2AC1-4FC7-A11C-47CC0D8445F0}"/>
              </a:ext>
            </a:extLst>
          </p:cNvPr>
          <p:cNvSpPr>
            <a:spLocks xmlns:a="http://schemas.openxmlformats.org/drawingml/2006/main" noGrp="1"/>
          </p:cNvSpPr>
          <p:nvPr/>
        </p:nvSpPr>
        <p:spPr>
          <a:xfrm xmlns:a="http://schemas.openxmlformats.org/drawingml/2006/main">
            <a:off x="609600" y="2647950"/>
            <a:ext cx="247650" cy="247650"/>
          </a:xfrm>
          <a:prstGeom xmlns:a="http://schemas.openxmlformats.org/drawingml/2006/main" prst="rect">
            <a:avLst/>
          </a:prstGeom>
          <a:solidFill xmlns:a="http://schemas.openxmlformats.org/drawingml/2006/main">
            <a:srgbClr val="DCE8E9"/>
          </a:solidFill>
          <a:ln xmlns:a="http://schemas.openxmlformats.org/drawingml/2006/main" w="9525">
            <a:solidFill>
              <a:srgbClr val="1D6072"/>
            </a:solidFill>
            <a:prstDash val="solid"/>
          </a:ln>
        </p:spPr>
      </p:sp>
      <p:sp>
        <p:nvSpPr>
          <p:cNvPr id="17" name="">
            <a:extLst xmlns:a="http://schemas.openxmlformats.org/drawingml/2006/main">
              <a:ext uri="{FF2B5EF4-FFF2-40B4-BE49-F238E27FC236}">
                <a16:creationId xmlns:a16="http://schemas.microsoft.com/office/drawing/2014/main" id="{D4875C50-58C2-41C3-95BF-3F449A56D2E9}"/>
              </a:ext>
            </a:extLst>
          </p:cNvPr>
          <p:cNvSpPr>
            <a:spLocks xmlns:a="http://schemas.openxmlformats.org/drawingml/2006/main" noGrp="1"/>
          </p:cNvSpPr>
          <p:nvPr/>
        </p:nvSpPr>
        <p:spPr>
          <a:xfrm xmlns:a="http://schemas.openxmlformats.org/drawingml/2006/main">
            <a:off x="609600" y="267652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1</a:t>
            </a:r>
          </a:p>
        </p:txBody>
      </p:sp>
      <p:sp>
        <p:nvSpPr>
          <p:cNvPr id="18" name="">
            <a:extLst xmlns:a="http://schemas.openxmlformats.org/drawingml/2006/main">
              <a:ext uri="{FF2B5EF4-FFF2-40B4-BE49-F238E27FC236}">
                <a16:creationId xmlns:a16="http://schemas.microsoft.com/office/drawing/2014/main" id="{22E3E797-FB08-4228-A83C-EDC4372C1EC4}"/>
              </a:ext>
            </a:extLst>
          </p:cNvPr>
          <p:cNvSpPr>
            <a:spLocks xmlns:a="http://schemas.openxmlformats.org/drawingml/2006/main" noGrp="1"/>
          </p:cNvSpPr>
          <p:nvPr/>
        </p:nvSpPr>
        <p:spPr>
          <a:xfrm xmlns:a="http://schemas.openxmlformats.org/drawingml/2006/main">
            <a:off x="1009650" y="2638425"/>
            <a:ext cx="43624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Is the asset useful before the buyer is ready to talk to sales?</a:t>
            </a:r>
          </a:p>
        </p:txBody>
      </p:sp>
      <p:sp>
        <p:nvSpPr>
          <p:cNvPr id="19" name="">
            <a:extLst xmlns:a="http://schemas.openxmlformats.org/drawingml/2006/main">
              <a:ext uri="{FF2B5EF4-FFF2-40B4-BE49-F238E27FC236}">
                <a16:creationId xmlns:a16="http://schemas.microsoft.com/office/drawing/2014/main" id="{195AFF9E-7CDC-4609-B707-CF2D163A1823}"/>
              </a:ext>
            </a:extLst>
          </p:cNvPr>
          <p:cNvSpPr>
            <a:spLocks xmlns:a="http://schemas.openxmlformats.org/drawingml/2006/main" noGrp="1"/>
          </p:cNvSpPr>
          <p:nvPr/>
        </p:nvSpPr>
        <p:spPr>
          <a:xfrm xmlns:a="http://schemas.openxmlformats.org/drawingml/2006/main">
            <a:off x="609600" y="3238500"/>
            <a:ext cx="247650" cy="247650"/>
          </a:xfrm>
          <a:prstGeom xmlns:a="http://schemas.openxmlformats.org/drawingml/2006/main" prst="rect">
            <a:avLst/>
          </a:prstGeom>
          <a:solidFill xmlns:a="http://schemas.openxmlformats.org/drawingml/2006/main">
            <a:srgbClr val="DCE8E9"/>
          </a:solidFill>
          <a:ln xmlns:a="http://schemas.openxmlformats.org/drawingml/2006/main" w="9525">
            <a:solidFill>
              <a:srgbClr val="1D6072"/>
            </a:solidFill>
            <a:prstDash val="solid"/>
          </a:ln>
        </p:spPr>
      </p:sp>
      <p:sp>
        <p:nvSpPr>
          <p:cNvPr id="20" name="">
            <a:extLst xmlns:a="http://schemas.openxmlformats.org/drawingml/2006/main">
              <a:ext uri="{FF2B5EF4-FFF2-40B4-BE49-F238E27FC236}">
                <a16:creationId xmlns:a16="http://schemas.microsoft.com/office/drawing/2014/main" id="{1A6CE8A1-46C5-4F7E-8EC7-A05DE93D187A}"/>
              </a:ext>
            </a:extLst>
          </p:cNvPr>
          <p:cNvSpPr>
            <a:spLocks xmlns:a="http://schemas.openxmlformats.org/drawingml/2006/main" noGrp="1"/>
          </p:cNvSpPr>
          <p:nvPr/>
        </p:nvSpPr>
        <p:spPr>
          <a:xfrm xmlns:a="http://schemas.openxmlformats.org/drawingml/2006/main">
            <a:off x="609600" y="326707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2</a:t>
            </a:r>
          </a:p>
        </p:txBody>
      </p:sp>
      <p:sp>
        <p:nvSpPr>
          <p:cNvPr id="21" name="">
            <a:extLst xmlns:a="http://schemas.openxmlformats.org/drawingml/2006/main">
              <a:ext uri="{FF2B5EF4-FFF2-40B4-BE49-F238E27FC236}">
                <a16:creationId xmlns:a16="http://schemas.microsoft.com/office/drawing/2014/main" id="{C83AE86D-E000-4110-BC04-59A15067F06A}"/>
              </a:ext>
            </a:extLst>
          </p:cNvPr>
          <p:cNvSpPr>
            <a:spLocks xmlns:a="http://schemas.openxmlformats.org/drawingml/2006/main" noGrp="1"/>
          </p:cNvSpPr>
          <p:nvPr/>
        </p:nvSpPr>
        <p:spPr>
          <a:xfrm xmlns:a="http://schemas.openxmlformats.org/drawingml/2006/main">
            <a:off x="1009650" y="3228975"/>
            <a:ext cx="43624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Does it include field insight, technical proof, or SME judgment?</a:t>
            </a:r>
          </a:p>
        </p:txBody>
      </p:sp>
      <p:sp>
        <p:nvSpPr>
          <p:cNvPr id="22" name="">
            <a:extLst xmlns:a="http://schemas.openxmlformats.org/drawingml/2006/main">
              <a:ext uri="{FF2B5EF4-FFF2-40B4-BE49-F238E27FC236}">
                <a16:creationId xmlns:a16="http://schemas.microsoft.com/office/drawing/2014/main" id="{14D98D88-2C30-43F4-8B53-77195A29C6B1}"/>
              </a:ext>
            </a:extLst>
          </p:cNvPr>
          <p:cNvSpPr>
            <a:spLocks xmlns:a="http://schemas.openxmlformats.org/drawingml/2006/main" noGrp="1"/>
          </p:cNvSpPr>
          <p:nvPr/>
        </p:nvSpPr>
        <p:spPr>
          <a:xfrm xmlns:a="http://schemas.openxmlformats.org/drawingml/2006/main">
            <a:off x="609600" y="3829050"/>
            <a:ext cx="247650" cy="247650"/>
          </a:xfrm>
          <a:prstGeom xmlns:a="http://schemas.openxmlformats.org/drawingml/2006/main" prst="rect">
            <a:avLst/>
          </a:prstGeom>
          <a:solidFill xmlns:a="http://schemas.openxmlformats.org/drawingml/2006/main">
            <a:srgbClr val="DCE8E9"/>
          </a:solidFill>
          <a:ln xmlns:a="http://schemas.openxmlformats.org/drawingml/2006/main" w="9525">
            <a:solidFill>
              <a:srgbClr val="1D6072"/>
            </a:solidFill>
            <a:prstDash val="solid"/>
          </a:ln>
        </p:spPr>
      </p:sp>
      <p:sp>
        <p:nvSpPr>
          <p:cNvPr id="23" name="">
            <a:extLst xmlns:a="http://schemas.openxmlformats.org/drawingml/2006/main">
              <a:ext uri="{FF2B5EF4-FFF2-40B4-BE49-F238E27FC236}">
                <a16:creationId xmlns:a16="http://schemas.microsoft.com/office/drawing/2014/main" id="{648A2568-C0FB-4103-B5C5-5A2DEE91ACF5}"/>
              </a:ext>
            </a:extLst>
          </p:cNvPr>
          <p:cNvSpPr>
            <a:spLocks xmlns:a="http://schemas.openxmlformats.org/drawingml/2006/main" noGrp="1"/>
          </p:cNvSpPr>
          <p:nvPr/>
        </p:nvSpPr>
        <p:spPr>
          <a:xfrm xmlns:a="http://schemas.openxmlformats.org/drawingml/2006/main">
            <a:off x="609600" y="385762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3</a:t>
            </a:r>
          </a:p>
        </p:txBody>
      </p:sp>
      <p:sp>
        <p:nvSpPr>
          <p:cNvPr id="24" name="">
            <a:extLst xmlns:a="http://schemas.openxmlformats.org/drawingml/2006/main">
              <a:ext uri="{FF2B5EF4-FFF2-40B4-BE49-F238E27FC236}">
                <a16:creationId xmlns:a16="http://schemas.microsoft.com/office/drawing/2014/main" id="{19BA83F3-C5D2-4131-BB93-103049A15825}"/>
              </a:ext>
            </a:extLst>
          </p:cNvPr>
          <p:cNvSpPr>
            <a:spLocks xmlns:a="http://schemas.openxmlformats.org/drawingml/2006/main" noGrp="1"/>
          </p:cNvSpPr>
          <p:nvPr/>
        </p:nvSpPr>
        <p:spPr>
          <a:xfrm xmlns:a="http://schemas.openxmlformats.org/drawingml/2006/main">
            <a:off x="1009650" y="3819525"/>
            <a:ext cx="43624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Can sales use it without rewriting?</a:t>
            </a:r>
          </a:p>
        </p:txBody>
      </p:sp>
      <p:sp>
        <p:nvSpPr>
          <p:cNvPr id="25" name="">
            <a:extLst xmlns:a="http://schemas.openxmlformats.org/drawingml/2006/main">
              <a:ext uri="{FF2B5EF4-FFF2-40B4-BE49-F238E27FC236}">
                <a16:creationId xmlns:a16="http://schemas.microsoft.com/office/drawing/2014/main" id="{89E30CA6-F2AF-485A-8FB8-94749FC8FBE7}"/>
              </a:ext>
            </a:extLst>
          </p:cNvPr>
          <p:cNvSpPr>
            <a:spLocks xmlns:a="http://schemas.openxmlformats.org/drawingml/2006/main" noGrp="1"/>
          </p:cNvSpPr>
          <p:nvPr/>
        </p:nvSpPr>
        <p:spPr>
          <a:xfrm xmlns:a="http://schemas.openxmlformats.org/drawingml/2006/main">
            <a:off x="6572250" y="2266950"/>
            <a:ext cx="266700" cy="190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D9EF7316-E2A7-4EE2-8E71-7A2F7915584D}"/>
              </a:ext>
            </a:extLst>
          </p:cNvPr>
          <p:cNvSpPr>
            <a:spLocks xmlns:a="http://schemas.openxmlformats.org/drawingml/2006/main" noGrp="1"/>
          </p:cNvSpPr>
          <p:nvPr/>
        </p:nvSpPr>
        <p:spPr>
          <a:xfrm xmlns:a="http://schemas.openxmlformats.org/drawingml/2006/main">
            <a:off x="6934200" y="2190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FORCE THE REPAIR</a:t>
            </a:r>
          </a:p>
        </p:txBody>
      </p:sp>
      <p:sp>
        <p:nvSpPr>
          <p:cNvPr id="27" name="">
            <a:extLst xmlns:a="http://schemas.openxmlformats.org/drawingml/2006/main">
              <a:ext uri="{FF2B5EF4-FFF2-40B4-BE49-F238E27FC236}">
                <a16:creationId xmlns:a16="http://schemas.microsoft.com/office/drawing/2014/main" id="{1F03F5EA-EDB4-4B4C-AF6D-8B133E1FF876}"/>
              </a:ext>
            </a:extLst>
          </p:cNvPr>
          <p:cNvSpPr>
            <a:spLocks xmlns:a="http://schemas.openxmlformats.org/drawingml/2006/main" noGrp="1"/>
          </p:cNvSpPr>
          <p:nvPr/>
        </p:nvSpPr>
        <p:spPr>
          <a:xfrm xmlns:a="http://schemas.openxmlformats.org/drawingml/2006/main">
            <a:off x="6572250" y="2647950"/>
            <a:ext cx="247650" cy="247650"/>
          </a:xfrm>
          <a:prstGeom xmlns:a="http://schemas.openxmlformats.org/drawingml/2006/main" prst="rect">
            <a:avLst/>
          </a:prstGeom>
          <a:solidFill xmlns:a="http://schemas.openxmlformats.org/drawingml/2006/main">
            <a:srgbClr val="F0DFD5"/>
          </a:solidFill>
          <a:ln xmlns:a="http://schemas.openxmlformats.org/drawingml/2006/main" w="9525">
            <a:solidFill>
              <a:srgbClr val="A85D2A"/>
            </a:solidFill>
            <a:prstDash val="solid"/>
          </a:ln>
        </p:spPr>
      </p:sp>
      <p:sp>
        <p:nvSpPr>
          <p:cNvPr id="28" name="">
            <a:extLst xmlns:a="http://schemas.openxmlformats.org/drawingml/2006/main">
              <a:ext uri="{FF2B5EF4-FFF2-40B4-BE49-F238E27FC236}">
                <a16:creationId xmlns:a16="http://schemas.microsoft.com/office/drawing/2014/main" id="{1B01F71B-2A49-42BF-91DD-713917CC2D08}"/>
              </a:ext>
            </a:extLst>
          </p:cNvPr>
          <p:cNvSpPr>
            <a:spLocks xmlns:a="http://schemas.openxmlformats.org/drawingml/2006/main" noGrp="1"/>
          </p:cNvSpPr>
          <p:nvPr/>
        </p:nvSpPr>
        <p:spPr>
          <a:xfrm xmlns:a="http://schemas.openxmlformats.org/drawingml/2006/main">
            <a:off x="6572250" y="267652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1</a:t>
            </a:r>
          </a:p>
        </p:txBody>
      </p:sp>
      <p:sp>
        <p:nvSpPr>
          <p:cNvPr id="29" name="">
            <a:extLst xmlns:a="http://schemas.openxmlformats.org/drawingml/2006/main">
              <a:ext uri="{FF2B5EF4-FFF2-40B4-BE49-F238E27FC236}">
                <a16:creationId xmlns:a16="http://schemas.microsoft.com/office/drawing/2014/main" id="{D4D7A2F9-7A4B-4471-9995-D08A76DAB0CF}"/>
              </a:ext>
            </a:extLst>
          </p:cNvPr>
          <p:cNvSpPr>
            <a:spLocks xmlns:a="http://schemas.openxmlformats.org/drawingml/2006/main" noGrp="1"/>
          </p:cNvSpPr>
          <p:nvPr/>
        </p:nvSpPr>
        <p:spPr>
          <a:xfrm xmlns:a="http://schemas.openxmlformats.org/drawingml/2006/main">
            <a:off x="6972300" y="2638425"/>
            <a:ext cx="43624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Does it reduce a specific decision risk?</a:t>
            </a:r>
          </a:p>
        </p:txBody>
      </p:sp>
      <p:sp>
        <p:nvSpPr>
          <p:cNvPr id="30" name="">
            <a:extLst xmlns:a="http://schemas.openxmlformats.org/drawingml/2006/main">
              <a:ext uri="{FF2B5EF4-FFF2-40B4-BE49-F238E27FC236}">
                <a16:creationId xmlns:a16="http://schemas.microsoft.com/office/drawing/2014/main" id="{D5C08BB4-832B-4D50-A107-CD347EF3A8E3}"/>
              </a:ext>
            </a:extLst>
          </p:cNvPr>
          <p:cNvSpPr>
            <a:spLocks xmlns:a="http://schemas.openxmlformats.org/drawingml/2006/main" noGrp="1"/>
          </p:cNvSpPr>
          <p:nvPr/>
        </p:nvSpPr>
        <p:spPr>
          <a:xfrm xmlns:a="http://schemas.openxmlformats.org/drawingml/2006/main">
            <a:off x="6572250" y="3238500"/>
            <a:ext cx="247650" cy="247650"/>
          </a:xfrm>
          <a:prstGeom xmlns:a="http://schemas.openxmlformats.org/drawingml/2006/main" prst="rect">
            <a:avLst/>
          </a:prstGeom>
          <a:solidFill xmlns:a="http://schemas.openxmlformats.org/drawingml/2006/main">
            <a:srgbClr val="F0DFD5"/>
          </a:solidFill>
          <a:ln xmlns:a="http://schemas.openxmlformats.org/drawingml/2006/main" w="9525">
            <a:solidFill>
              <a:srgbClr val="A85D2A"/>
            </a:solidFill>
            <a:prstDash val="solid"/>
          </a:ln>
        </p:spPr>
      </p:sp>
      <p:sp>
        <p:nvSpPr>
          <p:cNvPr id="31" name="">
            <a:extLst xmlns:a="http://schemas.openxmlformats.org/drawingml/2006/main">
              <a:ext uri="{FF2B5EF4-FFF2-40B4-BE49-F238E27FC236}">
                <a16:creationId xmlns:a16="http://schemas.microsoft.com/office/drawing/2014/main" id="{4BB87906-4981-4B45-96BE-30DA445ED9A1}"/>
              </a:ext>
            </a:extLst>
          </p:cNvPr>
          <p:cNvSpPr>
            <a:spLocks xmlns:a="http://schemas.openxmlformats.org/drawingml/2006/main" noGrp="1"/>
          </p:cNvSpPr>
          <p:nvPr/>
        </p:nvSpPr>
        <p:spPr>
          <a:xfrm xmlns:a="http://schemas.openxmlformats.org/drawingml/2006/main">
            <a:off x="6572250" y="326707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2</a:t>
            </a:r>
          </a:p>
        </p:txBody>
      </p:sp>
      <p:sp>
        <p:nvSpPr>
          <p:cNvPr id="32" name="">
            <a:extLst xmlns:a="http://schemas.openxmlformats.org/drawingml/2006/main">
              <a:ext uri="{FF2B5EF4-FFF2-40B4-BE49-F238E27FC236}">
                <a16:creationId xmlns:a16="http://schemas.microsoft.com/office/drawing/2014/main" id="{6B8FB953-D5A6-48B6-99CF-9B1B57ECE262}"/>
              </a:ext>
            </a:extLst>
          </p:cNvPr>
          <p:cNvSpPr>
            <a:spLocks xmlns:a="http://schemas.openxmlformats.org/drawingml/2006/main" noGrp="1"/>
          </p:cNvSpPr>
          <p:nvPr/>
        </p:nvSpPr>
        <p:spPr>
          <a:xfrm xmlns:a="http://schemas.openxmlformats.org/drawingml/2006/main">
            <a:off x="6972300" y="3228975"/>
            <a:ext cx="43624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Can it be distributed through a trusted channel?</a:t>
            </a:r>
          </a:p>
        </p:txBody>
      </p:sp>
      <p:sp>
        <p:nvSpPr>
          <p:cNvPr id="33" name="">
            <a:extLst xmlns:a="http://schemas.openxmlformats.org/drawingml/2006/main">
              <a:ext uri="{FF2B5EF4-FFF2-40B4-BE49-F238E27FC236}">
                <a16:creationId xmlns:a16="http://schemas.microsoft.com/office/drawing/2014/main" id="{4EB7F6E1-C2D2-4C18-A443-8A3AF89CBB02}"/>
              </a:ext>
            </a:extLst>
          </p:cNvPr>
          <p:cNvSpPr>
            <a:spLocks xmlns:a="http://schemas.openxmlformats.org/drawingml/2006/main" noGrp="1"/>
          </p:cNvSpPr>
          <p:nvPr/>
        </p:nvSpPr>
        <p:spPr>
          <a:xfrm xmlns:a="http://schemas.openxmlformats.org/drawingml/2006/main">
            <a:off x="6572250" y="3829050"/>
            <a:ext cx="247650" cy="247650"/>
          </a:xfrm>
          <a:prstGeom xmlns:a="http://schemas.openxmlformats.org/drawingml/2006/main" prst="rect">
            <a:avLst/>
          </a:prstGeom>
          <a:solidFill xmlns:a="http://schemas.openxmlformats.org/drawingml/2006/main">
            <a:srgbClr val="F0DFD5"/>
          </a:solidFill>
          <a:ln xmlns:a="http://schemas.openxmlformats.org/drawingml/2006/main" w="9525">
            <a:solidFill>
              <a:srgbClr val="A85D2A"/>
            </a:solidFill>
            <a:prstDash val="solid"/>
          </a:ln>
        </p:spPr>
      </p:sp>
      <p:sp>
        <p:nvSpPr>
          <p:cNvPr id="34" name="">
            <a:extLst xmlns:a="http://schemas.openxmlformats.org/drawingml/2006/main">
              <a:ext uri="{FF2B5EF4-FFF2-40B4-BE49-F238E27FC236}">
                <a16:creationId xmlns:a16="http://schemas.microsoft.com/office/drawing/2014/main" id="{FF04961A-143C-4497-868E-8208232D73C3}"/>
              </a:ext>
            </a:extLst>
          </p:cNvPr>
          <p:cNvSpPr>
            <a:spLocks xmlns:a="http://schemas.openxmlformats.org/drawingml/2006/main" noGrp="1"/>
          </p:cNvSpPr>
          <p:nvPr/>
        </p:nvSpPr>
        <p:spPr>
          <a:xfrm xmlns:a="http://schemas.openxmlformats.org/drawingml/2006/main">
            <a:off x="6572250" y="385762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3</a:t>
            </a:r>
          </a:p>
        </p:txBody>
      </p:sp>
      <p:sp>
        <p:nvSpPr>
          <p:cNvPr id="35" name="">
            <a:extLst xmlns:a="http://schemas.openxmlformats.org/drawingml/2006/main">
              <a:ext uri="{FF2B5EF4-FFF2-40B4-BE49-F238E27FC236}">
                <a16:creationId xmlns:a16="http://schemas.microsoft.com/office/drawing/2014/main" id="{62B9A4ED-B36D-45DD-AA56-36247D2B8F92}"/>
              </a:ext>
            </a:extLst>
          </p:cNvPr>
          <p:cNvSpPr>
            <a:spLocks xmlns:a="http://schemas.openxmlformats.org/drawingml/2006/main" noGrp="1"/>
          </p:cNvSpPr>
          <p:nvPr/>
        </p:nvSpPr>
        <p:spPr>
          <a:xfrm xmlns:a="http://schemas.openxmlformats.org/drawingml/2006/main">
            <a:off x="6972300" y="3819525"/>
            <a:ext cx="43624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Would a serious industrial buyer respect it?</a:t>
            </a:r>
          </a:p>
        </p:txBody>
      </p:sp>
      <p:sp>
        <p:nvSpPr>
          <p:cNvPr id="36" name="">
            <a:extLst xmlns:a="http://schemas.openxmlformats.org/drawingml/2006/main">
              <a:ext uri="{FF2B5EF4-FFF2-40B4-BE49-F238E27FC236}">
                <a16:creationId xmlns:a16="http://schemas.microsoft.com/office/drawing/2014/main" id="{4F61F898-C034-4D42-AECA-7BF6C8766DA6}"/>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8AE01E85-497D-4338-8048-88DCF7190128}"/>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38" name="">
            <a:extLst xmlns:a="http://schemas.openxmlformats.org/drawingml/2006/main">
              <a:ext uri="{FF2B5EF4-FFF2-40B4-BE49-F238E27FC236}">
                <a16:creationId xmlns:a16="http://schemas.microsoft.com/office/drawing/2014/main" id="{F5359196-61FA-4BFB-85C6-669777043A42}"/>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39" name="">
            <a:extLst xmlns:a="http://schemas.openxmlformats.org/drawingml/2006/main">
              <a:ext uri="{FF2B5EF4-FFF2-40B4-BE49-F238E27FC236}">
                <a16:creationId xmlns:a16="http://schemas.microsoft.com/office/drawing/2014/main" id="{A5FFEF67-435A-4982-8C32-9AC02A6D1411}"/>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9/15</a:t>
            </a:r>
          </a:p>
        </p:txBody>
      </p:sp>
      <p:sp>
        <p:nvSpPr>
          <p:cNvPr id="40" name="">
            <a:extLst xmlns:a="http://schemas.openxmlformats.org/drawingml/2006/main">
              <a:ext uri="{FF2B5EF4-FFF2-40B4-BE49-F238E27FC236}">
                <a16:creationId xmlns:a16="http://schemas.microsoft.com/office/drawing/2014/main" id="{C243747D-3872-4866-B299-3033109C91C9}"/>
              </a:ext>
            </a:extLst>
          </p:cNvPr>
          <p:cNvSpPr>
            <a:spLocks xmlns:a="http://schemas.openxmlformats.org/drawingml/2006/main" noGrp="1"/>
          </p:cNvSpPr>
          <p:nvPr/>
        </p:nvSpPr>
        <p:spPr>
          <a:xfrm xmlns:a="http://schemas.openxmlformats.org/drawingml/2006/main">
            <a:off x="0" y="0"/>
            <a:ext cx="12192000" cy="18097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3BD52EF2-3BDB-44B0-9686-8CEDF69EA414}"/>
              </a:ext>
            </a:extLst>
          </p:cNvPr>
          <p:cNvSpPr>
            <a:spLocks xmlns:a="http://schemas.openxmlformats.org/drawingml/2006/main" noGrp="1"/>
          </p:cNvSpPr>
          <p:nvPr/>
        </p:nvSpPr>
        <p:spPr>
          <a:xfrm xmlns:a="http://schemas.openxmlformats.org/drawingml/2006/main">
            <a:off x="0" y="0"/>
            <a:ext cx="171450" cy="180975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62454A05-9DC9-4D34-A144-E65C8D0FA88F}"/>
              </a:ext>
            </a:extLst>
          </p:cNvPr>
          <p:cNvSpPr>
            <a:spLocks xmlns:a="http://schemas.openxmlformats.org/drawingml/2006/main" noGrp="1"/>
          </p:cNvSpPr>
          <p:nvPr/>
        </p:nvSpPr>
        <p:spPr>
          <a:xfrm xmlns:a="http://schemas.openxmlformats.org/drawingml/2006/main">
            <a:off x="171450" y="0"/>
            <a:ext cx="57150" cy="18097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3" name="kicker-05-marker">
            <a:extLst xmlns:a="http://schemas.openxmlformats.org/drawingml/2006/main">
              <a:ext uri="{FF2B5EF4-FFF2-40B4-BE49-F238E27FC236}">
                <a16:creationId xmlns:a16="http://schemas.microsoft.com/office/drawing/2014/main" id="{4187F457-D9C0-4055-AC1B-FC44BA82B68C}"/>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4" name="kicker-05-label">
            <a:extLst xmlns:a="http://schemas.openxmlformats.org/drawingml/2006/main">
              <a:ext uri="{FF2B5EF4-FFF2-40B4-BE49-F238E27FC236}">
                <a16:creationId xmlns:a16="http://schemas.microsoft.com/office/drawing/2014/main" id="{C42F51C9-DCF7-46B6-96D5-48701FE37997}"/>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GROUP CRITIQUE</a:t>
            </a:r>
          </a:p>
        </p:txBody>
      </p:sp>
      <p:sp>
        <p:nvSpPr>
          <p:cNvPr id="45" name="">
            <a:extLst xmlns:a="http://schemas.openxmlformats.org/drawingml/2006/main">
              <a:ext uri="{FF2B5EF4-FFF2-40B4-BE49-F238E27FC236}">
                <a16:creationId xmlns:a16="http://schemas.microsoft.com/office/drawing/2014/main" id="{145F21F3-CFC8-464A-BBB6-5573DBA95796}"/>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Critique the operating decision, not the writing style.</a:t>
            </a:r>
          </a:p>
        </p:txBody>
      </p:sp>
      <p:sp>
        <p:nvSpPr>
          <p:cNvPr id="46" name="">
            <a:extLst xmlns:a="http://schemas.openxmlformats.org/drawingml/2006/main">
              <a:ext uri="{FF2B5EF4-FFF2-40B4-BE49-F238E27FC236}">
                <a16:creationId xmlns:a16="http://schemas.microsoft.com/office/drawing/2014/main" id="{37BD1FB6-6C76-4308-9F0C-0FBE0EE9CC05}"/>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Peers should find one false assumption, missing proof need, or unclear owner.</a:t>
            </a:r>
          </a:p>
        </p:txBody>
      </p:sp>
      <p:sp>
        <p:nvSpPr>
          <p:cNvPr id="47" name="">
            <a:extLst xmlns:a="http://schemas.openxmlformats.org/drawingml/2006/main">
              <a:ext uri="{FF2B5EF4-FFF2-40B4-BE49-F238E27FC236}">
                <a16:creationId xmlns:a16="http://schemas.microsoft.com/office/drawing/2014/main" id="{C356CFA6-F6AE-4496-84A3-0508DDBB34E1}"/>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CC4ACC7D-A9B0-4B1E-B228-E3BF82A565DF}"/>
              </a:ext>
            </a:extLst>
          </p:cNvPr>
          <p:cNvSpPr>
            <a:spLocks xmlns:a="http://schemas.openxmlformats.org/drawingml/2006/main" noGrp="1"/>
          </p:cNvSpPr>
          <p:nvPr/>
        </p:nvSpPr>
        <p:spPr>
          <a:xfrm xmlns:a="http://schemas.openxmlformats.org/drawingml/2006/main">
            <a:off x="0" y="6400800"/>
            <a:ext cx="171450" cy="4572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5CA7FF5F-3887-413E-AC1A-ADFE6D8220A7}"/>
              </a:ext>
            </a:extLst>
          </p:cNvPr>
          <p:cNvSpPr>
            <a:spLocks xmlns:a="http://schemas.openxmlformats.org/drawingml/2006/main" noGrp="1"/>
          </p:cNvSpPr>
          <p:nvPr/>
        </p:nvSpPr>
        <p:spPr>
          <a:xfrm xmlns:a="http://schemas.openxmlformats.org/drawingml/2006/main">
            <a:off x="171450" y="6400800"/>
            <a:ext cx="57150" cy="457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99198678-F2A2-49BE-BF73-B06E7161D0CE}"/>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051F073A-A8D8-422A-A237-91BDD84148B2}"/>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52" name="">
            <a:extLst xmlns:a="http://schemas.openxmlformats.org/drawingml/2006/main">
              <a:ext uri="{FF2B5EF4-FFF2-40B4-BE49-F238E27FC236}">
                <a16:creationId xmlns:a16="http://schemas.microsoft.com/office/drawing/2014/main" id="{3DCC5F0E-9A39-420B-8483-1A9F08F91996}"/>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53" name="">
            <a:extLst xmlns:a="http://schemas.openxmlformats.org/drawingml/2006/main">
              <a:ext uri="{FF2B5EF4-FFF2-40B4-BE49-F238E27FC236}">
                <a16:creationId xmlns:a16="http://schemas.microsoft.com/office/drawing/2014/main" id="{643989C0-DB77-46B2-9D5F-4A77D76215C2}"/>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9/15</a:t>
            </a:r>
          </a:p>
        </p:txBody>
      </p:sp>
    </p:spTree>
    <p:extLst>
      <p:ext uri="{BB962C8B-B14F-4D97-AF65-F5344CB8AC3E}">
        <p14:creationId xmlns:p14="http://schemas.microsoft.com/office/powerpoint/2010/main" val="51284910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87CF08D-8A79-4E48-9347-0EE61F49B5A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13A81D1-3627-4F1F-A960-9895D317275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92BDA81-A5EC-400F-8362-3844F88E28A1}"/>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5-marker">
            <a:extLst xmlns:a="http://schemas.openxmlformats.org/drawingml/2006/main">
              <a:ext uri="{FF2B5EF4-FFF2-40B4-BE49-F238E27FC236}">
                <a16:creationId xmlns:a16="http://schemas.microsoft.com/office/drawing/2014/main" id="{6E343D3A-84A1-4B81-93A3-9B3454B0C40C}"/>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5-label">
            <a:extLst xmlns:a="http://schemas.openxmlformats.org/drawingml/2006/main">
              <a:ext uri="{FF2B5EF4-FFF2-40B4-BE49-F238E27FC236}">
                <a16:creationId xmlns:a16="http://schemas.microsoft.com/office/drawing/2014/main" id="{06EA0D40-6192-47ED-A9FA-F9318F54939E}"/>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AI-ASSISTED EXERCISE</a:t>
            </a:r>
          </a:p>
        </p:txBody>
      </p:sp>
      <p:sp>
        <p:nvSpPr>
          <p:cNvPr id="6" name="">
            <a:extLst xmlns:a="http://schemas.openxmlformats.org/drawingml/2006/main">
              <a:ext uri="{FF2B5EF4-FFF2-40B4-BE49-F238E27FC236}">
                <a16:creationId xmlns:a16="http://schemas.microsoft.com/office/drawing/2014/main" id="{90408E34-F58E-49A0-9CBF-50F526CCD99F}"/>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Use AI to structure the attempt, then make humans responsible for judgment.</a:t>
            </a:r>
          </a:p>
        </p:txBody>
      </p:sp>
      <p:sp>
        <p:nvSpPr>
          <p:cNvPr id="7" name="">
            <a:extLst xmlns:a="http://schemas.openxmlformats.org/drawingml/2006/main">
              <a:ext uri="{FF2B5EF4-FFF2-40B4-BE49-F238E27FC236}">
                <a16:creationId xmlns:a16="http://schemas.microsoft.com/office/drawing/2014/main" id="{35B6F482-4319-42C4-B328-2B84383BC7A0}"/>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The prompt is constrained by source, assumptions, output standard, and human validation.</a:t>
            </a:r>
          </a:p>
        </p:txBody>
      </p:sp>
      <p:sp>
        <p:nvSpPr>
          <p:cNvPr id="8" name="">
            <a:extLst xmlns:a="http://schemas.openxmlformats.org/drawingml/2006/main">
              <a:ext uri="{FF2B5EF4-FFF2-40B4-BE49-F238E27FC236}">
                <a16:creationId xmlns:a16="http://schemas.microsoft.com/office/drawing/2014/main" id="{B1D3E3E8-B845-4CF2-AF1F-C0310C5A9366}"/>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4E29B481-2999-49B6-9854-36214171D8E9}"/>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10" name="">
            <a:extLst xmlns:a="http://schemas.openxmlformats.org/drawingml/2006/main">
              <a:ext uri="{FF2B5EF4-FFF2-40B4-BE49-F238E27FC236}">
                <a16:creationId xmlns:a16="http://schemas.microsoft.com/office/drawing/2014/main" id="{B53F7D86-9069-4E03-AF4F-EB10587B5103}"/>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11" name="">
            <a:extLst xmlns:a="http://schemas.openxmlformats.org/drawingml/2006/main">
              <a:ext uri="{FF2B5EF4-FFF2-40B4-BE49-F238E27FC236}">
                <a16:creationId xmlns:a16="http://schemas.microsoft.com/office/drawing/2014/main" id="{53F8E6D7-120B-4879-9A14-6B052BE49FF2}"/>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10/15</a:t>
            </a:r>
          </a:p>
        </p:txBody>
      </p:sp>
      <p:sp>
        <p:nvSpPr>
          <p:cNvPr id="12" name="">
            <a:extLst xmlns:a="http://schemas.openxmlformats.org/drawingml/2006/main">
              <a:ext uri="{FF2B5EF4-FFF2-40B4-BE49-F238E27FC236}">
                <a16:creationId xmlns:a16="http://schemas.microsoft.com/office/drawing/2014/main" id="{A94F707E-C008-46EA-88E7-3F3CA7981F4F}"/>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641D46CC-F9E6-45E8-8B30-4E437053CF8B}"/>
              </a:ext>
            </a:extLst>
          </p:cNvPr>
          <p:cNvSpPr>
            <a:spLocks xmlns:a="http://schemas.openxmlformats.org/drawingml/2006/main" noGrp="1"/>
          </p:cNvSpPr>
          <p:nvPr/>
        </p:nvSpPr>
        <p:spPr>
          <a:xfrm xmlns:a="http://schemas.openxmlformats.org/drawingml/2006/main">
            <a:off x="228600" y="1809750"/>
            <a:ext cx="6096000" cy="4591050"/>
          </a:xfrm>
          <a:prstGeom xmlns:a="http://schemas.openxmlformats.org/drawingml/2006/main" prst="rect">
            <a:avLst/>
          </a:prstGeom>
          <a:solidFill xmlns:a="http://schemas.openxmlformats.org/drawingml/2006/main">
            <a:srgbClr val="12232B"/>
          </a:solidFill>
          <a:ln xmlns:a="http://schemas.openxmlformats.org/drawingml/2006/main" w="9525">
            <a:solidFill>
              <a:srgbClr val="12232B"/>
            </a:solidFill>
            <a:prstDash val="solid"/>
          </a:ln>
        </p:spPr>
      </p:sp>
      <p:sp>
        <p:nvSpPr>
          <p:cNvPr id="14" name="">
            <a:extLst xmlns:a="http://schemas.openxmlformats.org/drawingml/2006/main">
              <a:ext uri="{FF2B5EF4-FFF2-40B4-BE49-F238E27FC236}">
                <a16:creationId xmlns:a16="http://schemas.microsoft.com/office/drawing/2014/main" id="{34CEF18D-5F5C-4DA3-8E0D-88AF537A61E8}"/>
              </a:ext>
            </a:extLst>
          </p:cNvPr>
          <p:cNvSpPr>
            <a:spLocks xmlns:a="http://schemas.openxmlformats.org/drawingml/2006/main" noGrp="1"/>
          </p:cNvSpPr>
          <p:nvPr/>
        </p:nvSpPr>
        <p:spPr>
          <a:xfrm xmlns:a="http://schemas.openxmlformats.org/drawingml/2006/main">
            <a:off x="609600" y="2266950"/>
            <a:ext cx="266700" cy="19050"/>
          </a:xfrm>
          <a:prstGeom xmlns:a="http://schemas.openxmlformats.org/drawingml/2006/main" prst="rect">
            <a:avLst/>
          </a:prstGeom>
          <a:solidFill xmlns:a="http://schemas.openxmlformats.org/drawingml/2006/main">
            <a:srgbClr val="B7953B"/>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E55CD7A4-0A61-42FC-A6C4-E6232C9AC62F}"/>
              </a:ext>
            </a:extLst>
          </p:cNvPr>
          <p:cNvSpPr>
            <a:spLocks xmlns:a="http://schemas.openxmlformats.org/drawingml/2006/main" noGrp="1"/>
          </p:cNvSpPr>
          <p:nvPr/>
        </p:nvSpPr>
        <p:spPr>
          <a:xfrm xmlns:a="http://schemas.openxmlformats.org/drawingml/2006/main">
            <a:off x="971550" y="2190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PROMPT TO GIVE AI</a:t>
            </a:r>
          </a:p>
        </p:txBody>
      </p:sp>
      <p:sp>
        <p:nvSpPr>
          <p:cNvPr id="16" name="">
            <a:extLst xmlns:a="http://schemas.openxmlformats.org/drawingml/2006/main">
              <a:ext uri="{FF2B5EF4-FFF2-40B4-BE49-F238E27FC236}">
                <a16:creationId xmlns:a16="http://schemas.microsoft.com/office/drawing/2014/main" id="{6307AB76-CA96-4504-82E1-E160C65CD9AF}"/>
              </a:ext>
            </a:extLst>
          </p:cNvPr>
          <p:cNvSpPr>
            <a:spLocks xmlns:a="http://schemas.openxmlformats.org/drawingml/2006/main" noGrp="1"/>
          </p:cNvSpPr>
          <p:nvPr/>
        </p:nvSpPr>
        <p:spPr>
          <a:xfrm xmlns:a="http://schemas.openxmlformats.org/drawingml/2006/main">
            <a:off x="609600" y="2647950"/>
            <a:ext cx="5048250" cy="2190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Turn the MOIN grid into a content plan. For each asset, name the buyer question, demand state, format, SME input, sales use, distribution path, signal design, and quality risk. Flag where human technical or field validation is required before drafting.</a:t>
            </a:r>
          </a:p>
        </p:txBody>
      </p:sp>
      <p:sp>
        <p:nvSpPr>
          <p:cNvPr id="17" name="">
            <a:extLst xmlns:a="http://schemas.openxmlformats.org/drawingml/2006/main">
              <a:ext uri="{FF2B5EF4-FFF2-40B4-BE49-F238E27FC236}">
                <a16:creationId xmlns:a16="http://schemas.microsoft.com/office/drawing/2014/main" id="{62E19D2A-26D5-433F-8E64-0B127E60513C}"/>
              </a:ext>
            </a:extLst>
          </p:cNvPr>
          <p:cNvSpPr>
            <a:spLocks xmlns:a="http://schemas.openxmlformats.org/drawingml/2006/main" noGrp="1"/>
          </p:cNvSpPr>
          <p:nvPr/>
        </p:nvSpPr>
        <p:spPr>
          <a:xfrm xmlns:a="http://schemas.openxmlformats.org/drawingml/2006/main">
            <a:off x="6324600" y="1809750"/>
            <a:ext cx="5867400" cy="45910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8" name="">
            <a:extLst xmlns:a="http://schemas.openxmlformats.org/drawingml/2006/main">
              <a:ext uri="{FF2B5EF4-FFF2-40B4-BE49-F238E27FC236}">
                <a16:creationId xmlns:a16="http://schemas.microsoft.com/office/drawing/2014/main" id="{C1116466-6EE2-4E48-A55D-3C290B4D9B3E}"/>
              </a:ext>
            </a:extLst>
          </p:cNvPr>
          <p:cNvSpPr>
            <a:spLocks xmlns:a="http://schemas.openxmlformats.org/drawingml/2006/main" noGrp="1"/>
          </p:cNvSpPr>
          <p:nvPr/>
        </p:nvSpPr>
        <p:spPr>
          <a:xfrm xmlns:a="http://schemas.openxmlformats.org/drawingml/2006/main">
            <a:off x="6705600" y="2266950"/>
            <a:ext cx="266700" cy="190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D57E3662-1009-4235-AAE4-F7862947A935}"/>
              </a:ext>
            </a:extLst>
          </p:cNvPr>
          <p:cNvSpPr>
            <a:spLocks xmlns:a="http://schemas.openxmlformats.org/drawingml/2006/main" noGrp="1"/>
          </p:cNvSpPr>
          <p:nvPr/>
        </p:nvSpPr>
        <p:spPr>
          <a:xfrm xmlns:a="http://schemas.openxmlformats.org/drawingml/2006/main">
            <a:off x="7067550" y="2190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REQUIRED OUTPUT STANDARD</a:t>
            </a:r>
          </a:p>
        </p:txBody>
      </p:sp>
      <p:sp>
        <p:nvSpPr>
          <p:cNvPr id="20" name="">
            <a:extLst xmlns:a="http://schemas.openxmlformats.org/drawingml/2006/main">
              <a:ext uri="{FF2B5EF4-FFF2-40B4-BE49-F238E27FC236}">
                <a16:creationId xmlns:a16="http://schemas.microsoft.com/office/drawing/2014/main" id="{184401B3-B445-4170-A227-FFFAE6EE91DF}"/>
              </a:ext>
            </a:extLst>
          </p:cNvPr>
          <p:cNvSpPr>
            <a:spLocks xmlns:a="http://schemas.openxmlformats.org/drawingml/2006/main" noGrp="1"/>
          </p:cNvSpPr>
          <p:nvPr/>
        </p:nvSpPr>
        <p:spPr>
          <a:xfrm xmlns:a="http://schemas.openxmlformats.org/drawingml/2006/main">
            <a:off x="6705600" y="271462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0AC650D1-FBA4-4AFF-8411-A43E4285E611}"/>
              </a:ext>
            </a:extLst>
          </p:cNvPr>
          <p:cNvSpPr>
            <a:spLocks xmlns:a="http://schemas.openxmlformats.org/drawingml/2006/main" noGrp="1"/>
          </p:cNvSpPr>
          <p:nvPr/>
        </p:nvSpPr>
        <p:spPr>
          <a:xfrm xmlns:a="http://schemas.openxmlformats.org/drawingml/2006/main">
            <a:off x="6877050" y="2647950"/>
            <a:ext cx="42100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Assets tied to role, question, and demand state</a:t>
            </a:r>
          </a:p>
        </p:txBody>
      </p:sp>
      <p:sp>
        <p:nvSpPr>
          <p:cNvPr id="22" name="">
            <a:extLst xmlns:a="http://schemas.openxmlformats.org/drawingml/2006/main">
              <a:ext uri="{FF2B5EF4-FFF2-40B4-BE49-F238E27FC236}">
                <a16:creationId xmlns:a16="http://schemas.microsoft.com/office/drawing/2014/main" id="{2B826F50-E3D2-441F-A2A4-BA113037EA41}"/>
              </a:ext>
            </a:extLst>
          </p:cNvPr>
          <p:cNvSpPr>
            <a:spLocks xmlns:a="http://schemas.openxmlformats.org/drawingml/2006/main" noGrp="1"/>
          </p:cNvSpPr>
          <p:nvPr/>
        </p:nvSpPr>
        <p:spPr>
          <a:xfrm xmlns:a="http://schemas.openxmlformats.org/drawingml/2006/main">
            <a:off x="6705600" y="319087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9A4874BE-4BD0-46B2-ABF6-6070549581F6}"/>
              </a:ext>
            </a:extLst>
          </p:cNvPr>
          <p:cNvSpPr>
            <a:spLocks xmlns:a="http://schemas.openxmlformats.org/drawingml/2006/main" noGrp="1"/>
          </p:cNvSpPr>
          <p:nvPr/>
        </p:nvSpPr>
        <p:spPr>
          <a:xfrm xmlns:a="http://schemas.openxmlformats.org/drawingml/2006/main">
            <a:off x="6877050" y="3124200"/>
            <a:ext cx="42100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Specific SME input required</a:t>
            </a:r>
          </a:p>
        </p:txBody>
      </p:sp>
      <p:sp>
        <p:nvSpPr>
          <p:cNvPr id="24" name="">
            <a:extLst xmlns:a="http://schemas.openxmlformats.org/drawingml/2006/main">
              <a:ext uri="{FF2B5EF4-FFF2-40B4-BE49-F238E27FC236}">
                <a16:creationId xmlns:a16="http://schemas.microsoft.com/office/drawing/2014/main" id="{146D35A6-BD91-4183-AB0B-8E5A552EC372}"/>
              </a:ext>
            </a:extLst>
          </p:cNvPr>
          <p:cNvSpPr>
            <a:spLocks xmlns:a="http://schemas.openxmlformats.org/drawingml/2006/main" noGrp="1"/>
          </p:cNvSpPr>
          <p:nvPr/>
        </p:nvSpPr>
        <p:spPr>
          <a:xfrm xmlns:a="http://schemas.openxmlformats.org/drawingml/2006/main">
            <a:off x="6705600" y="366712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A401A384-EB49-4DF2-869D-1024CCB82683}"/>
              </a:ext>
            </a:extLst>
          </p:cNvPr>
          <p:cNvSpPr>
            <a:spLocks xmlns:a="http://schemas.openxmlformats.org/drawingml/2006/main" noGrp="1"/>
          </p:cNvSpPr>
          <p:nvPr/>
        </p:nvSpPr>
        <p:spPr>
          <a:xfrm xmlns:a="http://schemas.openxmlformats.org/drawingml/2006/main">
            <a:off x="6877050" y="3600450"/>
            <a:ext cx="42100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Sales use and account context</a:t>
            </a:r>
          </a:p>
        </p:txBody>
      </p:sp>
      <p:sp>
        <p:nvSpPr>
          <p:cNvPr id="26" name="">
            <a:extLst xmlns:a="http://schemas.openxmlformats.org/drawingml/2006/main">
              <a:ext uri="{FF2B5EF4-FFF2-40B4-BE49-F238E27FC236}">
                <a16:creationId xmlns:a16="http://schemas.microsoft.com/office/drawing/2014/main" id="{6C5951F8-D6DB-4F34-992F-CFF820B6BFBA}"/>
              </a:ext>
            </a:extLst>
          </p:cNvPr>
          <p:cNvSpPr>
            <a:spLocks xmlns:a="http://schemas.openxmlformats.org/drawingml/2006/main" noGrp="1"/>
          </p:cNvSpPr>
          <p:nvPr/>
        </p:nvSpPr>
        <p:spPr>
          <a:xfrm xmlns:a="http://schemas.openxmlformats.org/drawingml/2006/main">
            <a:off x="6705600" y="414337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E7CF74E0-E517-4766-8CEC-60D663B2BF3E}"/>
              </a:ext>
            </a:extLst>
          </p:cNvPr>
          <p:cNvSpPr>
            <a:spLocks xmlns:a="http://schemas.openxmlformats.org/drawingml/2006/main" noGrp="1"/>
          </p:cNvSpPr>
          <p:nvPr/>
        </p:nvSpPr>
        <p:spPr>
          <a:xfrm xmlns:a="http://schemas.openxmlformats.org/drawingml/2006/main">
            <a:off x="6877050" y="4076700"/>
            <a:ext cx="42100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Signal design and routing implication</a:t>
            </a:r>
          </a:p>
        </p:txBody>
      </p:sp>
      <p:sp>
        <p:nvSpPr>
          <p:cNvPr id="28" name="">
            <a:extLst xmlns:a="http://schemas.openxmlformats.org/drawingml/2006/main">
              <a:ext uri="{FF2B5EF4-FFF2-40B4-BE49-F238E27FC236}">
                <a16:creationId xmlns:a16="http://schemas.microsoft.com/office/drawing/2014/main" id="{E752A602-DDCF-42AE-97A9-2A2C4BC295E2}"/>
              </a:ext>
            </a:extLst>
          </p:cNvPr>
          <p:cNvSpPr>
            <a:spLocks xmlns:a="http://schemas.openxmlformats.org/drawingml/2006/main" noGrp="1"/>
          </p:cNvSpPr>
          <p:nvPr/>
        </p:nvSpPr>
        <p:spPr>
          <a:xfrm xmlns:a="http://schemas.openxmlformats.org/drawingml/2006/main">
            <a:off x="6705600" y="461962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2343D6AC-68A0-4796-8E21-FCBE18E33D8F}"/>
              </a:ext>
            </a:extLst>
          </p:cNvPr>
          <p:cNvSpPr>
            <a:spLocks xmlns:a="http://schemas.openxmlformats.org/drawingml/2006/main" noGrp="1"/>
          </p:cNvSpPr>
          <p:nvPr/>
        </p:nvSpPr>
        <p:spPr>
          <a:xfrm xmlns:a="http://schemas.openxmlformats.org/drawingml/2006/main">
            <a:off x="6877050" y="4552950"/>
            <a:ext cx="42100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Distribution path and quality risk</a:t>
            </a:r>
          </a:p>
        </p:txBody>
      </p:sp>
      <p:sp>
        <p:nvSpPr>
          <p:cNvPr id="30" name="">
            <a:extLst xmlns:a="http://schemas.openxmlformats.org/drawingml/2006/main">
              <a:ext uri="{FF2B5EF4-FFF2-40B4-BE49-F238E27FC236}">
                <a16:creationId xmlns:a16="http://schemas.microsoft.com/office/drawing/2014/main" id="{AE83E186-96F8-4C87-93C8-8168405541D9}"/>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876A3D46-9EDA-41BC-A2F0-D1EFE194D002}"/>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32" name="">
            <a:extLst xmlns:a="http://schemas.openxmlformats.org/drawingml/2006/main">
              <a:ext uri="{FF2B5EF4-FFF2-40B4-BE49-F238E27FC236}">
                <a16:creationId xmlns:a16="http://schemas.microsoft.com/office/drawing/2014/main" id="{70CF1FB3-0C91-429C-BF1F-7B85CA5EED41}"/>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33" name="">
            <a:extLst xmlns:a="http://schemas.openxmlformats.org/drawingml/2006/main">
              <a:ext uri="{FF2B5EF4-FFF2-40B4-BE49-F238E27FC236}">
                <a16:creationId xmlns:a16="http://schemas.microsoft.com/office/drawing/2014/main" id="{5B772294-8502-4710-ADD5-01A65BBD9AFA}"/>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10/15</a:t>
            </a:r>
          </a:p>
        </p:txBody>
      </p:sp>
      <p:sp>
        <p:nvSpPr>
          <p:cNvPr id="34" name="">
            <a:extLst xmlns:a="http://schemas.openxmlformats.org/drawingml/2006/main">
              <a:ext uri="{FF2B5EF4-FFF2-40B4-BE49-F238E27FC236}">
                <a16:creationId xmlns:a16="http://schemas.microsoft.com/office/drawing/2014/main" id="{0764F592-386C-40B4-827C-2EC642AFBAF0}"/>
              </a:ext>
            </a:extLst>
          </p:cNvPr>
          <p:cNvSpPr>
            <a:spLocks xmlns:a="http://schemas.openxmlformats.org/drawingml/2006/main" noGrp="1"/>
          </p:cNvSpPr>
          <p:nvPr/>
        </p:nvSpPr>
        <p:spPr>
          <a:xfrm xmlns:a="http://schemas.openxmlformats.org/drawingml/2006/main">
            <a:off x="0" y="0"/>
            <a:ext cx="12192000" cy="18097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7084F76D-9440-46AD-A05A-BFB0B1B2DED7}"/>
              </a:ext>
            </a:extLst>
          </p:cNvPr>
          <p:cNvSpPr>
            <a:spLocks xmlns:a="http://schemas.openxmlformats.org/drawingml/2006/main" noGrp="1"/>
          </p:cNvSpPr>
          <p:nvPr/>
        </p:nvSpPr>
        <p:spPr>
          <a:xfrm xmlns:a="http://schemas.openxmlformats.org/drawingml/2006/main">
            <a:off x="0" y="0"/>
            <a:ext cx="171450" cy="180975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EF81792F-EB33-41AF-BF01-E2C63CB87031}"/>
              </a:ext>
            </a:extLst>
          </p:cNvPr>
          <p:cNvSpPr>
            <a:spLocks xmlns:a="http://schemas.openxmlformats.org/drawingml/2006/main" noGrp="1"/>
          </p:cNvSpPr>
          <p:nvPr/>
        </p:nvSpPr>
        <p:spPr>
          <a:xfrm xmlns:a="http://schemas.openxmlformats.org/drawingml/2006/main">
            <a:off x="171450" y="0"/>
            <a:ext cx="57150" cy="18097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37" name="kicker-05-marker">
            <a:extLst xmlns:a="http://schemas.openxmlformats.org/drawingml/2006/main">
              <a:ext uri="{FF2B5EF4-FFF2-40B4-BE49-F238E27FC236}">
                <a16:creationId xmlns:a16="http://schemas.microsoft.com/office/drawing/2014/main" id="{EF36AFC5-22F2-4C45-A541-3C39FE3C3E74}"/>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38" name="kicker-05-label">
            <a:extLst xmlns:a="http://schemas.openxmlformats.org/drawingml/2006/main">
              <a:ext uri="{FF2B5EF4-FFF2-40B4-BE49-F238E27FC236}">
                <a16:creationId xmlns:a16="http://schemas.microsoft.com/office/drawing/2014/main" id="{5708A371-1008-459A-91D8-AD01D85A397F}"/>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AI-ASSISTED EXERCISE</a:t>
            </a:r>
          </a:p>
        </p:txBody>
      </p:sp>
      <p:sp>
        <p:nvSpPr>
          <p:cNvPr id="39" name="">
            <a:extLst xmlns:a="http://schemas.openxmlformats.org/drawingml/2006/main">
              <a:ext uri="{FF2B5EF4-FFF2-40B4-BE49-F238E27FC236}">
                <a16:creationId xmlns:a16="http://schemas.microsoft.com/office/drawing/2014/main" id="{3AD5F1BB-2220-41E3-8F80-873106E8ED6E}"/>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Use AI to structure the attempt, then make humans responsible for judgment.</a:t>
            </a:r>
          </a:p>
        </p:txBody>
      </p:sp>
      <p:sp>
        <p:nvSpPr>
          <p:cNvPr id="40" name="">
            <a:extLst xmlns:a="http://schemas.openxmlformats.org/drawingml/2006/main">
              <a:ext uri="{FF2B5EF4-FFF2-40B4-BE49-F238E27FC236}">
                <a16:creationId xmlns:a16="http://schemas.microsoft.com/office/drawing/2014/main" id="{FE890399-5FBE-4794-9679-EE0BFCFB351E}"/>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The prompt is constrained by source, assumptions, output standard, and human validation.</a:t>
            </a:r>
          </a:p>
        </p:txBody>
      </p:sp>
      <p:sp>
        <p:nvSpPr>
          <p:cNvPr id="41" name="">
            <a:extLst xmlns:a="http://schemas.openxmlformats.org/drawingml/2006/main">
              <a:ext uri="{FF2B5EF4-FFF2-40B4-BE49-F238E27FC236}">
                <a16:creationId xmlns:a16="http://schemas.microsoft.com/office/drawing/2014/main" id="{5D4D431B-01AD-4AD8-83F3-F36EB5CA45FB}"/>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315624D2-C423-4F4A-8AC4-DB018D39D013}"/>
              </a:ext>
            </a:extLst>
          </p:cNvPr>
          <p:cNvSpPr>
            <a:spLocks xmlns:a="http://schemas.openxmlformats.org/drawingml/2006/main" noGrp="1"/>
          </p:cNvSpPr>
          <p:nvPr/>
        </p:nvSpPr>
        <p:spPr>
          <a:xfrm xmlns:a="http://schemas.openxmlformats.org/drawingml/2006/main">
            <a:off x="0" y="6400800"/>
            <a:ext cx="171450" cy="4572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5AF923BC-2BAC-46C6-A0B8-ADE43C94DD1F}"/>
              </a:ext>
            </a:extLst>
          </p:cNvPr>
          <p:cNvSpPr>
            <a:spLocks xmlns:a="http://schemas.openxmlformats.org/drawingml/2006/main" noGrp="1"/>
          </p:cNvSpPr>
          <p:nvPr/>
        </p:nvSpPr>
        <p:spPr>
          <a:xfrm xmlns:a="http://schemas.openxmlformats.org/drawingml/2006/main">
            <a:off x="171450" y="6400800"/>
            <a:ext cx="57150" cy="457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99CCFD9B-136C-4D8D-BD2B-B7C76864A0AD}"/>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56ACF765-7460-4261-B929-211E97B52831}"/>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46" name="">
            <a:extLst xmlns:a="http://schemas.openxmlformats.org/drawingml/2006/main">
              <a:ext uri="{FF2B5EF4-FFF2-40B4-BE49-F238E27FC236}">
                <a16:creationId xmlns:a16="http://schemas.microsoft.com/office/drawing/2014/main" id="{9CAD1A4D-1031-42DC-BA95-C29C8F8CC203}"/>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47" name="">
            <a:extLst xmlns:a="http://schemas.openxmlformats.org/drawingml/2006/main">
              <a:ext uri="{FF2B5EF4-FFF2-40B4-BE49-F238E27FC236}">
                <a16:creationId xmlns:a16="http://schemas.microsoft.com/office/drawing/2014/main" id="{D47D83FE-02C0-4D30-AE7D-AE279954F791}"/>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10/15</a:t>
            </a:r>
          </a:p>
        </p:txBody>
      </p:sp>
    </p:spTree>
    <p:extLst>
      <p:ext uri="{BB962C8B-B14F-4D97-AF65-F5344CB8AC3E}">
        <p14:creationId xmlns:p14="http://schemas.microsoft.com/office/powerpoint/2010/main" val="17623374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062E189-F8A6-4894-A5EF-3A5C2893A48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CBAFA56-00EF-4AAC-95D2-DB32E4668CE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A7AA15A-797E-497C-B568-E2134C1B3AC5}"/>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5-marker">
            <a:extLst xmlns:a="http://schemas.openxmlformats.org/drawingml/2006/main">
              <a:ext uri="{FF2B5EF4-FFF2-40B4-BE49-F238E27FC236}">
                <a16:creationId xmlns:a16="http://schemas.microsoft.com/office/drawing/2014/main" id="{854CFEC2-593F-4186-ACBD-8DB092C5A51C}"/>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5-label">
            <a:extLst xmlns:a="http://schemas.openxmlformats.org/drawingml/2006/main">
              <a:ext uri="{FF2B5EF4-FFF2-40B4-BE49-F238E27FC236}">
                <a16:creationId xmlns:a16="http://schemas.microsoft.com/office/drawing/2014/main" id="{5FAB3ECA-1627-4371-A1EE-9A1BA6C06202}"/>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HUMAN CORRECTION</a:t>
            </a:r>
          </a:p>
        </p:txBody>
      </p:sp>
      <p:sp>
        <p:nvSpPr>
          <p:cNvPr id="6" name="">
            <a:extLst xmlns:a="http://schemas.openxmlformats.org/drawingml/2006/main">
              <a:ext uri="{FF2B5EF4-FFF2-40B4-BE49-F238E27FC236}">
                <a16:creationId xmlns:a16="http://schemas.microsoft.com/office/drawing/2014/main" id="{0438A5F6-B9D9-4D4D-A8D4-25733D3390A6}"/>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AI can draft structure. Humans must repair industrial reality.</a:t>
            </a:r>
          </a:p>
        </p:txBody>
      </p:sp>
      <p:sp>
        <p:nvSpPr>
          <p:cNvPr id="7" name="">
            <a:extLst xmlns:a="http://schemas.openxmlformats.org/drawingml/2006/main">
              <a:ext uri="{FF2B5EF4-FFF2-40B4-BE49-F238E27FC236}">
                <a16:creationId xmlns:a16="http://schemas.microsoft.com/office/drawing/2014/main" id="{D44637A7-DCE6-4C37-BD0F-707EEDCE93F8}"/>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This slide gives the instructor a rejection standard.</a:t>
            </a:r>
          </a:p>
        </p:txBody>
      </p:sp>
      <p:sp>
        <p:nvSpPr>
          <p:cNvPr id="8" name="">
            <a:extLst xmlns:a="http://schemas.openxmlformats.org/drawingml/2006/main">
              <a:ext uri="{FF2B5EF4-FFF2-40B4-BE49-F238E27FC236}">
                <a16:creationId xmlns:a16="http://schemas.microsoft.com/office/drawing/2014/main" id="{EB5D8C07-4AFB-4492-8685-86A1C4B681B8}"/>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CA895E6-A0AA-43FD-80EB-F7CAA89BDDCE}"/>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10" name="">
            <a:extLst xmlns:a="http://schemas.openxmlformats.org/drawingml/2006/main">
              <a:ext uri="{FF2B5EF4-FFF2-40B4-BE49-F238E27FC236}">
                <a16:creationId xmlns:a16="http://schemas.microsoft.com/office/drawing/2014/main" id="{7DF859FA-3ABB-44E3-909E-EE3147EE6777}"/>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11" name="">
            <a:extLst xmlns:a="http://schemas.openxmlformats.org/drawingml/2006/main">
              <a:ext uri="{FF2B5EF4-FFF2-40B4-BE49-F238E27FC236}">
                <a16:creationId xmlns:a16="http://schemas.microsoft.com/office/drawing/2014/main" id="{CCD98BBC-A43E-4508-8269-B66AB57FE85A}"/>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11/15</a:t>
            </a:r>
          </a:p>
        </p:txBody>
      </p:sp>
      <p:sp>
        <p:nvSpPr>
          <p:cNvPr id="12" name="">
            <a:extLst xmlns:a="http://schemas.openxmlformats.org/drawingml/2006/main">
              <a:ext uri="{FF2B5EF4-FFF2-40B4-BE49-F238E27FC236}">
                <a16:creationId xmlns:a16="http://schemas.microsoft.com/office/drawing/2014/main" id="{304B4CB8-0CB9-4B54-A98B-E29638909A9D}"/>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E673BEF5-E49F-41A4-AE8F-C081A83472B5}"/>
              </a:ext>
            </a:extLst>
          </p:cNvPr>
          <p:cNvSpPr>
            <a:spLocks xmlns:a="http://schemas.openxmlformats.org/drawingml/2006/main" noGrp="1"/>
          </p:cNvSpPr>
          <p:nvPr/>
        </p:nvSpPr>
        <p:spPr>
          <a:xfrm xmlns:a="http://schemas.openxmlformats.org/drawingml/2006/main">
            <a:off x="228600" y="1809750"/>
            <a:ext cx="7677150" cy="45910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4" name="">
            <a:extLst xmlns:a="http://schemas.openxmlformats.org/drawingml/2006/main">
              <a:ext uri="{FF2B5EF4-FFF2-40B4-BE49-F238E27FC236}">
                <a16:creationId xmlns:a16="http://schemas.microsoft.com/office/drawing/2014/main" id="{DA5C010A-A993-4329-91BC-01ABFD831115}"/>
              </a:ext>
            </a:extLst>
          </p:cNvPr>
          <p:cNvSpPr>
            <a:spLocks xmlns:a="http://schemas.openxmlformats.org/drawingml/2006/main" noGrp="1"/>
          </p:cNvSpPr>
          <p:nvPr/>
        </p:nvSpPr>
        <p:spPr>
          <a:xfrm xmlns:a="http://schemas.openxmlformats.org/drawingml/2006/main">
            <a:off x="609600" y="2266950"/>
            <a:ext cx="266700" cy="19050"/>
          </a:xfrm>
          <a:prstGeom xmlns:a="http://schemas.openxmlformats.org/drawingml/2006/main" prst="rect">
            <a:avLst/>
          </a:prstGeom>
          <a:solidFill xmlns:a="http://schemas.openxmlformats.org/drawingml/2006/main">
            <a:srgbClr val="A8493D"/>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0C12FAB9-7373-44FF-9A84-9352EF60C708}"/>
              </a:ext>
            </a:extLst>
          </p:cNvPr>
          <p:cNvSpPr>
            <a:spLocks xmlns:a="http://schemas.openxmlformats.org/drawingml/2006/main" noGrp="1"/>
          </p:cNvSpPr>
          <p:nvPr/>
        </p:nvSpPr>
        <p:spPr>
          <a:xfrm xmlns:a="http://schemas.openxmlformats.org/drawingml/2006/main">
            <a:off x="971550" y="2190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REJECT OR REPAIR WHEN AI OUTPUT...</a:t>
            </a:r>
          </a:p>
        </p:txBody>
      </p:sp>
      <p:sp>
        <p:nvSpPr>
          <p:cNvPr id="16" name="">
            <a:extLst xmlns:a="http://schemas.openxmlformats.org/drawingml/2006/main">
              <a:ext uri="{FF2B5EF4-FFF2-40B4-BE49-F238E27FC236}">
                <a16:creationId xmlns:a16="http://schemas.microsoft.com/office/drawing/2014/main" id="{C9BEAB73-D0E1-4C92-A6A0-2F46A621070B}"/>
              </a:ext>
            </a:extLst>
          </p:cNvPr>
          <p:cNvSpPr>
            <a:spLocks xmlns:a="http://schemas.openxmlformats.org/drawingml/2006/main" noGrp="1"/>
          </p:cNvSpPr>
          <p:nvPr/>
        </p:nvSpPr>
        <p:spPr>
          <a:xfrm xmlns:a="http://schemas.openxmlformats.org/drawingml/2006/main">
            <a:off x="609600" y="2714625"/>
            <a:ext cx="57150" cy="57150"/>
          </a:xfrm>
          <a:prstGeom xmlns:a="http://schemas.openxmlformats.org/drawingml/2006/main" prst="rect">
            <a:avLst/>
          </a:prstGeom>
          <a:solidFill xmlns:a="http://schemas.openxmlformats.org/drawingml/2006/main">
            <a:srgbClr val="A8493D"/>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6B8B576A-F588-43E5-B146-4682363A45AD}"/>
              </a:ext>
            </a:extLst>
          </p:cNvPr>
          <p:cNvSpPr>
            <a:spLocks xmlns:a="http://schemas.openxmlformats.org/drawingml/2006/main" noGrp="1"/>
          </p:cNvSpPr>
          <p:nvPr/>
        </p:nvSpPr>
        <p:spPr>
          <a:xfrm xmlns:a="http://schemas.openxmlformats.org/drawingml/2006/main">
            <a:off x="781050" y="2647950"/>
            <a:ext cx="5924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Remove generic blog ideas.</a:t>
            </a:r>
          </a:p>
        </p:txBody>
      </p:sp>
      <p:sp>
        <p:nvSpPr>
          <p:cNvPr id="18" name="">
            <a:extLst xmlns:a="http://schemas.openxmlformats.org/drawingml/2006/main">
              <a:ext uri="{FF2B5EF4-FFF2-40B4-BE49-F238E27FC236}">
                <a16:creationId xmlns:a16="http://schemas.microsoft.com/office/drawing/2014/main" id="{8802A612-FF2C-4D7B-837D-E79E1B31F333}"/>
              </a:ext>
            </a:extLst>
          </p:cNvPr>
          <p:cNvSpPr>
            <a:spLocks xmlns:a="http://schemas.openxmlformats.org/drawingml/2006/main" noGrp="1"/>
          </p:cNvSpPr>
          <p:nvPr/>
        </p:nvSpPr>
        <p:spPr>
          <a:xfrm xmlns:a="http://schemas.openxmlformats.org/drawingml/2006/main">
            <a:off x="609600" y="3171825"/>
            <a:ext cx="57150" cy="57150"/>
          </a:xfrm>
          <a:prstGeom xmlns:a="http://schemas.openxmlformats.org/drawingml/2006/main" prst="rect">
            <a:avLst/>
          </a:prstGeom>
          <a:solidFill xmlns:a="http://schemas.openxmlformats.org/drawingml/2006/main">
            <a:srgbClr val="A8493D"/>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F6E3AB38-5135-46E2-8E0A-9FECE3A5B427}"/>
              </a:ext>
            </a:extLst>
          </p:cNvPr>
          <p:cNvSpPr>
            <a:spLocks xmlns:a="http://schemas.openxmlformats.org/drawingml/2006/main" noGrp="1"/>
          </p:cNvSpPr>
          <p:nvPr/>
        </p:nvSpPr>
        <p:spPr>
          <a:xfrm xmlns:a="http://schemas.openxmlformats.org/drawingml/2006/main">
            <a:off x="781050" y="3105150"/>
            <a:ext cx="5924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Remove product brochures disguised as education.</a:t>
            </a:r>
          </a:p>
        </p:txBody>
      </p:sp>
      <p:sp>
        <p:nvSpPr>
          <p:cNvPr id="20" name="">
            <a:extLst xmlns:a="http://schemas.openxmlformats.org/drawingml/2006/main">
              <a:ext uri="{FF2B5EF4-FFF2-40B4-BE49-F238E27FC236}">
                <a16:creationId xmlns:a16="http://schemas.microsoft.com/office/drawing/2014/main" id="{4A73A508-0395-4C54-A01C-CD6B2D765B17}"/>
              </a:ext>
            </a:extLst>
          </p:cNvPr>
          <p:cNvSpPr>
            <a:spLocks xmlns:a="http://schemas.openxmlformats.org/drawingml/2006/main" noGrp="1"/>
          </p:cNvSpPr>
          <p:nvPr/>
        </p:nvSpPr>
        <p:spPr>
          <a:xfrm xmlns:a="http://schemas.openxmlformats.org/drawingml/2006/main">
            <a:off x="609600" y="3629025"/>
            <a:ext cx="57150" cy="57150"/>
          </a:xfrm>
          <a:prstGeom xmlns:a="http://schemas.openxmlformats.org/drawingml/2006/main" prst="rect">
            <a:avLst/>
          </a:prstGeom>
          <a:solidFill xmlns:a="http://schemas.openxmlformats.org/drawingml/2006/main">
            <a:srgbClr val="A8493D"/>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1DD73907-55C7-4226-AD02-8112C1A628C3}"/>
              </a:ext>
            </a:extLst>
          </p:cNvPr>
          <p:cNvSpPr>
            <a:spLocks xmlns:a="http://schemas.openxmlformats.org/drawingml/2006/main" noGrp="1"/>
          </p:cNvSpPr>
          <p:nvPr/>
        </p:nvSpPr>
        <p:spPr>
          <a:xfrm xmlns:a="http://schemas.openxmlformats.org/drawingml/2006/main">
            <a:off x="781050" y="3562350"/>
            <a:ext cx="5924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Reject claims unsupported by proof.</a:t>
            </a:r>
          </a:p>
        </p:txBody>
      </p:sp>
      <p:sp>
        <p:nvSpPr>
          <p:cNvPr id="22" name="">
            <a:extLst xmlns:a="http://schemas.openxmlformats.org/drawingml/2006/main">
              <a:ext uri="{FF2B5EF4-FFF2-40B4-BE49-F238E27FC236}">
                <a16:creationId xmlns:a16="http://schemas.microsoft.com/office/drawing/2014/main" id="{DA1686B0-9FD4-45DD-AB2F-50A5372E0DC4}"/>
              </a:ext>
            </a:extLst>
          </p:cNvPr>
          <p:cNvSpPr>
            <a:spLocks xmlns:a="http://schemas.openxmlformats.org/drawingml/2006/main" noGrp="1"/>
          </p:cNvSpPr>
          <p:nvPr/>
        </p:nvSpPr>
        <p:spPr>
          <a:xfrm xmlns:a="http://schemas.openxmlformats.org/drawingml/2006/main">
            <a:off x="609600" y="4086225"/>
            <a:ext cx="57150" cy="57150"/>
          </a:xfrm>
          <a:prstGeom xmlns:a="http://schemas.openxmlformats.org/drawingml/2006/main" prst="rect">
            <a:avLst/>
          </a:prstGeom>
          <a:solidFill xmlns:a="http://schemas.openxmlformats.org/drawingml/2006/main">
            <a:srgbClr val="A8493D"/>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82938E9A-4A0F-411D-8728-0C043F87691B}"/>
              </a:ext>
            </a:extLst>
          </p:cNvPr>
          <p:cNvSpPr>
            <a:spLocks xmlns:a="http://schemas.openxmlformats.org/drawingml/2006/main" noGrp="1"/>
          </p:cNvSpPr>
          <p:nvPr/>
        </p:nvSpPr>
        <p:spPr>
          <a:xfrm xmlns:a="http://schemas.openxmlformats.org/drawingml/2006/main">
            <a:off x="781050" y="4019550"/>
            <a:ext cx="5924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Reject assets without a distribution path.</a:t>
            </a:r>
          </a:p>
        </p:txBody>
      </p:sp>
      <p:sp>
        <p:nvSpPr>
          <p:cNvPr id="24" name="">
            <a:extLst xmlns:a="http://schemas.openxmlformats.org/drawingml/2006/main">
              <a:ext uri="{FF2B5EF4-FFF2-40B4-BE49-F238E27FC236}">
                <a16:creationId xmlns:a16="http://schemas.microsoft.com/office/drawing/2014/main" id="{A5A13E86-0353-4EC7-A00A-B59ECBED3966}"/>
              </a:ext>
            </a:extLst>
          </p:cNvPr>
          <p:cNvSpPr>
            <a:spLocks xmlns:a="http://schemas.openxmlformats.org/drawingml/2006/main" noGrp="1"/>
          </p:cNvSpPr>
          <p:nvPr/>
        </p:nvSpPr>
        <p:spPr>
          <a:xfrm xmlns:a="http://schemas.openxmlformats.org/drawingml/2006/main">
            <a:off x="609600" y="4543425"/>
            <a:ext cx="57150" cy="57150"/>
          </a:xfrm>
          <a:prstGeom xmlns:a="http://schemas.openxmlformats.org/drawingml/2006/main" prst="rect">
            <a:avLst/>
          </a:prstGeom>
          <a:solidFill xmlns:a="http://schemas.openxmlformats.org/drawingml/2006/main">
            <a:srgbClr val="A8493D"/>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F094206B-5356-4E6A-9BDD-330D25E8281C}"/>
              </a:ext>
            </a:extLst>
          </p:cNvPr>
          <p:cNvSpPr>
            <a:spLocks xmlns:a="http://schemas.openxmlformats.org/drawingml/2006/main" noGrp="1"/>
          </p:cNvSpPr>
          <p:nvPr/>
        </p:nvSpPr>
        <p:spPr>
          <a:xfrm xmlns:a="http://schemas.openxmlformats.org/drawingml/2006/main">
            <a:off x="781050" y="4476750"/>
            <a:ext cx="5924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Reject assets sales cannot use.</a:t>
            </a:r>
          </a:p>
        </p:txBody>
      </p:sp>
      <p:sp>
        <p:nvSpPr>
          <p:cNvPr id="26" name="">
            <a:extLst xmlns:a="http://schemas.openxmlformats.org/drawingml/2006/main">
              <a:ext uri="{FF2B5EF4-FFF2-40B4-BE49-F238E27FC236}">
                <a16:creationId xmlns:a16="http://schemas.microsoft.com/office/drawing/2014/main" id="{45D81AE9-158F-4551-9997-4E455B1DEB6C}"/>
              </a:ext>
            </a:extLst>
          </p:cNvPr>
          <p:cNvSpPr>
            <a:spLocks xmlns:a="http://schemas.openxmlformats.org/drawingml/2006/main" noGrp="1"/>
          </p:cNvSpPr>
          <p:nvPr/>
        </p:nvSpPr>
        <p:spPr>
          <a:xfrm xmlns:a="http://schemas.openxmlformats.org/drawingml/2006/main">
            <a:off x="609600" y="5000625"/>
            <a:ext cx="57150" cy="57150"/>
          </a:xfrm>
          <a:prstGeom xmlns:a="http://schemas.openxmlformats.org/drawingml/2006/main" prst="rect">
            <a:avLst/>
          </a:prstGeom>
          <a:solidFill xmlns:a="http://schemas.openxmlformats.org/drawingml/2006/main">
            <a:srgbClr val="A8493D"/>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9CD49941-66A2-466D-8B36-3B02D3A4BB9B}"/>
              </a:ext>
            </a:extLst>
          </p:cNvPr>
          <p:cNvSpPr>
            <a:spLocks xmlns:a="http://schemas.openxmlformats.org/drawingml/2006/main" noGrp="1"/>
          </p:cNvSpPr>
          <p:nvPr/>
        </p:nvSpPr>
        <p:spPr>
          <a:xfrm xmlns:a="http://schemas.openxmlformats.org/drawingml/2006/main">
            <a:off x="781050" y="4933950"/>
            <a:ext cx="5924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Reject AI-generated technical claims without SME validation.</a:t>
            </a:r>
          </a:p>
        </p:txBody>
      </p:sp>
      <p:sp>
        <p:nvSpPr>
          <p:cNvPr id="28" name="">
            <a:extLst xmlns:a="http://schemas.openxmlformats.org/drawingml/2006/main">
              <a:ext uri="{FF2B5EF4-FFF2-40B4-BE49-F238E27FC236}">
                <a16:creationId xmlns:a16="http://schemas.microsoft.com/office/drawing/2014/main" id="{76046219-0E8A-4698-82F8-7F9CA602A134}"/>
              </a:ext>
            </a:extLst>
          </p:cNvPr>
          <p:cNvSpPr>
            <a:spLocks xmlns:a="http://schemas.openxmlformats.org/drawingml/2006/main" noGrp="1"/>
          </p:cNvSpPr>
          <p:nvPr/>
        </p:nvSpPr>
        <p:spPr>
          <a:xfrm xmlns:a="http://schemas.openxmlformats.org/drawingml/2006/main">
            <a:off x="7905750" y="1809750"/>
            <a:ext cx="4286250" cy="4591050"/>
          </a:xfrm>
          <a:prstGeom xmlns:a="http://schemas.openxmlformats.org/drawingml/2006/main" prst="rect">
            <a:avLst/>
          </a:prstGeom>
          <a:solidFill xmlns:a="http://schemas.openxmlformats.org/drawingml/2006/main">
            <a:srgbClr val="F9FAF7"/>
          </a:solidFill>
          <a:ln xmlns:a="http://schemas.openxmlformats.org/drawingml/2006/main" w="9525">
            <a:solidFill>
              <a:srgbClr val="D9DDD6"/>
            </a:solidFill>
            <a:prstDash val="solid"/>
          </a:ln>
        </p:spPr>
      </p:sp>
      <p:sp>
        <p:nvSpPr>
          <p:cNvPr id="29" name="">
            <a:extLst xmlns:a="http://schemas.openxmlformats.org/drawingml/2006/main">
              <a:ext uri="{FF2B5EF4-FFF2-40B4-BE49-F238E27FC236}">
                <a16:creationId xmlns:a16="http://schemas.microsoft.com/office/drawing/2014/main" id="{2A12E3FC-3837-4067-9133-8ECD7A46F19B}"/>
              </a:ext>
            </a:extLst>
          </p:cNvPr>
          <p:cNvSpPr>
            <a:spLocks xmlns:a="http://schemas.openxmlformats.org/drawingml/2006/main" noGrp="1"/>
          </p:cNvSpPr>
          <p:nvPr/>
        </p:nvSpPr>
        <p:spPr>
          <a:xfrm xmlns:a="http://schemas.openxmlformats.org/drawingml/2006/main">
            <a:off x="8286750" y="2266950"/>
            <a:ext cx="266700" cy="19050"/>
          </a:xfrm>
          <a:prstGeom xmlns:a="http://schemas.openxmlformats.org/drawingml/2006/main" prst="rect">
            <a:avLst/>
          </a:prstGeom>
          <a:solidFill xmlns:a="http://schemas.openxmlformats.org/drawingml/2006/main">
            <a:srgbClr val="667A39"/>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70B31192-D9E1-4914-AD2C-7573D9FAA267}"/>
              </a:ext>
            </a:extLst>
          </p:cNvPr>
          <p:cNvSpPr>
            <a:spLocks xmlns:a="http://schemas.openxmlformats.org/drawingml/2006/main" noGrp="1"/>
          </p:cNvSpPr>
          <p:nvPr/>
        </p:nvSpPr>
        <p:spPr>
          <a:xfrm xmlns:a="http://schemas.openxmlformats.org/drawingml/2006/main">
            <a:off x="8648700" y="2190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QUALITY CONTROL</a:t>
            </a:r>
          </a:p>
        </p:txBody>
      </p:sp>
      <p:sp>
        <p:nvSpPr>
          <p:cNvPr id="31" name="">
            <a:extLst xmlns:a="http://schemas.openxmlformats.org/drawingml/2006/main">
              <a:ext uri="{FF2B5EF4-FFF2-40B4-BE49-F238E27FC236}">
                <a16:creationId xmlns:a16="http://schemas.microsoft.com/office/drawing/2014/main" id="{865BF684-D24A-41D0-8DE8-296A509A7B41}"/>
              </a:ext>
            </a:extLst>
          </p:cNvPr>
          <p:cNvSpPr>
            <a:spLocks xmlns:a="http://schemas.openxmlformats.org/drawingml/2006/main" noGrp="1"/>
          </p:cNvSpPr>
          <p:nvPr/>
        </p:nvSpPr>
        <p:spPr>
          <a:xfrm xmlns:a="http://schemas.openxmlformats.org/drawingml/2006/main">
            <a:off x="8286750" y="2647950"/>
            <a:ext cx="28575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026"/>
                </a:solidFill>
                <a:latin typeface="Aptos"/>
                <a:ea typeface="Aptos"/>
                <a:cs typeface="Aptos"/>
              </a:defRPr>
            </a:pPr>
            <a:r>
              <a:rPr sz="1275" b="0">
                <a:solidFill>
                  <a:srgbClr val="172026"/>
                </a:solidFill>
                <a:latin typeface="Aptos"/>
                <a:ea typeface="Aptos"/>
                <a:cs typeface="Aptos"/>
              </a:rPr>
              <a:t>The correction standard is not nicer wording. It is better industrial judgment: category specificity, proof, owner, field, SLA, cadence, and disqualification where needed.</a:t>
            </a:r>
          </a:p>
        </p:txBody>
      </p:sp>
      <p:sp>
        <p:nvSpPr>
          <p:cNvPr id="32" name="">
            <a:extLst xmlns:a="http://schemas.openxmlformats.org/drawingml/2006/main">
              <a:ext uri="{FF2B5EF4-FFF2-40B4-BE49-F238E27FC236}">
                <a16:creationId xmlns:a16="http://schemas.microsoft.com/office/drawing/2014/main" id="{91E27B34-4BB5-4AF5-9CBA-291CE1092D42}"/>
              </a:ext>
            </a:extLst>
          </p:cNvPr>
          <p:cNvSpPr>
            <a:spLocks xmlns:a="http://schemas.openxmlformats.org/drawingml/2006/main" noGrp="1"/>
          </p:cNvSpPr>
          <p:nvPr/>
        </p:nvSpPr>
        <p:spPr>
          <a:xfrm xmlns:a="http://schemas.openxmlformats.org/drawingml/2006/main">
            <a:off x="8782050" y="5353050"/>
            <a:ext cx="2647950" cy="838200"/>
          </a:xfrm>
          <a:prstGeom xmlns:a="http://schemas.openxmlformats.org/drawingml/2006/main" prst="rect">
            <a:avLst/>
          </a:prstGeom>
          <a:solidFill xmlns:a="http://schemas.openxmlformats.org/drawingml/2006/main">
            <a:srgbClr val="12232B"/>
          </a:solidFill>
          <a:ln xmlns:a="http://schemas.openxmlformats.org/drawingml/2006/main" w="9525">
            <a:solidFill>
              <a:srgbClr val="12232B"/>
            </a:solidFill>
            <a:prstDash val="solid"/>
          </a:ln>
        </p:spPr>
      </p:sp>
      <p:sp>
        <p:nvSpPr>
          <p:cNvPr id="33" name="">
            <a:extLst xmlns:a="http://schemas.openxmlformats.org/drawingml/2006/main">
              <a:ext uri="{FF2B5EF4-FFF2-40B4-BE49-F238E27FC236}">
                <a16:creationId xmlns:a16="http://schemas.microsoft.com/office/drawing/2014/main" id="{7F20F792-7448-450D-9655-39378AB1480C}"/>
              </a:ext>
            </a:extLst>
          </p:cNvPr>
          <p:cNvSpPr>
            <a:spLocks xmlns:a="http://schemas.openxmlformats.org/drawingml/2006/main" noGrp="1"/>
          </p:cNvSpPr>
          <p:nvPr/>
        </p:nvSpPr>
        <p:spPr>
          <a:xfrm xmlns:a="http://schemas.openxmlformats.org/drawingml/2006/main">
            <a:off x="8972550" y="5505450"/>
            <a:ext cx="142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AFC3C8"/>
                </a:solidFill>
                <a:latin typeface="Aptos"/>
                <a:ea typeface="Aptos"/>
                <a:cs typeface="Aptos"/>
              </a:defRPr>
            </a:pPr>
            <a:r>
              <a:rPr sz="675" b="1">
                <a:solidFill>
                  <a:srgbClr val="AFC3C8"/>
                </a:solidFill>
                <a:latin typeface="Aptos"/>
                <a:ea typeface="Aptos"/>
                <a:cs typeface="Aptos"/>
              </a:rPr>
              <a:t>INSTRUCTOR CUE</a:t>
            </a:r>
          </a:p>
        </p:txBody>
      </p:sp>
      <p:sp>
        <p:nvSpPr>
          <p:cNvPr id="34" name="">
            <a:extLst xmlns:a="http://schemas.openxmlformats.org/drawingml/2006/main">
              <a:ext uri="{FF2B5EF4-FFF2-40B4-BE49-F238E27FC236}">
                <a16:creationId xmlns:a16="http://schemas.microsoft.com/office/drawing/2014/main" id="{4ACE79C8-D985-4095-A8BF-72AD95AF7079}"/>
              </a:ext>
            </a:extLst>
          </p:cNvPr>
          <p:cNvSpPr>
            <a:spLocks xmlns:a="http://schemas.openxmlformats.org/drawingml/2006/main" noGrp="1"/>
          </p:cNvSpPr>
          <p:nvPr/>
        </p:nvSpPr>
        <p:spPr>
          <a:xfrm xmlns:a="http://schemas.openxmlformats.org/drawingml/2006/main">
            <a:off x="8972550" y="5676900"/>
            <a:ext cx="2190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FFFFF"/>
                </a:solidFill>
                <a:latin typeface="Aptos"/>
                <a:ea typeface="Aptos"/>
                <a:cs typeface="Aptos"/>
              </a:defRPr>
            </a:pPr>
            <a:r>
              <a:rPr sz="975" b="0">
                <a:solidFill>
                  <a:srgbClr val="FFFFFF"/>
                </a:solidFill>
                <a:latin typeface="Aptos"/>
                <a:ea typeface="Aptos"/>
                <a:cs typeface="Aptos"/>
              </a:rPr>
              <a:t>Ask what the AI is guessing.</a:t>
            </a:r>
          </a:p>
        </p:txBody>
      </p:sp>
      <p:sp>
        <p:nvSpPr>
          <p:cNvPr id="35" name="">
            <a:extLst xmlns:a="http://schemas.openxmlformats.org/drawingml/2006/main">
              <a:ext uri="{FF2B5EF4-FFF2-40B4-BE49-F238E27FC236}">
                <a16:creationId xmlns:a16="http://schemas.microsoft.com/office/drawing/2014/main" id="{DE38F3EE-744E-4FCB-805F-047172CDEE44}"/>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AE94BF14-6366-47CF-93AB-923B615EFB9E}"/>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37" name="">
            <a:extLst xmlns:a="http://schemas.openxmlformats.org/drawingml/2006/main">
              <a:ext uri="{FF2B5EF4-FFF2-40B4-BE49-F238E27FC236}">
                <a16:creationId xmlns:a16="http://schemas.microsoft.com/office/drawing/2014/main" id="{52069264-768B-4173-A6BA-F4CE7C71F6A4}"/>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38" name="">
            <a:extLst xmlns:a="http://schemas.openxmlformats.org/drawingml/2006/main">
              <a:ext uri="{FF2B5EF4-FFF2-40B4-BE49-F238E27FC236}">
                <a16:creationId xmlns:a16="http://schemas.microsoft.com/office/drawing/2014/main" id="{84663713-03DD-4A16-9C8A-8A5F8A0CBB14}"/>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11/15</a:t>
            </a:r>
          </a:p>
        </p:txBody>
      </p:sp>
      <p:sp>
        <p:nvSpPr>
          <p:cNvPr id="39" name="">
            <a:extLst xmlns:a="http://schemas.openxmlformats.org/drawingml/2006/main">
              <a:ext uri="{FF2B5EF4-FFF2-40B4-BE49-F238E27FC236}">
                <a16:creationId xmlns:a16="http://schemas.microsoft.com/office/drawing/2014/main" id="{9F7C8C42-26C8-461C-B15C-EB0E64535A53}"/>
              </a:ext>
            </a:extLst>
          </p:cNvPr>
          <p:cNvSpPr>
            <a:spLocks xmlns:a="http://schemas.openxmlformats.org/drawingml/2006/main" noGrp="1"/>
          </p:cNvSpPr>
          <p:nvPr/>
        </p:nvSpPr>
        <p:spPr>
          <a:xfrm xmlns:a="http://schemas.openxmlformats.org/drawingml/2006/main">
            <a:off x="0" y="0"/>
            <a:ext cx="12192000" cy="18097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253CEACF-2A36-4247-BE25-25E7D112064A}"/>
              </a:ext>
            </a:extLst>
          </p:cNvPr>
          <p:cNvSpPr>
            <a:spLocks xmlns:a="http://schemas.openxmlformats.org/drawingml/2006/main" noGrp="1"/>
          </p:cNvSpPr>
          <p:nvPr/>
        </p:nvSpPr>
        <p:spPr>
          <a:xfrm xmlns:a="http://schemas.openxmlformats.org/drawingml/2006/main">
            <a:off x="0" y="0"/>
            <a:ext cx="171450" cy="180975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175C42E8-E4B9-428C-8A39-5682E581AA03}"/>
              </a:ext>
            </a:extLst>
          </p:cNvPr>
          <p:cNvSpPr>
            <a:spLocks xmlns:a="http://schemas.openxmlformats.org/drawingml/2006/main" noGrp="1"/>
          </p:cNvSpPr>
          <p:nvPr/>
        </p:nvSpPr>
        <p:spPr>
          <a:xfrm xmlns:a="http://schemas.openxmlformats.org/drawingml/2006/main">
            <a:off x="171450" y="0"/>
            <a:ext cx="57150" cy="18097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2" name="kicker-05-marker">
            <a:extLst xmlns:a="http://schemas.openxmlformats.org/drawingml/2006/main">
              <a:ext uri="{FF2B5EF4-FFF2-40B4-BE49-F238E27FC236}">
                <a16:creationId xmlns:a16="http://schemas.microsoft.com/office/drawing/2014/main" id="{7B1C325D-E91E-408A-A237-F7B03D11B1D2}"/>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3" name="kicker-05-label">
            <a:extLst xmlns:a="http://schemas.openxmlformats.org/drawingml/2006/main">
              <a:ext uri="{FF2B5EF4-FFF2-40B4-BE49-F238E27FC236}">
                <a16:creationId xmlns:a16="http://schemas.microsoft.com/office/drawing/2014/main" id="{3CB38748-E14D-427D-81F3-48FB7BDDC4DC}"/>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HUMAN CORRECTION</a:t>
            </a:r>
          </a:p>
        </p:txBody>
      </p:sp>
      <p:sp>
        <p:nvSpPr>
          <p:cNvPr id="44" name="">
            <a:extLst xmlns:a="http://schemas.openxmlformats.org/drawingml/2006/main">
              <a:ext uri="{FF2B5EF4-FFF2-40B4-BE49-F238E27FC236}">
                <a16:creationId xmlns:a16="http://schemas.microsoft.com/office/drawing/2014/main" id="{E7847915-DD1A-4ED0-B4CC-6DD11652743B}"/>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AI can draft structure. Humans must repair industrial reality.</a:t>
            </a:r>
          </a:p>
        </p:txBody>
      </p:sp>
      <p:sp>
        <p:nvSpPr>
          <p:cNvPr id="45" name="">
            <a:extLst xmlns:a="http://schemas.openxmlformats.org/drawingml/2006/main">
              <a:ext uri="{FF2B5EF4-FFF2-40B4-BE49-F238E27FC236}">
                <a16:creationId xmlns:a16="http://schemas.microsoft.com/office/drawing/2014/main" id="{3DC0FC0D-216C-46E7-9A76-8EA04E0537A4}"/>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This slide gives the instructor a rejection standard.</a:t>
            </a:r>
          </a:p>
        </p:txBody>
      </p:sp>
      <p:sp>
        <p:nvSpPr>
          <p:cNvPr id="46" name="">
            <a:extLst xmlns:a="http://schemas.openxmlformats.org/drawingml/2006/main">
              <a:ext uri="{FF2B5EF4-FFF2-40B4-BE49-F238E27FC236}">
                <a16:creationId xmlns:a16="http://schemas.microsoft.com/office/drawing/2014/main" id="{38D2042E-249F-4AFE-B4DB-3E06ACB454EB}"/>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48A28E07-3830-4555-968D-DF116E9775A8}"/>
              </a:ext>
            </a:extLst>
          </p:cNvPr>
          <p:cNvSpPr>
            <a:spLocks xmlns:a="http://schemas.openxmlformats.org/drawingml/2006/main" noGrp="1"/>
          </p:cNvSpPr>
          <p:nvPr/>
        </p:nvSpPr>
        <p:spPr>
          <a:xfrm xmlns:a="http://schemas.openxmlformats.org/drawingml/2006/main">
            <a:off x="0" y="6400800"/>
            <a:ext cx="171450" cy="4572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6B2C149D-3EB6-473D-BEAB-C35C2CD4E514}"/>
              </a:ext>
            </a:extLst>
          </p:cNvPr>
          <p:cNvSpPr>
            <a:spLocks xmlns:a="http://schemas.openxmlformats.org/drawingml/2006/main" noGrp="1"/>
          </p:cNvSpPr>
          <p:nvPr/>
        </p:nvSpPr>
        <p:spPr>
          <a:xfrm xmlns:a="http://schemas.openxmlformats.org/drawingml/2006/main">
            <a:off x="171450" y="6400800"/>
            <a:ext cx="57150" cy="457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41135EC3-BA13-4E6A-A996-37671C96A4AA}"/>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7F4795A3-CB15-49AD-914A-7D20043FDE47}"/>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51" name="">
            <a:extLst xmlns:a="http://schemas.openxmlformats.org/drawingml/2006/main">
              <a:ext uri="{FF2B5EF4-FFF2-40B4-BE49-F238E27FC236}">
                <a16:creationId xmlns:a16="http://schemas.microsoft.com/office/drawing/2014/main" id="{05A39E1B-555C-403F-A1F0-4A14133E36A2}"/>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52" name="">
            <a:extLst xmlns:a="http://schemas.openxmlformats.org/drawingml/2006/main">
              <a:ext uri="{FF2B5EF4-FFF2-40B4-BE49-F238E27FC236}">
                <a16:creationId xmlns:a16="http://schemas.microsoft.com/office/drawing/2014/main" id="{612F6297-B2F4-4969-91C7-0225B91C5A4B}"/>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11/15</a:t>
            </a:r>
          </a:p>
        </p:txBody>
      </p:sp>
    </p:spTree>
    <p:extLst>
      <p:ext uri="{BB962C8B-B14F-4D97-AF65-F5344CB8AC3E}">
        <p14:creationId xmlns:p14="http://schemas.microsoft.com/office/powerpoint/2010/main" val="169415753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715AA81-64FF-4E9E-A9D1-08E253F7FB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F27C26B-8E20-48C7-BAA8-800FA925757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A737139-8374-404F-8C25-0BD6A7B29937}"/>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5-marker">
            <a:extLst xmlns:a="http://schemas.openxmlformats.org/drawingml/2006/main">
              <a:ext uri="{FF2B5EF4-FFF2-40B4-BE49-F238E27FC236}">
                <a16:creationId xmlns:a16="http://schemas.microsoft.com/office/drawing/2014/main" id="{DF65A9DA-F725-43BE-BF8E-B27FA7E104B1}"/>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5-label">
            <a:extLst xmlns:a="http://schemas.openxmlformats.org/drawingml/2006/main">
              <a:ext uri="{FF2B5EF4-FFF2-40B4-BE49-F238E27FC236}">
                <a16:creationId xmlns:a16="http://schemas.microsoft.com/office/drawing/2014/main" id="{054CEE22-D8AC-49B8-ABA5-EE304A21CE39}"/>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REVOPS TRANSLATION</a:t>
            </a:r>
          </a:p>
        </p:txBody>
      </p:sp>
      <p:sp>
        <p:nvSpPr>
          <p:cNvPr id="6" name="">
            <a:extLst xmlns:a="http://schemas.openxmlformats.org/drawingml/2006/main">
              <a:ext uri="{FF2B5EF4-FFF2-40B4-BE49-F238E27FC236}">
                <a16:creationId xmlns:a16="http://schemas.microsoft.com/office/drawing/2014/main" id="{CAE3E5BB-00F4-4982-98F5-8EDA6CF68654}"/>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Content must connect to account movement.</a:t>
            </a:r>
          </a:p>
        </p:txBody>
      </p:sp>
      <p:sp>
        <p:nvSpPr>
          <p:cNvPr id="7" name="">
            <a:extLst xmlns:a="http://schemas.openxmlformats.org/drawingml/2006/main">
              <a:ext uri="{FF2B5EF4-FFF2-40B4-BE49-F238E27FC236}">
                <a16:creationId xmlns:a16="http://schemas.microsoft.com/office/drawing/2014/main" id="{FAFDB875-D91E-4D5A-A0AE-01DB32DC0994}"/>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Every artifact must become inspectable in a field, board, owner model, or cadence.</a:t>
            </a:r>
          </a:p>
        </p:txBody>
      </p:sp>
      <p:sp>
        <p:nvSpPr>
          <p:cNvPr id="8" name="">
            <a:extLst xmlns:a="http://schemas.openxmlformats.org/drawingml/2006/main">
              <a:ext uri="{FF2B5EF4-FFF2-40B4-BE49-F238E27FC236}">
                <a16:creationId xmlns:a16="http://schemas.microsoft.com/office/drawing/2014/main" id="{E557C068-EFB7-4FFA-BEF5-F4DD1C651F52}"/>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ACEDED9E-1EC6-4996-BD27-4454C5917012}"/>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10" name="">
            <a:extLst xmlns:a="http://schemas.openxmlformats.org/drawingml/2006/main">
              <a:ext uri="{FF2B5EF4-FFF2-40B4-BE49-F238E27FC236}">
                <a16:creationId xmlns:a16="http://schemas.microsoft.com/office/drawing/2014/main" id="{EEB829D9-9B6A-4801-A955-9D09C5C825B4}"/>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11" name="">
            <a:extLst xmlns:a="http://schemas.openxmlformats.org/drawingml/2006/main">
              <a:ext uri="{FF2B5EF4-FFF2-40B4-BE49-F238E27FC236}">
                <a16:creationId xmlns:a16="http://schemas.microsoft.com/office/drawing/2014/main" id="{1FD5ECBF-A2CF-4D57-AC6C-F31C4E0F3076}"/>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12/15</a:t>
            </a:r>
          </a:p>
        </p:txBody>
      </p:sp>
      <p:sp>
        <p:nvSpPr>
          <p:cNvPr id="12" name="">
            <a:extLst xmlns:a="http://schemas.openxmlformats.org/drawingml/2006/main">
              <a:ext uri="{FF2B5EF4-FFF2-40B4-BE49-F238E27FC236}">
                <a16:creationId xmlns:a16="http://schemas.microsoft.com/office/drawing/2014/main" id="{33733F30-A57A-4B4C-BE98-C710BE862DC0}"/>
              </a:ext>
            </a:extLst>
          </p:cNvPr>
          <p:cNvSpPr>
            <a:spLocks xmlns:a="http://schemas.openxmlformats.org/drawingml/2006/main" noGrp="1"/>
          </p:cNvSpPr>
          <p:nvPr/>
        </p:nvSpPr>
        <p:spPr>
          <a:xfrm xmlns:a="http://schemas.openxmlformats.org/drawingml/2006/main">
            <a:off x="666750" y="2266950"/>
            <a:ext cx="3333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3" name="">
            <a:extLst xmlns:a="http://schemas.openxmlformats.org/drawingml/2006/main">
              <a:ext uri="{FF2B5EF4-FFF2-40B4-BE49-F238E27FC236}">
                <a16:creationId xmlns:a16="http://schemas.microsoft.com/office/drawing/2014/main" id="{D01EBE5A-D144-4910-AA23-C50BE1B833DA}"/>
              </a:ext>
            </a:extLst>
          </p:cNvPr>
          <p:cNvSpPr>
            <a:spLocks xmlns:a="http://schemas.openxmlformats.org/drawingml/2006/main" noGrp="1"/>
          </p:cNvSpPr>
          <p:nvPr/>
        </p:nvSpPr>
        <p:spPr>
          <a:xfrm xmlns:a="http://schemas.openxmlformats.org/drawingml/2006/main">
            <a:off x="666750" y="2266950"/>
            <a:ext cx="57150" cy="7048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ECC54373-08F6-47E5-A44B-DB99AA7A7A7F}"/>
              </a:ext>
            </a:extLst>
          </p:cNvPr>
          <p:cNvSpPr>
            <a:spLocks xmlns:a="http://schemas.openxmlformats.org/drawingml/2006/main" noGrp="1"/>
          </p:cNvSpPr>
          <p:nvPr/>
        </p:nvSpPr>
        <p:spPr>
          <a:xfrm xmlns:a="http://schemas.openxmlformats.org/drawingml/2006/main">
            <a:off x="876300" y="2438400"/>
            <a:ext cx="2933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72026"/>
                </a:solidFill>
                <a:latin typeface="Aptos"/>
                <a:ea typeface="Aptos"/>
                <a:cs typeface="Aptos"/>
              </a:defRPr>
            </a:pPr>
            <a:r>
              <a:rPr sz="1200" b="1">
                <a:solidFill>
                  <a:srgbClr val="172026"/>
                </a:solidFill>
                <a:latin typeface="Aptos"/>
                <a:ea typeface="Aptos"/>
                <a:cs typeface="Aptos"/>
              </a:rPr>
              <a:t>Asset ID</a:t>
            </a:r>
          </a:p>
        </p:txBody>
      </p:sp>
      <p:sp>
        <p:nvSpPr>
          <p:cNvPr id="15" name="">
            <a:extLst xmlns:a="http://schemas.openxmlformats.org/drawingml/2006/main">
              <a:ext uri="{FF2B5EF4-FFF2-40B4-BE49-F238E27FC236}">
                <a16:creationId xmlns:a16="http://schemas.microsoft.com/office/drawing/2014/main" id="{E288B804-AA37-4445-A64C-AC754F70A3F2}"/>
              </a:ext>
            </a:extLst>
          </p:cNvPr>
          <p:cNvSpPr>
            <a:spLocks xmlns:a="http://schemas.openxmlformats.org/drawingml/2006/main" noGrp="1"/>
          </p:cNvSpPr>
          <p:nvPr/>
        </p:nvSpPr>
        <p:spPr>
          <a:xfrm xmlns:a="http://schemas.openxmlformats.org/drawingml/2006/main">
            <a:off x="4305300" y="2266950"/>
            <a:ext cx="3333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6" name="">
            <a:extLst xmlns:a="http://schemas.openxmlformats.org/drawingml/2006/main">
              <a:ext uri="{FF2B5EF4-FFF2-40B4-BE49-F238E27FC236}">
                <a16:creationId xmlns:a16="http://schemas.microsoft.com/office/drawing/2014/main" id="{D31724B4-DA74-4E90-909A-49A661A2E836}"/>
              </a:ext>
            </a:extLst>
          </p:cNvPr>
          <p:cNvSpPr>
            <a:spLocks xmlns:a="http://schemas.openxmlformats.org/drawingml/2006/main" noGrp="1"/>
          </p:cNvSpPr>
          <p:nvPr/>
        </p:nvSpPr>
        <p:spPr>
          <a:xfrm xmlns:a="http://schemas.openxmlformats.org/drawingml/2006/main">
            <a:off x="4305300" y="2266950"/>
            <a:ext cx="57150" cy="7048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860AAE2F-3B86-4DC7-9F6D-7B86524070AE}"/>
              </a:ext>
            </a:extLst>
          </p:cNvPr>
          <p:cNvSpPr>
            <a:spLocks xmlns:a="http://schemas.openxmlformats.org/drawingml/2006/main" noGrp="1"/>
          </p:cNvSpPr>
          <p:nvPr/>
        </p:nvSpPr>
        <p:spPr>
          <a:xfrm xmlns:a="http://schemas.openxmlformats.org/drawingml/2006/main">
            <a:off x="4514850" y="2438400"/>
            <a:ext cx="2933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72026"/>
                </a:solidFill>
                <a:latin typeface="Aptos"/>
                <a:ea typeface="Aptos"/>
                <a:cs typeface="Aptos"/>
              </a:defRPr>
            </a:pPr>
            <a:r>
              <a:rPr sz="1200" b="1">
                <a:solidFill>
                  <a:srgbClr val="172026"/>
                </a:solidFill>
                <a:latin typeface="Aptos"/>
                <a:ea typeface="Aptos"/>
                <a:cs typeface="Aptos"/>
              </a:rPr>
              <a:t>Demand state</a:t>
            </a:r>
          </a:p>
        </p:txBody>
      </p:sp>
      <p:sp>
        <p:nvSpPr>
          <p:cNvPr id="18" name="">
            <a:extLst xmlns:a="http://schemas.openxmlformats.org/drawingml/2006/main">
              <a:ext uri="{FF2B5EF4-FFF2-40B4-BE49-F238E27FC236}">
                <a16:creationId xmlns:a16="http://schemas.microsoft.com/office/drawing/2014/main" id="{7B53A558-E20B-46FE-A896-6980F66F1D2C}"/>
              </a:ext>
            </a:extLst>
          </p:cNvPr>
          <p:cNvSpPr>
            <a:spLocks xmlns:a="http://schemas.openxmlformats.org/drawingml/2006/main" noGrp="1"/>
          </p:cNvSpPr>
          <p:nvPr/>
        </p:nvSpPr>
        <p:spPr>
          <a:xfrm xmlns:a="http://schemas.openxmlformats.org/drawingml/2006/main">
            <a:off x="7943850" y="2266950"/>
            <a:ext cx="3333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9" name="">
            <a:extLst xmlns:a="http://schemas.openxmlformats.org/drawingml/2006/main">
              <a:ext uri="{FF2B5EF4-FFF2-40B4-BE49-F238E27FC236}">
                <a16:creationId xmlns:a16="http://schemas.microsoft.com/office/drawing/2014/main" id="{10F1A40A-7BA6-4DE9-BF10-1A853A7C50D7}"/>
              </a:ext>
            </a:extLst>
          </p:cNvPr>
          <p:cNvSpPr>
            <a:spLocks xmlns:a="http://schemas.openxmlformats.org/drawingml/2006/main" noGrp="1"/>
          </p:cNvSpPr>
          <p:nvPr/>
        </p:nvSpPr>
        <p:spPr>
          <a:xfrm xmlns:a="http://schemas.openxmlformats.org/drawingml/2006/main">
            <a:off x="7943850" y="2266950"/>
            <a:ext cx="57150" cy="704850"/>
          </a:xfrm>
          <a:prstGeom xmlns:a="http://schemas.openxmlformats.org/drawingml/2006/main" prst="rect">
            <a:avLst/>
          </a:prstGeom>
          <a:solidFill xmlns:a="http://schemas.openxmlformats.org/drawingml/2006/main">
            <a:srgbClr val="667A39"/>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DBC53605-1D91-48F7-A501-E5B0AD6402BF}"/>
              </a:ext>
            </a:extLst>
          </p:cNvPr>
          <p:cNvSpPr>
            <a:spLocks xmlns:a="http://schemas.openxmlformats.org/drawingml/2006/main" noGrp="1"/>
          </p:cNvSpPr>
          <p:nvPr/>
        </p:nvSpPr>
        <p:spPr>
          <a:xfrm xmlns:a="http://schemas.openxmlformats.org/drawingml/2006/main">
            <a:off x="8153400" y="2438400"/>
            <a:ext cx="2933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72026"/>
                </a:solidFill>
                <a:latin typeface="Aptos"/>
                <a:ea typeface="Aptos"/>
                <a:cs typeface="Aptos"/>
              </a:defRPr>
            </a:pPr>
            <a:r>
              <a:rPr sz="1200" b="1">
                <a:solidFill>
                  <a:srgbClr val="172026"/>
                </a:solidFill>
                <a:latin typeface="Aptos"/>
                <a:ea typeface="Aptos"/>
                <a:cs typeface="Aptos"/>
              </a:rPr>
              <a:t>Buyer role</a:t>
            </a:r>
          </a:p>
        </p:txBody>
      </p:sp>
      <p:sp>
        <p:nvSpPr>
          <p:cNvPr id="21" name="">
            <a:extLst xmlns:a="http://schemas.openxmlformats.org/drawingml/2006/main">
              <a:ext uri="{FF2B5EF4-FFF2-40B4-BE49-F238E27FC236}">
                <a16:creationId xmlns:a16="http://schemas.microsoft.com/office/drawing/2014/main" id="{0251E93F-B928-4F30-9C2B-283CEC193981}"/>
              </a:ext>
            </a:extLst>
          </p:cNvPr>
          <p:cNvSpPr>
            <a:spLocks xmlns:a="http://schemas.openxmlformats.org/drawingml/2006/main" noGrp="1"/>
          </p:cNvSpPr>
          <p:nvPr/>
        </p:nvSpPr>
        <p:spPr>
          <a:xfrm xmlns:a="http://schemas.openxmlformats.org/drawingml/2006/main">
            <a:off x="666750" y="3162300"/>
            <a:ext cx="3333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22" name="">
            <a:extLst xmlns:a="http://schemas.openxmlformats.org/drawingml/2006/main">
              <a:ext uri="{FF2B5EF4-FFF2-40B4-BE49-F238E27FC236}">
                <a16:creationId xmlns:a16="http://schemas.microsoft.com/office/drawing/2014/main" id="{2067F71F-8CD2-4EA5-89D4-490FC460C3B5}"/>
              </a:ext>
            </a:extLst>
          </p:cNvPr>
          <p:cNvSpPr>
            <a:spLocks xmlns:a="http://schemas.openxmlformats.org/drawingml/2006/main" noGrp="1"/>
          </p:cNvSpPr>
          <p:nvPr/>
        </p:nvSpPr>
        <p:spPr>
          <a:xfrm xmlns:a="http://schemas.openxmlformats.org/drawingml/2006/main">
            <a:off x="666750" y="3162300"/>
            <a:ext cx="57150" cy="7048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9FB49C6F-3B44-4EA9-AD50-3678B04453FA}"/>
              </a:ext>
            </a:extLst>
          </p:cNvPr>
          <p:cNvSpPr>
            <a:spLocks xmlns:a="http://schemas.openxmlformats.org/drawingml/2006/main" noGrp="1"/>
          </p:cNvSpPr>
          <p:nvPr/>
        </p:nvSpPr>
        <p:spPr>
          <a:xfrm xmlns:a="http://schemas.openxmlformats.org/drawingml/2006/main">
            <a:off x="876300" y="3333750"/>
            <a:ext cx="2933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72026"/>
                </a:solidFill>
                <a:latin typeface="Aptos"/>
                <a:ea typeface="Aptos"/>
                <a:cs typeface="Aptos"/>
              </a:defRPr>
            </a:pPr>
            <a:r>
              <a:rPr sz="1200" b="1">
                <a:solidFill>
                  <a:srgbClr val="172026"/>
                </a:solidFill>
                <a:latin typeface="Aptos"/>
                <a:ea typeface="Aptos"/>
                <a:cs typeface="Aptos"/>
              </a:rPr>
              <a:t>Account cluster</a:t>
            </a:r>
          </a:p>
        </p:txBody>
      </p:sp>
      <p:sp>
        <p:nvSpPr>
          <p:cNvPr id="24" name="">
            <a:extLst xmlns:a="http://schemas.openxmlformats.org/drawingml/2006/main">
              <a:ext uri="{FF2B5EF4-FFF2-40B4-BE49-F238E27FC236}">
                <a16:creationId xmlns:a16="http://schemas.microsoft.com/office/drawing/2014/main" id="{7E808B78-C380-40EA-9E25-689142814272}"/>
              </a:ext>
            </a:extLst>
          </p:cNvPr>
          <p:cNvSpPr>
            <a:spLocks xmlns:a="http://schemas.openxmlformats.org/drawingml/2006/main" noGrp="1"/>
          </p:cNvSpPr>
          <p:nvPr/>
        </p:nvSpPr>
        <p:spPr>
          <a:xfrm xmlns:a="http://schemas.openxmlformats.org/drawingml/2006/main">
            <a:off x="4305300" y="3162300"/>
            <a:ext cx="3333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25" name="">
            <a:extLst xmlns:a="http://schemas.openxmlformats.org/drawingml/2006/main">
              <a:ext uri="{FF2B5EF4-FFF2-40B4-BE49-F238E27FC236}">
                <a16:creationId xmlns:a16="http://schemas.microsoft.com/office/drawing/2014/main" id="{C48E0A36-9BB4-4DB0-91D8-FE50A60CAE5C}"/>
              </a:ext>
            </a:extLst>
          </p:cNvPr>
          <p:cNvSpPr>
            <a:spLocks xmlns:a="http://schemas.openxmlformats.org/drawingml/2006/main" noGrp="1"/>
          </p:cNvSpPr>
          <p:nvPr/>
        </p:nvSpPr>
        <p:spPr>
          <a:xfrm xmlns:a="http://schemas.openxmlformats.org/drawingml/2006/main">
            <a:off x="4305300" y="3162300"/>
            <a:ext cx="57150" cy="7048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2B7002F8-CB25-463F-88E0-97437886F177}"/>
              </a:ext>
            </a:extLst>
          </p:cNvPr>
          <p:cNvSpPr>
            <a:spLocks xmlns:a="http://schemas.openxmlformats.org/drawingml/2006/main" noGrp="1"/>
          </p:cNvSpPr>
          <p:nvPr/>
        </p:nvSpPr>
        <p:spPr>
          <a:xfrm xmlns:a="http://schemas.openxmlformats.org/drawingml/2006/main">
            <a:off x="4514850" y="3333750"/>
            <a:ext cx="2933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72026"/>
                </a:solidFill>
                <a:latin typeface="Aptos"/>
                <a:ea typeface="Aptos"/>
                <a:cs typeface="Aptos"/>
              </a:defRPr>
            </a:pPr>
            <a:r>
              <a:rPr sz="1200" b="1">
                <a:solidFill>
                  <a:srgbClr val="172026"/>
                </a:solidFill>
                <a:latin typeface="Aptos"/>
                <a:ea typeface="Aptos"/>
                <a:cs typeface="Aptos"/>
              </a:rPr>
              <a:t>Signal strength</a:t>
            </a:r>
          </a:p>
        </p:txBody>
      </p:sp>
      <p:sp>
        <p:nvSpPr>
          <p:cNvPr id="27" name="">
            <a:extLst xmlns:a="http://schemas.openxmlformats.org/drawingml/2006/main">
              <a:ext uri="{FF2B5EF4-FFF2-40B4-BE49-F238E27FC236}">
                <a16:creationId xmlns:a16="http://schemas.microsoft.com/office/drawing/2014/main" id="{23470356-44D8-47F6-983F-9EE25B2A1CB0}"/>
              </a:ext>
            </a:extLst>
          </p:cNvPr>
          <p:cNvSpPr>
            <a:spLocks xmlns:a="http://schemas.openxmlformats.org/drawingml/2006/main" noGrp="1"/>
          </p:cNvSpPr>
          <p:nvPr/>
        </p:nvSpPr>
        <p:spPr>
          <a:xfrm xmlns:a="http://schemas.openxmlformats.org/drawingml/2006/main">
            <a:off x="7943850" y="3162300"/>
            <a:ext cx="3333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28" name="">
            <a:extLst xmlns:a="http://schemas.openxmlformats.org/drawingml/2006/main">
              <a:ext uri="{FF2B5EF4-FFF2-40B4-BE49-F238E27FC236}">
                <a16:creationId xmlns:a16="http://schemas.microsoft.com/office/drawing/2014/main" id="{0994457D-3F67-4412-816B-88D9033AA962}"/>
              </a:ext>
            </a:extLst>
          </p:cNvPr>
          <p:cNvSpPr>
            <a:spLocks xmlns:a="http://schemas.openxmlformats.org/drawingml/2006/main" noGrp="1"/>
          </p:cNvSpPr>
          <p:nvPr/>
        </p:nvSpPr>
        <p:spPr>
          <a:xfrm xmlns:a="http://schemas.openxmlformats.org/drawingml/2006/main">
            <a:off x="7943850" y="3162300"/>
            <a:ext cx="57150" cy="704850"/>
          </a:xfrm>
          <a:prstGeom xmlns:a="http://schemas.openxmlformats.org/drawingml/2006/main" prst="rect">
            <a:avLst/>
          </a:prstGeom>
          <a:solidFill xmlns:a="http://schemas.openxmlformats.org/drawingml/2006/main">
            <a:srgbClr val="667A39"/>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890A4D87-7ED8-4E05-A27F-BFBD26DE9B4A}"/>
              </a:ext>
            </a:extLst>
          </p:cNvPr>
          <p:cNvSpPr>
            <a:spLocks xmlns:a="http://schemas.openxmlformats.org/drawingml/2006/main" noGrp="1"/>
          </p:cNvSpPr>
          <p:nvPr/>
        </p:nvSpPr>
        <p:spPr>
          <a:xfrm xmlns:a="http://schemas.openxmlformats.org/drawingml/2006/main">
            <a:off x="8153400" y="3333750"/>
            <a:ext cx="2933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72026"/>
                </a:solidFill>
                <a:latin typeface="Aptos"/>
                <a:ea typeface="Aptos"/>
                <a:cs typeface="Aptos"/>
              </a:defRPr>
            </a:pPr>
            <a:r>
              <a:rPr sz="1200" b="1">
                <a:solidFill>
                  <a:srgbClr val="172026"/>
                </a:solidFill>
                <a:latin typeface="Aptos"/>
                <a:ea typeface="Aptos"/>
                <a:cs typeface="Aptos"/>
              </a:rPr>
              <a:t>Sales use</a:t>
            </a:r>
          </a:p>
        </p:txBody>
      </p:sp>
      <p:sp>
        <p:nvSpPr>
          <p:cNvPr id="30" name="">
            <a:extLst xmlns:a="http://schemas.openxmlformats.org/drawingml/2006/main">
              <a:ext uri="{FF2B5EF4-FFF2-40B4-BE49-F238E27FC236}">
                <a16:creationId xmlns:a16="http://schemas.microsoft.com/office/drawing/2014/main" id="{C56F5FDB-311B-4E21-84FF-91F5F80A7BFD}"/>
              </a:ext>
            </a:extLst>
          </p:cNvPr>
          <p:cNvSpPr>
            <a:spLocks xmlns:a="http://schemas.openxmlformats.org/drawingml/2006/main" noGrp="1"/>
          </p:cNvSpPr>
          <p:nvPr/>
        </p:nvSpPr>
        <p:spPr>
          <a:xfrm xmlns:a="http://schemas.openxmlformats.org/drawingml/2006/main">
            <a:off x="666750" y="4057650"/>
            <a:ext cx="3333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31" name="">
            <a:extLst xmlns:a="http://schemas.openxmlformats.org/drawingml/2006/main">
              <a:ext uri="{FF2B5EF4-FFF2-40B4-BE49-F238E27FC236}">
                <a16:creationId xmlns:a16="http://schemas.microsoft.com/office/drawing/2014/main" id="{E2B4F877-1B28-46A8-A617-A1F73CC42E12}"/>
              </a:ext>
            </a:extLst>
          </p:cNvPr>
          <p:cNvSpPr>
            <a:spLocks xmlns:a="http://schemas.openxmlformats.org/drawingml/2006/main" noGrp="1"/>
          </p:cNvSpPr>
          <p:nvPr/>
        </p:nvSpPr>
        <p:spPr>
          <a:xfrm xmlns:a="http://schemas.openxmlformats.org/drawingml/2006/main">
            <a:off x="666750" y="4057650"/>
            <a:ext cx="57150" cy="7048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C3BEA916-7E66-43F1-8B2D-76FA8DFA8AD4}"/>
              </a:ext>
            </a:extLst>
          </p:cNvPr>
          <p:cNvSpPr>
            <a:spLocks xmlns:a="http://schemas.openxmlformats.org/drawingml/2006/main" noGrp="1"/>
          </p:cNvSpPr>
          <p:nvPr/>
        </p:nvSpPr>
        <p:spPr>
          <a:xfrm xmlns:a="http://schemas.openxmlformats.org/drawingml/2006/main">
            <a:off x="876300" y="4229100"/>
            <a:ext cx="2933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72026"/>
                </a:solidFill>
                <a:latin typeface="Aptos"/>
                <a:ea typeface="Aptos"/>
                <a:cs typeface="Aptos"/>
              </a:defRPr>
            </a:pPr>
            <a:r>
              <a:rPr sz="1200" b="1">
                <a:solidFill>
                  <a:srgbClr val="172026"/>
                </a:solidFill>
                <a:latin typeface="Aptos"/>
                <a:ea typeface="Aptos"/>
                <a:cs typeface="Aptos"/>
              </a:rPr>
              <a:t>Next action</a:t>
            </a:r>
          </a:p>
        </p:txBody>
      </p:sp>
      <p:sp>
        <p:nvSpPr>
          <p:cNvPr id="33" name="">
            <a:extLst xmlns:a="http://schemas.openxmlformats.org/drawingml/2006/main">
              <a:ext uri="{FF2B5EF4-FFF2-40B4-BE49-F238E27FC236}">
                <a16:creationId xmlns:a16="http://schemas.microsoft.com/office/drawing/2014/main" id="{7C474441-06D7-482A-A34B-2B54B757129B}"/>
              </a:ext>
            </a:extLst>
          </p:cNvPr>
          <p:cNvSpPr>
            <a:spLocks xmlns:a="http://schemas.openxmlformats.org/drawingml/2006/main" noGrp="1"/>
          </p:cNvSpPr>
          <p:nvPr/>
        </p:nvSpPr>
        <p:spPr>
          <a:xfrm xmlns:a="http://schemas.openxmlformats.org/drawingml/2006/main">
            <a:off x="4305300" y="4057650"/>
            <a:ext cx="3333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34" name="">
            <a:extLst xmlns:a="http://schemas.openxmlformats.org/drawingml/2006/main">
              <a:ext uri="{FF2B5EF4-FFF2-40B4-BE49-F238E27FC236}">
                <a16:creationId xmlns:a16="http://schemas.microsoft.com/office/drawing/2014/main" id="{7FA4A450-E3C5-47C0-87C6-A505187779D6}"/>
              </a:ext>
            </a:extLst>
          </p:cNvPr>
          <p:cNvSpPr>
            <a:spLocks xmlns:a="http://schemas.openxmlformats.org/drawingml/2006/main" noGrp="1"/>
          </p:cNvSpPr>
          <p:nvPr/>
        </p:nvSpPr>
        <p:spPr>
          <a:xfrm xmlns:a="http://schemas.openxmlformats.org/drawingml/2006/main">
            <a:off x="4305300" y="4057650"/>
            <a:ext cx="57150" cy="7048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37E06B85-02E2-4D3A-B014-B81100033AB7}"/>
              </a:ext>
            </a:extLst>
          </p:cNvPr>
          <p:cNvSpPr>
            <a:spLocks xmlns:a="http://schemas.openxmlformats.org/drawingml/2006/main" noGrp="1"/>
          </p:cNvSpPr>
          <p:nvPr/>
        </p:nvSpPr>
        <p:spPr>
          <a:xfrm xmlns:a="http://schemas.openxmlformats.org/drawingml/2006/main">
            <a:off x="4514850" y="4229100"/>
            <a:ext cx="2933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72026"/>
                </a:solidFill>
                <a:latin typeface="Aptos"/>
                <a:ea typeface="Aptos"/>
                <a:cs typeface="Aptos"/>
              </a:defRPr>
            </a:pPr>
            <a:r>
              <a:rPr sz="1200" b="1">
                <a:solidFill>
                  <a:srgbClr val="172026"/>
                </a:solidFill>
                <a:latin typeface="Aptos"/>
                <a:ea typeface="Aptos"/>
                <a:cs typeface="Aptos"/>
              </a:rPr>
              <a:t>Proof gap</a:t>
            </a:r>
          </a:p>
        </p:txBody>
      </p:sp>
      <p:sp>
        <p:nvSpPr>
          <p:cNvPr id="36" name="">
            <a:extLst xmlns:a="http://schemas.openxmlformats.org/drawingml/2006/main">
              <a:ext uri="{FF2B5EF4-FFF2-40B4-BE49-F238E27FC236}">
                <a16:creationId xmlns:a16="http://schemas.microsoft.com/office/drawing/2014/main" id="{E5EB1FA0-4BE9-4B44-9594-2974E7A739CF}"/>
              </a:ext>
            </a:extLst>
          </p:cNvPr>
          <p:cNvSpPr>
            <a:spLocks xmlns:a="http://schemas.openxmlformats.org/drawingml/2006/main" noGrp="1"/>
          </p:cNvSpPr>
          <p:nvPr/>
        </p:nvSpPr>
        <p:spPr>
          <a:xfrm xmlns:a="http://schemas.openxmlformats.org/drawingml/2006/main">
            <a:off x="8782050" y="5353050"/>
            <a:ext cx="2647950" cy="838200"/>
          </a:xfrm>
          <a:prstGeom xmlns:a="http://schemas.openxmlformats.org/drawingml/2006/main" prst="rect">
            <a:avLst/>
          </a:prstGeom>
          <a:solidFill xmlns:a="http://schemas.openxmlformats.org/drawingml/2006/main">
            <a:srgbClr val="12232B"/>
          </a:solidFill>
          <a:ln xmlns:a="http://schemas.openxmlformats.org/drawingml/2006/main" w="9525">
            <a:solidFill>
              <a:srgbClr val="12232B"/>
            </a:solidFill>
            <a:prstDash val="solid"/>
          </a:ln>
        </p:spPr>
      </p:sp>
      <p:sp>
        <p:nvSpPr>
          <p:cNvPr id="37" name="">
            <a:extLst xmlns:a="http://schemas.openxmlformats.org/drawingml/2006/main">
              <a:ext uri="{FF2B5EF4-FFF2-40B4-BE49-F238E27FC236}">
                <a16:creationId xmlns:a16="http://schemas.microsoft.com/office/drawing/2014/main" id="{AD1344C4-8EDB-4567-B87E-ABED46E8D81B}"/>
              </a:ext>
            </a:extLst>
          </p:cNvPr>
          <p:cNvSpPr>
            <a:spLocks xmlns:a="http://schemas.openxmlformats.org/drawingml/2006/main" noGrp="1"/>
          </p:cNvSpPr>
          <p:nvPr/>
        </p:nvSpPr>
        <p:spPr>
          <a:xfrm xmlns:a="http://schemas.openxmlformats.org/drawingml/2006/main">
            <a:off x="8972550" y="5505450"/>
            <a:ext cx="142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AFC3C8"/>
                </a:solidFill>
                <a:latin typeface="Aptos"/>
                <a:ea typeface="Aptos"/>
                <a:cs typeface="Aptos"/>
              </a:defRPr>
            </a:pPr>
            <a:r>
              <a:rPr sz="675" b="1">
                <a:solidFill>
                  <a:srgbClr val="AFC3C8"/>
                </a:solidFill>
                <a:latin typeface="Aptos"/>
                <a:ea typeface="Aptos"/>
                <a:cs typeface="Aptos"/>
              </a:rPr>
              <a:t>INSTRUCTOR CUE</a:t>
            </a:r>
          </a:p>
        </p:txBody>
      </p:sp>
      <p:sp>
        <p:nvSpPr>
          <p:cNvPr id="38" name="">
            <a:extLst xmlns:a="http://schemas.openxmlformats.org/drawingml/2006/main">
              <a:ext uri="{FF2B5EF4-FFF2-40B4-BE49-F238E27FC236}">
                <a16:creationId xmlns:a16="http://schemas.microsoft.com/office/drawing/2014/main" id="{27F6027A-797E-436D-9374-58E2E8BED421}"/>
              </a:ext>
            </a:extLst>
          </p:cNvPr>
          <p:cNvSpPr>
            <a:spLocks xmlns:a="http://schemas.openxmlformats.org/drawingml/2006/main" noGrp="1"/>
          </p:cNvSpPr>
          <p:nvPr/>
        </p:nvSpPr>
        <p:spPr>
          <a:xfrm xmlns:a="http://schemas.openxmlformats.org/drawingml/2006/main">
            <a:off x="8972550" y="5676900"/>
            <a:ext cx="2190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FFFFF"/>
                </a:solidFill>
                <a:latin typeface="Aptos"/>
                <a:ea typeface="Aptos"/>
                <a:cs typeface="Aptos"/>
              </a:defRPr>
            </a:pPr>
            <a:r>
              <a:rPr sz="975" b="0">
                <a:solidFill>
                  <a:srgbClr val="FFFFFF"/>
                </a:solidFill>
                <a:latin typeface="Aptos"/>
                <a:ea typeface="Aptos"/>
                <a:cs typeface="Aptos"/>
              </a:rPr>
              <a:t>If it cannot be tracked, it is not operational yet.</a:t>
            </a:r>
          </a:p>
        </p:txBody>
      </p:sp>
      <p:sp>
        <p:nvSpPr>
          <p:cNvPr id="39" name="">
            <a:extLst xmlns:a="http://schemas.openxmlformats.org/drawingml/2006/main">
              <a:ext uri="{FF2B5EF4-FFF2-40B4-BE49-F238E27FC236}">
                <a16:creationId xmlns:a16="http://schemas.microsoft.com/office/drawing/2014/main" id="{2437660D-A9F8-4884-917C-7622D0FA911F}"/>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C67B174A-CF41-443F-B728-EB7A597DBA23}"/>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41" name="">
            <a:extLst xmlns:a="http://schemas.openxmlformats.org/drawingml/2006/main">
              <a:ext uri="{FF2B5EF4-FFF2-40B4-BE49-F238E27FC236}">
                <a16:creationId xmlns:a16="http://schemas.microsoft.com/office/drawing/2014/main" id="{0892791E-841D-4064-A59E-7496D9942EE2}"/>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42" name="">
            <a:extLst xmlns:a="http://schemas.openxmlformats.org/drawingml/2006/main">
              <a:ext uri="{FF2B5EF4-FFF2-40B4-BE49-F238E27FC236}">
                <a16:creationId xmlns:a16="http://schemas.microsoft.com/office/drawing/2014/main" id="{AB4FA139-C28F-48E8-B71B-26CE9C370968}"/>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12/15</a:t>
            </a:r>
          </a:p>
        </p:txBody>
      </p:sp>
    </p:spTree>
    <p:extLst>
      <p:ext uri="{BB962C8B-B14F-4D97-AF65-F5344CB8AC3E}">
        <p14:creationId xmlns:p14="http://schemas.microsoft.com/office/powerpoint/2010/main" val="26119033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E9DE70-31D4-4A9E-B059-A4B8AEEDCA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B8889B9-87E9-4E60-AB8F-5EF86292736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D3410ED-484B-46CE-B112-C8FC9B1BF321}"/>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5-marker">
            <a:extLst xmlns:a="http://schemas.openxmlformats.org/drawingml/2006/main">
              <a:ext uri="{FF2B5EF4-FFF2-40B4-BE49-F238E27FC236}">
                <a16:creationId xmlns:a16="http://schemas.microsoft.com/office/drawing/2014/main" id="{1206A1E9-EC9F-40C7-8031-9154004220C0}"/>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5-label">
            <a:extLst xmlns:a="http://schemas.openxmlformats.org/drawingml/2006/main">
              <a:ext uri="{FF2B5EF4-FFF2-40B4-BE49-F238E27FC236}">
                <a16:creationId xmlns:a16="http://schemas.microsoft.com/office/drawing/2014/main" id="{A9BD4D04-BF51-42A7-8316-CE33843E69F2}"/>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FAILURE MODES</a:t>
            </a:r>
          </a:p>
        </p:txBody>
      </p:sp>
      <p:sp>
        <p:nvSpPr>
          <p:cNvPr id="6" name="">
            <a:extLst xmlns:a="http://schemas.openxmlformats.org/drawingml/2006/main">
              <a:ext uri="{FF2B5EF4-FFF2-40B4-BE49-F238E27FC236}">
                <a16:creationId xmlns:a16="http://schemas.microsoft.com/office/drawing/2014/main" id="{EB531003-E4AA-4FF9-809A-766C5CE8CE5D}"/>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Name the anti-pattern before it becomes field behavior.</a:t>
            </a:r>
          </a:p>
        </p:txBody>
      </p:sp>
      <p:sp>
        <p:nvSpPr>
          <p:cNvPr id="7" name="">
            <a:extLst xmlns:a="http://schemas.openxmlformats.org/drawingml/2006/main">
              <a:ext uri="{FF2B5EF4-FFF2-40B4-BE49-F238E27FC236}">
                <a16:creationId xmlns:a16="http://schemas.microsoft.com/office/drawing/2014/main" id="{CEF964F5-8C66-4912-A655-435F604AE44E}"/>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Use this slide to make weak work easier to reject in the moment.</a:t>
            </a:r>
          </a:p>
        </p:txBody>
      </p:sp>
      <p:sp>
        <p:nvSpPr>
          <p:cNvPr id="8" name="">
            <a:extLst xmlns:a="http://schemas.openxmlformats.org/drawingml/2006/main">
              <a:ext uri="{FF2B5EF4-FFF2-40B4-BE49-F238E27FC236}">
                <a16:creationId xmlns:a16="http://schemas.microsoft.com/office/drawing/2014/main" id="{8A17064E-A128-4300-AD6B-D40C80EA1934}"/>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5CE5AD9B-F048-4104-BBCB-470CC8DE5FB5}"/>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10" name="">
            <a:extLst xmlns:a="http://schemas.openxmlformats.org/drawingml/2006/main">
              <a:ext uri="{FF2B5EF4-FFF2-40B4-BE49-F238E27FC236}">
                <a16:creationId xmlns:a16="http://schemas.microsoft.com/office/drawing/2014/main" id="{6EDFA889-7C6E-435B-8CBC-21CB1C2B9774}"/>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11" name="">
            <a:extLst xmlns:a="http://schemas.openxmlformats.org/drawingml/2006/main">
              <a:ext uri="{FF2B5EF4-FFF2-40B4-BE49-F238E27FC236}">
                <a16:creationId xmlns:a16="http://schemas.microsoft.com/office/drawing/2014/main" id="{892C18CB-CDD2-4059-9632-9DF6068405A2}"/>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13/15</a:t>
            </a:r>
          </a:p>
        </p:txBody>
      </p:sp>
      <p:sp>
        <p:nvSpPr>
          <p:cNvPr id="12" name="">
            <a:extLst xmlns:a="http://schemas.openxmlformats.org/drawingml/2006/main">
              <a:ext uri="{FF2B5EF4-FFF2-40B4-BE49-F238E27FC236}">
                <a16:creationId xmlns:a16="http://schemas.microsoft.com/office/drawing/2014/main" id="{548DBD6D-FD86-445F-BBF2-B31A74A76377}"/>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E937B373-269B-43CB-A471-164958E12850}"/>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4" name="">
            <a:extLst xmlns:a="http://schemas.openxmlformats.org/drawingml/2006/main">
              <a:ext uri="{FF2B5EF4-FFF2-40B4-BE49-F238E27FC236}">
                <a16:creationId xmlns:a16="http://schemas.microsoft.com/office/drawing/2014/main" id="{9C6F36D8-D1F1-4AC4-A657-2F19B5B9EA2C}"/>
              </a:ext>
            </a:extLst>
          </p:cNvPr>
          <p:cNvSpPr>
            <a:spLocks xmlns:a="http://schemas.openxmlformats.org/drawingml/2006/main" noGrp="1"/>
          </p:cNvSpPr>
          <p:nvPr/>
        </p:nvSpPr>
        <p:spPr>
          <a:xfrm xmlns:a="http://schemas.openxmlformats.org/drawingml/2006/main">
            <a:off x="228600" y="1809750"/>
            <a:ext cx="11963400" cy="400050"/>
          </a:xfrm>
          <a:prstGeom xmlns:a="http://schemas.openxmlformats.org/drawingml/2006/main" prst="rect">
            <a:avLst/>
          </a:prstGeom>
          <a:solidFill xmlns:a="http://schemas.openxmlformats.org/drawingml/2006/main">
            <a:srgbClr val="12232B"/>
          </a:solidFill>
          <a:ln xmlns:a="http://schemas.openxmlformats.org/drawingml/2006/main" w="9525">
            <a:solidFill>
              <a:srgbClr val="12232B"/>
            </a:solidFill>
            <a:prstDash val="solid"/>
          </a:ln>
        </p:spPr>
      </p:sp>
      <p:sp>
        <p:nvSpPr>
          <p:cNvPr id="15" name="">
            <a:extLst xmlns:a="http://schemas.openxmlformats.org/drawingml/2006/main">
              <a:ext uri="{FF2B5EF4-FFF2-40B4-BE49-F238E27FC236}">
                <a16:creationId xmlns:a16="http://schemas.microsoft.com/office/drawing/2014/main" id="{FCD670C4-6D08-4F84-9263-845C4D014989}"/>
              </a:ext>
            </a:extLst>
          </p:cNvPr>
          <p:cNvSpPr>
            <a:spLocks xmlns:a="http://schemas.openxmlformats.org/drawingml/2006/main" noGrp="1"/>
          </p:cNvSpPr>
          <p:nvPr/>
        </p:nvSpPr>
        <p:spPr>
          <a:xfrm xmlns:a="http://schemas.openxmlformats.org/drawingml/2006/main">
            <a:off x="438150" y="192405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Failure mode</a:t>
            </a:r>
          </a:p>
        </p:txBody>
      </p:sp>
      <p:sp>
        <p:nvSpPr>
          <p:cNvPr id="16" name="">
            <a:extLst xmlns:a="http://schemas.openxmlformats.org/drawingml/2006/main">
              <a:ext uri="{FF2B5EF4-FFF2-40B4-BE49-F238E27FC236}">
                <a16:creationId xmlns:a16="http://schemas.microsoft.com/office/drawing/2014/main" id="{B87F6AF8-4A68-4F80-AFAF-D46850C308E0}"/>
              </a:ext>
            </a:extLst>
          </p:cNvPr>
          <p:cNvSpPr>
            <a:spLocks xmlns:a="http://schemas.openxmlformats.org/drawingml/2006/main" noGrp="1"/>
          </p:cNvSpPr>
          <p:nvPr/>
        </p:nvSpPr>
        <p:spPr>
          <a:xfrm xmlns:a="http://schemas.openxmlformats.org/drawingml/2006/main">
            <a:off x="3371850" y="1924050"/>
            <a:ext cx="2762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What it looks like</a:t>
            </a:r>
          </a:p>
        </p:txBody>
      </p:sp>
      <p:sp>
        <p:nvSpPr>
          <p:cNvPr id="17" name="">
            <a:extLst xmlns:a="http://schemas.openxmlformats.org/drawingml/2006/main">
              <a:ext uri="{FF2B5EF4-FFF2-40B4-BE49-F238E27FC236}">
                <a16:creationId xmlns:a16="http://schemas.microsoft.com/office/drawing/2014/main" id="{04B851B1-BBF2-4E74-8507-2BAC5600B8D4}"/>
              </a:ext>
            </a:extLst>
          </p:cNvPr>
          <p:cNvSpPr>
            <a:spLocks xmlns:a="http://schemas.openxmlformats.org/drawingml/2006/main" noGrp="1"/>
          </p:cNvSpPr>
          <p:nvPr/>
        </p:nvSpPr>
        <p:spPr>
          <a:xfrm xmlns:a="http://schemas.openxmlformats.org/drawingml/2006/main">
            <a:off x="6896100" y="19240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Correction</a:t>
            </a:r>
          </a:p>
        </p:txBody>
      </p:sp>
      <p:sp>
        <p:nvSpPr>
          <p:cNvPr id="18" name="">
            <a:extLst xmlns:a="http://schemas.openxmlformats.org/drawingml/2006/main">
              <a:ext uri="{FF2B5EF4-FFF2-40B4-BE49-F238E27FC236}">
                <a16:creationId xmlns:a16="http://schemas.microsoft.com/office/drawing/2014/main" id="{900C9E0D-6372-4170-9CF9-C59816DD1AE2}"/>
              </a:ext>
            </a:extLst>
          </p:cNvPr>
          <p:cNvSpPr>
            <a:spLocks xmlns:a="http://schemas.openxmlformats.org/drawingml/2006/main" noGrp="1"/>
          </p:cNvSpPr>
          <p:nvPr/>
        </p:nvSpPr>
        <p:spPr>
          <a:xfrm xmlns:a="http://schemas.openxmlformats.org/drawingml/2006/main">
            <a:off x="228600" y="2209800"/>
            <a:ext cx="1196340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6498685D-0AC4-446A-BDE6-1E5DD94ED6B5}"/>
              </a:ext>
            </a:extLst>
          </p:cNvPr>
          <p:cNvSpPr>
            <a:spLocks xmlns:a="http://schemas.openxmlformats.org/drawingml/2006/main" noGrp="1"/>
          </p:cNvSpPr>
          <p:nvPr/>
        </p:nvSpPr>
        <p:spPr>
          <a:xfrm xmlns:a="http://schemas.openxmlformats.org/drawingml/2006/main">
            <a:off x="438150" y="238125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6"/>
                </a:solidFill>
                <a:latin typeface="Aptos"/>
                <a:ea typeface="Aptos"/>
                <a:cs typeface="Aptos"/>
              </a:defRPr>
            </a:pPr>
            <a:r>
              <a:rPr sz="1125" b="1">
                <a:solidFill>
                  <a:srgbClr val="172026"/>
                </a:solidFill>
                <a:latin typeface="Aptos"/>
                <a:ea typeface="Aptos"/>
                <a:cs typeface="Aptos"/>
              </a:rPr>
              <a:t>Content volume strategy</a:t>
            </a:r>
          </a:p>
        </p:txBody>
      </p:sp>
      <p:sp>
        <p:nvSpPr>
          <p:cNvPr id="20" name="">
            <a:extLst xmlns:a="http://schemas.openxmlformats.org/drawingml/2006/main">
              <a:ext uri="{FF2B5EF4-FFF2-40B4-BE49-F238E27FC236}">
                <a16:creationId xmlns:a16="http://schemas.microsoft.com/office/drawing/2014/main" id="{861FDCF1-0F80-4671-AF6D-3E184677547D}"/>
              </a:ext>
            </a:extLst>
          </p:cNvPr>
          <p:cNvSpPr>
            <a:spLocks xmlns:a="http://schemas.openxmlformats.org/drawingml/2006/main" noGrp="1"/>
          </p:cNvSpPr>
          <p:nvPr/>
        </p:nvSpPr>
        <p:spPr>
          <a:xfrm xmlns:a="http://schemas.openxmlformats.org/drawingml/2006/main">
            <a:off x="3371850" y="2381250"/>
            <a:ext cx="285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9646A"/>
                </a:solidFill>
                <a:latin typeface="Aptos"/>
                <a:ea typeface="Aptos"/>
                <a:cs typeface="Aptos"/>
              </a:defRPr>
            </a:pPr>
            <a:r>
              <a:rPr sz="1050" b="0">
                <a:solidFill>
                  <a:srgbClr val="59646A"/>
                </a:solidFill>
                <a:latin typeface="Aptos"/>
                <a:ea typeface="Aptos"/>
                <a:cs typeface="Aptos"/>
              </a:rPr>
              <a:t>Many posts, little movement</a:t>
            </a:r>
          </a:p>
        </p:txBody>
      </p:sp>
      <p:sp>
        <p:nvSpPr>
          <p:cNvPr id="21" name="">
            <a:extLst xmlns:a="http://schemas.openxmlformats.org/drawingml/2006/main">
              <a:ext uri="{FF2B5EF4-FFF2-40B4-BE49-F238E27FC236}">
                <a16:creationId xmlns:a16="http://schemas.microsoft.com/office/drawing/2014/main" id="{8FA6E2B3-F898-462F-B3DB-0899758944A7}"/>
              </a:ext>
            </a:extLst>
          </p:cNvPr>
          <p:cNvSpPr>
            <a:spLocks xmlns:a="http://schemas.openxmlformats.org/drawingml/2006/main" noGrp="1"/>
          </p:cNvSpPr>
          <p:nvPr/>
        </p:nvSpPr>
        <p:spPr>
          <a:xfrm xmlns:a="http://schemas.openxmlformats.org/drawingml/2006/main">
            <a:off x="6896100" y="2381250"/>
            <a:ext cx="342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72026"/>
                </a:solidFill>
                <a:latin typeface="Aptos"/>
                <a:ea typeface="Aptos"/>
                <a:cs typeface="Aptos"/>
              </a:defRPr>
            </a:pPr>
            <a:r>
              <a:rPr sz="1050" b="0">
                <a:solidFill>
                  <a:srgbClr val="172026"/>
                </a:solidFill>
                <a:latin typeface="Aptos"/>
                <a:ea typeface="Aptos"/>
                <a:cs typeface="Aptos"/>
              </a:rPr>
              <a:t>Prioritize by buyer uncertainty and signal value</a:t>
            </a:r>
          </a:p>
        </p:txBody>
      </p:sp>
      <p:sp>
        <p:nvSpPr>
          <p:cNvPr id="22" name="">
            <a:extLst xmlns:a="http://schemas.openxmlformats.org/drawingml/2006/main">
              <a:ext uri="{FF2B5EF4-FFF2-40B4-BE49-F238E27FC236}">
                <a16:creationId xmlns:a16="http://schemas.microsoft.com/office/drawing/2014/main" id="{C41966A0-C0D1-4DF2-BC37-080DFE7BA8E3}"/>
              </a:ext>
            </a:extLst>
          </p:cNvPr>
          <p:cNvSpPr>
            <a:spLocks xmlns:a="http://schemas.openxmlformats.org/drawingml/2006/main" noGrp="1"/>
          </p:cNvSpPr>
          <p:nvPr/>
        </p:nvSpPr>
        <p:spPr>
          <a:xfrm xmlns:a="http://schemas.openxmlformats.org/drawingml/2006/main">
            <a:off x="228600" y="2933700"/>
            <a:ext cx="11963400" cy="723900"/>
          </a:xfrm>
          <a:prstGeom xmlns:a="http://schemas.openxmlformats.org/drawingml/2006/main" prst="rect">
            <a:avLst/>
          </a:prstGeom>
          <a:solidFill xmlns:a="http://schemas.openxmlformats.org/drawingml/2006/main">
            <a:srgbClr val="FAFBF8"/>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CFCA23A6-13F0-4A1D-838A-A71AD1C88D5F}"/>
              </a:ext>
            </a:extLst>
          </p:cNvPr>
          <p:cNvSpPr>
            <a:spLocks xmlns:a="http://schemas.openxmlformats.org/drawingml/2006/main" noGrp="1"/>
          </p:cNvSpPr>
          <p:nvPr/>
        </p:nvSpPr>
        <p:spPr>
          <a:xfrm xmlns:a="http://schemas.openxmlformats.org/drawingml/2006/main">
            <a:off x="228600" y="2933700"/>
            <a:ext cx="1196340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985E7D9B-3F95-4148-9D7E-0A88CC018BAF}"/>
              </a:ext>
            </a:extLst>
          </p:cNvPr>
          <p:cNvSpPr>
            <a:spLocks xmlns:a="http://schemas.openxmlformats.org/drawingml/2006/main" noGrp="1"/>
          </p:cNvSpPr>
          <p:nvPr/>
        </p:nvSpPr>
        <p:spPr>
          <a:xfrm xmlns:a="http://schemas.openxmlformats.org/drawingml/2006/main">
            <a:off x="438150" y="310515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6"/>
                </a:solidFill>
                <a:latin typeface="Aptos"/>
                <a:ea typeface="Aptos"/>
                <a:cs typeface="Aptos"/>
              </a:defRPr>
            </a:pPr>
            <a:r>
              <a:rPr sz="1125" b="1">
                <a:solidFill>
                  <a:srgbClr val="172026"/>
                </a:solidFill>
                <a:latin typeface="Aptos"/>
                <a:ea typeface="Aptos"/>
                <a:cs typeface="Aptos"/>
              </a:rPr>
              <a:t>Product-first content</a:t>
            </a:r>
          </a:p>
        </p:txBody>
      </p:sp>
      <p:sp>
        <p:nvSpPr>
          <p:cNvPr id="25" name="">
            <a:extLst xmlns:a="http://schemas.openxmlformats.org/drawingml/2006/main">
              <a:ext uri="{FF2B5EF4-FFF2-40B4-BE49-F238E27FC236}">
                <a16:creationId xmlns:a16="http://schemas.microsoft.com/office/drawing/2014/main" id="{52525F02-08E7-4809-A24C-267FCBBD760F}"/>
              </a:ext>
            </a:extLst>
          </p:cNvPr>
          <p:cNvSpPr>
            <a:spLocks xmlns:a="http://schemas.openxmlformats.org/drawingml/2006/main" noGrp="1"/>
          </p:cNvSpPr>
          <p:nvPr/>
        </p:nvSpPr>
        <p:spPr>
          <a:xfrm xmlns:a="http://schemas.openxmlformats.org/drawingml/2006/main">
            <a:off x="3371850" y="3105150"/>
            <a:ext cx="285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9646A"/>
                </a:solidFill>
                <a:latin typeface="Aptos"/>
                <a:ea typeface="Aptos"/>
                <a:cs typeface="Aptos"/>
              </a:defRPr>
            </a:pPr>
            <a:r>
              <a:rPr sz="1050" b="0">
                <a:solidFill>
                  <a:srgbClr val="59646A"/>
                </a:solidFill>
                <a:latin typeface="Aptos"/>
                <a:ea typeface="Aptos"/>
                <a:cs typeface="Aptos"/>
              </a:rPr>
              <a:t>Features before problem belief</a:t>
            </a:r>
          </a:p>
        </p:txBody>
      </p:sp>
      <p:sp>
        <p:nvSpPr>
          <p:cNvPr id="26" name="">
            <a:extLst xmlns:a="http://schemas.openxmlformats.org/drawingml/2006/main">
              <a:ext uri="{FF2B5EF4-FFF2-40B4-BE49-F238E27FC236}">
                <a16:creationId xmlns:a16="http://schemas.microsoft.com/office/drawing/2014/main" id="{28C9DE18-EC2E-41AA-B975-FB8B34289C50}"/>
              </a:ext>
            </a:extLst>
          </p:cNvPr>
          <p:cNvSpPr>
            <a:spLocks xmlns:a="http://schemas.openxmlformats.org/drawingml/2006/main" noGrp="1"/>
          </p:cNvSpPr>
          <p:nvPr/>
        </p:nvSpPr>
        <p:spPr>
          <a:xfrm xmlns:a="http://schemas.openxmlformats.org/drawingml/2006/main">
            <a:off x="6896100" y="3105150"/>
            <a:ext cx="342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72026"/>
                </a:solidFill>
                <a:latin typeface="Aptos"/>
                <a:ea typeface="Aptos"/>
                <a:cs typeface="Aptos"/>
              </a:defRPr>
            </a:pPr>
            <a:r>
              <a:rPr sz="1050" b="0">
                <a:solidFill>
                  <a:srgbClr val="172026"/>
                </a:solidFill>
                <a:latin typeface="Aptos"/>
                <a:ea typeface="Aptos"/>
                <a:cs typeface="Aptos"/>
              </a:rPr>
              <a:t>Build problem and solution education first</a:t>
            </a:r>
          </a:p>
        </p:txBody>
      </p:sp>
      <p:sp>
        <p:nvSpPr>
          <p:cNvPr id="27" name="">
            <a:extLst xmlns:a="http://schemas.openxmlformats.org/drawingml/2006/main">
              <a:ext uri="{FF2B5EF4-FFF2-40B4-BE49-F238E27FC236}">
                <a16:creationId xmlns:a16="http://schemas.microsoft.com/office/drawing/2014/main" id="{64BAE7C9-2D22-499A-A8A9-CAF222AD7344}"/>
              </a:ext>
            </a:extLst>
          </p:cNvPr>
          <p:cNvSpPr>
            <a:spLocks xmlns:a="http://schemas.openxmlformats.org/drawingml/2006/main" noGrp="1"/>
          </p:cNvSpPr>
          <p:nvPr/>
        </p:nvSpPr>
        <p:spPr>
          <a:xfrm xmlns:a="http://schemas.openxmlformats.org/drawingml/2006/main">
            <a:off x="228600" y="3657600"/>
            <a:ext cx="1196340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7180F2FB-A1EC-489A-9448-F1586C89DFDA}"/>
              </a:ext>
            </a:extLst>
          </p:cNvPr>
          <p:cNvSpPr>
            <a:spLocks xmlns:a="http://schemas.openxmlformats.org/drawingml/2006/main" noGrp="1"/>
          </p:cNvSpPr>
          <p:nvPr/>
        </p:nvSpPr>
        <p:spPr>
          <a:xfrm xmlns:a="http://schemas.openxmlformats.org/drawingml/2006/main">
            <a:off x="438150" y="382905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6"/>
                </a:solidFill>
                <a:latin typeface="Aptos"/>
                <a:ea typeface="Aptos"/>
                <a:cs typeface="Aptos"/>
              </a:defRPr>
            </a:pPr>
            <a:r>
              <a:rPr sz="1125" b="1">
                <a:solidFill>
                  <a:srgbClr val="172026"/>
                </a:solidFill>
                <a:latin typeface="Aptos"/>
                <a:ea typeface="Aptos"/>
                <a:cs typeface="Aptos"/>
              </a:rPr>
              <a:t>AI filler</a:t>
            </a:r>
          </a:p>
        </p:txBody>
      </p:sp>
      <p:sp>
        <p:nvSpPr>
          <p:cNvPr id="29" name="">
            <a:extLst xmlns:a="http://schemas.openxmlformats.org/drawingml/2006/main">
              <a:ext uri="{FF2B5EF4-FFF2-40B4-BE49-F238E27FC236}">
                <a16:creationId xmlns:a16="http://schemas.microsoft.com/office/drawing/2014/main" id="{E2EE053E-1549-4A7B-AE0B-7B16B12AF92A}"/>
              </a:ext>
            </a:extLst>
          </p:cNvPr>
          <p:cNvSpPr>
            <a:spLocks xmlns:a="http://schemas.openxmlformats.org/drawingml/2006/main" noGrp="1"/>
          </p:cNvSpPr>
          <p:nvPr/>
        </p:nvSpPr>
        <p:spPr>
          <a:xfrm xmlns:a="http://schemas.openxmlformats.org/drawingml/2006/main">
            <a:off x="3371850" y="3829050"/>
            <a:ext cx="285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9646A"/>
                </a:solidFill>
                <a:latin typeface="Aptos"/>
                <a:ea typeface="Aptos"/>
                <a:cs typeface="Aptos"/>
              </a:defRPr>
            </a:pPr>
            <a:r>
              <a:rPr sz="1050" b="0">
                <a:solidFill>
                  <a:srgbClr val="59646A"/>
                </a:solidFill>
                <a:latin typeface="Aptos"/>
                <a:ea typeface="Aptos"/>
                <a:cs typeface="Aptos"/>
              </a:rPr>
              <a:t>Polished generic language</a:t>
            </a:r>
          </a:p>
        </p:txBody>
      </p:sp>
      <p:sp>
        <p:nvSpPr>
          <p:cNvPr id="30" name="">
            <a:extLst xmlns:a="http://schemas.openxmlformats.org/drawingml/2006/main">
              <a:ext uri="{FF2B5EF4-FFF2-40B4-BE49-F238E27FC236}">
                <a16:creationId xmlns:a16="http://schemas.microsoft.com/office/drawing/2014/main" id="{0741F4EE-025E-435E-B60B-02D45BF28CC5}"/>
              </a:ext>
            </a:extLst>
          </p:cNvPr>
          <p:cNvSpPr>
            <a:spLocks xmlns:a="http://schemas.openxmlformats.org/drawingml/2006/main" noGrp="1"/>
          </p:cNvSpPr>
          <p:nvPr/>
        </p:nvSpPr>
        <p:spPr>
          <a:xfrm xmlns:a="http://schemas.openxmlformats.org/drawingml/2006/main">
            <a:off x="6896100" y="3829050"/>
            <a:ext cx="342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72026"/>
                </a:solidFill>
                <a:latin typeface="Aptos"/>
                <a:ea typeface="Aptos"/>
                <a:cs typeface="Aptos"/>
              </a:defRPr>
            </a:pPr>
            <a:r>
              <a:rPr sz="1050" b="0">
                <a:solidFill>
                  <a:srgbClr val="172026"/>
                </a:solidFill>
                <a:latin typeface="Aptos"/>
                <a:ea typeface="Aptos"/>
                <a:cs typeface="Aptos"/>
              </a:rPr>
              <a:t>Require SME input and proof</a:t>
            </a:r>
          </a:p>
        </p:txBody>
      </p:sp>
      <p:sp>
        <p:nvSpPr>
          <p:cNvPr id="31" name="">
            <a:extLst xmlns:a="http://schemas.openxmlformats.org/drawingml/2006/main">
              <a:ext uri="{FF2B5EF4-FFF2-40B4-BE49-F238E27FC236}">
                <a16:creationId xmlns:a16="http://schemas.microsoft.com/office/drawing/2014/main" id="{C3B78821-3386-4B8D-A798-E9562CCEB88F}"/>
              </a:ext>
            </a:extLst>
          </p:cNvPr>
          <p:cNvSpPr>
            <a:spLocks xmlns:a="http://schemas.openxmlformats.org/drawingml/2006/main" noGrp="1"/>
          </p:cNvSpPr>
          <p:nvPr/>
        </p:nvSpPr>
        <p:spPr>
          <a:xfrm xmlns:a="http://schemas.openxmlformats.org/drawingml/2006/main">
            <a:off x="228600" y="4381500"/>
            <a:ext cx="11963400" cy="723900"/>
          </a:xfrm>
          <a:prstGeom xmlns:a="http://schemas.openxmlformats.org/drawingml/2006/main" prst="rect">
            <a:avLst/>
          </a:prstGeom>
          <a:solidFill xmlns:a="http://schemas.openxmlformats.org/drawingml/2006/main">
            <a:srgbClr val="FAFBF8"/>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E61DD558-1ECA-4347-932F-552E425C2F9C}"/>
              </a:ext>
            </a:extLst>
          </p:cNvPr>
          <p:cNvSpPr>
            <a:spLocks xmlns:a="http://schemas.openxmlformats.org/drawingml/2006/main" noGrp="1"/>
          </p:cNvSpPr>
          <p:nvPr/>
        </p:nvSpPr>
        <p:spPr>
          <a:xfrm xmlns:a="http://schemas.openxmlformats.org/drawingml/2006/main">
            <a:off x="228600" y="4381500"/>
            <a:ext cx="1196340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E7BBF63F-5395-4098-9655-03ABF5D8DFEC}"/>
              </a:ext>
            </a:extLst>
          </p:cNvPr>
          <p:cNvSpPr>
            <a:spLocks xmlns:a="http://schemas.openxmlformats.org/drawingml/2006/main" noGrp="1"/>
          </p:cNvSpPr>
          <p:nvPr/>
        </p:nvSpPr>
        <p:spPr>
          <a:xfrm xmlns:a="http://schemas.openxmlformats.org/drawingml/2006/main">
            <a:off x="438150" y="455295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6"/>
                </a:solidFill>
                <a:latin typeface="Aptos"/>
                <a:ea typeface="Aptos"/>
                <a:cs typeface="Aptos"/>
              </a:defRPr>
            </a:pPr>
            <a:r>
              <a:rPr sz="1125" b="1">
                <a:solidFill>
                  <a:srgbClr val="172026"/>
                </a:solidFill>
                <a:latin typeface="Aptos"/>
                <a:ea typeface="Aptos"/>
                <a:cs typeface="Aptos"/>
              </a:rPr>
              <a:t>No distribution path</a:t>
            </a:r>
          </a:p>
        </p:txBody>
      </p:sp>
      <p:sp>
        <p:nvSpPr>
          <p:cNvPr id="34" name="">
            <a:extLst xmlns:a="http://schemas.openxmlformats.org/drawingml/2006/main">
              <a:ext uri="{FF2B5EF4-FFF2-40B4-BE49-F238E27FC236}">
                <a16:creationId xmlns:a16="http://schemas.microsoft.com/office/drawing/2014/main" id="{D82C18FF-0BD8-4A3E-A876-FAB7736651CB}"/>
              </a:ext>
            </a:extLst>
          </p:cNvPr>
          <p:cNvSpPr>
            <a:spLocks xmlns:a="http://schemas.openxmlformats.org/drawingml/2006/main" noGrp="1"/>
          </p:cNvSpPr>
          <p:nvPr/>
        </p:nvSpPr>
        <p:spPr>
          <a:xfrm xmlns:a="http://schemas.openxmlformats.org/drawingml/2006/main">
            <a:off x="3371850" y="4552950"/>
            <a:ext cx="285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9646A"/>
                </a:solidFill>
                <a:latin typeface="Aptos"/>
                <a:ea typeface="Aptos"/>
                <a:cs typeface="Aptos"/>
              </a:defRPr>
            </a:pPr>
            <a:r>
              <a:rPr sz="1050" b="0">
                <a:solidFill>
                  <a:srgbClr val="59646A"/>
                </a:solidFill>
                <a:latin typeface="Aptos"/>
                <a:ea typeface="Aptos"/>
                <a:cs typeface="Aptos"/>
              </a:rPr>
              <a:t>Content sits on website</a:t>
            </a:r>
          </a:p>
        </p:txBody>
      </p:sp>
      <p:sp>
        <p:nvSpPr>
          <p:cNvPr id="35" name="">
            <a:extLst xmlns:a="http://schemas.openxmlformats.org/drawingml/2006/main">
              <a:ext uri="{FF2B5EF4-FFF2-40B4-BE49-F238E27FC236}">
                <a16:creationId xmlns:a16="http://schemas.microsoft.com/office/drawing/2014/main" id="{5CB10618-B209-407E-96AE-20350157668A}"/>
              </a:ext>
            </a:extLst>
          </p:cNvPr>
          <p:cNvSpPr>
            <a:spLocks xmlns:a="http://schemas.openxmlformats.org/drawingml/2006/main" noGrp="1"/>
          </p:cNvSpPr>
          <p:nvPr/>
        </p:nvSpPr>
        <p:spPr>
          <a:xfrm xmlns:a="http://schemas.openxmlformats.org/drawingml/2006/main">
            <a:off x="6896100" y="4552950"/>
            <a:ext cx="342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72026"/>
                </a:solidFill>
                <a:latin typeface="Aptos"/>
                <a:ea typeface="Aptos"/>
                <a:cs typeface="Aptos"/>
              </a:defRPr>
            </a:pPr>
            <a:r>
              <a:rPr sz="1050" b="0">
                <a:solidFill>
                  <a:srgbClr val="172026"/>
                </a:solidFill>
                <a:latin typeface="Aptos"/>
                <a:ea typeface="Aptos"/>
                <a:cs typeface="Aptos"/>
              </a:rPr>
              <a:t>Assign channel, owner, cadence, and sales motion</a:t>
            </a:r>
          </a:p>
        </p:txBody>
      </p:sp>
      <p:sp>
        <p:nvSpPr>
          <p:cNvPr id="36" name="">
            <a:extLst xmlns:a="http://schemas.openxmlformats.org/drawingml/2006/main">
              <a:ext uri="{FF2B5EF4-FFF2-40B4-BE49-F238E27FC236}">
                <a16:creationId xmlns:a16="http://schemas.microsoft.com/office/drawing/2014/main" id="{8B648D92-97F7-459E-AE0D-7C8C4A2CA31B}"/>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C380236C-2970-4B96-8755-B18AA9661B5D}"/>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38" name="">
            <a:extLst xmlns:a="http://schemas.openxmlformats.org/drawingml/2006/main">
              <a:ext uri="{FF2B5EF4-FFF2-40B4-BE49-F238E27FC236}">
                <a16:creationId xmlns:a16="http://schemas.microsoft.com/office/drawing/2014/main" id="{411199B6-28FF-4B2A-BFF1-5A554167F68D}"/>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39" name="">
            <a:extLst xmlns:a="http://schemas.openxmlformats.org/drawingml/2006/main">
              <a:ext uri="{FF2B5EF4-FFF2-40B4-BE49-F238E27FC236}">
                <a16:creationId xmlns:a16="http://schemas.microsoft.com/office/drawing/2014/main" id="{73187595-E401-4B68-AEDB-D359C02F4CE1}"/>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13/15</a:t>
            </a:r>
          </a:p>
        </p:txBody>
      </p:sp>
      <p:sp>
        <p:nvSpPr>
          <p:cNvPr id="40" name="">
            <a:extLst xmlns:a="http://schemas.openxmlformats.org/drawingml/2006/main">
              <a:ext uri="{FF2B5EF4-FFF2-40B4-BE49-F238E27FC236}">
                <a16:creationId xmlns:a16="http://schemas.microsoft.com/office/drawing/2014/main" id="{988350D0-9FE7-4DF5-8F3E-2A134C532006}"/>
              </a:ext>
            </a:extLst>
          </p:cNvPr>
          <p:cNvSpPr>
            <a:spLocks xmlns:a="http://schemas.openxmlformats.org/drawingml/2006/main" noGrp="1"/>
          </p:cNvSpPr>
          <p:nvPr/>
        </p:nvSpPr>
        <p:spPr>
          <a:xfrm xmlns:a="http://schemas.openxmlformats.org/drawingml/2006/main">
            <a:off x="0" y="0"/>
            <a:ext cx="12192000" cy="18097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AC286A58-3705-4638-8D17-6307FEC8C931}"/>
              </a:ext>
            </a:extLst>
          </p:cNvPr>
          <p:cNvSpPr>
            <a:spLocks xmlns:a="http://schemas.openxmlformats.org/drawingml/2006/main" noGrp="1"/>
          </p:cNvSpPr>
          <p:nvPr/>
        </p:nvSpPr>
        <p:spPr>
          <a:xfrm xmlns:a="http://schemas.openxmlformats.org/drawingml/2006/main">
            <a:off x="0" y="0"/>
            <a:ext cx="171450" cy="180975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43318015-C5DB-4919-962A-7DD08C47212F}"/>
              </a:ext>
            </a:extLst>
          </p:cNvPr>
          <p:cNvSpPr>
            <a:spLocks xmlns:a="http://schemas.openxmlformats.org/drawingml/2006/main" noGrp="1"/>
          </p:cNvSpPr>
          <p:nvPr/>
        </p:nvSpPr>
        <p:spPr>
          <a:xfrm xmlns:a="http://schemas.openxmlformats.org/drawingml/2006/main">
            <a:off x="171450" y="0"/>
            <a:ext cx="57150" cy="18097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3" name="kicker-05-marker">
            <a:extLst xmlns:a="http://schemas.openxmlformats.org/drawingml/2006/main">
              <a:ext uri="{FF2B5EF4-FFF2-40B4-BE49-F238E27FC236}">
                <a16:creationId xmlns:a16="http://schemas.microsoft.com/office/drawing/2014/main" id="{D7A40CDC-61D9-49D7-8B0B-C00BAF549036}"/>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4" name="kicker-05-label">
            <a:extLst xmlns:a="http://schemas.openxmlformats.org/drawingml/2006/main">
              <a:ext uri="{FF2B5EF4-FFF2-40B4-BE49-F238E27FC236}">
                <a16:creationId xmlns:a16="http://schemas.microsoft.com/office/drawing/2014/main" id="{7D150CCA-4361-4F4A-9524-D507CC5D328A}"/>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FAILURE MODES</a:t>
            </a:r>
          </a:p>
        </p:txBody>
      </p:sp>
      <p:sp>
        <p:nvSpPr>
          <p:cNvPr id="45" name="">
            <a:extLst xmlns:a="http://schemas.openxmlformats.org/drawingml/2006/main">
              <a:ext uri="{FF2B5EF4-FFF2-40B4-BE49-F238E27FC236}">
                <a16:creationId xmlns:a16="http://schemas.microsoft.com/office/drawing/2014/main" id="{C047BBF7-7738-4A6B-8C6D-06CF3FB25719}"/>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Name the anti-pattern before it becomes field behavior.</a:t>
            </a:r>
          </a:p>
        </p:txBody>
      </p:sp>
      <p:sp>
        <p:nvSpPr>
          <p:cNvPr id="46" name="">
            <a:extLst xmlns:a="http://schemas.openxmlformats.org/drawingml/2006/main">
              <a:ext uri="{FF2B5EF4-FFF2-40B4-BE49-F238E27FC236}">
                <a16:creationId xmlns:a16="http://schemas.microsoft.com/office/drawing/2014/main" id="{994D16B9-4043-49F1-B68E-3712A0033926}"/>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Use this slide to make weak work easier to reject in the moment.</a:t>
            </a:r>
          </a:p>
        </p:txBody>
      </p:sp>
      <p:sp>
        <p:nvSpPr>
          <p:cNvPr id="47" name="">
            <a:extLst xmlns:a="http://schemas.openxmlformats.org/drawingml/2006/main">
              <a:ext uri="{FF2B5EF4-FFF2-40B4-BE49-F238E27FC236}">
                <a16:creationId xmlns:a16="http://schemas.microsoft.com/office/drawing/2014/main" id="{785E8688-0360-4B2D-8813-24E60CDEDA61}"/>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4AF9620D-EC1D-4EF5-AEDA-4D6FB3ED2120}"/>
              </a:ext>
            </a:extLst>
          </p:cNvPr>
          <p:cNvSpPr>
            <a:spLocks xmlns:a="http://schemas.openxmlformats.org/drawingml/2006/main" noGrp="1"/>
          </p:cNvSpPr>
          <p:nvPr/>
        </p:nvSpPr>
        <p:spPr>
          <a:xfrm xmlns:a="http://schemas.openxmlformats.org/drawingml/2006/main">
            <a:off x="0" y="6400800"/>
            <a:ext cx="171450" cy="4572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E0BDEF7D-5800-4757-8692-6577F77012C9}"/>
              </a:ext>
            </a:extLst>
          </p:cNvPr>
          <p:cNvSpPr>
            <a:spLocks xmlns:a="http://schemas.openxmlformats.org/drawingml/2006/main" noGrp="1"/>
          </p:cNvSpPr>
          <p:nvPr/>
        </p:nvSpPr>
        <p:spPr>
          <a:xfrm xmlns:a="http://schemas.openxmlformats.org/drawingml/2006/main">
            <a:off x="171450" y="6400800"/>
            <a:ext cx="57150" cy="457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133746F5-2B27-4D96-8BCB-128CFC4859F3}"/>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DD607BF6-DED6-4F73-B8BB-FDE1D261A206}"/>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52" name="">
            <a:extLst xmlns:a="http://schemas.openxmlformats.org/drawingml/2006/main">
              <a:ext uri="{FF2B5EF4-FFF2-40B4-BE49-F238E27FC236}">
                <a16:creationId xmlns:a16="http://schemas.microsoft.com/office/drawing/2014/main" id="{0E119A5C-9CC3-40FD-A029-5C546A933CBD}"/>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53" name="">
            <a:extLst xmlns:a="http://schemas.openxmlformats.org/drawingml/2006/main">
              <a:ext uri="{FF2B5EF4-FFF2-40B4-BE49-F238E27FC236}">
                <a16:creationId xmlns:a16="http://schemas.microsoft.com/office/drawing/2014/main" id="{4B2A73F2-235E-4EC5-B3A8-FF31048101F7}"/>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13/15</a:t>
            </a:r>
          </a:p>
        </p:txBody>
      </p:sp>
    </p:spTree>
    <p:extLst>
      <p:ext uri="{BB962C8B-B14F-4D97-AF65-F5344CB8AC3E}">
        <p14:creationId xmlns:p14="http://schemas.microsoft.com/office/powerpoint/2010/main" val="39274853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9CA645F-95DA-4199-932E-8C598B40AA6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9FDA40C-CDD5-4142-940D-2BCB0AC013A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E19AE55-71F4-45A3-99E7-AEA109081D06}"/>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5-marker">
            <a:extLst xmlns:a="http://schemas.openxmlformats.org/drawingml/2006/main">
              <a:ext uri="{FF2B5EF4-FFF2-40B4-BE49-F238E27FC236}">
                <a16:creationId xmlns:a16="http://schemas.microsoft.com/office/drawing/2014/main" id="{D9BBAE92-C7F3-46E6-9DC3-931DB0BC0BA2}"/>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5-label">
            <a:extLst xmlns:a="http://schemas.openxmlformats.org/drawingml/2006/main">
              <a:ext uri="{FF2B5EF4-FFF2-40B4-BE49-F238E27FC236}">
                <a16:creationId xmlns:a16="http://schemas.microsoft.com/office/drawing/2014/main" id="{429A5657-618D-4928-8ABE-46B157D6EF28}"/>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FINAL ARTIFACT</a:t>
            </a:r>
          </a:p>
        </p:txBody>
      </p:sp>
      <p:sp>
        <p:nvSpPr>
          <p:cNvPr id="6" name="">
            <a:extLst xmlns:a="http://schemas.openxmlformats.org/drawingml/2006/main">
              <a:ext uri="{FF2B5EF4-FFF2-40B4-BE49-F238E27FC236}">
                <a16:creationId xmlns:a16="http://schemas.microsoft.com/office/drawing/2014/main" id="{8061765F-7125-4D78-BE59-C59A4F5D621B}"/>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What learners must leave this lesson able to submit.</a:t>
            </a:r>
          </a:p>
        </p:txBody>
      </p:sp>
      <p:sp>
        <p:nvSpPr>
          <p:cNvPr id="7" name="">
            <a:extLst xmlns:a="http://schemas.openxmlformats.org/drawingml/2006/main">
              <a:ext uri="{FF2B5EF4-FFF2-40B4-BE49-F238E27FC236}">
                <a16:creationId xmlns:a16="http://schemas.microsoft.com/office/drawing/2014/main" id="{F73F9E0A-59E5-4F64-9955-023B21A177AB}"/>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Treat this as the exit gate before transitioning.</a:t>
            </a:r>
          </a:p>
        </p:txBody>
      </p:sp>
      <p:sp>
        <p:nvSpPr>
          <p:cNvPr id="8" name="">
            <a:extLst xmlns:a="http://schemas.openxmlformats.org/drawingml/2006/main">
              <a:ext uri="{FF2B5EF4-FFF2-40B4-BE49-F238E27FC236}">
                <a16:creationId xmlns:a16="http://schemas.microsoft.com/office/drawing/2014/main" id="{30E2D7F7-7FCD-4DA3-94D7-E0FCD74BD330}"/>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0557BF4-C9BE-438B-9BBF-FEDF1923213D}"/>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10" name="">
            <a:extLst xmlns:a="http://schemas.openxmlformats.org/drawingml/2006/main">
              <a:ext uri="{FF2B5EF4-FFF2-40B4-BE49-F238E27FC236}">
                <a16:creationId xmlns:a16="http://schemas.microsoft.com/office/drawing/2014/main" id="{1F5F420A-F72B-4753-8799-9B756168514B}"/>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11" name="">
            <a:extLst xmlns:a="http://schemas.openxmlformats.org/drawingml/2006/main">
              <a:ext uri="{FF2B5EF4-FFF2-40B4-BE49-F238E27FC236}">
                <a16:creationId xmlns:a16="http://schemas.microsoft.com/office/drawing/2014/main" id="{3FEF4555-AB5E-45EE-B8D5-07465FD0941D}"/>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14/15</a:t>
            </a:r>
          </a:p>
        </p:txBody>
      </p:sp>
      <p:sp>
        <p:nvSpPr>
          <p:cNvPr id="12" name="">
            <a:extLst xmlns:a="http://schemas.openxmlformats.org/drawingml/2006/main">
              <a:ext uri="{FF2B5EF4-FFF2-40B4-BE49-F238E27FC236}">
                <a16:creationId xmlns:a16="http://schemas.microsoft.com/office/drawing/2014/main" id="{1F6589E7-1B02-4C14-B266-E923521B45BC}"/>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10395AC7-14E3-47F6-A112-A91D8C35B33F}"/>
              </a:ext>
            </a:extLst>
          </p:cNvPr>
          <p:cNvSpPr>
            <a:spLocks xmlns:a="http://schemas.openxmlformats.org/drawingml/2006/main" noGrp="1"/>
          </p:cNvSpPr>
          <p:nvPr/>
        </p:nvSpPr>
        <p:spPr>
          <a:xfrm xmlns:a="http://schemas.openxmlformats.org/drawingml/2006/main">
            <a:off x="228600" y="1809750"/>
            <a:ext cx="6819900" cy="45910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4" name="">
            <a:extLst xmlns:a="http://schemas.openxmlformats.org/drawingml/2006/main">
              <a:ext uri="{FF2B5EF4-FFF2-40B4-BE49-F238E27FC236}">
                <a16:creationId xmlns:a16="http://schemas.microsoft.com/office/drawing/2014/main" id="{6C4F9631-9DA4-4652-9C58-251E52450C40}"/>
              </a:ext>
            </a:extLst>
          </p:cNvPr>
          <p:cNvSpPr>
            <a:spLocks xmlns:a="http://schemas.openxmlformats.org/drawingml/2006/main" noGrp="1"/>
          </p:cNvSpPr>
          <p:nvPr/>
        </p:nvSpPr>
        <p:spPr>
          <a:xfrm xmlns:a="http://schemas.openxmlformats.org/drawingml/2006/main">
            <a:off x="609600" y="2266950"/>
            <a:ext cx="266700" cy="190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FB419D8E-7B8E-4D72-8249-0C3C0535C9A7}"/>
              </a:ext>
            </a:extLst>
          </p:cNvPr>
          <p:cNvSpPr>
            <a:spLocks xmlns:a="http://schemas.openxmlformats.org/drawingml/2006/main" noGrp="1"/>
          </p:cNvSpPr>
          <p:nvPr/>
        </p:nvSpPr>
        <p:spPr>
          <a:xfrm xmlns:a="http://schemas.openxmlformats.org/drawingml/2006/main">
            <a:off x="971550" y="2190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ARTIFACT CHECKLIST</a:t>
            </a:r>
          </a:p>
        </p:txBody>
      </p:sp>
      <p:sp>
        <p:nvSpPr>
          <p:cNvPr id="16" name="">
            <a:extLst xmlns:a="http://schemas.openxmlformats.org/drawingml/2006/main">
              <a:ext uri="{FF2B5EF4-FFF2-40B4-BE49-F238E27FC236}">
                <a16:creationId xmlns:a16="http://schemas.microsoft.com/office/drawing/2014/main" id="{F6E82322-DE5B-4CED-84CB-1D6E83764D99}"/>
              </a:ext>
            </a:extLst>
          </p:cNvPr>
          <p:cNvSpPr>
            <a:spLocks xmlns:a="http://schemas.openxmlformats.org/drawingml/2006/main" noGrp="1"/>
          </p:cNvSpPr>
          <p:nvPr/>
        </p:nvSpPr>
        <p:spPr>
          <a:xfrm xmlns:a="http://schemas.openxmlformats.org/drawingml/2006/main">
            <a:off x="609600" y="271462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B611F852-FA4F-4DF5-A70D-8F45A45F797C}"/>
              </a:ext>
            </a:extLst>
          </p:cNvPr>
          <p:cNvSpPr>
            <a:spLocks xmlns:a="http://schemas.openxmlformats.org/drawingml/2006/main" noGrp="1"/>
          </p:cNvSpPr>
          <p:nvPr/>
        </p:nvSpPr>
        <p:spPr>
          <a:xfrm xmlns:a="http://schemas.openxmlformats.org/drawingml/2006/main">
            <a:off x="781050" y="2647950"/>
            <a:ext cx="2495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Two content-demand assets</a:t>
            </a:r>
          </a:p>
        </p:txBody>
      </p:sp>
      <p:sp>
        <p:nvSpPr>
          <p:cNvPr id="18" name="">
            <a:extLst xmlns:a="http://schemas.openxmlformats.org/drawingml/2006/main">
              <a:ext uri="{FF2B5EF4-FFF2-40B4-BE49-F238E27FC236}">
                <a16:creationId xmlns:a16="http://schemas.microsoft.com/office/drawing/2014/main" id="{691D8CE2-805F-44C5-A653-9E66175AD525}"/>
              </a:ext>
            </a:extLst>
          </p:cNvPr>
          <p:cNvSpPr>
            <a:spLocks xmlns:a="http://schemas.openxmlformats.org/drawingml/2006/main" noGrp="1"/>
          </p:cNvSpPr>
          <p:nvPr/>
        </p:nvSpPr>
        <p:spPr>
          <a:xfrm xmlns:a="http://schemas.openxmlformats.org/drawingml/2006/main">
            <a:off x="609600" y="317182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4B39A470-2EFB-4BE2-9A21-12ED14CB176C}"/>
              </a:ext>
            </a:extLst>
          </p:cNvPr>
          <p:cNvSpPr>
            <a:spLocks xmlns:a="http://schemas.openxmlformats.org/drawingml/2006/main" noGrp="1"/>
          </p:cNvSpPr>
          <p:nvPr/>
        </p:nvSpPr>
        <p:spPr>
          <a:xfrm xmlns:a="http://schemas.openxmlformats.org/drawingml/2006/main">
            <a:off x="781050" y="3105150"/>
            <a:ext cx="2495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Two solution-demand assets</a:t>
            </a:r>
          </a:p>
        </p:txBody>
      </p:sp>
      <p:sp>
        <p:nvSpPr>
          <p:cNvPr id="20" name="">
            <a:extLst xmlns:a="http://schemas.openxmlformats.org/drawingml/2006/main">
              <a:ext uri="{FF2B5EF4-FFF2-40B4-BE49-F238E27FC236}">
                <a16:creationId xmlns:a16="http://schemas.microsoft.com/office/drawing/2014/main" id="{02912A3D-9B20-4E36-A172-BA75357D9B22}"/>
              </a:ext>
            </a:extLst>
          </p:cNvPr>
          <p:cNvSpPr>
            <a:spLocks xmlns:a="http://schemas.openxmlformats.org/drawingml/2006/main" noGrp="1"/>
          </p:cNvSpPr>
          <p:nvPr/>
        </p:nvSpPr>
        <p:spPr>
          <a:xfrm xmlns:a="http://schemas.openxmlformats.org/drawingml/2006/main">
            <a:off x="609600" y="362902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DE4269EE-32BE-4510-BA0A-6DF4C381D39F}"/>
              </a:ext>
            </a:extLst>
          </p:cNvPr>
          <p:cNvSpPr>
            <a:spLocks xmlns:a="http://schemas.openxmlformats.org/drawingml/2006/main" noGrp="1"/>
          </p:cNvSpPr>
          <p:nvPr/>
        </p:nvSpPr>
        <p:spPr>
          <a:xfrm xmlns:a="http://schemas.openxmlformats.org/drawingml/2006/main">
            <a:off x="781050" y="3562350"/>
            <a:ext cx="2495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One vendor-demand or buyer-enablement asset</a:t>
            </a:r>
          </a:p>
        </p:txBody>
      </p:sp>
      <p:sp>
        <p:nvSpPr>
          <p:cNvPr id="22" name="">
            <a:extLst xmlns:a="http://schemas.openxmlformats.org/drawingml/2006/main">
              <a:ext uri="{FF2B5EF4-FFF2-40B4-BE49-F238E27FC236}">
                <a16:creationId xmlns:a16="http://schemas.microsoft.com/office/drawing/2014/main" id="{12B83728-37E5-4788-8279-227242A8633D}"/>
              </a:ext>
            </a:extLst>
          </p:cNvPr>
          <p:cNvSpPr>
            <a:spLocks xmlns:a="http://schemas.openxmlformats.org/drawingml/2006/main" noGrp="1"/>
          </p:cNvSpPr>
          <p:nvPr/>
        </p:nvSpPr>
        <p:spPr>
          <a:xfrm xmlns:a="http://schemas.openxmlformats.org/drawingml/2006/main">
            <a:off x="609600" y="408622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6470285B-CF0A-47B4-93F5-DF8033A21C5F}"/>
              </a:ext>
            </a:extLst>
          </p:cNvPr>
          <p:cNvSpPr>
            <a:spLocks xmlns:a="http://schemas.openxmlformats.org/drawingml/2006/main" noGrp="1"/>
          </p:cNvSpPr>
          <p:nvPr/>
        </p:nvSpPr>
        <p:spPr>
          <a:xfrm xmlns:a="http://schemas.openxmlformats.org/drawingml/2006/main">
            <a:off x="781050" y="4019550"/>
            <a:ext cx="2495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SME input requirement per asset</a:t>
            </a:r>
          </a:p>
        </p:txBody>
      </p:sp>
      <p:sp>
        <p:nvSpPr>
          <p:cNvPr id="24" name="">
            <a:extLst xmlns:a="http://schemas.openxmlformats.org/drawingml/2006/main">
              <a:ext uri="{FF2B5EF4-FFF2-40B4-BE49-F238E27FC236}">
                <a16:creationId xmlns:a16="http://schemas.microsoft.com/office/drawing/2014/main" id="{18CD366D-190C-4F9D-A868-790E792B30F8}"/>
              </a:ext>
            </a:extLst>
          </p:cNvPr>
          <p:cNvSpPr>
            <a:spLocks xmlns:a="http://schemas.openxmlformats.org/drawingml/2006/main" noGrp="1"/>
          </p:cNvSpPr>
          <p:nvPr/>
        </p:nvSpPr>
        <p:spPr>
          <a:xfrm xmlns:a="http://schemas.openxmlformats.org/drawingml/2006/main">
            <a:off x="3676650" y="2714625"/>
            <a:ext cx="571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D19B8796-C54C-4805-A8FD-3EFFA763DF56}"/>
              </a:ext>
            </a:extLst>
          </p:cNvPr>
          <p:cNvSpPr>
            <a:spLocks xmlns:a="http://schemas.openxmlformats.org/drawingml/2006/main" noGrp="1"/>
          </p:cNvSpPr>
          <p:nvPr/>
        </p:nvSpPr>
        <p:spPr>
          <a:xfrm xmlns:a="http://schemas.openxmlformats.org/drawingml/2006/main">
            <a:off x="3848100" y="2647950"/>
            <a:ext cx="2495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Sales use per asset</a:t>
            </a:r>
          </a:p>
        </p:txBody>
      </p:sp>
      <p:sp>
        <p:nvSpPr>
          <p:cNvPr id="26" name="">
            <a:extLst xmlns:a="http://schemas.openxmlformats.org/drawingml/2006/main">
              <a:ext uri="{FF2B5EF4-FFF2-40B4-BE49-F238E27FC236}">
                <a16:creationId xmlns:a16="http://schemas.microsoft.com/office/drawing/2014/main" id="{A1669295-4439-4523-BF76-1632C0CEDC25}"/>
              </a:ext>
            </a:extLst>
          </p:cNvPr>
          <p:cNvSpPr>
            <a:spLocks xmlns:a="http://schemas.openxmlformats.org/drawingml/2006/main" noGrp="1"/>
          </p:cNvSpPr>
          <p:nvPr/>
        </p:nvSpPr>
        <p:spPr>
          <a:xfrm xmlns:a="http://schemas.openxmlformats.org/drawingml/2006/main">
            <a:off x="3676650" y="3171825"/>
            <a:ext cx="571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9598D8C9-5FA1-4406-8639-AF5B07D0EB98}"/>
              </a:ext>
            </a:extLst>
          </p:cNvPr>
          <p:cNvSpPr>
            <a:spLocks xmlns:a="http://schemas.openxmlformats.org/drawingml/2006/main" noGrp="1"/>
          </p:cNvSpPr>
          <p:nvPr/>
        </p:nvSpPr>
        <p:spPr>
          <a:xfrm xmlns:a="http://schemas.openxmlformats.org/drawingml/2006/main">
            <a:off x="3848100" y="3105150"/>
            <a:ext cx="2495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Distribution path per asset</a:t>
            </a:r>
          </a:p>
        </p:txBody>
      </p:sp>
      <p:sp>
        <p:nvSpPr>
          <p:cNvPr id="28" name="">
            <a:extLst xmlns:a="http://schemas.openxmlformats.org/drawingml/2006/main">
              <a:ext uri="{FF2B5EF4-FFF2-40B4-BE49-F238E27FC236}">
                <a16:creationId xmlns:a16="http://schemas.microsoft.com/office/drawing/2014/main" id="{40792188-8245-431E-AF1B-40BAD210B07A}"/>
              </a:ext>
            </a:extLst>
          </p:cNvPr>
          <p:cNvSpPr>
            <a:spLocks xmlns:a="http://schemas.openxmlformats.org/drawingml/2006/main" noGrp="1"/>
          </p:cNvSpPr>
          <p:nvPr/>
        </p:nvSpPr>
        <p:spPr>
          <a:xfrm xmlns:a="http://schemas.openxmlformats.org/drawingml/2006/main">
            <a:off x="3676650" y="3629025"/>
            <a:ext cx="571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EA1D0F4C-F3E9-4E8C-A6E0-1EB866E7A603}"/>
              </a:ext>
            </a:extLst>
          </p:cNvPr>
          <p:cNvSpPr>
            <a:spLocks xmlns:a="http://schemas.openxmlformats.org/drawingml/2006/main" noGrp="1"/>
          </p:cNvSpPr>
          <p:nvPr/>
        </p:nvSpPr>
        <p:spPr>
          <a:xfrm xmlns:a="http://schemas.openxmlformats.org/drawingml/2006/main">
            <a:off x="3848100" y="3562350"/>
            <a:ext cx="2495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Signal design per asset</a:t>
            </a:r>
          </a:p>
        </p:txBody>
      </p:sp>
      <p:sp>
        <p:nvSpPr>
          <p:cNvPr id="30" name="">
            <a:extLst xmlns:a="http://schemas.openxmlformats.org/drawingml/2006/main">
              <a:ext uri="{FF2B5EF4-FFF2-40B4-BE49-F238E27FC236}">
                <a16:creationId xmlns:a16="http://schemas.microsoft.com/office/drawing/2014/main" id="{204B3DF4-537C-44B2-8F35-574FAFDE6B35}"/>
              </a:ext>
            </a:extLst>
          </p:cNvPr>
          <p:cNvSpPr>
            <a:spLocks xmlns:a="http://schemas.openxmlformats.org/drawingml/2006/main" noGrp="1"/>
          </p:cNvSpPr>
          <p:nvPr/>
        </p:nvSpPr>
        <p:spPr>
          <a:xfrm xmlns:a="http://schemas.openxmlformats.org/drawingml/2006/main">
            <a:off x="7048500" y="1809750"/>
            <a:ext cx="5143500" cy="4591050"/>
          </a:xfrm>
          <a:prstGeom xmlns:a="http://schemas.openxmlformats.org/drawingml/2006/main" prst="rect">
            <a:avLst/>
          </a:prstGeom>
          <a:solidFill xmlns:a="http://schemas.openxmlformats.org/drawingml/2006/main">
            <a:srgbClr val="12232B"/>
          </a:solidFill>
          <a:ln xmlns:a="http://schemas.openxmlformats.org/drawingml/2006/main" w="9525">
            <a:solidFill>
              <a:srgbClr val="12232B"/>
            </a:solidFill>
            <a:prstDash val="solid"/>
          </a:ln>
        </p:spPr>
      </p:sp>
      <p:sp>
        <p:nvSpPr>
          <p:cNvPr id="31" name="">
            <a:extLst xmlns:a="http://schemas.openxmlformats.org/drawingml/2006/main">
              <a:ext uri="{FF2B5EF4-FFF2-40B4-BE49-F238E27FC236}">
                <a16:creationId xmlns:a16="http://schemas.microsoft.com/office/drawing/2014/main" id="{D9225FE7-D012-4F9D-9DD8-BFDCB5EE63B5}"/>
              </a:ext>
            </a:extLst>
          </p:cNvPr>
          <p:cNvSpPr>
            <a:spLocks xmlns:a="http://schemas.openxmlformats.org/drawingml/2006/main" noGrp="1"/>
          </p:cNvSpPr>
          <p:nvPr/>
        </p:nvSpPr>
        <p:spPr>
          <a:xfrm xmlns:a="http://schemas.openxmlformats.org/drawingml/2006/main">
            <a:off x="7448550" y="2343150"/>
            <a:ext cx="266700" cy="19050"/>
          </a:xfrm>
          <a:prstGeom xmlns:a="http://schemas.openxmlformats.org/drawingml/2006/main" prst="rect">
            <a:avLst/>
          </a:prstGeom>
          <a:solidFill xmlns:a="http://schemas.openxmlformats.org/drawingml/2006/main">
            <a:srgbClr val="B7953B"/>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8079119E-2809-4AC6-9CBB-6289C7657EB9}"/>
              </a:ext>
            </a:extLst>
          </p:cNvPr>
          <p:cNvSpPr>
            <a:spLocks xmlns:a="http://schemas.openxmlformats.org/drawingml/2006/main" noGrp="1"/>
          </p:cNvSpPr>
          <p:nvPr/>
        </p:nvSpPr>
        <p:spPr>
          <a:xfrm xmlns:a="http://schemas.openxmlformats.org/drawingml/2006/main">
            <a:off x="7810500" y="22669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COMPLETION STANDARD</a:t>
            </a:r>
          </a:p>
        </p:txBody>
      </p:sp>
      <p:sp>
        <p:nvSpPr>
          <p:cNvPr id="33" name="">
            <a:extLst xmlns:a="http://schemas.openxmlformats.org/drawingml/2006/main">
              <a:ext uri="{FF2B5EF4-FFF2-40B4-BE49-F238E27FC236}">
                <a16:creationId xmlns:a16="http://schemas.microsoft.com/office/drawing/2014/main" id="{4C73410B-4113-44B8-B271-C5E7BCB7135D}"/>
              </a:ext>
            </a:extLst>
          </p:cNvPr>
          <p:cNvSpPr>
            <a:spLocks xmlns:a="http://schemas.openxmlformats.org/drawingml/2006/main" noGrp="1"/>
          </p:cNvSpPr>
          <p:nvPr/>
        </p:nvSpPr>
        <p:spPr>
          <a:xfrm xmlns:a="http://schemas.openxmlformats.org/drawingml/2006/main">
            <a:off x="7448550" y="2781300"/>
            <a:ext cx="3429000" cy="1333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FFFFFF"/>
                </a:solidFill>
                <a:latin typeface="Aptos Display"/>
                <a:ea typeface="Aptos Display"/>
                <a:cs typeface="Aptos Display"/>
              </a:defRPr>
            </a:pPr>
            <a:r>
              <a:rPr sz="1575" b="1">
                <a:solidFill>
                  <a:srgbClr val="FFFFFF"/>
                </a:solidFill>
                <a:latin typeface="Aptos Display"/>
                <a:ea typeface="Aptos Display"/>
                <a:cs typeface="Aptos Display"/>
              </a:rPr>
              <a:t>The artifact passes only if sales, marketing, RevOps, leadership, and an AI agent could inspect it and know what to do next.</a:t>
            </a:r>
          </a:p>
        </p:txBody>
      </p:sp>
      <p:sp>
        <p:nvSpPr>
          <p:cNvPr id="34" name="">
            <a:extLst xmlns:a="http://schemas.openxmlformats.org/drawingml/2006/main">
              <a:ext uri="{FF2B5EF4-FFF2-40B4-BE49-F238E27FC236}">
                <a16:creationId xmlns:a16="http://schemas.microsoft.com/office/drawing/2014/main" id="{CE060954-54A5-49C6-94EE-1286970DFA3F}"/>
              </a:ext>
            </a:extLst>
          </p:cNvPr>
          <p:cNvSpPr>
            <a:spLocks xmlns:a="http://schemas.openxmlformats.org/drawingml/2006/main" noGrp="1"/>
          </p:cNvSpPr>
          <p:nvPr/>
        </p:nvSpPr>
        <p:spPr>
          <a:xfrm xmlns:a="http://schemas.openxmlformats.org/drawingml/2006/main">
            <a:off x="7448550" y="4705350"/>
            <a:ext cx="3238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D6E3E5"/>
                </a:solidFill>
                <a:latin typeface="Aptos"/>
                <a:ea typeface="Aptos"/>
                <a:cs typeface="Aptos"/>
              </a:defRPr>
            </a:pPr>
            <a:r>
              <a:rPr sz="1125" b="0">
                <a:solidFill>
                  <a:srgbClr val="D6E3E5"/>
                </a:solidFill>
                <a:latin typeface="Aptos"/>
                <a:ea typeface="Aptos"/>
                <a:cs typeface="Aptos"/>
              </a:rPr>
              <a:t>If it could be used unchanged by a generic SaaS company, it fails.</a:t>
            </a:r>
          </a:p>
        </p:txBody>
      </p:sp>
      <p:sp>
        <p:nvSpPr>
          <p:cNvPr id="35" name="">
            <a:extLst xmlns:a="http://schemas.openxmlformats.org/drawingml/2006/main">
              <a:ext uri="{FF2B5EF4-FFF2-40B4-BE49-F238E27FC236}">
                <a16:creationId xmlns:a16="http://schemas.microsoft.com/office/drawing/2014/main" id="{B18A56E2-758E-43CC-82E5-F38767FE1492}"/>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BB50BBB1-D4E6-4C6B-9BCB-4C9D39B04CD1}"/>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37" name="">
            <a:extLst xmlns:a="http://schemas.openxmlformats.org/drawingml/2006/main">
              <a:ext uri="{FF2B5EF4-FFF2-40B4-BE49-F238E27FC236}">
                <a16:creationId xmlns:a16="http://schemas.microsoft.com/office/drawing/2014/main" id="{B4258A00-6DE3-4F6E-A658-A6B1BBD1D5CA}"/>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38" name="">
            <a:extLst xmlns:a="http://schemas.openxmlformats.org/drawingml/2006/main">
              <a:ext uri="{FF2B5EF4-FFF2-40B4-BE49-F238E27FC236}">
                <a16:creationId xmlns:a16="http://schemas.microsoft.com/office/drawing/2014/main" id="{5C8FC19E-D2DC-43DC-BAB4-C70098D22012}"/>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14/15</a:t>
            </a:r>
          </a:p>
        </p:txBody>
      </p:sp>
      <p:sp>
        <p:nvSpPr>
          <p:cNvPr id="39" name="">
            <a:extLst xmlns:a="http://schemas.openxmlformats.org/drawingml/2006/main">
              <a:ext uri="{FF2B5EF4-FFF2-40B4-BE49-F238E27FC236}">
                <a16:creationId xmlns:a16="http://schemas.microsoft.com/office/drawing/2014/main" id="{4CFC494B-A87D-4D1B-B2ED-0D762F6DEB56}"/>
              </a:ext>
            </a:extLst>
          </p:cNvPr>
          <p:cNvSpPr>
            <a:spLocks xmlns:a="http://schemas.openxmlformats.org/drawingml/2006/main" noGrp="1"/>
          </p:cNvSpPr>
          <p:nvPr/>
        </p:nvSpPr>
        <p:spPr>
          <a:xfrm xmlns:a="http://schemas.openxmlformats.org/drawingml/2006/main">
            <a:off x="0" y="0"/>
            <a:ext cx="12192000" cy="18097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173684F0-37F7-42EA-A9F0-50D4B0BA8800}"/>
              </a:ext>
            </a:extLst>
          </p:cNvPr>
          <p:cNvSpPr>
            <a:spLocks xmlns:a="http://schemas.openxmlformats.org/drawingml/2006/main" noGrp="1"/>
          </p:cNvSpPr>
          <p:nvPr/>
        </p:nvSpPr>
        <p:spPr>
          <a:xfrm xmlns:a="http://schemas.openxmlformats.org/drawingml/2006/main">
            <a:off x="0" y="0"/>
            <a:ext cx="171450" cy="180975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29D3DE65-C0B6-4179-88B8-CA1980CB07A0}"/>
              </a:ext>
            </a:extLst>
          </p:cNvPr>
          <p:cNvSpPr>
            <a:spLocks xmlns:a="http://schemas.openxmlformats.org/drawingml/2006/main" noGrp="1"/>
          </p:cNvSpPr>
          <p:nvPr/>
        </p:nvSpPr>
        <p:spPr>
          <a:xfrm xmlns:a="http://schemas.openxmlformats.org/drawingml/2006/main">
            <a:off x="171450" y="0"/>
            <a:ext cx="57150" cy="18097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2" name="kicker-05-marker">
            <a:extLst xmlns:a="http://schemas.openxmlformats.org/drawingml/2006/main">
              <a:ext uri="{FF2B5EF4-FFF2-40B4-BE49-F238E27FC236}">
                <a16:creationId xmlns:a16="http://schemas.microsoft.com/office/drawing/2014/main" id="{0A61972A-2119-4859-B03C-FBB59C617BC0}"/>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3" name="kicker-05-label">
            <a:extLst xmlns:a="http://schemas.openxmlformats.org/drawingml/2006/main">
              <a:ext uri="{FF2B5EF4-FFF2-40B4-BE49-F238E27FC236}">
                <a16:creationId xmlns:a16="http://schemas.microsoft.com/office/drawing/2014/main" id="{EB1EC08C-98CD-457A-82FE-D66B2F39C510}"/>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FINAL ARTIFACT</a:t>
            </a:r>
          </a:p>
        </p:txBody>
      </p:sp>
      <p:sp>
        <p:nvSpPr>
          <p:cNvPr id="44" name="">
            <a:extLst xmlns:a="http://schemas.openxmlformats.org/drawingml/2006/main">
              <a:ext uri="{FF2B5EF4-FFF2-40B4-BE49-F238E27FC236}">
                <a16:creationId xmlns:a16="http://schemas.microsoft.com/office/drawing/2014/main" id="{D0B2C860-C463-4E45-A5EC-86829B969B7D}"/>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What learners must leave this lesson able to submit.</a:t>
            </a:r>
          </a:p>
        </p:txBody>
      </p:sp>
      <p:sp>
        <p:nvSpPr>
          <p:cNvPr id="45" name="">
            <a:extLst xmlns:a="http://schemas.openxmlformats.org/drawingml/2006/main">
              <a:ext uri="{FF2B5EF4-FFF2-40B4-BE49-F238E27FC236}">
                <a16:creationId xmlns:a16="http://schemas.microsoft.com/office/drawing/2014/main" id="{92F65B01-2E46-47A4-8888-5AF7BB97A4C5}"/>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Treat this as the exit gate before transitioning.</a:t>
            </a:r>
          </a:p>
        </p:txBody>
      </p:sp>
      <p:sp>
        <p:nvSpPr>
          <p:cNvPr id="46" name="">
            <a:extLst xmlns:a="http://schemas.openxmlformats.org/drawingml/2006/main">
              <a:ext uri="{FF2B5EF4-FFF2-40B4-BE49-F238E27FC236}">
                <a16:creationId xmlns:a16="http://schemas.microsoft.com/office/drawing/2014/main" id="{D142C5F5-B554-4A49-9725-25E580A84648}"/>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50A33501-1520-4610-9151-A2A5668E7D8A}"/>
              </a:ext>
            </a:extLst>
          </p:cNvPr>
          <p:cNvSpPr>
            <a:spLocks xmlns:a="http://schemas.openxmlformats.org/drawingml/2006/main" noGrp="1"/>
          </p:cNvSpPr>
          <p:nvPr/>
        </p:nvSpPr>
        <p:spPr>
          <a:xfrm xmlns:a="http://schemas.openxmlformats.org/drawingml/2006/main">
            <a:off x="0" y="6400800"/>
            <a:ext cx="171450" cy="4572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62B5FD8D-C874-48DC-98EB-33A9EED69EE4}"/>
              </a:ext>
            </a:extLst>
          </p:cNvPr>
          <p:cNvSpPr>
            <a:spLocks xmlns:a="http://schemas.openxmlformats.org/drawingml/2006/main" noGrp="1"/>
          </p:cNvSpPr>
          <p:nvPr/>
        </p:nvSpPr>
        <p:spPr>
          <a:xfrm xmlns:a="http://schemas.openxmlformats.org/drawingml/2006/main">
            <a:off x="171450" y="6400800"/>
            <a:ext cx="57150" cy="457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CB82209C-1873-4FE1-BBE5-5341ADA169BA}"/>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AB8C8CDF-5B4F-4774-89C8-40A431F169AF}"/>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51" name="">
            <a:extLst xmlns:a="http://schemas.openxmlformats.org/drawingml/2006/main">
              <a:ext uri="{FF2B5EF4-FFF2-40B4-BE49-F238E27FC236}">
                <a16:creationId xmlns:a16="http://schemas.microsoft.com/office/drawing/2014/main" id="{287907EA-9C4A-4519-9430-B7F7A93EE185}"/>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52" name="">
            <a:extLst xmlns:a="http://schemas.openxmlformats.org/drawingml/2006/main">
              <a:ext uri="{FF2B5EF4-FFF2-40B4-BE49-F238E27FC236}">
                <a16:creationId xmlns:a16="http://schemas.microsoft.com/office/drawing/2014/main" id="{F7836C1F-0DAF-4D70-9203-767265A4CB65}"/>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14/15</a:t>
            </a:r>
          </a:p>
        </p:txBody>
      </p:sp>
    </p:spTree>
    <p:extLst>
      <p:ext uri="{BB962C8B-B14F-4D97-AF65-F5344CB8AC3E}">
        <p14:creationId xmlns:p14="http://schemas.microsoft.com/office/powerpoint/2010/main" val="23659575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A91CA1F-4FBF-4FE3-A996-EB7A65B39D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80D3138-1F02-48FD-AD99-B11F59B9DAB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81DE8FF-5338-4BC9-9B91-290DE44D84F8}"/>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5-marker">
            <a:extLst xmlns:a="http://schemas.openxmlformats.org/drawingml/2006/main">
              <a:ext uri="{FF2B5EF4-FFF2-40B4-BE49-F238E27FC236}">
                <a16:creationId xmlns:a16="http://schemas.microsoft.com/office/drawing/2014/main" id="{2674BF38-B03D-4C54-A11E-7F6488D15978}"/>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5-label">
            <a:extLst xmlns:a="http://schemas.openxmlformats.org/drawingml/2006/main">
              <a:ext uri="{FF2B5EF4-FFF2-40B4-BE49-F238E27FC236}">
                <a16:creationId xmlns:a16="http://schemas.microsoft.com/office/drawing/2014/main" id="{DF298468-57A9-4041-AFA6-5DD849A63C59}"/>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05 / TRANSITION</a:t>
            </a:r>
          </a:p>
        </p:txBody>
      </p:sp>
      <p:sp>
        <p:nvSpPr>
          <p:cNvPr id="6" name="">
            <a:extLst xmlns:a="http://schemas.openxmlformats.org/drawingml/2006/main">
              <a:ext uri="{FF2B5EF4-FFF2-40B4-BE49-F238E27FC236}">
                <a16:creationId xmlns:a16="http://schemas.microsoft.com/office/drawing/2014/main" id="{DF834653-9F1C-4711-BB73-632D8973EE7A}"/>
              </a:ext>
            </a:extLst>
          </p:cNvPr>
          <p:cNvSpPr>
            <a:spLocks xmlns:a="http://schemas.openxmlformats.org/drawingml/2006/main" noGrp="1"/>
          </p:cNvSpPr>
          <p:nvPr/>
        </p:nvSpPr>
        <p:spPr>
          <a:xfrm xmlns:a="http://schemas.openxmlformats.org/drawingml/2006/main">
            <a:off x="514350" y="1123950"/>
            <a:ext cx="8382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72026"/>
                </a:solidFill>
                <a:latin typeface="Aptos Display"/>
                <a:ea typeface="Aptos Display"/>
                <a:cs typeface="Aptos Display"/>
              </a:defRPr>
            </a:pPr>
            <a:r>
              <a:rPr sz="2325" b="1">
                <a:solidFill>
                  <a:srgbClr val="172026"/>
                </a:solidFill>
                <a:latin typeface="Aptos Display"/>
                <a:ea typeface="Aptos Display"/>
                <a:cs typeface="Aptos Display"/>
              </a:rPr>
              <a:t>Carry forward: Content plan by demand state</a:t>
            </a:r>
          </a:p>
        </p:txBody>
      </p:sp>
      <p:sp>
        <p:nvSpPr>
          <p:cNvPr id="7" name="">
            <a:extLst xmlns:a="http://schemas.openxmlformats.org/drawingml/2006/main">
              <a:ext uri="{FF2B5EF4-FFF2-40B4-BE49-F238E27FC236}">
                <a16:creationId xmlns:a16="http://schemas.microsoft.com/office/drawing/2014/main" id="{A2A512E9-0E0A-4E53-9E92-825914EF5D42}"/>
              </a:ext>
            </a:extLst>
          </p:cNvPr>
          <p:cNvSpPr>
            <a:spLocks xmlns:a="http://schemas.openxmlformats.org/drawingml/2006/main" noGrp="1"/>
          </p:cNvSpPr>
          <p:nvPr/>
        </p:nvSpPr>
        <p:spPr>
          <a:xfrm xmlns:a="http://schemas.openxmlformats.org/drawingml/2006/main">
            <a:off x="514350" y="2190750"/>
            <a:ext cx="723900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8" name="">
            <a:extLst xmlns:a="http://schemas.openxmlformats.org/drawingml/2006/main">
              <a:ext uri="{FF2B5EF4-FFF2-40B4-BE49-F238E27FC236}">
                <a16:creationId xmlns:a16="http://schemas.microsoft.com/office/drawing/2014/main" id="{2DE7365C-2C8A-4AA5-B8CC-87ED3DDA5C6D}"/>
              </a:ext>
            </a:extLst>
          </p:cNvPr>
          <p:cNvSpPr>
            <a:spLocks xmlns:a="http://schemas.openxmlformats.org/drawingml/2006/main" noGrp="1"/>
          </p:cNvSpPr>
          <p:nvPr/>
        </p:nvSpPr>
        <p:spPr>
          <a:xfrm xmlns:a="http://schemas.openxmlformats.org/drawingml/2006/main">
            <a:off x="838200" y="2571750"/>
            <a:ext cx="266700" cy="190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116FF45-76E6-4ACB-9B4D-681B9BE90E79}"/>
              </a:ext>
            </a:extLst>
          </p:cNvPr>
          <p:cNvSpPr>
            <a:spLocks xmlns:a="http://schemas.openxmlformats.org/drawingml/2006/main" noGrp="1"/>
          </p:cNvSpPr>
          <p:nvPr/>
        </p:nvSpPr>
        <p:spPr>
          <a:xfrm xmlns:a="http://schemas.openxmlformats.org/drawingml/2006/main">
            <a:off x="1200150" y="24955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BRIDGE</a:t>
            </a:r>
          </a:p>
        </p:txBody>
      </p:sp>
      <p:sp>
        <p:nvSpPr>
          <p:cNvPr id="10" name="">
            <a:extLst xmlns:a="http://schemas.openxmlformats.org/drawingml/2006/main">
              <a:ext uri="{FF2B5EF4-FFF2-40B4-BE49-F238E27FC236}">
                <a16:creationId xmlns:a16="http://schemas.microsoft.com/office/drawing/2014/main" id="{9AC234C0-EA57-4DA4-BA71-F41CD59D9249}"/>
              </a:ext>
            </a:extLst>
          </p:cNvPr>
          <p:cNvSpPr>
            <a:spLocks xmlns:a="http://schemas.openxmlformats.org/drawingml/2006/main" noGrp="1"/>
          </p:cNvSpPr>
          <p:nvPr/>
        </p:nvSpPr>
        <p:spPr>
          <a:xfrm xmlns:a="http://schemas.openxmlformats.org/drawingml/2006/main">
            <a:off x="838200" y="2857500"/>
            <a:ext cx="60960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72026"/>
                </a:solidFill>
                <a:latin typeface="Aptos Display"/>
                <a:ea typeface="Aptos Display"/>
                <a:cs typeface="Aptos Display"/>
              </a:defRPr>
            </a:pPr>
            <a:r>
              <a:rPr sz="1650" b="0">
                <a:solidFill>
                  <a:srgbClr val="172026"/>
                </a:solidFill>
                <a:latin typeface="Aptos Display"/>
                <a:ea typeface="Aptos Display"/>
                <a:cs typeface="Aptos Display"/>
              </a:rPr>
              <a:t>A good asset still fails if the right buyers never see it. The next lesson is the missing half: trusted distribution.</a:t>
            </a:r>
          </a:p>
        </p:txBody>
      </p:sp>
      <p:sp>
        <p:nvSpPr>
          <p:cNvPr id="11" name="">
            <a:extLst xmlns:a="http://schemas.openxmlformats.org/drawingml/2006/main">
              <a:ext uri="{FF2B5EF4-FFF2-40B4-BE49-F238E27FC236}">
                <a16:creationId xmlns:a16="http://schemas.microsoft.com/office/drawing/2014/main" id="{C89488ED-DF02-4FE5-A0D6-0F899455AE57}"/>
              </a:ext>
            </a:extLst>
          </p:cNvPr>
          <p:cNvSpPr>
            <a:spLocks xmlns:a="http://schemas.openxmlformats.org/drawingml/2006/main" noGrp="1"/>
          </p:cNvSpPr>
          <p:nvPr/>
        </p:nvSpPr>
        <p:spPr>
          <a:xfrm xmlns:a="http://schemas.openxmlformats.org/drawingml/2006/main">
            <a:off x="8172450" y="2190750"/>
            <a:ext cx="3257550" cy="1809750"/>
          </a:xfrm>
          <a:prstGeom xmlns:a="http://schemas.openxmlformats.org/drawingml/2006/main" prst="rect">
            <a:avLst/>
          </a:prstGeom>
          <a:solidFill xmlns:a="http://schemas.openxmlformats.org/drawingml/2006/main">
            <a:srgbClr val="12232B"/>
          </a:solidFill>
          <a:ln xmlns:a="http://schemas.openxmlformats.org/drawingml/2006/main" w="9525">
            <a:solidFill>
              <a:srgbClr val="12232B"/>
            </a:solidFill>
            <a:prstDash val="solid"/>
          </a:ln>
        </p:spPr>
      </p:sp>
      <p:sp>
        <p:nvSpPr>
          <p:cNvPr id="12" name="">
            <a:extLst xmlns:a="http://schemas.openxmlformats.org/drawingml/2006/main">
              <a:ext uri="{FF2B5EF4-FFF2-40B4-BE49-F238E27FC236}">
                <a16:creationId xmlns:a16="http://schemas.microsoft.com/office/drawing/2014/main" id="{1955C68E-F6F6-4611-943B-C7273EF9FA03}"/>
              </a:ext>
            </a:extLst>
          </p:cNvPr>
          <p:cNvSpPr>
            <a:spLocks xmlns:a="http://schemas.openxmlformats.org/drawingml/2006/main" noGrp="1"/>
          </p:cNvSpPr>
          <p:nvPr/>
        </p:nvSpPr>
        <p:spPr>
          <a:xfrm xmlns:a="http://schemas.openxmlformats.org/drawingml/2006/main">
            <a:off x="8477250" y="2571750"/>
            <a:ext cx="266700" cy="19050"/>
          </a:xfrm>
          <a:prstGeom xmlns:a="http://schemas.openxmlformats.org/drawingml/2006/main" prst="rect">
            <a:avLst/>
          </a:prstGeom>
          <a:solidFill xmlns:a="http://schemas.openxmlformats.org/drawingml/2006/main">
            <a:srgbClr val="B7953B"/>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CF94BA38-77BF-48F2-A94E-A88C2D882044}"/>
              </a:ext>
            </a:extLst>
          </p:cNvPr>
          <p:cNvSpPr>
            <a:spLocks xmlns:a="http://schemas.openxmlformats.org/drawingml/2006/main" noGrp="1"/>
          </p:cNvSpPr>
          <p:nvPr/>
        </p:nvSpPr>
        <p:spPr>
          <a:xfrm xmlns:a="http://schemas.openxmlformats.org/drawingml/2006/main">
            <a:off x="8839200" y="24955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NEXT</a:t>
            </a:r>
          </a:p>
        </p:txBody>
      </p:sp>
      <p:sp>
        <p:nvSpPr>
          <p:cNvPr id="14" name="">
            <a:extLst xmlns:a="http://schemas.openxmlformats.org/drawingml/2006/main">
              <a:ext uri="{FF2B5EF4-FFF2-40B4-BE49-F238E27FC236}">
                <a16:creationId xmlns:a16="http://schemas.microsoft.com/office/drawing/2014/main" id="{5C6CAA01-E022-4F33-8745-3819476436D5}"/>
              </a:ext>
            </a:extLst>
          </p:cNvPr>
          <p:cNvSpPr>
            <a:spLocks xmlns:a="http://schemas.openxmlformats.org/drawingml/2006/main" noGrp="1"/>
          </p:cNvSpPr>
          <p:nvPr/>
        </p:nvSpPr>
        <p:spPr>
          <a:xfrm xmlns:a="http://schemas.openxmlformats.org/drawingml/2006/main">
            <a:off x="8477250" y="2876550"/>
            <a:ext cx="2381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Lesson 06 - Distribution: The Missing Half</a:t>
            </a:r>
          </a:p>
        </p:txBody>
      </p:sp>
      <p:sp>
        <p:nvSpPr>
          <p:cNvPr id="15" name="">
            <a:extLst xmlns:a="http://schemas.openxmlformats.org/drawingml/2006/main">
              <a:ext uri="{FF2B5EF4-FFF2-40B4-BE49-F238E27FC236}">
                <a16:creationId xmlns:a16="http://schemas.microsoft.com/office/drawing/2014/main" id="{DE041A58-C5F6-488A-ACDB-41EB2478C426}"/>
              </a:ext>
            </a:extLst>
          </p:cNvPr>
          <p:cNvSpPr>
            <a:spLocks xmlns:a="http://schemas.openxmlformats.org/drawingml/2006/main" noGrp="1"/>
          </p:cNvSpPr>
          <p:nvPr/>
        </p:nvSpPr>
        <p:spPr>
          <a:xfrm xmlns:a="http://schemas.openxmlformats.org/drawingml/2006/main">
            <a:off x="514350" y="4457700"/>
            <a:ext cx="10915650" cy="933450"/>
          </a:xfrm>
          <a:prstGeom xmlns:a="http://schemas.openxmlformats.org/drawingml/2006/main" prst="rect">
            <a:avLst/>
          </a:prstGeom>
          <a:solidFill xmlns:a="http://schemas.openxmlformats.org/drawingml/2006/main">
            <a:srgbClr val="F9FAF7"/>
          </a:solidFill>
          <a:ln xmlns:a="http://schemas.openxmlformats.org/drawingml/2006/main" w="9525">
            <a:solidFill>
              <a:srgbClr val="D9DDD6"/>
            </a:solidFill>
            <a:prstDash val="solid"/>
          </a:ln>
        </p:spPr>
      </p:sp>
      <p:sp>
        <p:nvSpPr>
          <p:cNvPr id="16" name="">
            <a:extLst xmlns:a="http://schemas.openxmlformats.org/drawingml/2006/main">
              <a:ext uri="{FF2B5EF4-FFF2-40B4-BE49-F238E27FC236}">
                <a16:creationId xmlns:a16="http://schemas.microsoft.com/office/drawing/2014/main" id="{D77ACC72-0021-4031-B1C5-D4B698E43F5E}"/>
              </a:ext>
            </a:extLst>
          </p:cNvPr>
          <p:cNvSpPr>
            <a:spLocks xmlns:a="http://schemas.openxmlformats.org/drawingml/2006/main" noGrp="1"/>
          </p:cNvSpPr>
          <p:nvPr/>
        </p:nvSpPr>
        <p:spPr>
          <a:xfrm xmlns:a="http://schemas.openxmlformats.org/drawingml/2006/main">
            <a:off x="819150" y="4762500"/>
            <a:ext cx="9906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0">
                <a:solidFill>
                  <a:srgbClr val="59646A"/>
                </a:solidFill>
                <a:latin typeface="Aptos"/>
                <a:ea typeface="Aptos"/>
                <a:cs typeface="Aptos"/>
              </a:defRPr>
            </a:pPr>
            <a:r>
              <a:rPr sz="1275" b="0">
                <a:solidFill>
                  <a:srgbClr val="59646A"/>
                </a:solidFill>
                <a:latin typeface="Aptos"/>
                <a:ea typeface="Aptos"/>
                <a:cs typeface="Aptos"/>
              </a:rPr>
              <a:t>Recurring instructor check: sales impact / signal / RevOps field / buyer content / AI risk / industrial failure mode</a:t>
            </a:r>
          </a:p>
        </p:txBody>
      </p:sp>
      <p:sp>
        <p:nvSpPr>
          <p:cNvPr id="17" name="">
            <a:extLst xmlns:a="http://schemas.openxmlformats.org/drawingml/2006/main">
              <a:ext uri="{FF2B5EF4-FFF2-40B4-BE49-F238E27FC236}">
                <a16:creationId xmlns:a16="http://schemas.microsoft.com/office/drawing/2014/main" id="{74154C38-6FBB-499B-A584-37507B81854E}"/>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24F5063C-68FE-44FF-B865-ACC112F7336C}"/>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05 - Content Engine For Industrial Demand</a:t>
            </a:r>
          </a:p>
        </p:txBody>
      </p:sp>
      <p:sp>
        <p:nvSpPr>
          <p:cNvPr id="19" name="">
            <a:extLst xmlns:a="http://schemas.openxmlformats.org/drawingml/2006/main">
              <a:ext uri="{FF2B5EF4-FFF2-40B4-BE49-F238E27FC236}">
                <a16:creationId xmlns:a16="http://schemas.microsoft.com/office/drawing/2014/main" id="{842408DF-DDBA-4D25-A69E-5EBD17A5C180}"/>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modules/module-01-industrial-demand-generation/lessons/05-content-engine-for-industrial-demand.md @ 9e28222</a:t>
            </a:r>
          </a:p>
        </p:txBody>
      </p:sp>
      <p:sp>
        <p:nvSpPr>
          <p:cNvPr id="20" name="">
            <a:extLst xmlns:a="http://schemas.openxmlformats.org/drawingml/2006/main">
              <a:ext uri="{FF2B5EF4-FFF2-40B4-BE49-F238E27FC236}">
                <a16:creationId xmlns:a16="http://schemas.microsoft.com/office/drawing/2014/main" id="{1820D0D0-5C29-450D-9252-0D99D0C7A853}"/>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15/15</a:t>
            </a:r>
          </a:p>
        </p:txBody>
      </p:sp>
    </p:spTree>
    <p:extLst>
      <p:ext uri="{BB962C8B-B14F-4D97-AF65-F5344CB8AC3E}">
        <p14:creationId xmlns:p14="http://schemas.microsoft.com/office/powerpoint/2010/main" val="17951367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2026-05-16T17:00:43.7030000Z</dcterms:created>
  <dcterms:modified xsi:type="dcterms:W3CDTF">2026-05-16T17:00:43.7030000Z</dcterms:modified>
</coreProperties>
</file>