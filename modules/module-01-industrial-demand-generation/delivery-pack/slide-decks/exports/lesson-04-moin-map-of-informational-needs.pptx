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notesMasters/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Layouts/slideLayout2.xml" ContentType="application/vnd.openxmlformats-officedocument.presentationml.slideLayout+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7dffabe22ca4a35" /><Relationship Type="http://schemas.openxmlformats.org/officeDocument/2006/relationships/extended-properties" Target="/docProps/app.xml" Id="R08d3561066614fa7" /><Relationship Type="http://schemas.openxmlformats.org/officeDocument/2006/relationships/officeDocument" Target="/ppt/presentation.xml" Id="R1edab8f3d5f1442b" /></Relationships>
</file>

<file path=ppt/presentation.xml><?xml version="1.0" encoding="utf-8"?>
<p:presentation xmlns:p="http://schemas.openxmlformats.org/presentationml/2006/main">
  <p:sldMasterIdLst>
    <p:sldMasterId xmlns:r="http://schemas.openxmlformats.org/officeDocument/2006/relationships" id="2147483648" r:id="Re0518bbd2a2647d7"/>
  </p:sldMasterIdLst>
  <p:notesMasterIdLst>
    <p:notesMasterId xmlns:r="http://schemas.openxmlformats.org/officeDocument/2006/relationships" r:id="R429ef8a55d7f4e32"/>
  </p:notesMasterIdLst>
  <p:sldIdLst>
    <p:sldId xmlns:r="http://schemas.openxmlformats.org/officeDocument/2006/relationships" id="256" r:id="R805e0865e67444dc"/>
    <p:sldId xmlns:r="http://schemas.openxmlformats.org/officeDocument/2006/relationships" id="257" r:id="Rca567ae2f4cc4c11"/>
    <p:sldId xmlns:r="http://schemas.openxmlformats.org/officeDocument/2006/relationships" id="258" r:id="R5b2d9218f3104bd9"/>
    <p:sldId xmlns:r="http://schemas.openxmlformats.org/officeDocument/2006/relationships" id="259" r:id="R3721cb8dc3d74d90"/>
    <p:sldId xmlns:r="http://schemas.openxmlformats.org/officeDocument/2006/relationships" id="260" r:id="R027b34f0cdae4c6c"/>
    <p:sldId xmlns:r="http://schemas.openxmlformats.org/officeDocument/2006/relationships" id="261" r:id="R9a591c9e7f50460d"/>
    <p:sldId xmlns:r="http://schemas.openxmlformats.org/officeDocument/2006/relationships" id="262" r:id="Rb1cd819b43344c4d"/>
    <p:sldId xmlns:r="http://schemas.openxmlformats.org/officeDocument/2006/relationships" id="263" r:id="R0849f7c953df468d"/>
    <p:sldId xmlns:r="http://schemas.openxmlformats.org/officeDocument/2006/relationships" id="264" r:id="Rcc1c9b4797a640a1"/>
    <p:sldId xmlns:r="http://schemas.openxmlformats.org/officeDocument/2006/relationships" id="265" r:id="Rb92494be0f7a4d3e"/>
    <p:sldId xmlns:r="http://schemas.openxmlformats.org/officeDocument/2006/relationships" id="266" r:id="R2dc80f6c8bdf41d1"/>
    <p:sldId xmlns:r="http://schemas.openxmlformats.org/officeDocument/2006/relationships" id="267" r:id="Rce77e1034f3f429c"/>
    <p:sldId xmlns:r="http://schemas.openxmlformats.org/officeDocument/2006/relationships" id="268" r:id="R73de733327f0429b"/>
    <p:sldId xmlns:r="http://schemas.openxmlformats.org/officeDocument/2006/relationships" id="269" r:id="R48b0261c4f3c4614"/>
    <p:sldId xmlns:r="http://schemas.openxmlformats.org/officeDocument/2006/relationships" id="270" r:id="Rd6797f4b823e4c06"/>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normalViewPr>
    <p:restoredLeft sz="15611"/>
    <p:restoredTop sz="94658"/>
  </p:normalViewPr>
  <p:slideViewPr>
    <p:cSldViewPr snapToGrid="0">
      <p:cViewPr varScale="1">
        <p:scale>
          <a:sx xmlns:a="http://schemas.openxmlformats.org/drawingml/2006/main" n="120" d="100"/>
          <a:sy xmlns:a="http://schemas.openxmlformats.org/drawingml/2006/main" n="120" d="100"/>
        </p:scale>
        <p:origin x="800" y="184"/>
      </p:cViewPr>
      <p:guideLst/>
    </p:cSldViewPr>
  </p:slideViewPr>
  <p:notesTextViewPr>
    <p:cViewPr>
      <p:scale>
        <a:sx xmlns:a="http://schemas.openxmlformats.org/drawingml/2006/main" n="1" d="1"/>
        <a:sy xmlns:a="http://schemas.openxmlformats.org/drawingml/2006/main" n="1" d="1"/>
      </p:scale>
      <p:origin x="0" y="0"/>
    </p:cViewPr>
  </p:notesTextViewPr>
  <p:gridSpacing cx="76200" cy="76200"/>
</p:viewPr>
</file>

<file path=ppt/_rels/presentation.xml.rels>&#65279;<?xml version="1.0" encoding="utf-8"?><Relationships xmlns="http://schemas.openxmlformats.org/package/2006/relationships"><Relationship Type="http://schemas.openxmlformats.org/officeDocument/2006/relationships/slideMaster" Target="/ppt/slideMasters/slideMaster1.xml" Id="Re0518bbd2a2647d7" /><Relationship Type="http://schemas.openxmlformats.org/officeDocument/2006/relationships/theme" Target="/ppt/theme/theme1.xml" Id="R742e4961a255456a" /><Relationship Type="http://schemas.openxmlformats.org/officeDocument/2006/relationships/notesMaster" Target="/ppt/notesMasters/notesMaster1.xml" Id="R429ef8a55d7f4e32" /><Relationship Type="http://schemas.openxmlformats.org/officeDocument/2006/relationships/presProps" Target="/ppt/presProps.xml" Id="Ra72ebe15e1484917" /><Relationship Type="http://schemas.openxmlformats.org/officeDocument/2006/relationships/viewProps" Target="/ppt/viewProps.xml" Id="Raa7419dbdb4746eb" /><Relationship Type="http://schemas.openxmlformats.org/officeDocument/2006/relationships/tableStyles" Target="/ppt/tableStyles.xml" Id="R3b660b4df9894193" /><Relationship Type="http://schemas.openxmlformats.org/officeDocument/2006/relationships/slide" Target="/ppt/slides/slide1.xml" Id="R805e0865e67444dc" /><Relationship Type="http://schemas.openxmlformats.org/officeDocument/2006/relationships/slide" Target="/ppt/slides/slide2.xml" Id="Rca567ae2f4cc4c11" /><Relationship Type="http://schemas.openxmlformats.org/officeDocument/2006/relationships/slide" Target="/ppt/slides/slide3.xml" Id="R5b2d9218f3104bd9" /><Relationship Type="http://schemas.openxmlformats.org/officeDocument/2006/relationships/slide" Target="/ppt/slides/slide4.xml" Id="R3721cb8dc3d74d90" /><Relationship Type="http://schemas.openxmlformats.org/officeDocument/2006/relationships/slide" Target="/ppt/slides/slide5.xml" Id="R027b34f0cdae4c6c" /><Relationship Type="http://schemas.openxmlformats.org/officeDocument/2006/relationships/slide" Target="/ppt/slides/slide6.xml" Id="R9a591c9e7f50460d" /><Relationship Type="http://schemas.openxmlformats.org/officeDocument/2006/relationships/slide" Target="/ppt/slides/slide7.xml" Id="Rb1cd819b43344c4d" /><Relationship Type="http://schemas.openxmlformats.org/officeDocument/2006/relationships/slide" Target="/ppt/slides/slide8.xml" Id="R0849f7c953df468d" /><Relationship Type="http://schemas.openxmlformats.org/officeDocument/2006/relationships/slide" Target="/ppt/slides/slide9.xml" Id="Rcc1c9b4797a640a1" /><Relationship Type="http://schemas.openxmlformats.org/officeDocument/2006/relationships/slide" Target="/ppt/slides/slide10.xml" Id="Rb92494be0f7a4d3e" /><Relationship Type="http://schemas.openxmlformats.org/officeDocument/2006/relationships/slide" Target="/ppt/slides/slide11.xml" Id="R2dc80f6c8bdf41d1" /><Relationship Type="http://schemas.openxmlformats.org/officeDocument/2006/relationships/slide" Target="/ppt/slides/slide12.xml" Id="Rce77e1034f3f429c" /><Relationship Type="http://schemas.openxmlformats.org/officeDocument/2006/relationships/slide" Target="/ppt/slides/slide13.xml" Id="R73de733327f0429b" /><Relationship Type="http://schemas.openxmlformats.org/officeDocument/2006/relationships/slide" Target="/ppt/slides/slide14.xml" Id="R48b0261c4f3c4614" /><Relationship Type="http://schemas.openxmlformats.org/officeDocument/2006/relationships/slide" Target="/ppt/slides/slide15.xml" Id="Rd6797f4b823e4c0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2.xml" Id="Rff7775aa6699456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fd3d94ad149439e" /><Relationship Type="http://schemas.openxmlformats.org/officeDocument/2006/relationships/notesMaster" Target="/ppt/notesMasters/notesMaster1.xml" Id="R558162d3b2b54299" /></Relationships>
</file>

<file path=ppt/notesSlides/_rels/notesSlide2.xml.rels>&#65279;<?xml version="1.0" encoding="utf-8"?><Relationships xmlns="http://schemas.openxmlformats.org/package/2006/relationships"><Relationship Type="http://schemas.openxmlformats.org/officeDocument/2006/relationships/slide" Target="/ppt/slides/slide2.xml" Id="Reac16dfdfa07419e" /><Relationship Type="http://schemas.openxmlformats.org/officeDocument/2006/relationships/notesMaster" Target="/ppt/notesMasters/notesMaster1.xml" Id="R43773f5a44fa4270" /></Relationships>
</file>

<file path=ppt/notesSlides/_rels/notesSlide3.xml.rels>&#65279;<?xml version="1.0" encoding="utf-8"?><Relationships xmlns="http://schemas.openxmlformats.org/package/2006/relationships"><Relationship Type="http://schemas.openxmlformats.org/officeDocument/2006/relationships/slide" Target="/ppt/slides/slide3.xml" Id="R27c62b4d6f13494c" /><Relationship Type="http://schemas.openxmlformats.org/officeDocument/2006/relationships/notesMaster" Target="/ppt/notesMasters/notesMaster1.xml" Id="R1c502179c23b4f82" /></Relationships>
</file>

<file path=ppt/notesSlides/_rels/notesSlide4.xml.rels>&#65279;<?xml version="1.0" encoding="utf-8"?><Relationships xmlns="http://schemas.openxmlformats.org/package/2006/relationships"><Relationship Type="http://schemas.openxmlformats.org/officeDocument/2006/relationships/slide" Target="/ppt/slides/slide4.xml" Id="Rd626080765234fee" /><Relationship Type="http://schemas.openxmlformats.org/officeDocument/2006/relationships/notesMaster" Target="/ppt/notesMasters/notesMaster1.xml" Id="Rb00653450e824a99" /></Relationships>
</file>

<file path=ppt/notesSlides/_rels/notesSlide5.xml.rels>&#65279;<?xml version="1.0" encoding="utf-8"?><Relationships xmlns="http://schemas.openxmlformats.org/package/2006/relationships"><Relationship Type="http://schemas.openxmlformats.org/officeDocument/2006/relationships/slide" Target="/ppt/slides/slide5.xml" Id="R48497918969f45e7" /><Relationship Type="http://schemas.openxmlformats.org/officeDocument/2006/relationships/notesMaster" Target="/ppt/notesMasters/notesMaster1.xml" Id="R528fbd8318194f0a" /></Relationships>
</file>

<file path=ppt/notesSlides/_rels/notesSlide6.xml.rels>&#65279;<?xml version="1.0" encoding="utf-8"?><Relationships xmlns="http://schemas.openxmlformats.org/package/2006/relationships"><Relationship Type="http://schemas.openxmlformats.org/officeDocument/2006/relationships/slide" Target="/ppt/slides/slide6.xml" Id="Re39a69088dd449c9" /><Relationship Type="http://schemas.openxmlformats.org/officeDocument/2006/relationships/notesMaster" Target="/ppt/notesMasters/notesMaster1.xml" Id="R79d48fab4ca14201" /></Relationships>
</file>

<file path=ppt/notesSlides/_rels/notesSlide7.xml.rels>&#65279;<?xml version="1.0" encoding="utf-8"?><Relationships xmlns="http://schemas.openxmlformats.org/package/2006/relationships"><Relationship Type="http://schemas.openxmlformats.org/officeDocument/2006/relationships/slide" Target="/ppt/slides/slide7.xml" Id="R26249b1fa2a84a2b" /><Relationship Type="http://schemas.openxmlformats.org/officeDocument/2006/relationships/notesMaster" Target="/ppt/notesMasters/notesMaster1.xml" Id="R503856fd66e84b35" /></Relationships>
</file>

<file path=ppt/notesSlides/_rels/notesSlide8.xml.rels>&#65279;<?xml version="1.0" encoding="utf-8"?><Relationships xmlns="http://schemas.openxmlformats.org/package/2006/relationships"><Relationship Type="http://schemas.openxmlformats.org/officeDocument/2006/relationships/slide" Target="/ppt/slides/slide8.xml" Id="R4ec7b1d9d682487e" /><Relationship Type="http://schemas.openxmlformats.org/officeDocument/2006/relationships/notesMaster" Target="/ppt/notesMasters/notesMaster1.xml" Id="R0ee90a5d58b444b3" /></Relationships>
</file>

<file path=ppt/notesSlides/_rels/notesSlide9.xml.rels>&#65279;<?xml version="1.0" encoding="utf-8"?><Relationships xmlns="http://schemas.openxmlformats.org/package/2006/relationships"><Relationship Type="http://schemas.openxmlformats.org/officeDocument/2006/relationships/slide" Target="/ppt/slides/slide9.xml" Id="Ra3883fb9adb84e00" /><Relationship Type="http://schemas.openxmlformats.org/officeDocument/2006/relationships/notesMaster" Target="/ppt/notesMasters/notesMaster1.xml" Id="R2296fcb229fd43c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fc4151356264696" /><Relationship Type="http://schemas.openxmlformats.org/officeDocument/2006/relationships/notesMaster" Target="/ppt/notesMasters/notesMaster1.xml" Id="Ref7b82696e2c423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ecb0f88191cb4b74" /><Relationship Type="http://schemas.openxmlformats.org/officeDocument/2006/relationships/notesMaster" Target="/ppt/notesMasters/notesMaster1.xml" Id="Rc229d9cf0933442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636968fb60534429" /><Relationship Type="http://schemas.openxmlformats.org/officeDocument/2006/relationships/notesMaster" Target="/ppt/notesMasters/notesMaster1.xml" Id="R2bd1ab8328b744ab"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3fee3b7d50874194" /><Relationship Type="http://schemas.openxmlformats.org/officeDocument/2006/relationships/notesMaster" Target="/ppt/notesMasters/notesMaster1.xml" Id="R4de6199f35164b7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5fe0cdfd0cea4e50" /><Relationship Type="http://schemas.openxmlformats.org/officeDocument/2006/relationships/notesMaster" Target="/ppt/notesMasters/notesMaster1.xml" Id="Raa887342e7284db0"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5eaf7a2c5091414c" /><Relationship Type="http://schemas.openxmlformats.org/officeDocument/2006/relationships/notesMaster" Target="/ppt/notesMasters/notesMaster1.xml" Id="R6a707ddc699244f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9f85763d9ca3488d" /></Relationships>
</file>

<file path=ppt/slideLayouts/slideLayout2.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theme/theme1.xml" Id="R6162151b745e4d05" /><Relationship Type="http://schemas.openxmlformats.org/officeDocument/2006/relationships/slideLayout" Target="/ppt/slideLayouts/slideLayout2.xml" Id="R0df4ebdacd3e418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df4ebdacd3e418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s/_rels/slide1.xml.rels>&#65279;<?xml version="1.0" encoding="utf-8"?><Relationships xmlns="http://schemas.openxmlformats.org/package/2006/relationships"><Relationship Type="http://schemas.openxmlformats.org/officeDocument/2006/relationships/slideLayout" Target="/ppt/slideLayouts/slideLayout2.xml" Id="R834976b5af924369" /><Relationship Type="http://schemas.openxmlformats.org/officeDocument/2006/relationships/notesSlide" Target="/ppt/notesSlides/notesSlide1.xml" Id="R89016c67df7741fb" /></Relationships>
</file>

<file path=ppt/slides/_rels/slide2.xml.rels>&#65279;<?xml version="1.0" encoding="utf-8"?><Relationships xmlns="http://schemas.openxmlformats.org/package/2006/relationships"><Relationship Type="http://schemas.openxmlformats.org/officeDocument/2006/relationships/slideLayout" Target="/ppt/slideLayouts/slideLayout2.xml" Id="R17984793ff5d4ea4" /><Relationship Type="http://schemas.openxmlformats.org/officeDocument/2006/relationships/notesSlide" Target="/ppt/notesSlides/notesSlide2.xml" Id="R2027c34636ee4de7" /></Relationships>
</file>

<file path=ppt/slides/_rels/slide3.xml.rels>&#65279;<?xml version="1.0" encoding="utf-8"?><Relationships xmlns="http://schemas.openxmlformats.org/package/2006/relationships"><Relationship Type="http://schemas.openxmlformats.org/officeDocument/2006/relationships/slideLayout" Target="/ppt/slideLayouts/slideLayout2.xml" Id="R22f5320bfd684fdb" /><Relationship Type="http://schemas.openxmlformats.org/officeDocument/2006/relationships/notesSlide" Target="/ppt/notesSlides/notesSlide3.xml" Id="R8df89349859e4b86" /></Relationships>
</file>

<file path=ppt/slides/_rels/slide4.xml.rels>&#65279;<?xml version="1.0" encoding="utf-8"?><Relationships xmlns="http://schemas.openxmlformats.org/package/2006/relationships"><Relationship Type="http://schemas.openxmlformats.org/officeDocument/2006/relationships/slideLayout" Target="/ppt/slideLayouts/slideLayout2.xml" Id="Re113b1e44e6c44e3" /><Relationship Type="http://schemas.openxmlformats.org/officeDocument/2006/relationships/notesSlide" Target="/ppt/notesSlides/notesSlide4.xml" Id="R207183ba1dd84fcd" /></Relationships>
</file>

<file path=ppt/slides/_rels/slide5.xml.rels>&#65279;<?xml version="1.0" encoding="utf-8"?><Relationships xmlns="http://schemas.openxmlformats.org/package/2006/relationships"><Relationship Type="http://schemas.openxmlformats.org/officeDocument/2006/relationships/slideLayout" Target="/ppt/slideLayouts/slideLayout2.xml" Id="Rd3c8dac2a939492c" /><Relationship Type="http://schemas.openxmlformats.org/officeDocument/2006/relationships/notesSlide" Target="/ppt/notesSlides/notesSlide5.xml" Id="R30847926d9144ec2" /></Relationships>
</file>

<file path=ppt/slides/_rels/slide6.xml.rels>&#65279;<?xml version="1.0" encoding="utf-8"?><Relationships xmlns="http://schemas.openxmlformats.org/package/2006/relationships"><Relationship Type="http://schemas.openxmlformats.org/officeDocument/2006/relationships/slideLayout" Target="/ppt/slideLayouts/slideLayout2.xml" Id="R088b8b7c5f7947cf" /><Relationship Type="http://schemas.openxmlformats.org/officeDocument/2006/relationships/notesSlide" Target="/ppt/notesSlides/notesSlide6.xml" Id="R1bb91f6791be47f5" /></Relationships>
</file>

<file path=ppt/slides/_rels/slide7.xml.rels>&#65279;<?xml version="1.0" encoding="utf-8"?><Relationships xmlns="http://schemas.openxmlformats.org/package/2006/relationships"><Relationship Type="http://schemas.openxmlformats.org/officeDocument/2006/relationships/slideLayout" Target="/ppt/slideLayouts/slideLayout2.xml" Id="R9de057bb448247db" /><Relationship Type="http://schemas.openxmlformats.org/officeDocument/2006/relationships/notesSlide" Target="/ppt/notesSlides/notesSlide7.xml" Id="R9be5bd8ca95c4ebc" /></Relationships>
</file>

<file path=ppt/slides/_rels/slide8.xml.rels>&#65279;<?xml version="1.0" encoding="utf-8"?><Relationships xmlns="http://schemas.openxmlformats.org/package/2006/relationships"><Relationship Type="http://schemas.openxmlformats.org/officeDocument/2006/relationships/slideLayout" Target="/ppt/slideLayouts/slideLayout2.xml" Id="Rf25f822f68c4431e" /><Relationship Type="http://schemas.openxmlformats.org/officeDocument/2006/relationships/notesSlide" Target="/ppt/notesSlides/notesSlide8.xml" Id="R4c32c2e9d60148a6" /></Relationships>
</file>

<file path=ppt/slides/_rels/slide9.xml.rels>&#65279;<?xml version="1.0" encoding="utf-8"?><Relationships xmlns="http://schemas.openxmlformats.org/package/2006/relationships"><Relationship Type="http://schemas.openxmlformats.org/officeDocument/2006/relationships/slideLayout" Target="/ppt/slideLayouts/slideLayout2.xml" Id="R434e259c2d624f17" /><Relationship Type="http://schemas.openxmlformats.org/officeDocument/2006/relationships/notesSlide" Target="/ppt/notesSlides/notesSlide9.xml" Id="R3896015e10ee4f1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2.xml" Id="R997b00520fe74df1" /><Relationship Type="http://schemas.openxmlformats.org/officeDocument/2006/relationships/notesSlide" Target="/ppt/notesSlides/notesSlide10.xml" Id="R427de48e328249ab" /></Relationships>
</file>

<file path=ppt/slides/_rels/slide11.xml.rels>&#65279;<?xml version="1.0" encoding="utf-8"?><Relationships xmlns="http://schemas.openxmlformats.org/package/2006/relationships"><Relationship Type="http://schemas.openxmlformats.org/officeDocument/2006/relationships/slideLayout" Target="/ppt/slideLayouts/slideLayout2.xml" Id="R477ffa5ecd374edd" /><Relationship Type="http://schemas.openxmlformats.org/officeDocument/2006/relationships/notesSlide" Target="/ppt/notesSlides/notesSlide11.xml" Id="R9375125173fc47ce" /></Relationships>
</file>

<file path=ppt/slides/_rels/slide12.xml.rels>&#65279;<?xml version="1.0" encoding="utf-8"?><Relationships xmlns="http://schemas.openxmlformats.org/package/2006/relationships"><Relationship Type="http://schemas.openxmlformats.org/officeDocument/2006/relationships/slideLayout" Target="/ppt/slideLayouts/slideLayout2.xml" Id="Reba1b1bcccc748eb" /><Relationship Type="http://schemas.openxmlformats.org/officeDocument/2006/relationships/notesSlide" Target="/ppt/notesSlides/notesSlide12.xml" Id="R6b332bf25af0429d" /></Relationships>
</file>

<file path=ppt/slides/_rels/slide13.xml.rels>&#65279;<?xml version="1.0" encoding="utf-8"?><Relationships xmlns="http://schemas.openxmlformats.org/package/2006/relationships"><Relationship Type="http://schemas.openxmlformats.org/officeDocument/2006/relationships/slideLayout" Target="/ppt/slideLayouts/slideLayout2.xml" Id="R2de9aae86d4748ca" /><Relationship Type="http://schemas.openxmlformats.org/officeDocument/2006/relationships/notesSlide" Target="/ppt/notesSlides/notesSlide13.xml" Id="R46b27491e74e4127" /></Relationships>
</file>

<file path=ppt/slides/_rels/slide14.xml.rels>&#65279;<?xml version="1.0" encoding="utf-8"?><Relationships xmlns="http://schemas.openxmlformats.org/package/2006/relationships"><Relationship Type="http://schemas.openxmlformats.org/officeDocument/2006/relationships/slideLayout" Target="/ppt/slideLayouts/slideLayout2.xml" Id="R4368e37a778a4f80" /><Relationship Type="http://schemas.openxmlformats.org/officeDocument/2006/relationships/notesSlide" Target="/ppt/notesSlides/notesSlide14.xml" Id="Ra428b6d13e22439b" /></Relationships>
</file>

<file path=ppt/slides/_rels/slide15.xml.rels>&#65279;<?xml version="1.0" encoding="utf-8"?><Relationships xmlns="http://schemas.openxmlformats.org/package/2006/relationships"><Relationship Type="http://schemas.openxmlformats.org/officeDocument/2006/relationships/slideLayout" Target="/ppt/slideLayouts/slideLayout2.xml" Id="R4940f272a0a44e71" /><Relationship Type="http://schemas.openxmlformats.org/officeDocument/2006/relationships/notesSlide" Target="/ppt/notesSlides/notesSlide15.xml" Id="R000787a02d5b4219"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294A00D9-6205-4D71-84A1-3BD5C22A2C1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6F2"/>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C7C10C6D-2181-46C2-B4B0-ACA327E77393}"/>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12232B"/>
          </a:solidFill>
          <a:ln xmlns:a="http://schemas.openxmlformats.org/drawingml/2006/main" w="0">
            <a:solidFill>
              <a:srgbClr val="000000">
                <a:alpha val="0"/>
              </a:srgbClr>
            </a:solidFill>
            <a:prstDash val="solid"/>
          </a:ln>
        </p:spPr>
      </p:sp>
      <p:sp>
        <p:nvSpPr>
          <p:cNvPr id="3" name="">
            <a:extLst xmlns:a="http://schemas.openxmlformats.org/drawingml/2006/main">
              <a:ext uri="{FF2B5EF4-FFF2-40B4-BE49-F238E27FC236}">
                <a16:creationId xmlns:a16="http://schemas.microsoft.com/office/drawing/2014/main" id="{ABEDB125-25B1-4FD0-96BF-C80766F60937}"/>
              </a:ext>
            </a:extLst>
          </p:cNvPr>
          <p:cNvSpPr>
            <a:spLocks xmlns:a="http://schemas.openxmlformats.org/drawingml/2006/main" noGrp="1"/>
          </p:cNvSpPr>
          <p:nvPr/>
        </p:nvSpPr>
        <p:spPr>
          <a:xfrm xmlns:a="http://schemas.openxmlformats.org/drawingml/2006/main">
            <a:off x="171450" y="0"/>
            <a:ext cx="57150" cy="68580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4" name="kicker-04-marker">
            <a:extLst xmlns:a="http://schemas.openxmlformats.org/drawingml/2006/main">
              <a:ext uri="{FF2B5EF4-FFF2-40B4-BE49-F238E27FC236}">
                <a16:creationId xmlns:a16="http://schemas.microsoft.com/office/drawing/2014/main" id="{39891FBD-5B4F-4670-9F63-5815DA1AA755}"/>
              </a:ext>
            </a:extLst>
          </p:cNvPr>
          <p:cNvSpPr>
            <a:spLocks xmlns:a="http://schemas.openxmlformats.org/drawingml/2006/main" noGrp="1"/>
          </p:cNvSpPr>
          <p:nvPr/>
        </p:nvSpPr>
        <p:spPr>
          <a:xfrm xmlns:a="http://schemas.openxmlformats.org/drawingml/2006/main">
            <a:off x="514350" y="390525"/>
            <a:ext cx="76200" cy="762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5" name="kicker-04-label">
            <a:extLst xmlns:a="http://schemas.openxmlformats.org/drawingml/2006/main">
              <a:ext uri="{FF2B5EF4-FFF2-40B4-BE49-F238E27FC236}">
                <a16:creationId xmlns:a16="http://schemas.microsoft.com/office/drawing/2014/main" id="{E706A309-B95C-42EB-BE40-32FAF056AD3C}"/>
              </a:ext>
            </a:extLst>
          </p:cNvPr>
          <p:cNvSpPr>
            <a:spLocks xmlns:a="http://schemas.openxmlformats.org/drawingml/2006/main" noGrp="1"/>
          </p:cNvSpPr>
          <p:nvPr/>
        </p:nvSpPr>
        <p:spPr>
          <a:xfrm xmlns:a="http://schemas.openxmlformats.org/drawingml/2006/main">
            <a:off x="685800" y="323850"/>
            <a:ext cx="75247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MODULE 1 / LESSON 04 / INSTRUCTOR PROJECTION DECK</a:t>
            </a:r>
          </a:p>
        </p:txBody>
      </p:sp>
      <p:sp>
        <p:nvSpPr>
          <p:cNvPr id="6" name="">
            <a:extLst xmlns:a="http://schemas.openxmlformats.org/drawingml/2006/main">
              <a:ext uri="{FF2B5EF4-FFF2-40B4-BE49-F238E27FC236}">
                <a16:creationId xmlns:a16="http://schemas.microsoft.com/office/drawing/2014/main" id="{7D2FDB63-C474-483D-ADD9-8C9B3F54D24C}"/>
              </a:ext>
            </a:extLst>
          </p:cNvPr>
          <p:cNvSpPr>
            <a:spLocks xmlns:a="http://schemas.openxmlformats.org/drawingml/2006/main" noGrp="1"/>
          </p:cNvSpPr>
          <p:nvPr/>
        </p:nvSpPr>
        <p:spPr>
          <a:xfrm xmlns:a="http://schemas.openxmlformats.org/drawingml/2006/main">
            <a:off x="514350" y="1066800"/>
            <a:ext cx="7239000" cy="1295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3150" b="1">
                <a:solidFill>
                  <a:srgbClr val="172026"/>
                </a:solidFill>
                <a:latin typeface="Aptos Display"/>
                <a:ea typeface="Aptos Display"/>
                <a:cs typeface="Aptos Display"/>
              </a:defRPr>
            </a:pPr>
            <a:r>
              <a:rPr sz="3150" b="1">
                <a:solidFill>
                  <a:srgbClr val="172026"/>
                </a:solidFill>
                <a:latin typeface="Aptos Display"/>
                <a:ea typeface="Aptos Display"/>
                <a:cs typeface="Aptos Display"/>
              </a:rPr>
              <a:t>MOIN: Map Of Informational Needs</a:t>
            </a:r>
          </a:p>
        </p:txBody>
      </p:sp>
      <p:sp>
        <p:nvSpPr>
          <p:cNvPr id="7" name="">
            <a:extLst xmlns:a="http://schemas.openxmlformats.org/drawingml/2006/main">
              <a:ext uri="{FF2B5EF4-FFF2-40B4-BE49-F238E27FC236}">
                <a16:creationId xmlns:a16="http://schemas.microsoft.com/office/drawing/2014/main" id="{53394E3D-D953-48C8-BDFB-FA1B69A1F25E}"/>
              </a:ext>
            </a:extLst>
          </p:cNvPr>
          <p:cNvSpPr>
            <a:spLocks xmlns:a="http://schemas.openxmlformats.org/drawingml/2006/main" noGrp="1"/>
          </p:cNvSpPr>
          <p:nvPr/>
        </p:nvSpPr>
        <p:spPr>
          <a:xfrm xmlns:a="http://schemas.openxmlformats.org/drawingml/2006/main">
            <a:off x="514350" y="2457450"/>
            <a:ext cx="7048500" cy="628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59646A"/>
                </a:solidFill>
                <a:latin typeface="Aptos"/>
                <a:ea typeface="Aptos"/>
                <a:cs typeface="Aptos"/>
              </a:defRPr>
            </a:pPr>
            <a:r>
              <a:rPr sz="1350" b="0">
                <a:solidFill>
                  <a:srgbClr val="59646A"/>
                </a:solidFill>
                <a:latin typeface="Aptos"/>
                <a:ea typeface="Aptos"/>
                <a:cs typeface="Aptos"/>
              </a:rPr>
              <a:t>Industrial Demand Generation / Live workshop projection system</a:t>
            </a:r>
          </a:p>
        </p:txBody>
      </p:sp>
      <p:sp>
        <p:nvSpPr>
          <p:cNvPr id="8" name="">
            <a:extLst xmlns:a="http://schemas.openxmlformats.org/drawingml/2006/main">
              <a:ext uri="{FF2B5EF4-FFF2-40B4-BE49-F238E27FC236}">
                <a16:creationId xmlns:a16="http://schemas.microsoft.com/office/drawing/2014/main" id="{9CBD7412-1144-4C37-8F6C-AF4BDD96789F}"/>
              </a:ext>
            </a:extLst>
          </p:cNvPr>
          <p:cNvSpPr>
            <a:spLocks xmlns:a="http://schemas.openxmlformats.org/drawingml/2006/main" noGrp="1"/>
          </p:cNvSpPr>
          <p:nvPr/>
        </p:nvSpPr>
        <p:spPr>
          <a:xfrm xmlns:a="http://schemas.openxmlformats.org/drawingml/2006/main">
            <a:off x="514350" y="3333750"/>
            <a:ext cx="1143000" cy="266700"/>
          </a:xfrm>
          <a:prstGeom xmlns:a="http://schemas.openxmlformats.org/drawingml/2006/main" prst="rect">
            <a:avLst/>
          </a:prstGeom>
          <a:solidFill xmlns:a="http://schemas.openxmlformats.org/drawingml/2006/main">
            <a:srgbClr val="DCE8E9"/>
          </a:solidFill>
          <a:ln xmlns:a="http://schemas.openxmlformats.org/drawingml/2006/main" w="9525">
            <a:solidFill>
              <a:srgbClr val="DCE8E9"/>
            </a:solidFill>
            <a:prstDash val="solid"/>
          </a:ln>
        </p:spPr>
      </p:sp>
      <p:sp>
        <p:nvSpPr>
          <p:cNvPr id="9" name="">
            <a:extLst xmlns:a="http://schemas.openxmlformats.org/drawingml/2006/main">
              <a:ext uri="{FF2B5EF4-FFF2-40B4-BE49-F238E27FC236}">
                <a16:creationId xmlns:a16="http://schemas.microsoft.com/office/drawing/2014/main" id="{D8204087-C97B-4D19-9752-4291B5641A0B}"/>
              </a:ext>
            </a:extLst>
          </p:cNvPr>
          <p:cNvSpPr>
            <a:spLocks xmlns:a="http://schemas.openxmlformats.org/drawingml/2006/main" noGrp="1"/>
          </p:cNvSpPr>
          <p:nvPr/>
        </p:nvSpPr>
        <p:spPr>
          <a:xfrm xmlns:a="http://schemas.openxmlformats.org/drawingml/2006/main">
            <a:off x="609600" y="3381375"/>
            <a:ext cx="952500" cy="152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675" b="1">
                <a:solidFill>
                  <a:srgbClr val="1D6072"/>
                </a:solidFill>
                <a:latin typeface="Aptos"/>
                <a:ea typeface="Aptos"/>
                <a:cs typeface="Aptos"/>
              </a:defRPr>
            </a:pPr>
            <a:r>
              <a:rPr sz="675" b="1">
                <a:solidFill>
                  <a:srgbClr val="1D6072"/>
                </a:solidFill>
                <a:latin typeface="Aptos"/>
                <a:ea typeface="Aptos"/>
                <a:cs typeface="Aptos"/>
              </a:rPr>
              <a:t>22 min</a:t>
            </a:r>
          </a:p>
        </p:txBody>
      </p:sp>
      <p:sp>
        <p:nvSpPr>
          <p:cNvPr id="10" name="">
            <a:extLst xmlns:a="http://schemas.openxmlformats.org/drawingml/2006/main">
              <a:ext uri="{FF2B5EF4-FFF2-40B4-BE49-F238E27FC236}">
                <a16:creationId xmlns:a16="http://schemas.microsoft.com/office/drawing/2014/main" id="{08206C81-71D1-43C3-97B9-C0A1B39C280E}"/>
              </a:ext>
            </a:extLst>
          </p:cNvPr>
          <p:cNvSpPr>
            <a:spLocks xmlns:a="http://schemas.openxmlformats.org/drawingml/2006/main" noGrp="1"/>
          </p:cNvSpPr>
          <p:nvPr/>
        </p:nvSpPr>
        <p:spPr>
          <a:xfrm xmlns:a="http://schemas.openxmlformats.org/drawingml/2006/main">
            <a:off x="1790700" y="3333750"/>
            <a:ext cx="1295400" cy="266700"/>
          </a:xfrm>
          <a:prstGeom xmlns:a="http://schemas.openxmlformats.org/drawingml/2006/main" prst="rect">
            <a:avLst/>
          </a:prstGeom>
          <a:solidFill xmlns:a="http://schemas.openxmlformats.org/drawingml/2006/main">
            <a:srgbClr val="F0DFD5"/>
          </a:solidFill>
          <a:ln xmlns:a="http://schemas.openxmlformats.org/drawingml/2006/main" w="9525">
            <a:solidFill>
              <a:srgbClr val="F0DFD5"/>
            </a:solidFill>
            <a:prstDash val="solid"/>
          </a:ln>
        </p:spPr>
      </p:sp>
      <p:sp>
        <p:nvSpPr>
          <p:cNvPr id="11" name="">
            <a:extLst xmlns:a="http://schemas.openxmlformats.org/drawingml/2006/main">
              <a:ext uri="{FF2B5EF4-FFF2-40B4-BE49-F238E27FC236}">
                <a16:creationId xmlns:a16="http://schemas.microsoft.com/office/drawing/2014/main" id="{FF13869D-DA25-47A4-9AD9-B170C1D3BEBB}"/>
              </a:ext>
            </a:extLst>
          </p:cNvPr>
          <p:cNvSpPr>
            <a:spLocks xmlns:a="http://schemas.openxmlformats.org/drawingml/2006/main" noGrp="1"/>
          </p:cNvSpPr>
          <p:nvPr/>
        </p:nvSpPr>
        <p:spPr>
          <a:xfrm xmlns:a="http://schemas.openxmlformats.org/drawingml/2006/main">
            <a:off x="1885950" y="3381375"/>
            <a:ext cx="1104900" cy="152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675" b="1">
                <a:solidFill>
                  <a:srgbClr val="A85D2A"/>
                </a:solidFill>
                <a:latin typeface="Aptos"/>
                <a:ea typeface="Aptos"/>
                <a:cs typeface="Aptos"/>
              </a:defRPr>
            </a:pPr>
            <a:r>
              <a:rPr sz="675" b="1">
                <a:solidFill>
                  <a:srgbClr val="A85D2A"/>
                </a:solidFill>
                <a:latin typeface="Aptos"/>
                <a:ea typeface="Aptos"/>
                <a:cs typeface="Aptos"/>
              </a:rPr>
              <a:t>Instructor-led</a:t>
            </a:r>
          </a:p>
        </p:txBody>
      </p:sp>
      <p:sp>
        <p:nvSpPr>
          <p:cNvPr id="12" name="">
            <a:extLst xmlns:a="http://schemas.openxmlformats.org/drawingml/2006/main">
              <a:ext uri="{FF2B5EF4-FFF2-40B4-BE49-F238E27FC236}">
                <a16:creationId xmlns:a16="http://schemas.microsoft.com/office/drawing/2014/main" id="{341BDF63-7740-4AC3-8145-1A415FB7EEC7}"/>
              </a:ext>
            </a:extLst>
          </p:cNvPr>
          <p:cNvSpPr>
            <a:spLocks xmlns:a="http://schemas.openxmlformats.org/drawingml/2006/main" noGrp="1"/>
          </p:cNvSpPr>
          <p:nvPr/>
        </p:nvSpPr>
        <p:spPr>
          <a:xfrm xmlns:a="http://schemas.openxmlformats.org/drawingml/2006/main">
            <a:off x="3219450" y="3333750"/>
            <a:ext cx="1219200" cy="266700"/>
          </a:xfrm>
          <a:prstGeom xmlns:a="http://schemas.openxmlformats.org/drawingml/2006/main" prst="rect">
            <a:avLst/>
          </a:prstGeom>
          <a:solidFill xmlns:a="http://schemas.openxmlformats.org/drawingml/2006/main">
            <a:srgbClr val="E4E9D8"/>
          </a:solidFill>
          <a:ln xmlns:a="http://schemas.openxmlformats.org/drawingml/2006/main" w="9525">
            <a:solidFill>
              <a:srgbClr val="E4E9D8"/>
            </a:solidFill>
            <a:prstDash val="solid"/>
          </a:ln>
        </p:spPr>
      </p:sp>
      <p:sp>
        <p:nvSpPr>
          <p:cNvPr id="13" name="">
            <a:extLst xmlns:a="http://schemas.openxmlformats.org/drawingml/2006/main">
              <a:ext uri="{FF2B5EF4-FFF2-40B4-BE49-F238E27FC236}">
                <a16:creationId xmlns:a16="http://schemas.microsoft.com/office/drawing/2014/main" id="{5D24F3E2-6DF7-4604-A8F9-BEAACB5BBEDC}"/>
              </a:ext>
            </a:extLst>
          </p:cNvPr>
          <p:cNvSpPr>
            <a:spLocks xmlns:a="http://schemas.openxmlformats.org/drawingml/2006/main" noGrp="1"/>
          </p:cNvSpPr>
          <p:nvPr/>
        </p:nvSpPr>
        <p:spPr>
          <a:xfrm xmlns:a="http://schemas.openxmlformats.org/drawingml/2006/main">
            <a:off x="3314700" y="3381375"/>
            <a:ext cx="1028700" cy="152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675" b="1">
                <a:solidFill>
                  <a:srgbClr val="667A39"/>
                </a:solidFill>
                <a:latin typeface="Aptos"/>
                <a:ea typeface="Aptos"/>
                <a:cs typeface="Aptos"/>
              </a:defRPr>
            </a:pPr>
            <a:r>
              <a:rPr sz="675" b="1">
                <a:solidFill>
                  <a:srgbClr val="667A39"/>
                </a:solidFill>
                <a:latin typeface="Aptos"/>
                <a:ea typeface="Aptos"/>
                <a:cs typeface="Aptos"/>
              </a:rPr>
              <a:t>Artifact-first</a:t>
            </a:r>
          </a:p>
        </p:txBody>
      </p:sp>
      <p:sp>
        <p:nvSpPr>
          <p:cNvPr id="14" name="">
            <a:extLst xmlns:a="http://schemas.openxmlformats.org/drawingml/2006/main">
              <a:ext uri="{FF2B5EF4-FFF2-40B4-BE49-F238E27FC236}">
                <a16:creationId xmlns:a16="http://schemas.microsoft.com/office/drawing/2014/main" id="{7E28792B-0B46-4D3F-AF1B-102C5A0BC8E4}"/>
              </a:ext>
            </a:extLst>
          </p:cNvPr>
          <p:cNvSpPr>
            <a:spLocks xmlns:a="http://schemas.openxmlformats.org/drawingml/2006/main" noGrp="1"/>
          </p:cNvSpPr>
          <p:nvPr/>
        </p:nvSpPr>
        <p:spPr>
          <a:xfrm xmlns:a="http://schemas.openxmlformats.org/drawingml/2006/main">
            <a:off x="8096250" y="895350"/>
            <a:ext cx="3333750" cy="4343400"/>
          </a:xfrm>
          <a:prstGeom xmlns:a="http://schemas.openxmlformats.org/drawingml/2006/main" prst="rect">
            <a:avLst/>
          </a:prstGeom>
          <a:solidFill xmlns:a="http://schemas.openxmlformats.org/drawingml/2006/main">
            <a:srgbClr val="FFFFFF"/>
          </a:solidFill>
          <a:ln xmlns:a="http://schemas.openxmlformats.org/drawingml/2006/main" w="9525">
            <a:solidFill>
              <a:srgbClr val="D9DDD6"/>
            </a:solidFill>
            <a:prstDash val="solid"/>
          </a:ln>
        </p:spPr>
      </p:sp>
      <p:sp>
        <p:nvSpPr>
          <p:cNvPr id="15" name="">
            <a:extLst xmlns:a="http://schemas.openxmlformats.org/drawingml/2006/main">
              <a:ext uri="{FF2B5EF4-FFF2-40B4-BE49-F238E27FC236}">
                <a16:creationId xmlns:a16="http://schemas.microsoft.com/office/drawing/2014/main" id="{6335BBCA-3CAA-4226-8BE3-1E1782E0C9AD}"/>
              </a:ext>
            </a:extLst>
          </p:cNvPr>
          <p:cNvSpPr>
            <a:spLocks xmlns:a="http://schemas.openxmlformats.org/drawingml/2006/main" noGrp="1"/>
          </p:cNvSpPr>
          <p:nvPr/>
        </p:nvSpPr>
        <p:spPr>
          <a:xfrm xmlns:a="http://schemas.openxmlformats.org/drawingml/2006/main">
            <a:off x="8362950" y="1276350"/>
            <a:ext cx="266700" cy="1905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16" name="">
            <a:extLst xmlns:a="http://schemas.openxmlformats.org/drawingml/2006/main">
              <a:ext uri="{FF2B5EF4-FFF2-40B4-BE49-F238E27FC236}">
                <a16:creationId xmlns:a16="http://schemas.microsoft.com/office/drawing/2014/main" id="{F31C268E-B88E-45F2-BF78-3AFD2DB64DF5}"/>
              </a:ext>
            </a:extLst>
          </p:cNvPr>
          <p:cNvSpPr>
            <a:spLocks xmlns:a="http://schemas.openxmlformats.org/drawingml/2006/main" noGrp="1"/>
          </p:cNvSpPr>
          <p:nvPr/>
        </p:nvSpPr>
        <p:spPr>
          <a:xfrm xmlns:a="http://schemas.openxmlformats.org/drawingml/2006/main">
            <a:off x="8724900" y="1200150"/>
            <a:ext cx="2476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LESSON OUTPUT</a:t>
            </a:r>
          </a:p>
        </p:txBody>
      </p:sp>
      <p:sp>
        <p:nvSpPr>
          <p:cNvPr id="17" name="">
            <a:extLst xmlns:a="http://schemas.openxmlformats.org/drawingml/2006/main">
              <a:ext uri="{FF2B5EF4-FFF2-40B4-BE49-F238E27FC236}">
                <a16:creationId xmlns:a16="http://schemas.microsoft.com/office/drawing/2014/main" id="{9EE6493F-91A9-4BAE-95C1-DE01ED067BE4}"/>
              </a:ext>
            </a:extLst>
          </p:cNvPr>
          <p:cNvSpPr>
            <a:spLocks xmlns:a="http://schemas.openxmlformats.org/drawingml/2006/main" noGrp="1"/>
          </p:cNvSpPr>
          <p:nvPr/>
        </p:nvSpPr>
        <p:spPr>
          <a:xfrm xmlns:a="http://schemas.openxmlformats.org/drawingml/2006/main">
            <a:off x="8362950" y="1504950"/>
            <a:ext cx="2724150" cy="7239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650" b="1">
                <a:solidFill>
                  <a:srgbClr val="172026"/>
                </a:solidFill>
                <a:latin typeface="Aptos Display"/>
                <a:ea typeface="Aptos Display"/>
                <a:cs typeface="Aptos Display"/>
              </a:defRPr>
            </a:pPr>
            <a:r>
              <a:rPr sz="1650" b="1">
                <a:solidFill>
                  <a:srgbClr val="172026"/>
                </a:solidFill>
                <a:latin typeface="Aptos Display"/>
                <a:ea typeface="Aptos Display"/>
                <a:cs typeface="Aptos Display"/>
              </a:rPr>
              <a:t>MOIN grid</a:t>
            </a:r>
          </a:p>
        </p:txBody>
      </p:sp>
      <p:sp>
        <p:nvSpPr>
          <p:cNvPr id="18" name="">
            <a:extLst xmlns:a="http://schemas.openxmlformats.org/drawingml/2006/main">
              <a:ext uri="{FF2B5EF4-FFF2-40B4-BE49-F238E27FC236}">
                <a16:creationId xmlns:a16="http://schemas.microsoft.com/office/drawing/2014/main" id="{5BE0232E-9B27-4716-B44F-AB6248726902}"/>
              </a:ext>
            </a:extLst>
          </p:cNvPr>
          <p:cNvSpPr>
            <a:spLocks xmlns:a="http://schemas.openxmlformats.org/drawingml/2006/main" noGrp="1"/>
          </p:cNvSpPr>
          <p:nvPr/>
        </p:nvSpPr>
        <p:spPr>
          <a:xfrm xmlns:a="http://schemas.openxmlformats.org/drawingml/2006/main">
            <a:off x="8362950" y="2647950"/>
            <a:ext cx="266700" cy="19050"/>
          </a:xfrm>
          <a:prstGeom xmlns:a="http://schemas.openxmlformats.org/drawingml/2006/main" prst="rect">
            <a:avLst/>
          </a:prstGeom>
          <a:solidFill xmlns:a="http://schemas.openxmlformats.org/drawingml/2006/main">
            <a:srgbClr val="1D6072"/>
          </a:solidFill>
          <a:ln xmlns:a="http://schemas.openxmlformats.org/drawingml/2006/main" w="0">
            <a:solidFill>
              <a:srgbClr val="000000">
                <a:alpha val="0"/>
              </a:srgbClr>
            </a:solidFill>
            <a:prstDash val="solid"/>
          </a:ln>
        </p:spPr>
      </p:sp>
      <p:sp>
        <p:nvSpPr>
          <p:cNvPr id="19" name="">
            <a:extLst xmlns:a="http://schemas.openxmlformats.org/drawingml/2006/main">
              <a:ext uri="{FF2B5EF4-FFF2-40B4-BE49-F238E27FC236}">
                <a16:creationId xmlns:a16="http://schemas.microsoft.com/office/drawing/2014/main" id="{9DF537B5-32A7-4D49-B2FB-168DB31CFDBA}"/>
              </a:ext>
            </a:extLst>
          </p:cNvPr>
          <p:cNvSpPr>
            <a:spLocks xmlns:a="http://schemas.openxmlformats.org/drawingml/2006/main" noGrp="1"/>
          </p:cNvSpPr>
          <p:nvPr/>
        </p:nvSpPr>
        <p:spPr>
          <a:xfrm xmlns:a="http://schemas.openxmlformats.org/drawingml/2006/main">
            <a:off x="8724900" y="2571750"/>
            <a:ext cx="2476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WORKSHOP RULE</a:t>
            </a:r>
          </a:p>
        </p:txBody>
      </p:sp>
      <p:sp>
        <p:nvSpPr>
          <p:cNvPr id="20" name="">
            <a:extLst xmlns:a="http://schemas.openxmlformats.org/drawingml/2006/main">
              <a:ext uri="{FF2B5EF4-FFF2-40B4-BE49-F238E27FC236}">
                <a16:creationId xmlns:a16="http://schemas.microsoft.com/office/drawing/2014/main" id="{836AD9A6-752E-4DE2-8CE7-B4EBBCC57E4A}"/>
              </a:ext>
            </a:extLst>
          </p:cNvPr>
          <p:cNvSpPr>
            <a:spLocks xmlns:a="http://schemas.openxmlformats.org/drawingml/2006/main" noGrp="1"/>
          </p:cNvSpPr>
          <p:nvPr/>
        </p:nvSpPr>
        <p:spPr>
          <a:xfrm xmlns:a="http://schemas.openxmlformats.org/drawingml/2006/main">
            <a:off x="8362950" y="2876550"/>
            <a:ext cx="2609850" cy="8763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59646A"/>
                </a:solidFill>
                <a:latin typeface="Aptos"/>
                <a:ea typeface="Aptos"/>
                <a:cs typeface="Aptos"/>
              </a:defRPr>
            </a:pPr>
            <a:r>
              <a:rPr sz="1125" b="0">
                <a:solidFill>
                  <a:srgbClr val="59646A"/>
                </a:solidFill>
                <a:latin typeface="Aptos"/>
                <a:ea typeface="Aptos"/>
                <a:cs typeface="Aptos"/>
              </a:rPr>
              <a:t>Teach the operating decision, run the diagnostic, then force a usable artifact. The slide is a prompt, not the handout.</a:t>
            </a:r>
          </a:p>
        </p:txBody>
      </p:sp>
      <p:sp>
        <p:nvSpPr>
          <p:cNvPr id="21" name="">
            <a:extLst xmlns:a="http://schemas.openxmlformats.org/drawingml/2006/main">
              <a:ext uri="{FF2B5EF4-FFF2-40B4-BE49-F238E27FC236}">
                <a16:creationId xmlns:a16="http://schemas.microsoft.com/office/drawing/2014/main" id="{C31C841B-6EBD-4A57-BB61-D237F1F6F205}"/>
              </a:ext>
            </a:extLst>
          </p:cNvPr>
          <p:cNvSpPr>
            <a:spLocks xmlns:a="http://schemas.openxmlformats.org/drawingml/2006/main" noGrp="1"/>
          </p:cNvSpPr>
          <p:nvPr/>
        </p:nvSpPr>
        <p:spPr>
          <a:xfrm xmlns:a="http://schemas.openxmlformats.org/drawingml/2006/main">
            <a:off x="8362950" y="4152900"/>
            <a:ext cx="266700" cy="19050"/>
          </a:xfrm>
          <a:prstGeom xmlns:a="http://schemas.openxmlformats.org/drawingml/2006/main" prst="rect">
            <a:avLst/>
          </a:prstGeom>
          <a:solidFill xmlns:a="http://schemas.openxmlformats.org/drawingml/2006/main">
            <a:srgbClr val="667A39"/>
          </a:solidFill>
          <a:ln xmlns:a="http://schemas.openxmlformats.org/drawingml/2006/main" w="0">
            <a:solidFill>
              <a:srgbClr val="000000">
                <a:alpha val="0"/>
              </a:srgbClr>
            </a:solidFill>
            <a:prstDash val="solid"/>
          </a:ln>
        </p:spPr>
      </p:sp>
      <p:sp>
        <p:nvSpPr>
          <p:cNvPr id="22" name="">
            <a:extLst xmlns:a="http://schemas.openxmlformats.org/drawingml/2006/main">
              <a:ext uri="{FF2B5EF4-FFF2-40B4-BE49-F238E27FC236}">
                <a16:creationId xmlns:a16="http://schemas.microsoft.com/office/drawing/2014/main" id="{B6FB61A1-290A-4829-81B3-95FBDE678C70}"/>
              </a:ext>
            </a:extLst>
          </p:cNvPr>
          <p:cNvSpPr>
            <a:spLocks xmlns:a="http://schemas.openxmlformats.org/drawingml/2006/main" noGrp="1"/>
          </p:cNvSpPr>
          <p:nvPr/>
        </p:nvSpPr>
        <p:spPr>
          <a:xfrm xmlns:a="http://schemas.openxmlformats.org/drawingml/2006/main">
            <a:off x="8724900" y="4076700"/>
            <a:ext cx="2476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SOURCE COMMIT</a:t>
            </a:r>
          </a:p>
        </p:txBody>
      </p:sp>
      <p:sp>
        <p:nvSpPr>
          <p:cNvPr id="23" name="">
            <a:extLst xmlns:a="http://schemas.openxmlformats.org/drawingml/2006/main">
              <a:ext uri="{FF2B5EF4-FFF2-40B4-BE49-F238E27FC236}">
                <a16:creationId xmlns:a16="http://schemas.microsoft.com/office/drawing/2014/main" id="{2303FC33-6CD3-4F2A-94FF-890EF39F7FED}"/>
              </a:ext>
            </a:extLst>
          </p:cNvPr>
          <p:cNvSpPr>
            <a:spLocks xmlns:a="http://schemas.openxmlformats.org/drawingml/2006/main" noGrp="1"/>
          </p:cNvSpPr>
          <p:nvPr/>
        </p:nvSpPr>
        <p:spPr>
          <a:xfrm xmlns:a="http://schemas.openxmlformats.org/drawingml/2006/main">
            <a:off x="8362950" y="4381500"/>
            <a:ext cx="15240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1">
                <a:solidFill>
                  <a:srgbClr val="172026"/>
                </a:solidFill>
                <a:latin typeface="Aptos"/>
                <a:ea typeface="Aptos"/>
                <a:cs typeface="Aptos"/>
              </a:defRPr>
            </a:pPr>
            <a:r>
              <a:rPr sz="1200" b="1">
                <a:solidFill>
                  <a:srgbClr val="172026"/>
                </a:solidFill>
                <a:latin typeface="Aptos"/>
                <a:ea typeface="Aptos"/>
                <a:cs typeface="Aptos"/>
              </a:rPr>
              <a:t>9e28222</a:t>
            </a:r>
          </a:p>
        </p:txBody>
      </p:sp>
      <p:sp>
        <p:nvSpPr>
          <p:cNvPr id="24" name="">
            <a:extLst xmlns:a="http://schemas.openxmlformats.org/drawingml/2006/main">
              <a:ext uri="{FF2B5EF4-FFF2-40B4-BE49-F238E27FC236}">
                <a16:creationId xmlns:a16="http://schemas.microsoft.com/office/drawing/2014/main" id="{111D5F2D-ADD8-4AF7-96BD-4BE7048C7865}"/>
              </a:ext>
            </a:extLst>
          </p:cNvPr>
          <p:cNvSpPr>
            <a:spLocks xmlns:a="http://schemas.openxmlformats.org/drawingml/2006/main" noGrp="1"/>
          </p:cNvSpPr>
          <p:nvPr/>
        </p:nvSpPr>
        <p:spPr>
          <a:xfrm xmlns:a="http://schemas.openxmlformats.org/drawingml/2006/main">
            <a:off x="514350" y="6438900"/>
            <a:ext cx="1091565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25" name="">
            <a:extLst xmlns:a="http://schemas.openxmlformats.org/drawingml/2006/main">
              <a:ext uri="{FF2B5EF4-FFF2-40B4-BE49-F238E27FC236}">
                <a16:creationId xmlns:a16="http://schemas.microsoft.com/office/drawing/2014/main" id="{D43F4D8B-50F3-4187-B5F0-399D46021BFD}"/>
              </a:ext>
            </a:extLst>
          </p:cNvPr>
          <p:cNvSpPr>
            <a:spLocks xmlns:a="http://schemas.openxmlformats.org/drawingml/2006/main" noGrp="1"/>
          </p:cNvSpPr>
          <p:nvPr/>
        </p:nvSpPr>
        <p:spPr>
          <a:xfrm xmlns:a="http://schemas.openxmlformats.org/drawingml/2006/main">
            <a:off x="514350" y="6553200"/>
            <a:ext cx="590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59646A"/>
                </a:solidFill>
                <a:latin typeface="Aptos"/>
                <a:ea typeface="Aptos"/>
                <a:cs typeface="Aptos"/>
              </a:defRPr>
            </a:pPr>
            <a:r>
              <a:rPr sz="675" b="0">
                <a:solidFill>
                  <a:srgbClr val="59646A"/>
                </a:solidFill>
                <a:latin typeface="Aptos"/>
                <a:ea typeface="Aptos"/>
                <a:cs typeface="Aptos"/>
              </a:rPr>
              <a:t>Lesson 04 - MOIN: Map Of Informational Needs</a:t>
            </a:r>
          </a:p>
        </p:txBody>
      </p:sp>
      <p:sp>
        <p:nvSpPr>
          <p:cNvPr id="26" name="">
            <a:extLst xmlns:a="http://schemas.openxmlformats.org/drawingml/2006/main">
              <a:ext uri="{FF2B5EF4-FFF2-40B4-BE49-F238E27FC236}">
                <a16:creationId xmlns:a16="http://schemas.microsoft.com/office/drawing/2014/main" id="{2EB35A81-3E84-4F40-AA1A-FE2FB0860130}"/>
              </a:ext>
            </a:extLst>
          </p:cNvPr>
          <p:cNvSpPr>
            <a:spLocks xmlns:a="http://schemas.openxmlformats.org/drawingml/2006/main" noGrp="1"/>
          </p:cNvSpPr>
          <p:nvPr/>
        </p:nvSpPr>
        <p:spPr>
          <a:xfrm xmlns:a="http://schemas.openxmlformats.org/drawingml/2006/main">
            <a:off x="5334000" y="6553200"/>
            <a:ext cx="4095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00" b="0">
                <a:solidFill>
                  <a:srgbClr val="59646A"/>
                </a:solidFill>
                <a:latin typeface="Aptos"/>
                <a:ea typeface="Aptos"/>
                <a:cs typeface="Aptos"/>
              </a:defRPr>
            </a:pPr>
            <a:r>
              <a:rPr sz="600" b="0">
                <a:solidFill>
                  <a:srgbClr val="59646A"/>
                </a:solidFill>
                <a:latin typeface="Aptos"/>
                <a:ea typeface="Aptos"/>
                <a:cs typeface="Aptos"/>
              </a:rPr>
              <a:t>Source: modules/module-01-industrial-demand-generation/lessons/04-moin-map-of-informational-needs.md @ 9e28222</a:t>
            </a:r>
          </a:p>
        </p:txBody>
      </p:sp>
      <p:sp>
        <p:nvSpPr>
          <p:cNvPr id="27" name="">
            <a:extLst xmlns:a="http://schemas.openxmlformats.org/drawingml/2006/main">
              <a:ext uri="{FF2B5EF4-FFF2-40B4-BE49-F238E27FC236}">
                <a16:creationId xmlns:a16="http://schemas.microsoft.com/office/drawing/2014/main" id="{C39C6BD3-60ED-4A6D-8989-71BF89307043}"/>
              </a:ext>
            </a:extLst>
          </p:cNvPr>
          <p:cNvSpPr>
            <a:spLocks xmlns:a="http://schemas.openxmlformats.org/drawingml/2006/main" noGrp="1"/>
          </p:cNvSpPr>
          <p:nvPr/>
        </p:nvSpPr>
        <p:spPr>
          <a:xfrm xmlns:a="http://schemas.openxmlformats.org/drawingml/2006/main">
            <a:off x="10668000" y="6553200"/>
            <a:ext cx="762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75" b="0">
                <a:solidFill>
                  <a:srgbClr val="59646A"/>
                </a:solidFill>
                <a:latin typeface="Aptos"/>
                <a:ea typeface="Aptos"/>
                <a:cs typeface="Aptos"/>
              </a:defRPr>
            </a:pPr>
            <a:r>
              <a:rPr sz="675" b="0">
                <a:solidFill>
                  <a:srgbClr val="59646A"/>
                </a:solidFill>
                <a:latin typeface="Aptos"/>
                <a:ea typeface="Aptos"/>
                <a:cs typeface="Aptos"/>
              </a:rPr>
              <a:t>1/15</a:t>
            </a:r>
          </a:p>
        </p:txBody>
      </p:sp>
    </p:spTree>
    <p:extLst>
      <p:ext uri="{BB962C8B-B14F-4D97-AF65-F5344CB8AC3E}">
        <p14:creationId xmlns:p14="http://schemas.microsoft.com/office/powerpoint/2010/main" val="1868171555"/>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AAAED1D8-A9EA-4F50-9E10-83B314CA9B37}"/>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6F2"/>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F2F74F6B-56EE-4882-BCAC-CBD95F2DC6B9}"/>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12232B"/>
          </a:solidFill>
          <a:ln xmlns:a="http://schemas.openxmlformats.org/drawingml/2006/main" w="0">
            <a:solidFill>
              <a:srgbClr val="000000">
                <a:alpha val="0"/>
              </a:srgbClr>
            </a:solidFill>
            <a:prstDash val="solid"/>
          </a:ln>
        </p:spPr>
      </p:sp>
      <p:sp>
        <p:nvSpPr>
          <p:cNvPr id="3" name="">
            <a:extLst xmlns:a="http://schemas.openxmlformats.org/drawingml/2006/main">
              <a:ext uri="{FF2B5EF4-FFF2-40B4-BE49-F238E27FC236}">
                <a16:creationId xmlns:a16="http://schemas.microsoft.com/office/drawing/2014/main" id="{4A39C7B2-01AE-4DC8-A3BC-01B7AE7E7D73}"/>
              </a:ext>
            </a:extLst>
          </p:cNvPr>
          <p:cNvSpPr>
            <a:spLocks xmlns:a="http://schemas.openxmlformats.org/drawingml/2006/main" noGrp="1"/>
          </p:cNvSpPr>
          <p:nvPr/>
        </p:nvSpPr>
        <p:spPr>
          <a:xfrm xmlns:a="http://schemas.openxmlformats.org/drawingml/2006/main">
            <a:off x="171450" y="0"/>
            <a:ext cx="57150" cy="68580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4" name="kicker-04-marker">
            <a:extLst xmlns:a="http://schemas.openxmlformats.org/drawingml/2006/main">
              <a:ext uri="{FF2B5EF4-FFF2-40B4-BE49-F238E27FC236}">
                <a16:creationId xmlns:a16="http://schemas.microsoft.com/office/drawing/2014/main" id="{A555B892-ED1A-4E11-97C9-D8C028A1C3D4}"/>
              </a:ext>
            </a:extLst>
          </p:cNvPr>
          <p:cNvSpPr>
            <a:spLocks xmlns:a="http://schemas.openxmlformats.org/drawingml/2006/main" noGrp="1"/>
          </p:cNvSpPr>
          <p:nvPr/>
        </p:nvSpPr>
        <p:spPr>
          <a:xfrm xmlns:a="http://schemas.openxmlformats.org/drawingml/2006/main">
            <a:off x="514350" y="390525"/>
            <a:ext cx="76200" cy="762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5" name="kicker-04-label">
            <a:extLst xmlns:a="http://schemas.openxmlformats.org/drawingml/2006/main">
              <a:ext uri="{FF2B5EF4-FFF2-40B4-BE49-F238E27FC236}">
                <a16:creationId xmlns:a16="http://schemas.microsoft.com/office/drawing/2014/main" id="{1B3D1F07-8393-44E9-ACBF-A48172CFCBB8}"/>
              </a:ext>
            </a:extLst>
          </p:cNvPr>
          <p:cNvSpPr>
            <a:spLocks xmlns:a="http://schemas.openxmlformats.org/drawingml/2006/main" noGrp="1"/>
          </p:cNvSpPr>
          <p:nvPr/>
        </p:nvSpPr>
        <p:spPr>
          <a:xfrm xmlns:a="http://schemas.openxmlformats.org/drawingml/2006/main">
            <a:off x="685800" y="323850"/>
            <a:ext cx="75247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MODULE 1 / LESSON 04 / LESSON PROMISE</a:t>
            </a:r>
          </a:p>
        </p:txBody>
      </p:sp>
      <p:sp>
        <p:nvSpPr>
          <p:cNvPr id="6" name="">
            <a:extLst xmlns:a="http://schemas.openxmlformats.org/drawingml/2006/main">
              <a:ext uri="{FF2B5EF4-FFF2-40B4-BE49-F238E27FC236}">
                <a16:creationId xmlns:a16="http://schemas.microsoft.com/office/drawing/2014/main" id="{EB83DCF6-BCA1-44CE-AD8D-2F31B992FE59}"/>
              </a:ext>
            </a:extLst>
          </p:cNvPr>
          <p:cNvSpPr>
            <a:spLocks xmlns:a="http://schemas.openxmlformats.org/drawingml/2006/main" noGrp="1"/>
          </p:cNvSpPr>
          <p:nvPr/>
        </p:nvSpPr>
        <p:spPr>
          <a:xfrm xmlns:a="http://schemas.openxmlformats.org/drawingml/2006/main">
            <a:off x="514350" y="704850"/>
            <a:ext cx="8096250" cy="666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250" b="1">
                <a:solidFill>
                  <a:srgbClr val="172026"/>
                </a:solidFill>
                <a:latin typeface="Aptos Display"/>
                <a:ea typeface="Aptos Display"/>
                <a:cs typeface="Aptos Display"/>
              </a:defRPr>
            </a:pPr>
            <a:r>
              <a:rPr sz="2250" b="1">
                <a:solidFill>
                  <a:srgbClr val="172026"/>
                </a:solidFill>
                <a:latin typeface="Aptos Display"/>
                <a:ea typeface="Aptos Display"/>
                <a:cs typeface="Aptos Display"/>
              </a:rPr>
              <a:t>The promise is an operating capability, not a concept label.</a:t>
            </a:r>
          </a:p>
        </p:txBody>
      </p:sp>
      <p:sp>
        <p:nvSpPr>
          <p:cNvPr id="7" name="">
            <a:extLst xmlns:a="http://schemas.openxmlformats.org/drawingml/2006/main">
              <a:ext uri="{FF2B5EF4-FFF2-40B4-BE49-F238E27FC236}">
                <a16:creationId xmlns:a16="http://schemas.microsoft.com/office/drawing/2014/main" id="{36AF5461-A9B9-4B06-A5E8-2BB407438E61}"/>
              </a:ext>
            </a:extLst>
          </p:cNvPr>
          <p:cNvSpPr>
            <a:spLocks xmlns:a="http://schemas.openxmlformats.org/drawingml/2006/main" noGrp="1"/>
          </p:cNvSpPr>
          <p:nvPr/>
        </p:nvSpPr>
        <p:spPr>
          <a:xfrm xmlns:a="http://schemas.openxmlformats.org/drawingml/2006/main">
            <a:off x="514350" y="1314450"/>
            <a:ext cx="819150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59646A"/>
                </a:solidFill>
                <a:latin typeface="Aptos"/>
                <a:ea typeface="Aptos"/>
                <a:cs typeface="Aptos"/>
              </a:defRPr>
            </a:pPr>
            <a:r>
              <a:rPr sz="1125" b="0">
                <a:solidFill>
                  <a:srgbClr val="59646A"/>
                </a:solidFill>
                <a:latin typeface="Aptos"/>
                <a:ea typeface="Aptos"/>
                <a:cs typeface="Aptos"/>
              </a:rPr>
              <a:t>Use this slide to set the standard for the artifact learners must produce.</a:t>
            </a:r>
          </a:p>
        </p:txBody>
      </p:sp>
      <p:sp>
        <p:nvSpPr>
          <p:cNvPr id="8" name="">
            <a:extLst xmlns:a="http://schemas.openxmlformats.org/drawingml/2006/main">
              <a:ext uri="{FF2B5EF4-FFF2-40B4-BE49-F238E27FC236}">
                <a16:creationId xmlns:a16="http://schemas.microsoft.com/office/drawing/2014/main" id="{BECCB424-A75D-4E2F-8A23-6AC282BC3AF1}"/>
              </a:ext>
            </a:extLst>
          </p:cNvPr>
          <p:cNvSpPr>
            <a:spLocks xmlns:a="http://schemas.openxmlformats.org/drawingml/2006/main" noGrp="1"/>
          </p:cNvSpPr>
          <p:nvPr/>
        </p:nvSpPr>
        <p:spPr>
          <a:xfrm xmlns:a="http://schemas.openxmlformats.org/drawingml/2006/main">
            <a:off x="514350" y="6438900"/>
            <a:ext cx="1091565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1F84888E-644C-41FC-AE54-41D7E7A35684}"/>
              </a:ext>
            </a:extLst>
          </p:cNvPr>
          <p:cNvSpPr>
            <a:spLocks xmlns:a="http://schemas.openxmlformats.org/drawingml/2006/main" noGrp="1"/>
          </p:cNvSpPr>
          <p:nvPr/>
        </p:nvSpPr>
        <p:spPr>
          <a:xfrm xmlns:a="http://schemas.openxmlformats.org/drawingml/2006/main">
            <a:off x="514350" y="6553200"/>
            <a:ext cx="590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59646A"/>
                </a:solidFill>
                <a:latin typeface="Aptos"/>
                <a:ea typeface="Aptos"/>
                <a:cs typeface="Aptos"/>
              </a:defRPr>
            </a:pPr>
            <a:r>
              <a:rPr sz="675" b="0">
                <a:solidFill>
                  <a:srgbClr val="59646A"/>
                </a:solidFill>
                <a:latin typeface="Aptos"/>
                <a:ea typeface="Aptos"/>
                <a:cs typeface="Aptos"/>
              </a:rPr>
              <a:t>Lesson 04 - MOIN: Map Of Informational Needs</a:t>
            </a:r>
          </a:p>
        </p:txBody>
      </p:sp>
      <p:sp>
        <p:nvSpPr>
          <p:cNvPr id="10" name="">
            <a:extLst xmlns:a="http://schemas.openxmlformats.org/drawingml/2006/main">
              <a:ext uri="{FF2B5EF4-FFF2-40B4-BE49-F238E27FC236}">
                <a16:creationId xmlns:a16="http://schemas.microsoft.com/office/drawing/2014/main" id="{EE002261-0674-4BE8-8FAD-E90A610A31F8}"/>
              </a:ext>
            </a:extLst>
          </p:cNvPr>
          <p:cNvSpPr>
            <a:spLocks xmlns:a="http://schemas.openxmlformats.org/drawingml/2006/main" noGrp="1"/>
          </p:cNvSpPr>
          <p:nvPr/>
        </p:nvSpPr>
        <p:spPr>
          <a:xfrm xmlns:a="http://schemas.openxmlformats.org/drawingml/2006/main">
            <a:off x="5334000" y="6553200"/>
            <a:ext cx="4095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00" b="0">
                <a:solidFill>
                  <a:srgbClr val="59646A"/>
                </a:solidFill>
                <a:latin typeface="Aptos"/>
                <a:ea typeface="Aptos"/>
                <a:cs typeface="Aptos"/>
              </a:defRPr>
            </a:pPr>
            <a:r>
              <a:rPr sz="600" b="0">
                <a:solidFill>
                  <a:srgbClr val="59646A"/>
                </a:solidFill>
                <a:latin typeface="Aptos"/>
                <a:ea typeface="Aptos"/>
                <a:cs typeface="Aptos"/>
              </a:rPr>
              <a:t>Source: modules/module-01-industrial-demand-generation/lessons/04-moin-map-of-informational-needs.md @ 9e28222</a:t>
            </a:r>
          </a:p>
        </p:txBody>
      </p:sp>
      <p:sp>
        <p:nvSpPr>
          <p:cNvPr id="11" name="">
            <a:extLst xmlns:a="http://schemas.openxmlformats.org/drawingml/2006/main">
              <a:ext uri="{FF2B5EF4-FFF2-40B4-BE49-F238E27FC236}">
                <a16:creationId xmlns:a16="http://schemas.microsoft.com/office/drawing/2014/main" id="{B584A4BC-3E90-4FAF-9BD4-15684EF9A737}"/>
              </a:ext>
            </a:extLst>
          </p:cNvPr>
          <p:cNvSpPr>
            <a:spLocks xmlns:a="http://schemas.openxmlformats.org/drawingml/2006/main" noGrp="1"/>
          </p:cNvSpPr>
          <p:nvPr/>
        </p:nvSpPr>
        <p:spPr>
          <a:xfrm xmlns:a="http://schemas.openxmlformats.org/drawingml/2006/main">
            <a:off x="10668000" y="6553200"/>
            <a:ext cx="762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75" b="0">
                <a:solidFill>
                  <a:srgbClr val="59646A"/>
                </a:solidFill>
                <a:latin typeface="Aptos"/>
                <a:ea typeface="Aptos"/>
                <a:cs typeface="Aptos"/>
              </a:defRPr>
            </a:pPr>
            <a:r>
              <a:rPr sz="675" b="0">
                <a:solidFill>
                  <a:srgbClr val="59646A"/>
                </a:solidFill>
                <a:latin typeface="Aptos"/>
                <a:ea typeface="Aptos"/>
                <a:cs typeface="Aptos"/>
              </a:rPr>
              <a:t>2/15</a:t>
            </a:r>
          </a:p>
        </p:txBody>
      </p:sp>
      <p:sp>
        <p:nvSpPr>
          <p:cNvPr id="12" name="">
            <a:extLst xmlns:a="http://schemas.openxmlformats.org/drawingml/2006/main">
              <a:ext uri="{FF2B5EF4-FFF2-40B4-BE49-F238E27FC236}">
                <a16:creationId xmlns:a16="http://schemas.microsoft.com/office/drawing/2014/main" id="{57FAB2FB-4ED2-4C6D-A27F-EE970FBA22BE}"/>
              </a:ext>
            </a:extLst>
          </p:cNvPr>
          <p:cNvSpPr>
            <a:spLocks xmlns:a="http://schemas.openxmlformats.org/drawingml/2006/main" noGrp="1"/>
          </p:cNvSpPr>
          <p:nvPr/>
        </p:nvSpPr>
        <p:spPr>
          <a:xfrm xmlns:a="http://schemas.openxmlformats.org/drawingml/2006/main">
            <a:off x="514350" y="2038350"/>
            <a:ext cx="6191250" cy="2381250"/>
          </a:xfrm>
          <a:prstGeom xmlns:a="http://schemas.openxmlformats.org/drawingml/2006/main" prst="rect">
            <a:avLst/>
          </a:prstGeom>
          <a:solidFill xmlns:a="http://schemas.openxmlformats.org/drawingml/2006/main">
            <a:srgbClr val="FFFFFF"/>
          </a:solidFill>
          <a:ln xmlns:a="http://schemas.openxmlformats.org/drawingml/2006/main" w="9525">
            <a:solidFill>
              <a:srgbClr val="D9DDD6"/>
            </a:solidFill>
            <a:prstDash val="solid"/>
          </a:ln>
        </p:spPr>
      </p:sp>
      <p:sp>
        <p:nvSpPr>
          <p:cNvPr id="13" name="">
            <a:extLst xmlns:a="http://schemas.openxmlformats.org/drawingml/2006/main">
              <a:ext uri="{FF2B5EF4-FFF2-40B4-BE49-F238E27FC236}">
                <a16:creationId xmlns:a16="http://schemas.microsoft.com/office/drawing/2014/main" id="{C13005A7-786A-44DB-A231-430834DF3958}"/>
              </a:ext>
            </a:extLst>
          </p:cNvPr>
          <p:cNvSpPr>
            <a:spLocks xmlns:a="http://schemas.openxmlformats.org/drawingml/2006/main" noGrp="1"/>
          </p:cNvSpPr>
          <p:nvPr/>
        </p:nvSpPr>
        <p:spPr>
          <a:xfrm xmlns:a="http://schemas.openxmlformats.org/drawingml/2006/main">
            <a:off x="800100" y="2324100"/>
            <a:ext cx="5619750" cy="11049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875" b="1">
                <a:solidFill>
                  <a:srgbClr val="172026"/>
                </a:solidFill>
                <a:latin typeface="Aptos Display"/>
                <a:ea typeface="Aptos Display"/>
                <a:cs typeface="Aptos Display"/>
              </a:defRPr>
            </a:pPr>
            <a:r>
              <a:rPr sz="1875" b="1">
                <a:solidFill>
                  <a:srgbClr val="172026"/>
                </a:solidFill>
                <a:latin typeface="Aptos Display"/>
                <a:ea typeface="Aptos Display"/>
                <a:cs typeface="Aptos Display"/>
              </a:rPr>
              <a:t>Convert buyer uncertainty into a role-specific content and proof roadmap.</a:t>
            </a:r>
          </a:p>
        </p:txBody>
      </p:sp>
      <p:sp>
        <p:nvSpPr>
          <p:cNvPr id="14" name="">
            <a:extLst xmlns:a="http://schemas.openxmlformats.org/drawingml/2006/main">
              <a:ext uri="{FF2B5EF4-FFF2-40B4-BE49-F238E27FC236}">
                <a16:creationId xmlns:a16="http://schemas.microsoft.com/office/drawing/2014/main" id="{69486317-398F-42CB-B9E9-00555630EF90}"/>
              </a:ext>
            </a:extLst>
          </p:cNvPr>
          <p:cNvSpPr>
            <a:spLocks xmlns:a="http://schemas.openxmlformats.org/drawingml/2006/main" noGrp="1"/>
          </p:cNvSpPr>
          <p:nvPr/>
        </p:nvSpPr>
        <p:spPr>
          <a:xfrm xmlns:a="http://schemas.openxmlformats.org/drawingml/2006/main">
            <a:off x="800100" y="3676650"/>
            <a:ext cx="5334000" cy="1905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15" name="">
            <a:extLst xmlns:a="http://schemas.openxmlformats.org/drawingml/2006/main">
              <a:ext uri="{FF2B5EF4-FFF2-40B4-BE49-F238E27FC236}">
                <a16:creationId xmlns:a16="http://schemas.microsoft.com/office/drawing/2014/main" id="{8114BFDD-8C44-4F46-B025-E4A31307D57B}"/>
              </a:ext>
            </a:extLst>
          </p:cNvPr>
          <p:cNvSpPr>
            <a:spLocks xmlns:a="http://schemas.openxmlformats.org/drawingml/2006/main" noGrp="1"/>
          </p:cNvSpPr>
          <p:nvPr/>
        </p:nvSpPr>
        <p:spPr>
          <a:xfrm xmlns:a="http://schemas.openxmlformats.org/drawingml/2006/main">
            <a:off x="800100" y="3905250"/>
            <a:ext cx="533400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59646A"/>
                </a:solidFill>
                <a:latin typeface="Aptos"/>
                <a:ea typeface="Aptos"/>
                <a:cs typeface="Aptos"/>
              </a:defRPr>
            </a:pPr>
            <a:r>
              <a:rPr sz="1200" b="0">
                <a:solidFill>
                  <a:srgbClr val="59646A"/>
                </a:solidFill>
                <a:latin typeface="Aptos"/>
                <a:ea typeface="Aptos"/>
                <a:cs typeface="Aptos"/>
              </a:rPr>
              <a:t>A MOIN grid that maps questions by role and demand state, then translates them into content, sales use, signal design, and proof gaps.</a:t>
            </a:r>
          </a:p>
        </p:txBody>
      </p:sp>
      <p:sp>
        <p:nvSpPr>
          <p:cNvPr id="16" name="">
            <a:extLst xmlns:a="http://schemas.openxmlformats.org/drawingml/2006/main">
              <a:ext uri="{FF2B5EF4-FFF2-40B4-BE49-F238E27FC236}">
                <a16:creationId xmlns:a16="http://schemas.microsoft.com/office/drawing/2014/main" id="{C8E0241B-747F-4C5B-830D-FD532BA6273D}"/>
              </a:ext>
            </a:extLst>
          </p:cNvPr>
          <p:cNvSpPr>
            <a:spLocks xmlns:a="http://schemas.openxmlformats.org/drawingml/2006/main" noGrp="1"/>
          </p:cNvSpPr>
          <p:nvPr/>
        </p:nvSpPr>
        <p:spPr>
          <a:xfrm xmlns:a="http://schemas.openxmlformats.org/drawingml/2006/main">
            <a:off x="7181850" y="2038350"/>
            <a:ext cx="4248150" cy="2381250"/>
          </a:xfrm>
          <a:prstGeom xmlns:a="http://schemas.openxmlformats.org/drawingml/2006/main" prst="rect">
            <a:avLst/>
          </a:prstGeom>
          <a:solidFill xmlns:a="http://schemas.openxmlformats.org/drawingml/2006/main">
            <a:srgbClr val="12232B"/>
          </a:solidFill>
          <a:ln xmlns:a="http://schemas.openxmlformats.org/drawingml/2006/main" w="9525">
            <a:solidFill>
              <a:srgbClr val="12232B"/>
            </a:solidFill>
            <a:prstDash val="solid"/>
          </a:ln>
        </p:spPr>
      </p:sp>
      <p:sp>
        <p:nvSpPr>
          <p:cNvPr id="17" name="">
            <a:extLst xmlns:a="http://schemas.openxmlformats.org/drawingml/2006/main">
              <a:ext uri="{FF2B5EF4-FFF2-40B4-BE49-F238E27FC236}">
                <a16:creationId xmlns:a16="http://schemas.microsoft.com/office/drawing/2014/main" id="{EFD630DF-5DAC-43FC-A640-2192B6581D69}"/>
              </a:ext>
            </a:extLst>
          </p:cNvPr>
          <p:cNvSpPr>
            <a:spLocks xmlns:a="http://schemas.openxmlformats.org/drawingml/2006/main" noGrp="1"/>
          </p:cNvSpPr>
          <p:nvPr/>
        </p:nvSpPr>
        <p:spPr>
          <a:xfrm xmlns:a="http://schemas.openxmlformats.org/drawingml/2006/main">
            <a:off x="7505700" y="2400300"/>
            <a:ext cx="266700" cy="19050"/>
          </a:xfrm>
          <a:prstGeom xmlns:a="http://schemas.openxmlformats.org/drawingml/2006/main" prst="rect">
            <a:avLst/>
          </a:prstGeom>
          <a:solidFill xmlns:a="http://schemas.openxmlformats.org/drawingml/2006/main">
            <a:srgbClr val="B7953B"/>
          </a:solidFill>
          <a:ln xmlns:a="http://schemas.openxmlformats.org/drawingml/2006/main" w="0">
            <a:solidFill>
              <a:srgbClr val="000000">
                <a:alpha val="0"/>
              </a:srgbClr>
            </a:solidFill>
            <a:prstDash val="solid"/>
          </a:ln>
        </p:spPr>
      </p:sp>
      <p:sp>
        <p:nvSpPr>
          <p:cNvPr id="18" name="">
            <a:extLst xmlns:a="http://schemas.openxmlformats.org/drawingml/2006/main">
              <a:ext uri="{FF2B5EF4-FFF2-40B4-BE49-F238E27FC236}">
                <a16:creationId xmlns:a16="http://schemas.microsoft.com/office/drawing/2014/main" id="{F3C666C0-3AA6-4273-B71A-669863FDA302}"/>
              </a:ext>
            </a:extLst>
          </p:cNvPr>
          <p:cNvSpPr>
            <a:spLocks xmlns:a="http://schemas.openxmlformats.org/drawingml/2006/main" noGrp="1"/>
          </p:cNvSpPr>
          <p:nvPr/>
        </p:nvSpPr>
        <p:spPr>
          <a:xfrm xmlns:a="http://schemas.openxmlformats.org/drawingml/2006/main">
            <a:off x="7867650" y="2324100"/>
            <a:ext cx="2476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INSTRUCTOR STANCE</a:t>
            </a:r>
          </a:p>
        </p:txBody>
      </p:sp>
      <p:sp>
        <p:nvSpPr>
          <p:cNvPr id="19" name="">
            <a:extLst xmlns:a="http://schemas.openxmlformats.org/drawingml/2006/main">
              <a:ext uri="{FF2B5EF4-FFF2-40B4-BE49-F238E27FC236}">
                <a16:creationId xmlns:a16="http://schemas.microsoft.com/office/drawing/2014/main" id="{582CA631-EAB5-41D6-BB31-76762EB2C939}"/>
              </a:ext>
            </a:extLst>
          </p:cNvPr>
          <p:cNvSpPr>
            <a:spLocks xmlns:a="http://schemas.openxmlformats.org/drawingml/2006/main" noGrp="1"/>
          </p:cNvSpPr>
          <p:nvPr/>
        </p:nvSpPr>
        <p:spPr>
          <a:xfrm xmlns:a="http://schemas.openxmlformats.org/drawingml/2006/main">
            <a:off x="7505700" y="2752725"/>
            <a:ext cx="57150" cy="57150"/>
          </a:xfrm>
          <a:prstGeom xmlns:a="http://schemas.openxmlformats.org/drawingml/2006/main" prst="rect">
            <a:avLst/>
          </a:prstGeom>
          <a:solidFill xmlns:a="http://schemas.openxmlformats.org/drawingml/2006/main">
            <a:srgbClr val="B7953B"/>
          </a:solidFill>
          <a:ln xmlns:a="http://schemas.openxmlformats.org/drawingml/2006/main" w="0">
            <a:solidFill>
              <a:srgbClr val="000000">
                <a:alpha val="0"/>
              </a:srgbClr>
            </a:solidFill>
            <a:prstDash val="solid"/>
          </a:ln>
        </p:spPr>
      </p:sp>
      <p:sp>
        <p:nvSpPr>
          <p:cNvPr id="20" name="">
            <a:extLst xmlns:a="http://schemas.openxmlformats.org/drawingml/2006/main">
              <a:ext uri="{FF2B5EF4-FFF2-40B4-BE49-F238E27FC236}">
                <a16:creationId xmlns:a16="http://schemas.microsoft.com/office/drawing/2014/main" id="{82F9E0A7-9569-44E4-A7F6-7274C3B73AAE}"/>
              </a:ext>
            </a:extLst>
          </p:cNvPr>
          <p:cNvSpPr>
            <a:spLocks xmlns:a="http://schemas.openxmlformats.org/drawingml/2006/main" noGrp="1"/>
          </p:cNvSpPr>
          <p:nvPr/>
        </p:nvSpPr>
        <p:spPr>
          <a:xfrm xmlns:a="http://schemas.openxmlformats.org/drawingml/2006/main">
            <a:off x="7677150" y="2686050"/>
            <a:ext cx="312420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FFFFFF"/>
                </a:solidFill>
                <a:latin typeface="Aptos"/>
                <a:ea typeface="Aptos"/>
                <a:cs typeface="Aptos"/>
              </a:defRPr>
            </a:pPr>
            <a:r>
              <a:rPr sz="1125" b="0">
                <a:solidFill>
                  <a:srgbClr val="FFFFFF"/>
                </a:solidFill>
                <a:latin typeface="Aptos"/>
                <a:ea typeface="Aptos"/>
                <a:cs typeface="Aptos"/>
              </a:rPr>
              <a:t>Ask for evidence before opinion.</a:t>
            </a:r>
          </a:p>
        </p:txBody>
      </p:sp>
      <p:sp>
        <p:nvSpPr>
          <p:cNvPr id="21" name="">
            <a:extLst xmlns:a="http://schemas.openxmlformats.org/drawingml/2006/main">
              <a:ext uri="{FF2B5EF4-FFF2-40B4-BE49-F238E27FC236}">
                <a16:creationId xmlns:a16="http://schemas.microsoft.com/office/drawing/2014/main" id="{28A801AB-4976-418B-B024-4839C8620641}"/>
              </a:ext>
            </a:extLst>
          </p:cNvPr>
          <p:cNvSpPr>
            <a:spLocks xmlns:a="http://schemas.openxmlformats.org/drawingml/2006/main" noGrp="1"/>
          </p:cNvSpPr>
          <p:nvPr/>
        </p:nvSpPr>
        <p:spPr>
          <a:xfrm xmlns:a="http://schemas.openxmlformats.org/drawingml/2006/main">
            <a:off x="7505700" y="3152775"/>
            <a:ext cx="57150" cy="57150"/>
          </a:xfrm>
          <a:prstGeom xmlns:a="http://schemas.openxmlformats.org/drawingml/2006/main" prst="rect">
            <a:avLst/>
          </a:prstGeom>
          <a:solidFill xmlns:a="http://schemas.openxmlformats.org/drawingml/2006/main">
            <a:srgbClr val="B7953B"/>
          </a:solidFill>
          <a:ln xmlns:a="http://schemas.openxmlformats.org/drawingml/2006/main" w="0">
            <a:solidFill>
              <a:srgbClr val="000000">
                <a:alpha val="0"/>
              </a:srgbClr>
            </a:solidFill>
            <a:prstDash val="solid"/>
          </a:ln>
        </p:spPr>
      </p:sp>
      <p:sp>
        <p:nvSpPr>
          <p:cNvPr id="22" name="">
            <a:extLst xmlns:a="http://schemas.openxmlformats.org/drawingml/2006/main">
              <a:ext uri="{FF2B5EF4-FFF2-40B4-BE49-F238E27FC236}">
                <a16:creationId xmlns:a16="http://schemas.microsoft.com/office/drawing/2014/main" id="{258DDAA0-8E26-41D5-8ED2-34B6DB4E0B0B}"/>
              </a:ext>
            </a:extLst>
          </p:cNvPr>
          <p:cNvSpPr>
            <a:spLocks xmlns:a="http://schemas.openxmlformats.org/drawingml/2006/main" noGrp="1"/>
          </p:cNvSpPr>
          <p:nvPr/>
        </p:nvSpPr>
        <p:spPr>
          <a:xfrm xmlns:a="http://schemas.openxmlformats.org/drawingml/2006/main">
            <a:off x="7677150" y="3086100"/>
            <a:ext cx="312420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FFFFFF"/>
                </a:solidFill>
                <a:latin typeface="Aptos"/>
                <a:ea typeface="Aptos"/>
                <a:cs typeface="Aptos"/>
              </a:defRPr>
            </a:pPr>
            <a:r>
              <a:rPr sz="1125" b="0">
                <a:solidFill>
                  <a:srgbClr val="FFFFFF"/>
                </a:solidFill>
                <a:latin typeface="Aptos"/>
                <a:ea typeface="Aptos"/>
                <a:cs typeface="Aptos"/>
              </a:rPr>
              <a:t>Use the workbook for capture.</a:t>
            </a:r>
          </a:p>
        </p:txBody>
      </p:sp>
      <p:sp>
        <p:nvSpPr>
          <p:cNvPr id="23" name="">
            <a:extLst xmlns:a="http://schemas.openxmlformats.org/drawingml/2006/main">
              <a:ext uri="{FF2B5EF4-FFF2-40B4-BE49-F238E27FC236}">
                <a16:creationId xmlns:a16="http://schemas.microsoft.com/office/drawing/2014/main" id="{1758D58E-D421-4F54-AF91-D89567276397}"/>
              </a:ext>
            </a:extLst>
          </p:cNvPr>
          <p:cNvSpPr>
            <a:spLocks xmlns:a="http://schemas.openxmlformats.org/drawingml/2006/main" noGrp="1"/>
          </p:cNvSpPr>
          <p:nvPr/>
        </p:nvSpPr>
        <p:spPr>
          <a:xfrm xmlns:a="http://schemas.openxmlformats.org/drawingml/2006/main">
            <a:off x="7505700" y="3552825"/>
            <a:ext cx="57150" cy="57150"/>
          </a:xfrm>
          <a:prstGeom xmlns:a="http://schemas.openxmlformats.org/drawingml/2006/main" prst="rect">
            <a:avLst/>
          </a:prstGeom>
          <a:solidFill xmlns:a="http://schemas.openxmlformats.org/drawingml/2006/main">
            <a:srgbClr val="B7953B"/>
          </a:solidFill>
          <a:ln xmlns:a="http://schemas.openxmlformats.org/drawingml/2006/main" w="0">
            <a:solidFill>
              <a:srgbClr val="000000">
                <a:alpha val="0"/>
              </a:srgbClr>
            </a:solidFill>
            <a:prstDash val="solid"/>
          </a:ln>
        </p:spPr>
      </p:sp>
      <p:sp>
        <p:nvSpPr>
          <p:cNvPr id="24" name="">
            <a:extLst xmlns:a="http://schemas.openxmlformats.org/drawingml/2006/main">
              <a:ext uri="{FF2B5EF4-FFF2-40B4-BE49-F238E27FC236}">
                <a16:creationId xmlns:a16="http://schemas.microsoft.com/office/drawing/2014/main" id="{3AA2EAE1-C2B3-4C86-9C2B-11D5E814DA87}"/>
              </a:ext>
            </a:extLst>
          </p:cNvPr>
          <p:cNvSpPr>
            <a:spLocks xmlns:a="http://schemas.openxmlformats.org/drawingml/2006/main" noGrp="1"/>
          </p:cNvSpPr>
          <p:nvPr/>
        </p:nvSpPr>
        <p:spPr>
          <a:xfrm xmlns:a="http://schemas.openxmlformats.org/drawingml/2006/main">
            <a:off x="7677150" y="3486150"/>
            <a:ext cx="312420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FFFFFF"/>
                </a:solidFill>
                <a:latin typeface="Aptos"/>
                <a:ea typeface="Aptos"/>
                <a:cs typeface="Aptos"/>
              </a:defRPr>
            </a:pPr>
            <a:r>
              <a:rPr sz="1125" b="0">
                <a:solidFill>
                  <a:srgbClr val="FFFFFF"/>
                </a:solidFill>
                <a:latin typeface="Aptos"/>
                <a:ea typeface="Aptos"/>
                <a:cs typeface="Aptos"/>
              </a:rPr>
              <a:t>Keep AI useful but subordinate to human correction.</a:t>
            </a:r>
          </a:p>
        </p:txBody>
      </p:sp>
      <p:sp>
        <p:nvSpPr>
          <p:cNvPr id="25" name="">
            <a:extLst xmlns:a="http://schemas.openxmlformats.org/drawingml/2006/main">
              <a:ext uri="{FF2B5EF4-FFF2-40B4-BE49-F238E27FC236}">
                <a16:creationId xmlns:a16="http://schemas.microsoft.com/office/drawing/2014/main" id="{191263A4-FE25-402D-B054-A97264460150}"/>
              </a:ext>
            </a:extLst>
          </p:cNvPr>
          <p:cNvSpPr>
            <a:spLocks xmlns:a="http://schemas.openxmlformats.org/drawingml/2006/main" noGrp="1"/>
          </p:cNvSpPr>
          <p:nvPr/>
        </p:nvSpPr>
        <p:spPr>
          <a:xfrm xmlns:a="http://schemas.openxmlformats.org/drawingml/2006/main">
            <a:off x="7505700" y="3952875"/>
            <a:ext cx="57150" cy="57150"/>
          </a:xfrm>
          <a:prstGeom xmlns:a="http://schemas.openxmlformats.org/drawingml/2006/main" prst="rect">
            <a:avLst/>
          </a:prstGeom>
          <a:solidFill xmlns:a="http://schemas.openxmlformats.org/drawingml/2006/main">
            <a:srgbClr val="B7953B"/>
          </a:solidFill>
          <a:ln xmlns:a="http://schemas.openxmlformats.org/drawingml/2006/main" w="0">
            <a:solidFill>
              <a:srgbClr val="000000">
                <a:alpha val="0"/>
              </a:srgbClr>
            </a:solidFill>
            <a:prstDash val="solid"/>
          </a:ln>
        </p:spPr>
      </p:sp>
      <p:sp>
        <p:nvSpPr>
          <p:cNvPr id="26" name="">
            <a:extLst xmlns:a="http://schemas.openxmlformats.org/drawingml/2006/main">
              <a:ext uri="{FF2B5EF4-FFF2-40B4-BE49-F238E27FC236}">
                <a16:creationId xmlns:a16="http://schemas.microsoft.com/office/drawing/2014/main" id="{ADEB5D8D-8ED9-4E1B-8670-8CC5237E0046}"/>
              </a:ext>
            </a:extLst>
          </p:cNvPr>
          <p:cNvSpPr>
            <a:spLocks xmlns:a="http://schemas.openxmlformats.org/drawingml/2006/main" noGrp="1"/>
          </p:cNvSpPr>
          <p:nvPr/>
        </p:nvSpPr>
        <p:spPr>
          <a:xfrm xmlns:a="http://schemas.openxmlformats.org/drawingml/2006/main">
            <a:off x="7677150" y="3886200"/>
            <a:ext cx="312420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FFFFFF"/>
                </a:solidFill>
                <a:latin typeface="Aptos"/>
                <a:ea typeface="Aptos"/>
                <a:cs typeface="Aptos"/>
              </a:defRPr>
            </a:pPr>
            <a:r>
              <a:rPr sz="1125" b="0">
                <a:solidFill>
                  <a:srgbClr val="FFFFFF"/>
                </a:solidFill>
                <a:latin typeface="Aptos"/>
                <a:ea typeface="Aptos"/>
                <a:cs typeface="Aptos"/>
              </a:rPr>
              <a:t>Do not accept generic SaaS or lead-gen answers.</a:t>
            </a:r>
          </a:p>
        </p:txBody>
      </p:sp>
      <p:sp>
        <p:nvSpPr>
          <p:cNvPr id="27" name="">
            <a:extLst xmlns:a="http://schemas.openxmlformats.org/drawingml/2006/main">
              <a:ext uri="{FF2B5EF4-FFF2-40B4-BE49-F238E27FC236}">
                <a16:creationId xmlns:a16="http://schemas.microsoft.com/office/drawing/2014/main" id="{64EC0DD1-FE10-4F43-B688-BB8281B9406B}"/>
              </a:ext>
            </a:extLst>
          </p:cNvPr>
          <p:cNvSpPr>
            <a:spLocks xmlns:a="http://schemas.openxmlformats.org/drawingml/2006/main" noGrp="1"/>
          </p:cNvSpPr>
          <p:nvPr/>
        </p:nvSpPr>
        <p:spPr>
          <a:xfrm xmlns:a="http://schemas.openxmlformats.org/drawingml/2006/main">
            <a:off x="514350" y="6438900"/>
            <a:ext cx="1091565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28" name="">
            <a:extLst xmlns:a="http://schemas.openxmlformats.org/drawingml/2006/main">
              <a:ext uri="{FF2B5EF4-FFF2-40B4-BE49-F238E27FC236}">
                <a16:creationId xmlns:a16="http://schemas.microsoft.com/office/drawing/2014/main" id="{1E936A8D-AB91-4871-B3B2-88504A3E6B18}"/>
              </a:ext>
            </a:extLst>
          </p:cNvPr>
          <p:cNvSpPr>
            <a:spLocks xmlns:a="http://schemas.openxmlformats.org/drawingml/2006/main" noGrp="1"/>
          </p:cNvSpPr>
          <p:nvPr/>
        </p:nvSpPr>
        <p:spPr>
          <a:xfrm xmlns:a="http://schemas.openxmlformats.org/drawingml/2006/main">
            <a:off x="514350" y="6553200"/>
            <a:ext cx="590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59646A"/>
                </a:solidFill>
                <a:latin typeface="Aptos"/>
                <a:ea typeface="Aptos"/>
                <a:cs typeface="Aptos"/>
              </a:defRPr>
            </a:pPr>
            <a:r>
              <a:rPr sz="675" b="0">
                <a:solidFill>
                  <a:srgbClr val="59646A"/>
                </a:solidFill>
                <a:latin typeface="Aptos"/>
                <a:ea typeface="Aptos"/>
                <a:cs typeface="Aptos"/>
              </a:rPr>
              <a:t>Lesson 04 - MOIN: Map Of Informational Needs</a:t>
            </a:r>
          </a:p>
        </p:txBody>
      </p:sp>
      <p:sp>
        <p:nvSpPr>
          <p:cNvPr id="29" name="">
            <a:extLst xmlns:a="http://schemas.openxmlformats.org/drawingml/2006/main">
              <a:ext uri="{FF2B5EF4-FFF2-40B4-BE49-F238E27FC236}">
                <a16:creationId xmlns:a16="http://schemas.microsoft.com/office/drawing/2014/main" id="{6BC7CE58-6E25-4C3E-99D2-54A3C77620A3}"/>
              </a:ext>
            </a:extLst>
          </p:cNvPr>
          <p:cNvSpPr>
            <a:spLocks xmlns:a="http://schemas.openxmlformats.org/drawingml/2006/main" noGrp="1"/>
          </p:cNvSpPr>
          <p:nvPr/>
        </p:nvSpPr>
        <p:spPr>
          <a:xfrm xmlns:a="http://schemas.openxmlformats.org/drawingml/2006/main">
            <a:off x="5334000" y="6553200"/>
            <a:ext cx="4095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00" b="0">
                <a:solidFill>
                  <a:srgbClr val="59646A"/>
                </a:solidFill>
                <a:latin typeface="Aptos"/>
                <a:ea typeface="Aptos"/>
                <a:cs typeface="Aptos"/>
              </a:defRPr>
            </a:pPr>
            <a:r>
              <a:rPr sz="600" b="0">
                <a:solidFill>
                  <a:srgbClr val="59646A"/>
                </a:solidFill>
                <a:latin typeface="Aptos"/>
                <a:ea typeface="Aptos"/>
                <a:cs typeface="Aptos"/>
              </a:rPr>
              <a:t>Source: modules/module-01-industrial-demand-generation/lessons/04-moin-map-of-informational-needs.md @ 9e28222</a:t>
            </a:r>
          </a:p>
        </p:txBody>
      </p:sp>
      <p:sp>
        <p:nvSpPr>
          <p:cNvPr id="30" name="">
            <a:extLst xmlns:a="http://schemas.openxmlformats.org/drawingml/2006/main">
              <a:ext uri="{FF2B5EF4-FFF2-40B4-BE49-F238E27FC236}">
                <a16:creationId xmlns:a16="http://schemas.microsoft.com/office/drawing/2014/main" id="{2EE69CB8-7EB5-4D23-BCD6-D9C24880FAFB}"/>
              </a:ext>
            </a:extLst>
          </p:cNvPr>
          <p:cNvSpPr>
            <a:spLocks xmlns:a="http://schemas.openxmlformats.org/drawingml/2006/main" noGrp="1"/>
          </p:cNvSpPr>
          <p:nvPr/>
        </p:nvSpPr>
        <p:spPr>
          <a:xfrm xmlns:a="http://schemas.openxmlformats.org/drawingml/2006/main">
            <a:off x="10668000" y="6553200"/>
            <a:ext cx="762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75" b="0">
                <a:solidFill>
                  <a:srgbClr val="59646A"/>
                </a:solidFill>
                <a:latin typeface="Aptos"/>
                <a:ea typeface="Aptos"/>
                <a:cs typeface="Aptos"/>
              </a:defRPr>
            </a:pPr>
            <a:r>
              <a:rPr sz="675" b="0">
                <a:solidFill>
                  <a:srgbClr val="59646A"/>
                </a:solidFill>
                <a:latin typeface="Aptos"/>
                <a:ea typeface="Aptos"/>
                <a:cs typeface="Aptos"/>
              </a:rPr>
              <a:t>2/15</a:t>
            </a:r>
          </a:p>
        </p:txBody>
      </p:sp>
    </p:spTree>
    <p:extLst>
      <p:ext uri="{BB962C8B-B14F-4D97-AF65-F5344CB8AC3E}">
        <p14:creationId xmlns:p14="http://schemas.microsoft.com/office/powerpoint/2010/main" val="1291038661"/>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F978314F-98A1-4BDB-BA4E-955A0F879E31}"/>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6F2"/>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B720A4D8-EE07-407C-BF2B-FA24C1D6B731}"/>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12232B"/>
          </a:solidFill>
          <a:ln xmlns:a="http://schemas.openxmlformats.org/drawingml/2006/main" w="0">
            <a:solidFill>
              <a:srgbClr val="000000">
                <a:alpha val="0"/>
              </a:srgbClr>
            </a:solidFill>
            <a:prstDash val="solid"/>
          </a:ln>
        </p:spPr>
      </p:sp>
      <p:sp>
        <p:nvSpPr>
          <p:cNvPr id="3" name="">
            <a:extLst xmlns:a="http://schemas.openxmlformats.org/drawingml/2006/main">
              <a:ext uri="{FF2B5EF4-FFF2-40B4-BE49-F238E27FC236}">
                <a16:creationId xmlns:a16="http://schemas.microsoft.com/office/drawing/2014/main" id="{F8B43735-D157-4ECE-898F-7A492AE1C82E}"/>
              </a:ext>
            </a:extLst>
          </p:cNvPr>
          <p:cNvSpPr>
            <a:spLocks xmlns:a="http://schemas.openxmlformats.org/drawingml/2006/main" noGrp="1"/>
          </p:cNvSpPr>
          <p:nvPr/>
        </p:nvSpPr>
        <p:spPr>
          <a:xfrm xmlns:a="http://schemas.openxmlformats.org/drawingml/2006/main">
            <a:off x="171450" y="0"/>
            <a:ext cx="57150" cy="68580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4" name="kicker-04-marker">
            <a:extLst xmlns:a="http://schemas.openxmlformats.org/drawingml/2006/main">
              <a:ext uri="{FF2B5EF4-FFF2-40B4-BE49-F238E27FC236}">
                <a16:creationId xmlns:a16="http://schemas.microsoft.com/office/drawing/2014/main" id="{979C8859-E56A-4547-A349-63B27FF39FEA}"/>
              </a:ext>
            </a:extLst>
          </p:cNvPr>
          <p:cNvSpPr>
            <a:spLocks xmlns:a="http://schemas.openxmlformats.org/drawingml/2006/main" noGrp="1"/>
          </p:cNvSpPr>
          <p:nvPr/>
        </p:nvSpPr>
        <p:spPr>
          <a:xfrm xmlns:a="http://schemas.openxmlformats.org/drawingml/2006/main">
            <a:off x="514350" y="390525"/>
            <a:ext cx="76200" cy="762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5" name="kicker-04-label">
            <a:extLst xmlns:a="http://schemas.openxmlformats.org/drawingml/2006/main">
              <a:ext uri="{FF2B5EF4-FFF2-40B4-BE49-F238E27FC236}">
                <a16:creationId xmlns:a16="http://schemas.microsoft.com/office/drawing/2014/main" id="{CC28E45A-C6C0-4724-AC5E-394A18CF50C6}"/>
              </a:ext>
            </a:extLst>
          </p:cNvPr>
          <p:cNvSpPr>
            <a:spLocks xmlns:a="http://schemas.openxmlformats.org/drawingml/2006/main" noGrp="1"/>
          </p:cNvSpPr>
          <p:nvPr/>
        </p:nvSpPr>
        <p:spPr>
          <a:xfrm xmlns:a="http://schemas.openxmlformats.org/drawingml/2006/main">
            <a:off x="685800" y="323850"/>
            <a:ext cx="75247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MODULE 1 / LESSON 04 / WHY IT MATTERS</a:t>
            </a:r>
          </a:p>
        </p:txBody>
      </p:sp>
      <p:sp>
        <p:nvSpPr>
          <p:cNvPr id="6" name="">
            <a:extLst xmlns:a="http://schemas.openxmlformats.org/drawingml/2006/main">
              <a:ext uri="{FF2B5EF4-FFF2-40B4-BE49-F238E27FC236}">
                <a16:creationId xmlns:a16="http://schemas.microsoft.com/office/drawing/2014/main" id="{DA3ECCF0-211D-49A1-B4A3-AB330F270A1F}"/>
              </a:ext>
            </a:extLst>
          </p:cNvPr>
          <p:cNvSpPr>
            <a:spLocks xmlns:a="http://schemas.openxmlformats.org/drawingml/2006/main" noGrp="1"/>
          </p:cNvSpPr>
          <p:nvPr/>
        </p:nvSpPr>
        <p:spPr>
          <a:xfrm xmlns:a="http://schemas.openxmlformats.org/drawingml/2006/main">
            <a:off x="514350" y="704850"/>
            <a:ext cx="8096250" cy="666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250" b="1">
                <a:solidFill>
                  <a:srgbClr val="172026"/>
                </a:solidFill>
                <a:latin typeface="Aptos Display"/>
                <a:ea typeface="Aptos Display"/>
                <a:cs typeface="Aptos Display"/>
              </a:defRPr>
            </a:pPr>
            <a:r>
              <a:rPr sz="2250" b="1">
                <a:solidFill>
                  <a:srgbClr val="172026"/>
                </a:solidFill>
                <a:latin typeface="Aptos Display"/>
                <a:ea typeface="Aptos Display"/>
                <a:cs typeface="Aptos Display"/>
              </a:rPr>
              <a:t>Industrial GTM punishes shallow assumptions.</a:t>
            </a:r>
          </a:p>
        </p:txBody>
      </p:sp>
      <p:sp>
        <p:nvSpPr>
          <p:cNvPr id="7" name="">
            <a:extLst xmlns:a="http://schemas.openxmlformats.org/drawingml/2006/main">
              <a:ext uri="{FF2B5EF4-FFF2-40B4-BE49-F238E27FC236}">
                <a16:creationId xmlns:a16="http://schemas.microsoft.com/office/drawing/2014/main" id="{CB5D5EE2-4537-43A8-B477-10A8A7DCD550}"/>
              </a:ext>
            </a:extLst>
          </p:cNvPr>
          <p:cNvSpPr>
            <a:spLocks xmlns:a="http://schemas.openxmlformats.org/drawingml/2006/main" noGrp="1"/>
          </p:cNvSpPr>
          <p:nvPr/>
        </p:nvSpPr>
        <p:spPr>
          <a:xfrm xmlns:a="http://schemas.openxmlformats.org/drawingml/2006/main">
            <a:off x="514350" y="1314450"/>
            <a:ext cx="819150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59646A"/>
                </a:solidFill>
                <a:latin typeface="Aptos"/>
                <a:ea typeface="Aptos"/>
                <a:cs typeface="Aptos"/>
              </a:defRPr>
            </a:pPr>
            <a:r>
              <a:rPr sz="1125" b="0">
                <a:solidFill>
                  <a:srgbClr val="59646A"/>
                </a:solidFill>
                <a:latin typeface="Aptos"/>
                <a:ea typeface="Aptos"/>
                <a:cs typeface="Aptos"/>
              </a:rPr>
              <a:t>The instructor should tie every point back to long-cycle risk, committee proof, and trusted circulation.</a:t>
            </a:r>
          </a:p>
        </p:txBody>
      </p:sp>
      <p:sp>
        <p:nvSpPr>
          <p:cNvPr id="8" name="">
            <a:extLst xmlns:a="http://schemas.openxmlformats.org/drawingml/2006/main">
              <a:ext uri="{FF2B5EF4-FFF2-40B4-BE49-F238E27FC236}">
                <a16:creationId xmlns:a16="http://schemas.microsoft.com/office/drawing/2014/main" id="{380BD017-3612-4040-920A-4615A04F2C13}"/>
              </a:ext>
            </a:extLst>
          </p:cNvPr>
          <p:cNvSpPr>
            <a:spLocks xmlns:a="http://schemas.openxmlformats.org/drawingml/2006/main" noGrp="1"/>
          </p:cNvSpPr>
          <p:nvPr/>
        </p:nvSpPr>
        <p:spPr>
          <a:xfrm xmlns:a="http://schemas.openxmlformats.org/drawingml/2006/main">
            <a:off x="514350" y="6438900"/>
            <a:ext cx="1091565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BC4C4E9C-27A8-473F-AC8B-448BFF10DFF3}"/>
              </a:ext>
            </a:extLst>
          </p:cNvPr>
          <p:cNvSpPr>
            <a:spLocks xmlns:a="http://schemas.openxmlformats.org/drawingml/2006/main" noGrp="1"/>
          </p:cNvSpPr>
          <p:nvPr/>
        </p:nvSpPr>
        <p:spPr>
          <a:xfrm xmlns:a="http://schemas.openxmlformats.org/drawingml/2006/main">
            <a:off x="514350" y="6553200"/>
            <a:ext cx="590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59646A"/>
                </a:solidFill>
                <a:latin typeface="Aptos"/>
                <a:ea typeface="Aptos"/>
                <a:cs typeface="Aptos"/>
              </a:defRPr>
            </a:pPr>
            <a:r>
              <a:rPr sz="675" b="0">
                <a:solidFill>
                  <a:srgbClr val="59646A"/>
                </a:solidFill>
                <a:latin typeface="Aptos"/>
                <a:ea typeface="Aptos"/>
                <a:cs typeface="Aptos"/>
              </a:rPr>
              <a:t>Lesson 04 - MOIN: Map Of Informational Needs</a:t>
            </a:r>
          </a:p>
        </p:txBody>
      </p:sp>
      <p:sp>
        <p:nvSpPr>
          <p:cNvPr id="10" name="">
            <a:extLst xmlns:a="http://schemas.openxmlformats.org/drawingml/2006/main">
              <a:ext uri="{FF2B5EF4-FFF2-40B4-BE49-F238E27FC236}">
                <a16:creationId xmlns:a16="http://schemas.microsoft.com/office/drawing/2014/main" id="{5E0FD1F8-62B6-42AD-BB16-67C788DCEB5D}"/>
              </a:ext>
            </a:extLst>
          </p:cNvPr>
          <p:cNvSpPr>
            <a:spLocks xmlns:a="http://schemas.openxmlformats.org/drawingml/2006/main" noGrp="1"/>
          </p:cNvSpPr>
          <p:nvPr/>
        </p:nvSpPr>
        <p:spPr>
          <a:xfrm xmlns:a="http://schemas.openxmlformats.org/drawingml/2006/main">
            <a:off x="5334000" y="6553200"/>
            <a:ext cx="4095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00" b="0">
                <a:solidFill>
                  <a:srgbClr val="59646A"/>
                </a:solidFill>
                <a:latin typeface="Aptos"/>
                <a:ea typeface="Aptos"/>
                <a:cs typeface="Aptos"/>
              </a:defRPr>
            </a:pPr>
            <a:r>
              <a:rPr sz="600" b="0">
                <a:solidFill>
                  <a:srgbClr val="59646A"/>
                </a:solidFill>
                <a:latin typeface="Aptos"/>
                <a:ea typeface="Aptos"/>
                <a:cs typeface="Aptos"/>
              </a:rPr>
              <a:t>Source: modules/module-01-industrial-demand-generation/lessons/04-moin-map-of-informational-needs.md @ 9e28222</a:t>
            </a:r>
          </a:p>
        </p:txBody>
      </p:sp>
      <p:sp>
        <p:nvSpPr>
          <p:cNvPr id="11" name="">
            <a:extLst xmlns:a="http://schemas.openxmlformats.org/drawingml/2006/main">
              <a:ext uri="{FF2B5EF4-FFF2-40B4-BE49-F238E27FC236}">
                <a16:creationId xmlns:a16="http://schemas.microsoft.com/office/drawing/2014/main" id="{C9E4B2C7-F383-49C1-8F0B-80B0DF45E8E1}"/>
              </a:ext>
            </a:extLst>
          </p:cNvPr>
          <p:cNvSpPr>
            <a:spLocks xmlns:a="http://schemas.openxmlformats.org/drawingml/2006/main" noGrp="1"/>
          </p:cNvSpPr>
          <p:nvPr/>
        </p:nvSpPr>
        <p:spPr>
          <a:xfrm xmlns:a="http://schemas.openxmlformats.org/drawingml/2006/main">
            <a:off x="10668000" y="6553200"/>
            <a:ext cx="762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75" b="0">
                <a:solidFill>
                  <a:srgbClr val="59646A"/>
                </a:solidFill>
                <a:latin typeface="Aptos"/>
                <a:ea typeface="Aptos"/>
                <a:cs typeface="Aptos"/>
              </a:defRPr>
            </a:pPr>
            <a:r>
              <a:rPr sz="675" b="0">
                <a:solidFill>
                  <a:srgbClr val="59646A"/>
                </a:solidFill>
                <a:latin typeface="Aptos"/>
                <a:ea typeface="Aptos"/>
                <a:cs typeface="Aptos"/>
              </a:rPr>
              <a:t>3/15</a:t>
            </a:r>
          </a:p>
        </p:txBody>
      </p:sp>
      <p:sp>
        <p:nvSpPr>
          <p:cNvPr id="12" name="">
            <a:extLst xmlns:a="http://schemas.openxmlformats.org/drawingml/2006/main">
              <a:ext uri="{FF2B5EF4-FFF2-40B4-BE49-F238E27FC236}">
                <a16:creationId xmlns:a16="http://schemas.microsoft.com/office/drawing/2014/main" id="{4F64E643-B64D-4319-9537-22520B7F389C}"/>
              </a:ext>
            </a:extLst>
          </p:cNvPr>
          <p:cNvSpPr>
            <a:spLocks xmlns:a="http://schemas.openxmlformats.org/drawingml/2006/main" noGrp="1"/>
          </p:cNvSpPr>
          <p:nvPr/>
        </p:nvSpPr>
        <p:spPr>
          <a:xfrm xmlns:a="http://schemas.openxmlformats.org/drawingml/2006/main">
            <a:off x="514350" y="2019300"/>
            <a:ext cx="5143500" cy="3200400"/>
          </a:xfrm>
          <a:prstGeom xmlns:a="http://schemas.openxmlformats.org/drawingml/2006/main" prst="rect">
            <a:avLst/>
          </a:prstGeom>
          <a:solidFill xmlns:a="http://schemas.openxmlformats.org/drawingml/2006/main">
            <a:srgbClr val="FFFFFF"/>
          </a:solidFill>
          <a:ln xmlns:a="http://schemas.openxmlformats.org/drawingml/2006/main" w="9525">
            <a:solidFill>
              <a:srgbClr val="D9DDD6"/>
            </a:solidFill>
            <a:prstDash val="solid"/>
          </a:ln>
        </p:spPr>
      </p:sp>
      <p:sp>
        <p:nvSpPr>
          <p:cNvPr id="13" name="">
            <a:extLst xmlns:a="http://schemas.openxmlformats.org/drawingml/2006/main">
              <a:ext uri="{FF2B5EF4-FFF2-40B4-BE49-F238E27FC236}">
                <a16:creationId xmlns:a16="http://schemas.microsoft.com/office/drawing/2014/main" id="{16AE66ED-DFA1-42A6-B647-168EFD94AA24}"/>
              </a:ext>
            </a:extLst>
          </p:cNvPr>
          <p:cNvSpPr>
            <a:spLocks xmlns:a="http://schemas.openxmlformats.org/drawingml/2006/main" noGrp="1"/>
          </p:cNvSpPr>
          <p:nvPr/>
        </p:nvSpPr>
        <p:spPr>
          <a:xfrm xmlns:a="http://schemas.openxmlformats.org/drawingml/2006/main">
            <a:off x="819150" y="2381250"/>
            <a:ext cx="266700" cy="19050"/>
          </a:xfrm>
          <a:prstGeom xmlns:a="http://schemas.openxmlformats.org/drawingml/2006/main" prst="rect">
            <a:avLst/>
          </a:prstGeom>
          <a:solidFill xmlns:a="http://schemas.openxmlformats.org/drawingml/2006/main">
            <a:srgbClr val="1D6072"/>
          </a:solidFill>
          <a:ln xmlns:a="http://schemas.openxmlformats.org/drawingml/2006/main" w="0">
            <a:solidFill>
              <a:srgbClr val="000000">
                <a:alpha val="0"/>
              </a:srgbClr>
            </a:solidFill>
            <a:prstDash val="solid"/>
          </a:ln>
        </p:spPr>
      </p:sp>
      <p:sp>
        <p:nvSpPr>
          <p:cNvPr id="14" name="">
            <a:extLst xmlns:a="http://schemas.openxmlformats.org/drawingml/2006/main">
              <a:ext uri="{FF2B5EF4-FFF2-40B4-BE49-F238E27FC236}">
                <a16:creationId xmlns:a16="http://schemas.microsoft.com/office/drawing/2014/main" id="{386C6E5B-5FE1-4F9C-BD66-78D46FA6822B}"/>
              </a:ext>
            </a:extLst>
          </p:cNvPr>
          <p:cNvSpPr>
            <a:spLocks xmlns:a="http://schemas.openxmlformats.org/drawingml/2006/main" noGrp="1"/>
          </p:cNvSpPr>
          <p:nvPr/>
        </p:nvSpPr>
        <p:spPr>
          <a:xfrm xmlns:a="http://schemas.openxmlformats.org/drawingml/2006/main">
            <a:off x="1181100" y="2305050"/>
            <a:ext cx="2476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INDUSTRIAL REALITY</a:t>
            </a:r>
          </a:p>
        </p:txBody>
      </p:sp>
      <p:sp>
        <p:nvSpPr>
          <p:cNvPr id="15" name="">
            <a:extLst xmlns:a="http://schemas.openxmlformats.org/drawingml/2006/main">
              <a:ext uri="{FF2B5EF4-FFF2-40B4-BE49-F238E27FC236}">
                <a16:creationId xmlns:a16="http://schemas.microsoft.com/office/drawing/2014/main" id="{2CDCB42A-AAA4-46AB-9CDE-B257CC180366}"/>
              </a:ext>
            </a:extLst>
          </p:cNvPr>
          <p:cNvSpPr>
            <a:spLocks xmlns:a="http://schemas.openxmlformats.org/drawingml/2006/main" noGrp="1"/>
          </p:cNvSpPr>
          <p:nvPr/>
        </p:nvSpPr>
        <p:spPr>
          <a:xfrm xmlns:a="http://schemas.openxmlformats.org/drawingml/2006/main">
            <a:off x="819150" y="2752725"/>
            <a:ext cx="57150" cy="57150"/>
          </a:xfrm>
          <a:prstGeom xmlns:a="http://schemas.openxmlformats.org/drawingml/2006/main" prst="rect">
            <a:avLst/>
          </a:prstGeom>
          <a:solidFill xmlns:a="http://schemas.openxmlformats.org/drawingml/2006/main">
            <a:srgbClr val="1D6072"/>
          </a:solidFill>
          <a:ln xmlns:a="http://schemas.openxmlformats.org/drawingml/2006/main" w="0">
            <a:solidFill>
              <a:srgbClr val="000000">
                <a:alpha val="0"/>
              </a:srgbClr>
            </a:solidFill>
            <a:prstDash val="solid"/>
          </a:ln>
        </p:spPr>
      </p:sp>
      <p:sp>
        <p:nvSpPr>
          <p:cNvPr id="16" name="">
            <a:extLst xmlns:a="http://schemas.openxmlformats.org/drawingml/2006/main">
              <a:ext uri="{FF2B5EF4-FFF2-40B4-BE49-F238E27FC236}">
                <a16:creationId xmlns:a16="http://schemas.microsoft.com/office/drawing/2014/main" id="{53DC9A37-2286-4101-A27A-4F6B93149CA8}"/>
              </a:ext>
            </a:extLst>
          </p:cNvPr>
          <p:cNvSpPr>
            <a:spLocks xmlns:a="http://schemas.openxmlformats.org/drawingml/2006/main" noGrp="1"/>
          </p:cNvSpPr>
          <p:nvPr/>
        </p:nvSpPr>
        <p:spPr>
          <a:xfrm xmlns:a="http://schemas.openxmlformats.org/drawingml/2006/main">
            <a:off x="990600" y="2686050"/>
            <a:ext cx="4171950" cy="4381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72026"/>
                </a:solidFill>
                <a:latin typeface="Aptos"/>
                <a:ea typeface="Aptos"/>
                <a:cs typeface="Aptos"/>
              </a:defRPr>
            </a:pPr>
            <a:r>
              <a:rPr sz="1200" b="0">
                <a:solidFill>
                  <a:srgbClr val="172026"/>
                </a:solidFill>
                <a:latin typeface="Aptos"/>
                <a:ea typeface="Aptos"/>
                <a:cs typeface="Aptos"/>
              </a:rPr>
              <a:t>Industrial buyers delay decisions when information does not reduce risk.</a:t>
            </a:r>
          </a:p>
        </p:txBody>
      </p:sp>
      <p:sp>
        <p:nvSpPr>
          <p:cNvPr id="17" name="">
            <a:extLst xmlns:a="http://schemas.openxmlformats.org/drawingml/2006/main">
              <a:ext uri="{FF2B5EF4-FFF2-40B4-BE49-F238E27FC236}">
                <a16:creationId xmlns:a16="http://schemas.microsoft.com/office/drawing/2014/main" id="{E7700468-B8B1-41E1-9E5B-F42407671026}"/>
              </a:ext>
            </a:extLst>
          </p:cNvPr>
          <p:cNvSpPr>
            <a:spLocks xmlns:a="http://schemas.openxmlformats.org/drawingml/2006/main" noGrp="1"/>
          </p:cNvSpPr>
          <p:nvPr/>
        </p:nvSpPr>
        <p:spPr>
          <a:xfrm xmlns:a="http://schemas.openxmlformats.org/drawingml/2006/main">
            <a:off x="819150" y="3228975"/>
            <a:ext cx="57150" cy="57150"/>
          </a:xfrm>
          <a:prstGeom xmlns:a="http://schemas.openxmlformats.org/drawingml/2006/main" prst="rect">
            <a:avLst/>
          </a:prstGeom>
          <a:solidFill xmlns:a="http://schemas.openxmlformats.org/drawingml/2006/main">
            <a:srgbClr val="1D6072"/>
          </a:solidFill>
          <a:ln xmlns:a="http://schemas.openxmlformats.org/drawingml/2006/main" w="0">
            <a:solidFill>
              <a:srgbClr val="000000">
                <a:alpha val="0"/>
              </a:srgbClr>
            </a:solidFill>
            <a:prstDash val="solid"/>
          </a:ln>
        </p:spPr>
      </p:sp>
      <p:sp>
        <p:nvSpPr>
          <p:cNvPr id="18" name="">
            <a:extLst xmlns:a="http://schemas.openxmlformats.org/drawingml/2006/main">
              <a:ext uri="{FF2B5EF4-FFF2-40B4-BE49-F238E27FC236}">
                <a16:creationId xmlns:a16="http://schemas.microsoft.com/office/drawing/2014/main" id="{687051B5-D854-482F-B8AC-5DBB18D100E1}"/>
              </a:ext>
            </a:extLst>
          </p:cNvPr>
          <p:cNvSpPr>
            <a:spLocks xmlns:a="http://schemas.openxmlformats.org/drawingml/2006/main" noGrp="1"/>
          </p:cNvSpPr>
          <p:nvPr/>
        </p:nvSpPr>
        <p:spPr>
          <a:xfrm xmlns:a="http://schemas.openxmlformats.org/drawingml/2006/main">
            <a:off x="990600" y="3162300"/>
            <a:ext cx="4171950" cy="4381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72026"/>
                </a:solidFill>
                <a:latin typeface="Aptos"/>
                <a:ea typeface="Aptos"/>
                <a:cs typeface="Aptos"/>
              </a:defRPr>
            </a:pPr>
            <a:r>
              <a:rPr sz="1200" b="0">
                <a:solidFill>
                  <a:srgbClr val="172026"/>
                </a:solidFill>
                <a:latin typeface="Aptos"/>
                <a:ea typeface="Aptos"/>
                <a:cs typeface="Aptos"/>
              </a:rPr>
              <a:t>Content topics are weak unless they map to buyer uncertainty, role, demand state, and proof need.</a:t>
            </a:r>
          </a:p>
        </p:txBody>
      </p:sp>
      <p:sp>
        <p:nvSpPr>
          <p:cNvPr id="19" name="">
            <a:extLst xmlns:a="http://schemas.openxmlformats.org/drawingml/2006/main">
              <a:ext uri="{FF2B5EF4-FFF2-40B4-BE49-F238E27FC236}">
                <a16:creationId xmlns:a16="http://schemas.microsoft.com/office/drawing/2014/main" id="{95B0562F-2165-4D3C-B7D1-C952D745B911}"/>
              </a:ext>
            </a:extLst>
          </p:cNvPr>
          <p:cNvSpPr>
            <a:spLocks xmlns:a="http://schemas.openxmlformats.org/drawingml/2006/main" noGrp="1"/>
          </p:cNvSpPr>
          <p:nvPr/>
        </p:nvSpPr>
        <p:spPr>
          <a:xfrm xmlns:a="http://schemas.openxmlformats.org/drawingml/2006/main">
            <a:off x="819150" y="3705225"/>
            <a:ext cx="57150" cy="57150"/>
          </a:xfrm>
          <a:prstGeom xmlns:a="http://schemas.openxmlformats.org/drawingml/2006/main" prst="rect">
            <a:avLst/>
          </a:prstGeom>
          <a:solidFill xmlns:a="http://schemas.openxmlformats.org/drawingml/2006/main">
            <a:srgbClr val="1D6072"/>
          </a:solidFill>
          <a:ln xmlns:a="http://schemas.openxmlformats.org/drawingml/2006/main" w="0">
            <a:solidFill>
              <a:srgbClr val="000000">
                <a:alpha val="0"/>
              </a:srgbClr>
            </a:solidFill>
            <a:prstDash val="solid"/>
          </a:ln>
        </p:spPr>
      </p:sp>
      <p:sp>
        <p:nvSpPr>
          <p:cNvPr id="20" name="">
            <a:extLst xmlns:a="http://schemas.openxmlformats.org/drawingml/2006/main">
              <a:ext uri="{FF2B5EF4-FFF2-40B4-BE49-F238E27FC236}">
                <a16:creationId xmlns:a16="http://schemas.microsoft.com/office/drawing/2014/main" id="{615C0B73-EBB0-4036-973B-AA64ADA9EEA8}"/>
              </a:ext>
            </a:extLst>
          </p:cNvPr>
          <p:cNvSpPr>
            <a:spLocks xmlns:a="http://schemas.openxmlformats.org/drawingml/2006/main" noGrp="1"/>
          </p:cNvSpPr>
          <p:nvPr/>
        </p:nvSpPr>
        <p:spPr>
          <a:xfrm xmlns:a="http://schemas.openxmlformats.org/drawingml/2006/main">
            <a:off x="990600" y="3638550"/>
            <a:ext cx="4171950" cy="4381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72026"/>
                </a:solidFill>
                <a:latin typeface="Aptos"/>
                <a:ea typeface="Aptos"/>
                <a:cs typeface="Aptos"/>
              </a:defRPr>
            </a:pPr>
            <a:r>
              <a:rPr sz="1200" b="0">
                <a:solidFill>
                  <a:srgbClr val="172026"/>
                </a:solidFill>
                <a:latin typeface="Aptos"/>
                <a:ea typeface="Aptos"/>
                <a:cs typeface="Aptos"/>
              </a:rPr>
              <a:t>MOIN prevents product-first content and premature vendor claims.</a:t>
            </a:r>
          </a:p>
        </p:txBody>
      </p:sp>
      <p:sp>
        <p:nvSpPr>
          <p:cNvPr id="21" name="">
            <a:extLst xmlns:a="http://schemas.openxmlformats.org/drawingml/2006/main">
              <a:ext uri="{FF2B5EF4-FFF2-40B4-BE49-F238E27FC236}">
                <a16:creationId xmlns:a16="http://schemas.microsoft.com/office/drawing/2014/main" id="{669C2B4B-B522-4B82-916D-5240D3B785E3}"/>
              </a:ext>
            </a:extLst>
          </p:cNvPr>
          <p:cNvSpPr>
            <a:spLocks xmlns:a="http://schemas.openxmlformats.org/drawingml/2006/main" noGrp="1"/>
          </p:cNvSpPr>
          <p:nvPr/>
        </p:nvSpPr>
        <p:spPr>
          <a:xfrm xmlns:a="http://schemas.openxmlformats.org/drawingml/2006/main">
            <a:off x="819150" y="4181475"/>
            <a:ext cx="57150" cy="57150"/>
          </a:xfrm>
          <a:prstGeom xmlns:a="http://schemas.openxmlformats.org/drawingml/2006/main" prst="rect">
            <a:avLst/>
          </a:prstGeom>
          <a:solidFill xmlns:a="http://schemas.openxmlformats.org/drawingml/2006/main">
            <a:srgbClr val="1D6072"/>
          </a:solidFill>
          <a:ln xmlns:a="http://schemas.openxmlformats.org/drawingml/2006/main" w="0">
            <a:solidFill>
              <a:srgbClr val="000000">
                <a:alpha val="0"/>
              </a:srgbClr>
            </a:solidFill>
            <a:prstDash val="solid"/>
          </a:ln>
        </p:spPr>
      </p:sp>
      <p:sp>
        <p:nvSpPr>
          <p:cNvPr id="22" name="">
            <a:extLst xmlns:a="http://schemas.openxmlformats.org/drawingml/2006/main">
              <a:ext uri="{FF2B5EF4-FFF2-40B4-BE49-F238E27FC236}">
                <a16:creationId xmlns:a16="http://schemas.microsoft.com/office/drawing/2014/main" id="{AEB06171-8009-4C55-B750-0C68102F8319}"/>
              </a:ext>
            </a:extLst>
          </p:cNvPr>
          <p:cNvSpPr>
            <a:spLocks xmlns:a="http://schemas.openxmlformats.org/drawingml/2006/main" noGrp="1"/>
          </p:cNvSpPr>
          <p:nvPr/>
        </p:nvSpPr>
        <p:spPr>
          <a:xfrm xmlns:a="http://schemas.openxmlformats.org/drawingml/2006/main">
            <a:off x="990600" y="4114800"/>
            <a:ext cx="4171950" cy="4381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72026"/>
                </a:solidFill>
                <a:latin typeface="Aptos"/>
                <a:ea typeface="Aptos"/>
                <a:cs typeface="Aptos"/>
              </a:defRPr>
            </a:pPr>
            <a:r>
              <a:rPr sz="1200" b="0">
                <a:solidFill>
                  <a:srgbClr val="172026"/>
                </a:solidFill>
                <a:latin typeface="Aptos"/>
                <a:ea typeface="Aptos"/>
                <a:cs typeface="Aptos"/>
              </a:rPr>
              <a:t>The map tells marketing what to build, sales how to use it, and RevOps what engagement means.</a:t>
            </a:r>
          </a:p>
        </p:txBody>
      </p:sp>
      <p:sp>
        <p:nvSpPr>
          <p:cNvPr id="23" name="">
            <a:extLst xmlns:a="http://schemas.openxmlformats.org/drawingml/2006/main">
              <a:ext uri="{FF2B5EF4-FFF2-40B4-BE49-F238E27FC236}">
                <a16:creationId xmlns:a16="http://schemas.microsoft.com/office/drawing/2014/main" id="{5BBC7F15-046B-445A-8839-CA4602F7659C}"/>
              </a:ext>
            </a:extLst>
          </p:cNvPr>
          <p:cNvSpPr>
            <a:spLocks xmlns:a="http://schemas.openxmlformats.org/drawingml/2006/main" noGrp="1"/>
          </p:cNvSpPr>
          <p:nvPr/>
        </p:nvSpPr>
        <p:spPr>
          <a:xfrm xmlns:a="http://schemas.openxmlformats.org/drawingml/2006/main">
            <a:off x="6096000" y="2019300"/>
            <a:ext cx="5334000" cy="3200400"/>
          </a:xfrm>
          <a:prstGeom xmlns:a="http://schemas.openxmlformats.org/drawingml/2006/main" prst="rect">
            <a:avLst/>
          </a:prstGeom>
          <a:solidFill xmlns:a="http://schemas.openxmlformats.org/drawingml/2006/main">
            <a:srgbClr val="F9FAF7"/>
          </a:solidFill>
          <a:ln xmlns:a="http://schemas.openxmlformats.org/drawingml/2006/main" w="9525">
            <a:solidFill>
              <a:srgbClr val="D9DDD6"/>
            </a:solidFill>
            <a:prstDash val="solid"/>
          </a:ln>
        </p:spPr>
      </p:sp>
      <p:sp>
        <p:nvSpPr>
          <p:cNvPr id="24" name="">
            <a:extLst xmlns:a="http://schemas.openxmlformats.org/drawingml/2006/main">
              <a:ext uri="{FF2B5EF4-FFF2-40B4-BE49-F238E27FC236}">
                <a16:creationId xmlns:a16="http://schemas.microsoft.com/office/drawing/2014/main" id="{35CB67E2-00C3-4D8D-9096-DCB39C6760AA}"/>
              </a:ext>
            </a:extLst>
          </p:cNvPr>
          <p:cNvSpPr>
            <a:spLocks xmlns:a="http://schemas.openxmlformats.org/drawingml/2006/main" noGrp="1"/>
          </p:cNvSpPr>
          <p:nvPr/>
        </p:nvSpPr>
        <p:spPr>
          <a:xfrm xmlns:a="http://schemas.openxmlformats.org/drawingml/2006/main">
            <a:off x="6400800" y="2381250"/>
            <a:ext cx="266700" cy="1905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25" name="">
            <a:extLst xmlns:a="http://schemas.openxmlformats.org/drawingml/2006/main">
              <a:ext uri="{FF2B5EF4-FFF2-40B4-BE49-F238E27FC236}">
                <a16:creationId xmlns:a16="http://schemas.microsoft.com/office/drawing/2014/main" id="{0FF02EDA-0F13-4B55-B9E3-D80D99B28E12}"/>
              </a:ext>
            </a:extLst>
          </p:cNvPr>
          <p:cNvSpPr>
            <a:spLocks xmlns:a="http://schemas.openxmlformats.org/drawingml/2006/main" noGrp="1"/>
          </p:cNvSpPr>
          <p:nvPr/>
        </p:nvSpPr>
        <p:spPr>
          <a:xfrm xmlns:a="http://schemas.openxmlformats.org/drawingml/2006/main">
            <a:off x="6762750" y="2305050"/>
            <a:ext cx="2476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INSTRUCTOR CORRECTION</a:t>
            </a:r>
          </a:p>
        </p:txBody>
      </p:sp>
      <p:sp>
        <p:nvSpPr>
          <p:cNvPr id="26" name="">
            <a:extLst xmlns:a="http://schemas.openxmlformats.org/drawingml/2006/main">
              <a:ext uri="{FF2B5EF4-FFF2-40B4-BE49-F238E27FC236}">
                <a16:creationId xmlns:a16="http://schemas.microsoft.com/office/drawing/2014/main" id="{0A4DD4F2-1ECD-41E4-B51C-BDE4E7054DA7}"/>
              </a:ext>
            </a:extLst>
          </p:cNvPr>
          <p:cNvSpPr>
            <a:spLocks xmlns:a="http://schemas.openxmlformats.org/drawingml/2006/main" noGrp="1"/>
          </p:cNvSpPr>
          <p:nvPr/>
        </p:nvSpPr>
        <p:spPr>
          <a:xfrm xmlns:a="http://schemas.openxmlformats.org/drawingml/2006/main">
            <a:off x="6400800" y="2724150"/>
            <a:ext cx="247650" cy="247650"/>
          </a:xfrm>
          <a:prstGeom xmlns:a="http://schemas.openxmlformats.org/drawingml/2006/main" prst="rect">
            <a:avLst/>
          </a:prstGeom>
          <a:solidFill xmlns:a="http://schemas.openxmlformats.org/drawingml/2006/main">
            <a:srgbClr val="F0DFD5"/>
          </a:solidFill>
          <a:ln xmlns:a="http://schemas.openxmlformats.org/drawingml/2006/main" w="9525">
            <a:solidFill>
              <a:srgbClr val="A85D2A"/>
            </a:solidFill>
            <a:prstDash val="solid"/>
          </a:ln>
        </p:spPr>
      </p:sp>
      <p:sp>
        <p:nvSpPr>
          <p:cNvPr id="27" name="">
            <a:extLst xmlns:a="http://schemas.openxmlformats.org/drawingml/2006/main">
              <a:ext uri="{FF2B5EF4-FFF2-40B4-BE49-F238E27FC236}">
                <a16:creationId xmlns:a16="http://schemas.microsoft.com/office/drawing/2014/main" id="{4168BB3D-ED9D-4391-A5BA-A59C08D5F25E}"/>
              </a:ext>
            </a:extLst>
          </p:cNvPr>
          <p:cNvSpPr>
            <a:spLocks xmlns:a="http://schemas.openxmlformats.org/drawingml/2006/main" noGrp="1"/>
          </p:cNvSpPr>
          <p:nvPr/>
        </p:nvSpPr>
        <p:spPr>
          <a:xfrm xmlns:a="http://schemas.openxmlformats.org/drawingml/2006/main">
            <a:off x="6400800" y="2752725"/>
            <a:ext cx="2476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825" b="1">
                <a:solidFill>
                  <a:srgbClr val="1D6072"/>
                </a:solidFill>
                <a:latin typeface="Aptos"/>
                <a:ea typeface="Aptos"/>
                <a:cs typeface="Aptos"/>
              </a:defRPr>
            </a:pPr>
            <a:r>
              <a:rPr sz="825" b="1">
                <a:solidFill>
                  <a:srgbClr val="1D6072"/>
                </a:solidFill>
                <a:latin typeface="Aptos"/>
                <a:ea typeface="Aptos"/>
                <a:cs typeface="Aptos"/>
              </a:rPr>
              <a:t>1</a:t>
            </a:r>
          </a:p>
        </p:txBody>
      </p:sp>
      <p:sp>
        <p:nvSpPr>
          <p:cNvPr id="28" name="">
            <a:extLst xmlns:a="http://schemas.openxmlformats.org/drawingml/2006/main">
              <a:ext uri="{FF2B5EF4-FFF2-40B4-BE49-F238E27FC236}">
                <a16:creationId xmlns:a16="http://schemas.microsoft.com/office/drawing/2014/main" id="{C10CB2B3-62D5-4A33-B6C0-E5FBC6ECFF72}"/>
              </a:ext>
            </a:extLst>
          </p:cNvPr>
          <p:cNvSpPr>
            <a:spLocks xmlns:a="http://schemas.openxmlformats.org/drawingml/2006/main" noGrp="1"/>
          </p:cNvSpPr>
          <p:nvPr/>
        </p:nvSpPr>
        <p:spPr>
          <a:xfrm xmlns:a="http://schemas.openxmlformats.org/drawingml/2006/main">
            <a:off x="6800850" y="2714625"/>
            <a:ext cx="401955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172026"/>
                </a:solidFill>
                <a:latin typeface="Aptos"/>
                <a:ea typeface="Aptos"/>
                <a:cs typeface="Aptos"/>
              </a:defRPr>
            </a:pPr>
            <a:r>
              <a:rPr sz="1125" b="0">
                <a:solidFill>
                  <a:srgbClr val="172026"/>
                </a:solidFill>
                <a:latin typeface="Aptos"/>
                <a:ea typeface="Aptos"/>
                <a:cs typeface="Aptos"/>
              </a:rPr>
              <a:t>Move from activity to account movement.</a:t>
            </a:r>
          </a:p>
        </p:txBody>
      </p:sp>
      <p:sp>
        <p:nvSpPr>
          <p:cNvPr id="29" name="">
            <a:extLst xmlns:a="http://schemas.openxmlformats.org/drawingml/2006/main">
              <a:ext uri="{FF2B5EF4-FFF2-40B4-BE49-F238E27FC236}">
                <a16:creationId xmlns:a16="http://schemas.microsoft.com/office/drawing/2014/main" id="{B8150DB0-6A81-410D-B84D-27F3EB66FBAA}"/>
              </a:ext>
            </a:extLst>
          </p:cNvPr>
          <p:cNvSpPr>
            <a:spLocks xmlns:a="http://schemas.openxmlformats.org/drawingml/2006/main" noGrp="1"/>
          </p:cNvSpPr>
          <p:nvPr/>
        </p:nvSpPr>
        <p:spPr>
          <a:xfrm xmlns:a="http://schemas.openxmlformats.org/drawingml/2006/main">
            <a:off x="6400800" y="3162300"/>
            <a:ext cx="247650" cy="247650"/>
          </a:xfrm>
          <a:prstGeom xmlns:a="http://schemas.openxmlformats.org/drawingml/2006/main" prst="rect">
            <a:avLst/>
          </a:prstGeom>
          <a:solidFill xmlns:a="http://schemas.openxmlformats.org/drawingml/2006/main">
            <a:srgbClr val="F0DFD5"/>
          </a:solidFill>
          <a:ln xmlns:a="http://schemas.openxmlformats.org/drawingml/2006/main" w="9525">
            <a:solidFill>
              <a:srgbClr val="A85D2A"/>
            </a:solidFill>
            <a:prstDash val="solid"/>
          </a:ln>
        </p:spPr>
      </p:sp>
      <p:sp>
        <p:nvSpPr>
          <p:cNvPr id="30" name="">
            <a:extLst xmlns:a="http://schemas.openxmlformats.org/drawingml/2006/main">
              <a:ext uri="{FF2B5EF4-FFF2-40B4-BE49-F238E27FC236}">
                <a16:creationId xmlns:a16="http://schemas.microsoft.com/office/drawing/2014/main" id="{B8164C7A-60E3-4EF8-BDDB-6667866C1300}"/>
              </a:ext>
            </a:extLst>
          </p:cNvPr>
          <p:cNvSpPr>
            <a:spLocks xmlns:a="http://schemas.openxmlformats.org/drawingml/2006/main" noGrp="1"/>
          </p:cNvSpPr>
          <p:nvPr/>
        </p:nvSpPr>
        <p:spPr>
          <a:xfrm xmlns:a="http://schemas.openxmlformats.org/drawingml/2006/main">
            <a:off x="6400800" y="3190875"/>
            <a:ext cx="2476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825" b="1">
                <a:solidFill>
                  <a:srgbClr val="1D6072"/>
                </a:solidFill>
                <a:latin typeface="Aptos"/>
                <a:ea typeface="Aptos"/>
                <a:cs typeface="Aptos"/>
              </a:defRPr>
            </a:pPr>
            <a:r>
              <a:rPr sz="825" b="1">
                <a:solidFill>
                  <a:srgbClr val="1D6072"/>
                </a:solidFill>
                <a:latin typeface="Aptos"/>
                <a:ea typeface="Aptos"/>
                <a:cs typeface="Aptos"/>
              </a:rPr>
              <a:t>2</a:t>
            </a:r>
          </a:p>
        </p:txBody>
      </p:sp>
      <p:sp>
        <p:nvSpPr>
          <p:cNvPr id="31" name="">
            <a:extLst xmlns:a="http://schemas.openxmlformats.org/drawingml/2006/main">
              <a:ext uri="{FF2B5EF4-FFF2-40B4-BE49-F238E27FC236}">
                <a16:creationId xmlns:a16="http://schemas.microsoft.com/office/drawing/2014/main" id="{51AFED8C-F34E-426B-A0E8-5C582DA29721}"/>
              </a:ext>
            </a:extLst>
          </p:cNvPr>
          <p:cNvSpPr>
            <a:spLocks xmlns:a="http://schemas.openxmlformats.org/drawingml/2006/main" noGrp="1"/>
          </p:cNvSpPr>
          <p:nvPr/>
        </p:nvSpPr>
        <p:spPr>
          <a:xfrm xmlns:a="http://schemas.openxmlformats.org/drawingml/2006/main">
            <a:off x="6800850" y="3152775"/>
            <a:ext cx="401955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172026"/>
                </a:solidFill>
                <a:latin typeface="Aptos"/>
                <a:ea typeface="Aptos"/>
                <a:cs typeface="Aptos"/>
              </a:defRPr>
            </a:pPr>
            <a:r>
              <a:rPr sz="1125" b="0">
                <a:solidFill>
                  <a:srgbClr val="172026"/>
                </a:solidFill>
                <a:latin typeface="Aptos"/>
                <a:ea typeface="Aptos"/>
                <a:cs typeface="Aptos"/>
              </a:rPr>
              <a:t>Move from one persona to committee risk.</a:t>
            </a:r>
          </a:p>
        </p:txBody>
      </p:sp>
      <p:sp>
        <p:nvSpPr>
          <p:cNvPr id="32" name="">
            <a:extLst xmlns:a="http://schemas.openxmlformats.org/drawingml/2006/main">
              <a:ext uri="{FF2B5EF4-FFF2-40B4-BE49-F238E27FC236}">
                <a16:creationId xmlns:a16="http://schemas.microsoft.com/office/drawing/2014/main" id="{1DAD22A5-6663-474B-9E03-CEF840338E9F}"/>
              </a:ext>
            </a:extLst>
          </p:cNvPr>
          <p:cNvSpPr>
            <a:spLocks xmlns:a="http://schemas.openxmlformats.org/drawingml/2006/main" noGrp="1"/>
          </p:cNvSpPr>
          <p:nvPr/>
        </p:nvSpPr>
        <p:spPr>
          <a:xfrm xmlns:a="http://schemas.openxmlformats.org/drawingml/2006/main">
            <a:off x="6400800" y="3600450"/>
            <a:ext cx="247650" cy="247650"/>
          </a:xfrm>
          <a:prstGeom xmlns:a="http://schemas.openxmlformats.org/drawingml/2006/main" prst="rect">
            <a:avLst/>
          </a:prstGeom>
          <a:solidFill xmlns:a="http://schemas.openxmlformats.org/drawingml/2006/main">
            <a:srgbClr val="F0DFD5"/>
          </a:solidFill>
          <a:ln xmlns:a="http://schemas.openxmlformats.org/drawingml/2006/main" w="9525">
            <a:solidFill>
              <a:srgbClr val="A85D2A"/>
            </a:solidFill>
            <a:prstDash val="solid"/>
          </a:ln>
        </p:spPr>
      </p:sp>
      <p:sp>
        <p:nvSpPr>
          <p:cNvPr id="33" name="">
            <a:extLst xmlns:a="http://schemas.openxmlformats.org/drawingml/2006/main">
              <a:ext uri="{FF2B5EF4-FFF2-40B4-BE49-F238E27FC236}">
                <a16:creationId xmlns:a16="http://schemas.microsoft.com/office/drawing/2014/main" id="{989E6A27-F43B-4E07-BE16-EE2E52D78E06}"/>
              </a:ext>
            </a:extLst>
          </p:cNvPr>
          <p:cNvSpPr>
            <a:spLocks xmlns:a="http://schemas.openxmlformats.org/drawingml/2006/main" noGrp="1"/>
          </p:cNvSpPr>
          <p:nvPr/>
        </p:nvSpPr>
        <p:spPr>
          <a:xfrm xmlns:a="http://schemas.openxmlformats.org/drawingml/2006/main">
            <a:off x="6400800" y="3629025"/>
            <a:ext cx="2476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825" b="1">
                <a:solidFill>
                  <a:srgbClr val="1D6072"/>
                </a:solidFill>
                <a:latin typeface="Aptos"/>
                <a:ea typeface="Aptos"/>
                <a:cs typeface="Aptos"/>
              </a:defRPr>
            </a:pPr>
            <a:r>
              <a:rPr sz="825" b="1">
                <a:solidFill>
                  <a:srgbClr val="1D6072"/>
                </a:solidFill>
                <a:latin typeface="Aptos"/>
                <a:ea typeface="Aptos"/>
                <a:cs typeface="Aptos"/>
              </a:rPr>
              <a:t>3</a:t>
            </a:r>
          </a:p>
        </p:txBody>
      </p:sp>
      <p:sp>
        <p:nvSpPr>
          <p:cNvPr id="34" name="">
            <a:extLst xmlns:a="http://schemas.openxmlformats.org/drawingml/2006/main">
              <a:ext uri="{FF2B5EF4-FFF2-40B4-BE49-F238E27FC236}">
                <a16:creationId xmlns:a16="http://schemas.microsoft.com/office/drawing/2014/main" id="{21DF2BB0-EB42-41B9-AC04-BE943FFC9AE7}"/>
              </a:ext>
            </a:extLst>
          </p:cNvPr>
          <p:cNvSpPr>
            <a:spLocks xmlns:a="http://schemas.openxmlformats.org/drawingml/2006/main" noGrp="1"/>
          </p:cNvSpPr>
          <p:nvPr/>
        </p:nvSpPr>
        <p:spPr>
          <a:xfrm xmlns:a="http://schemas.openxmlformats.org/drawingml/2006/main">
            <a:off x="6800850" y="3590925"/>
            <a:ext cx="401955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172026"/>
                </a:solidFill>
                <a:latin typeface="Aptos"/>
                <a:ea typeface="Aptos"/>
                <a:cs typeface="Aptos"/>
              </a:defRPr>
            </a:pPr>
            <a:r>
              <a:rPr sz="1125" b="0">
                <a:solidFill>
                  <a:srgbClr val="172026"/>
                </a:solidFill>
                <a:latin typeface="Aptos"/>
                <a:ea typeface="Aptos"/>
                <a:cs typeface="Aptos"/>
              </a:rPr>
              <a:t>Move from content volume to buyer uncertainty.</a:t>
            </a:r>
          </a:p>
        </p:txBody>
      </p:sp>
      <p:sp>
        <p:nvSpPr>
          <p:cNvPr id="35" name="">
            <a:extLst xmlns:a="http://schemas.openxmlformats.org/drawingml/2006/main">
              <a:ext uri="{FF2B5EF4-FFF2-40B4-BE49-F238E27FC236}">
                <a16:creationId xmlns:a16="http://schemas.microsoft.com/office/drawing/2014/main" id="{99865343-3094-4A1E-94AF-3FBCF9F47732}"/>
              </a:ext>
            </a:extLst>
          </p:cNvPr>
          <p:cNvSpPr>
            <a:spLocks xmlns:a="http://schemas.openxmlformats.org/drawingml/2006/main" noGrp="1"/>
          </p:cNvSpPr>
          <p:nvPr/>
        </p:nvSpPr>
        <p:spPr>
          <a:xfrm xmlns:a="http://schemas.openxmlformats.org/drawingml/2006/main">
            <a:off x="6400800" y="4038600"/>
            <a:ext cx="247650" cy="247650"/>
          </a:xfrm>
          <a:prstGeom xmlns:a="http://schemas.openxmlformats.org/drawingml/2006/main" prst="rect">
            <a:avLst/>
          </a:prstGeom>
          <a:solidFill xmlns:a="http://schemas.openxmlformats.org/drawingml/2006/main">
            <a:srgbClr val="F0DFD5"/>
          </a:solidFill>
          <a:ln xmlns:a="http://schemas.openxmlformats.org/drawingml/2006/main" w="9525">
            <a:solidFill>
              <a:srgbClr val="A85D2A"/>
            </a:solidFill>
            <a:prstDash val="solid"/>
          </a:ln>
        </p:spPr>
      </p:sp>
      <p:sp>
        <p:nvSpPr>
          <p:cNvPr id="36" name="">
            <a:extLst xmlns:a="http://schemas.openxmlformats.org/drawingml/2006/main">
              <a:ext uri="{FF2B5EF4-FFF2-40B4-BE49-F238E27FC236}">
                <a16:creationId xmlns:a16="http://schemas.microsoft.com/office/drawing/2014/main" id="{1F8ACD0C-066D-4D32-B8DF-D298B33961F9}"/>
              </a:ext>
            </a:extLst>
          </p:cNvPr>
          <p:cNvSpPr>
            <a:spLocks xmlns:a="http://schemas.openxmlformats.org/drawingml/2006/main" noGrp="1"/>
          </p:cNvSpPr>
          <p:nvPr/>
        </p:nvSpPr>
        <p:spPr>
          <a:xfrm xmlns:a="http://schemas.openxmlformats.org/drawingml/2006/main">
            <a:off x="6400800" y="4067175"/>
            <a:ext cx="2476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825" b="1">
                <a:solidFill>
                  <a:srgbClr val="1D6072"/>
                </a:solidFill>
                <a:latin typeface="Aptos"/>
                <a:ea typeface="Aptos"/>
                <a:cs typeface="Aptos"/>
              </a:defRPr>
            </a:pPr>
            <a:r>
              <a:rPr sz="825" b="1">
                <a:solidFill>
                  <a:srgbClr val="1D6072"/>
                </a:solidFill>
                <a:latin typeface="Aptos"/>
                <a:ea typeface="Aptos"/>
                <a:cs typeface="Aptos"/>
              </a:rPr>
              <a:t>4</a:t>
            </a:r>
          </a:p>
        </p:txBody>
      </p:sp>
      <p:sp>
        <p:nvSpPr>
          <p:cNvPr id="37" name="">
            <a:extLst xmlns:a="http://schemas.openxmlformats.org/drawingml/2006/main">
              <a:ext uri="{FF2B5EF4-FFF2-40B4-BE49-F238E27FC236}">
                <a16:creationId xmlns:a16="http://schemas.microsoft.com/office/drawing/2014/main" id="{21E55DFE-EEE4-4460-B4E8-2C8FC50C645B}"/>
              </a:ext>
            </a:extLst>
          </p:cNvPr>
          <p:cNvSpPr>
            <a:spLocks xmlns:a="http://schemas.openxmlformats.org/drawingml/2006/main" noGrp="1"/>
          </p:cNvSpPr>
          <p:nvPr/>
        </p:nvSpPr>
        <p:spPr>
          <a:xfrm xmlns:a="http://schemas.openxmlformats.org/drawingml/2006/main">
            <a:off x="6800850" y="4029075"/>
            <a:ext cx="401955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172026"/>
                </a:solidFill>
                <a:latin typeface="Aptos"/>
                <a:ea typeface="Aptos"/>
                <a:cs typeface="Aptos"/>
              </a:defRPr>
            </a:pPr>
            <a:r>
              <a:rPr sz="1125" b="0">
                <a:solidFill>
                  <a:srgbClr val="172026"/>
                </a:solidFill>
                <a:latin typeface="Aptos"/>
                <a:ea typeface="Aptos"/>
                <a:cs typeface="Aptos"/>
              </a:rPr>
              <a:t>Move from engagement scoring to signal interpretation.</a:t>
            </a:r>
          </a:p>
        </p:txBody>
      </p:sp>
      <p:sp>
        <p:nvSpPr>
          <p:cNvPr id="38" name="">
            <a:extLst xmlns:a="http://schemas.openxmlformats.org/drawingml/2006/main">
              <a:ext uri="{FF2B5EF4-FFF2-40B4-BE49-F238E27FC236}">
                <a16:creationId xmlns:a16="http://schemas.microsoft.com/office/drawing/2014/main" id="{8B589419-EBA6-4096-92B1-447B564C575A}"/>
              </a:ext>
            </a:extLst>
          </p:cNvPr>
          <p:cNvSpPr>
            <a:spLocks xmlns:a="http://schemas.openxmlformats.org/drawingml/2006/main" noGrp="1"/>
          </p:cNvSpPr>
          <p:nvPr/>
        </p:nvSpPr>
        <p:spPr>
          <a:xfrm xmlns:a="http://schemas.openxmlformats.org/drawingml/2006/main">
            <a:off x="6400800" y="4476750"/>
            <a:ext cx="247650" cy="247650"/>
          </a:xfrm>
          <a:prstGeom xmlns:a="http://schemas.openxmlformats.org/drawingml/2006/main" prst="rect">
            <a:avLst/>
          </a:prstGeom>
          <a:solidFill xmlns:a="http://schemas.openxmlformats.org/drawingml/2006/main">
            <a:srgbClr val="F0DFD5"/>
          </a:solidFill>
          <a:ln xmlns:a="http://schemas.openxmlformats.org/drawingml/2006/main" w="9525">
            <a:solidFill>
              <a:srgbClr val="A85D2A"/>
            </a:solidFill>
            <a:prstDash val="solid"/>
          </a:ln>
        </p:spPr>
      </p:sp>
      <p:sp>
        <p:nvSpPr>
          <p:cNvPr id="39" name="">
            <a:extLst xmlns:a="http://schemas.openxmlformats.org/drawingml/2006/main">
              <a:ext uri="{FF2B5EF4-FFF2-40B4-BE49-F238E27FC236}">
                <a16:creationId xmlns:a16="http://schemas.microsoft.com/office/drawing/2014/main" id="{6576F334-D06D-4CBA-BCB3-43CAF482F41D}"/>
              </a:ext>
            </a:extLst>
          </p:cNvPr>
          <p:cNvSpPr>
            <a:spLocks xmlns:a="http://schemas.openxmlformats.org/drawingml/2006/main" noGrp="1"/>
          </p:cNvSpPr>
          <p:nvPr/>
        </p:nvSpPr>
        <p:spPr>
          <a:xfrm xmlns:a="http://schemas.openxmlformats.org/drawingml/2006/main">
            <a:off x="6400800" y="4505325"/>
            <a:ext cx="2476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825" b="1">
                <a:solidFill>
                  <a:srgbClr val="1D6072"/>
                </a:solidFill>
                <a:latin typeface="Aptos"/>
                <a:ea typeface="Aptos"/>
                <a:cs typeface="Aptos"/>
              </a:defRPr>
            </a:pPr>
            <a:r>
              <a:rPr sz="825" b="1">
                <a:solidFill>
                  <a:srgbClr val="1D6072"/>
                </a:solidFill>
                <a:latin typeface="Aptos"/>
                <a:ea typeface="Aptos"/>
                <a:cs typeface="Aptos"/>
              </a:rPr>
              <a:t>5</a:t>
            </a:r>
          </a:p>
        </p:txBody>
      </p:sp>
      <p:sp>
        <p:nvSpPr>
          <p:cNvPr id="40" name="">
            <a:extLst xmlns:a="http://schemas.openxmlformats.org/drawingml/2006/main">
              <a:ext uri="{FF2B5EF4-FFF2-40B4-BE49-F238E27FC236}">
                <a16:creationId xmlns:a16="http://schemas.microsoft.com/office/drawing/2014/main" id="{9288D668-8F7D-47FE-A828-CFC1680887CC}"/>
              </a:ext>
            </a:extLst>
          </p:cNvPr>
          <p:cNvSpPr>
            <a:spLocks xmlns:a="http://schemas.openxmlformats.org/drawingml/2006/main" noGrp="1"/>
          </p:cNvSpPr>
          <p:nvPr/>
        </p:nvSpPr>
        <p:spPr>
          <a:xfrm xmlns:a="http://schemas.openxmlformats.org/drawingml/2006/main">
            <a:off x="6800850" y="4467225"/>
            <a:ext cx="401955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172026"/>
                </a:solidFill>
                <a:latin typeface="Aptos"/>
                <a:ea typeface="Aptos"/>
                <a:cs typeface="Aptos"/>
              </a:defRPr>
            </a:pPr>
            <a:r>
              <a:rPr sz="1125" b="0">
                <a:solidFill>
                  <a:srgbClr val="172026"/>
                </a:solidFill>
                <a:latin typeface="Aptos"/>
                <a:ea typeface="Aptos"/>
                <a:cs typeface="Aptos"/>
              </a:rPr>
              <a:t>Move from reporting to weekly operating decisions.</a:t>
            </a:r>
          </a:p>
        </p:txBody>
      </p:sp>
      <p:sp>
        <p:nvSpPr>
          <p:cNvPr id="41" name="">
            <a:extLst xmlns:a="http://schemas.openxmlformats.org/drawingml/2006/main">
              <a:ext uri="{FF2B5EF4-FFF2-40B4-BE49-F238E27FC236}">
                <a16:creationId xmlns:a16="http://schemas.microsoft.com/office/drawing/2014/main" id="{8751E968-01EC-4018-B422-0F12828F7683}"/>
              </a:ext>
            </a:extLst>
          </p:cNvPr>
          <p:cNvSpPr>
            <a:spLocks xmlns:a="http://schemas.openxmlformats.org/drawingml/2006/main" noGrp="1"/>
          </p:cNvSpPr>
          <p:nvPr/>
        </p:nvSpPr>
        <p:spPr>
          <a:xfrm xmlns:a="http://schemas.openxmlformats.org/drawingml/2006/main">
            <a:off x="514350" y="6438900"/>
            <a:ext cx="1091565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42" name="">
            <a:extLst xmlns:a="http://schemas.openxmlformats.org/drawingml/2006/main">
              <a:ext uri="{FF2B5EF4-FFF2-40B4-BE49-F238E27FC236}">
                <a16:creationId xmlns:a16="http://schemas.microsoft.com/office/drawing/2014/main" id="{F1D73505-986E-4FB4-8937-7EAED72D481F}"/>
              </a:ext>
            </a:extLst>
          </p:cNvPr>
          <p:cNvSpPr>
            <a:spLocks xmlns:a="http://schemas.openxmlformats.org/drawingml/2006/main" noGrp="1"/>
          </p:cNvSpPr>
          <p:nvPr/>
        </p:nvSpPr>
        <p:spPr>
          <a:xfrm xmlns:a="http://schemas.openxmlformats.org/drawingml/2006/main">
            <a:off x="514350" y="6553200"/>
            <a:ext cx="590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59646A"/>
                </a:solidFill>
                <a:latin typeface="Aptos"/>
                <a:ea typeface="Aptos"/>
                <a:cs typeface="Aptos"/>
              </a:defRPr>
            </a:pPr>
            <a:r>
              <a:rPr sz="675" b="0">
                <a:solidFill>
                  <a:srgbClr val="59646A"/>
                </a:solidFill>
                <a:latin typeface="Aptos"/>
                <a:ea typeface="Aptos"/>
                <a:cs typeface="Aptos"/>
              </a:rPr>
              <a:t>Lesson 04 - MOIN: Map Of Informational Needs</a:t>
            </a:r>
          </a:p>
        </p:txBody>
      </p:sp>
      <p:sp>
        <p:nvSpPr>
          <p:cNvPr id="43" name="">
            <a:extLst xmlns:a="http://schemas.openxmlformats.org/drawingml/2006/main">
              <a:ext uri="{FF2B5EF4-FFF2-40B4-BE49-F238E27FC236}">
                <a16:creationId xmlns:a16="http://schemas.microsoft.com/office/drawing/2014/main" id="{120173FA-4782-4052-96BD-D2B8737A734C}"/>
              </a:ext>
            </a:extLst>
          </p:cNvPr>
          <p:cNvSpPr>
            <a:spLocks xmlns:a="http://schemas.openxmlformats.org/drawingml/2006/main" noGrp="1"/>
          </p:cNvSpPr>
          <p:nvPr/>
        </p:nvSpPr>
        <p:spPr>
          <a:xfrm xmlns:a="http://schemas.openxmlformats.org/drawingml/2006/main">
            <a:off x="5334000" y="6553200"/>
            <a:ext cx="4095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00" b="0">
                <a:solidFill>
                  <a:srgbClr val="59646A"/>
                </a:solidFill>
                <a:latin typeface="Aptos"/>
                <a:ea typeface="Aptos"/>
                <a:cs typeface="Aptos"/>
              </a:defRPr>
            </a:pPr>
            <a:r>
              <a:rPr sz="600" b="0">
                <a:solidFill>
                  <a:srgbClr val="59646A"/>
                </a:solidFill>
                <a:latin typeface="Aptos"/>
                <a:ea typeface="Aptos"/>
                <a:cs typeface="Aptos"/>
              </a:rPr>
              <a:t>Source: modules/module-01-industrial-demand-generation/lessons/04-moin-map-of-informational-needs.md @ 9e28222</a:t>
            </a:r>
          </a:p>
        </p:txBody>
      </p:sp>
      <p:sp>
        <p:nvSpPr>
          <p:cNvPr id="44" name="">
            <a:extLst xmlns:a="http://schemas.openxmlformats.org/drawingml/2006/main">
              <a:ext uri="{FF2B5EF4-FFF2-40B4-BE49-F238E27FC236}">
                <a16:creationId xmlns:a16="http://schemas.microsoft.com/office/drawing/2014/main" id="{3BF85302-28DA-49D8-A6F9-9DE041081F00}"/>
              </a:ext>
            </a:extLst>
          </p:cNvPr>
          <p:cNvSpPr>
            <a:spLocks xmlns:a="http://schemas.openxmlformats.org/drawingml/2006/main" noGrp="1"/>
          </p:cNvSpPr>
          <p:nvPr/>
        </p:nvSpPr>
        <p:spPr>
          <a:xfrm xmlns:a="http://schemas.openxmlformats.org/drawingml/2006/main">
            <a:off x="10668000" y="6553200"/>
            <a:ext cx="762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75" b="0">
                <a:solidFill>
                  <a:srgbClr val="59646A"/>
                </a:solidFill>
                <a:latin typeface="Aptos"/>
                <a:ea typeface="Aptos"/>
                <a:cs typeface="Aptos"/>
              </a:defRPr>
            </a:pPr>
            <a:r>
              <a:rPr sz="675" b="0">
                <a:solidFill>
                  <a:srgbClr val="59646A"/>
                </a:solidFill>
                <a:latin typeface="Aptos"/>
                <a:ea typeface="Aptos"/>
                <a:cs typeface="Aptos"/>
              </a:rPr>
              <a:t>3/15</a:t>
            </a:r>
          </a:p>
        </p:txBody>
      </p:sp>
    </p:spTree>
    <p:extLst>
      <p:ext uri="{BB962C8B-B14F-4D97-AF65-F5344CB8AC3E}">
        <p14:creationId xmlns:p14="http://schemas.microsoft.com/office/powerpoint/2010/main" val="12994118"/>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AD901C46-09D0-4736-808C-D1589BE60A67}"/>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6F2"/>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2B262206-810B-4C60-954D-5592B96FF871}"/>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12232B"/>
          </a:solidFill>
          <a:ln xmlns:a="http://schemas.openxmlformats.org/drawingml/2006/main" w="0">
            <a:solidFill>
              <a:srgbClr val="000000">
                <a:alpha val="0"/>
              </a:srgbClr>
            </a:solidFill>
            <a:prstDash val="solid"/>
          </a:ln>
        </p:spPr>
      </p:sp>
      <p:sp>
        <p:nvSpPr>
          <p:cNvPr id="3" name="">
            <a:extLst xmlns:a="http://schemas.openxmlformats.org/drawingml/2006/main">
              <a:ext uri="{FF2B5EF4-FFF2-40B4-BE49-F238E27FC236}">
                <a16:creationId xmlns:a16="http://schemas.microsoft.com/office/drawing/2014/main" id="{4533D0AE-75D4-4237-8F20-4F71B3B41C94}"/>
              </a:ext>
            </a:extLst>
          </p:cNvPr>
          <p:cNvSpPr>
            <a:spLocks xmlns:a="http://schemas.openxmlformats.org/drawingml/2006/main" noGrp="1"/>
          </p:cNvSpPr>
          <p:nvPr/>
        </p:nvSpPr>
        <p:spPr>
          <a:xfrm xmlns:a="http://schemas.openxmlformats.org/drawingml/2006/main">
            <a:off x="171450" y="0"/>
            <a:ext cx="57150" cy="68580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4" name="kicker-04-marker">
            <a:extLst xmlns:a="http://schemas.openxmlformats.org/drawingml/2006/main">
              <a:ext uri="{FF2B5EF4-FFF2-40B4-BE49-F238E27FC236}">
                <a16:creationId xmlns:a16="http://schemas.microsoft.com/office/drawing/2014/main" id="{E11F20F0-4B35-425D-A6E2-DC9088B2BDBB}"/>
              </a:ext>
            </a:extLst>
          </p:cNvPr>
          <p:cNvSpPr>
            <a:spLocks xmlns:a="http://schemas.openxmlformats.org/drawingml/2006/main" noGrp="1"/>
          </p:cNvSpPr>
          <p:nvPr/>
        </p:nvSpPr>
        <p:spPr>
          <a:xfrm xmlns:a="http://schemas.openxmlformats.org/drawingml/2006/main">
            <a:off x="514350" y="390525"/>
            <a:ext cx="76200" cy="762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5" name="kicker-04-label">
            <a:extLst xmlns:a="http://schemas.openxmlformats.org/drawingml/2006/main">
              <a:ext uri="{FF2B5EF4-FFF2-40B4-BE49-F238E27FC236}">
                <a16:creationId xmlns:a16="http://schemas.microsoft.com/office/drawing/2014/main" id="{8958F068-FE68-41F4-9DBB-799C6E45C6CC}"/>
              </a:ext>
            </a:extLst>
          </p:cNvPr>
          <p:cNvSpPr>
            <a:spLocks xmlns:a="http://schemas.openxmlformats.org/drawingml/2006/main" noGrp="1"/>
          </p:cNvSpPr>
          <p:nvPr/>
        </p:nvSpPr>
        <p:spPr>
          <a:xfrm xmlns:a="http://schemas.openxmlformats.org/drawingml/2006/main">
            <a:off x="685800" y="323850"/>
            <a:ext cx="75247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MODULE 1 / LESSON 04 / CORE FRAMEWORK</a:t>
            </a:r>
          </a:p>
        </p:txBody>
      </p:sp>
      <p:sp>
        <p:nvSpPr>
          <p:cNvPr id="6" name="">
            <a:extLst xmlns:a="http://schemas.openxmlformats.org/drawingml/2006/main">
              <a:ext uri="{FF2B5EF4-FFF2-40B4-BE49-F238E27FC236}">
                <a16:creationId xmlns:a16="http://schemas.microsoft.com/office/drawing/2014/main" id="{1A6AA87C-DB75-4FBB-BB7C-7BDEDC6F3BB3}"/>
              </a:ext>
            </a:extLst>
          </p:cNvPr>
          <p:cNvSpPr>
            <a:spLocks xmlns:a="http://schemas.openxmlformats.org/drawingml/2006/main" noGrp="1"/>
          </p:cNvSpPr>
          <p:nvPr/>
        </p:nvSpPr>
        <p:spPr>
          <a:xfrm xmlns:a="http://schemas.openxmlformats.org/drawingml/2006/main">
            <a:off x="514350" y="704850"/>
            <a:ext cx="8096250" cy="666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250" b="1">
                <a:solidFill>
                  <a:srgbClr val="172026"/>
                </a:solidFill>
                <a:latin typeface="Aptos Display"/>
                <a:ea typeface="Aptos Display"/>
                <a:cs typeface="Aptos Display"/>
              </a:defRPr>
            </a:pPr>
            <a:r>
              <a:rPr sz="2250" b="1">
                <a:solidFill>
                  <a:srgbClr val="172026"/>
                </a:solidFill>
                <a:latin typeface="Aptos Display"/>
                <a:ea typeface="Aptos Display"/>
                <a:cs typeface="Aptos Display"/>
              </a:rPr>
              <a:t>MOIN maps buyer uncertainty by role and demand state.</a:t>
            </a:r>
          </a:p>
        </p:txBody>
      </p:sp>
      <p:sp>
        <p:nvSpPr>
          <p:cNvPr id="7" name="">
            <a:extLst xmlns:a="http://schemas.openxmlformats.org/drawingml/2006/main">
              <a:ext uri="{FF2B5EF4-FFF2-40B4-BE49-F238E27FC236}">
                <a16:creationId xmlns:a16="http://schemas.microsoft.com/office/drawing/2014/main" id="{5768435B-A8E8-4D44-95BC-34ED5C35D7B2}"/>
              </a:ext>
            </a:extLst>
          </p:cNvPr>
          <p:cNvSpPr>
            <a:spLocks xmlns:a="http://schemas.openxmlformats.org/drawingml/2006/main" noGrp="1"/>
          </p:cNvSpPr>
          <p:nvPr/>
        </p:nvSpPr>
        <p:spPr>
          <a:xfrm xmlns:a="http://schemas.openxmlformats.org/drawingml/2006/main">
            <a:off x="514350" y="1314450"/>
            <a:ext cx="819150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59646A"/>
                </a:solidFill>
                <a:latin typeface="Aptos"/>
                <a:ea typeface="Aptos"/>
                <a:cs typeface="Aptos"/>
              </a:defRPr>
            </a:pPr>
            <a:r>
              <a:rPr sz="1125" b="0">
                <a:solidFill>
                  <a:srgbClr val="59646A"/>
                </a:solidFill>
                <a:latin typeface="Aptos"/>
                <a:ea typeface="Aptos"/>
                <a:cs typeface="Aptos"/>
              </a:rPr>
              <a:t>Use the diagram as the visual anchor; the visible path is the teachable sequence.</a:t>
            </a:r>
          </a:p>
        </p:txBody>
      </p:sp>
      <p:sp>
        <p:nvSpPr>
          <p:cNvPr id="8" name="">
            <a:extLst xmlns:a="http://schemas.openxmlformats.org/drawingml/2006/main">
              <a:ext uri="{FF2B5EF4-FFF2-40B4-BE49-F238E27FC236}">
                <a16:creationId xmlns:a16="http://schemas.microsoft.com/office/drawing/2014/main" id="{4B3D1F5F-3E51-43C1-9A1C-B4823C74C7FF}"/>
              </a:ext>
            </a:extLst>
          </p:cNvPr>
          <p:cNvSpPr>
            <a:spLocks xmlns:a="http://schemas.openxmlformats.org/drawingml/2006/main" noGrp="1"/>
          </p:cNvSpPr>
          <p:nvPr/>
        </p:nvSpPr>
        <p:spPr>
          <a:xfrm xmlns:a="http://schemas.openxmlformats.org/drawingml/2006/main">
            <a:off x="514350" y="6438900"/>
            <a:ext cx="1091565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1AA4EC1D-2AC4-4E14-BA61-47C00F720DB3}"/>
              </a:ext>
            </a:extLst>
          </p:cNvPr>
          <p:cNvSpPr>
            <a:spLocks xmlns:a="http://schemas.openxmlformats.org/drawingml/2006/main" noGrp="1"/>
          </p:cNvSpPr>
          <p:nvPr/>
        </p:nvSpPr>
        <p:spPr>
          <a:xfrm xmlns:a="http://schemas.openxmlformats.org/drawingml/2006/main">
            <a:off x="514350" y="6553200"/>
            <a:ext cx="590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59646A"/>
                </a:solidFill>
                <a:latin typeface="Aptos"/>
                <a:ea typeface="Aptos"/>
                <a:cs typeface="Aptos"/>
              </a:defRPr>
            </a:pPr>
            <a:r>
              <a:rPr sz="675" b="0">
                <a:solidFill>
                  <a:srgbClr val="59646A"/>
                </a:solidFill>
                <a:latin typeface="Aptos"/>
                <a:ea typeface="Aptos"/>
                <a:cs typeface="Aptos"/>
              </a:rPr>
              <a:t>Lesson 04 - MOIN: Map Of Informational Needs</a:t>
            </a:r>
          </a:p>
        </p:txBody>
      </p:sp>
      <p:sp>
        <p:nvSpPr>
          <p:cNvPr id="10" name="">
            <a:extLst xmlns:a="http://schemas.openxmlformats.org/drawingml/2006/main">
              <a:ext uri="{FF2B5EF4-FFF2-40B4-BE49-F238E27FC236}">
                <a16:creationId xmlns:a16="http://schemas.microsoft.com/office/drawing/2014/main" id="{30CA53AD-FFD3-4B58-B667-20F2301368F3}"/>
              </a:ext>
            </a:extLst>
          </p:cNvPr>
          <p:cNvSpPr>
            <a:spLocks xmlns:a="http://schemas.openxmlformats.org/drawingml/2006/main" noGrp="1"/>
          </p:cNvSpPr>
          <p:nvPr/>
        </p:nvSpPr>
        <p:spPr>
          <a:xfrm xmlns:a="http://schemas.openxmlformats.org/drawingml/2006/main">
            <a:off x="5334000" y="6553200"/>
            <a:ext cx="4095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00" b="0">
                <a:solidFill>
                  <a:srgbClr val="59646A"/>
                </a:solidFill>
                <a:latin typeface="Aptos"/>
                <a:ea typeface="Aptos"/>
                <a:cs typeface="Aptos"/>
              </a:defRPr>
            </a:pPr>
            <a:r>
              <a:rPr sz="600" b="0">
                <a:solidFill>
                  <a:srgbClr val="59646A"/>
                </a:solidFill>
                <a:latin typeface="Aptos"/>
                <a:ea typeface="Aptos"/>
                <a:cs typeface="Aptos"/>
              </a:rPr>
              <a:t>Source: modules/module-01-industrial-demand-generation/lessons/04-moin-map-of-informational-needs.md @ 9e28222</a:t>
            </a:r>
          </a:p>
        </p:txBody>
      </p:sp>
      <p:sp>
        <p:nvSpPr>
          <p:cNvPr id="11" name="">
            <a:extLst xmlns:a="http://schemas.openxmlformats.org/drawingml/2006/main">
              <a:ext uri="{FF2B5EF4-FFF2-40B4-BE49-F238E27FC236}">
                <a16:creationId xmlns:a16="http://schemas.microsoft.com/office/drawing/2014/main" id="{50F2EF30-6A85-416F-B730-A3C959D93484}"/>
              </a:ext>
            </a:extLst>
          </p:cNvPr>
          <p:cNvSpPr>
            <a:spLocks xmlns:a="http://schemas.openxmlformats.org/drawingml/2006/main" noGrp="1"/>
          </p:cNvSpPr>
          <p:nvPr/>
        </p:nvSpPr>
        <p:spPr>
          <a:xfrm xmlns:a="http://schemas.openxmlformats.org/drawingml/2006/main">
            <a:off x="10668000" y="6553200"/>
            <a:ext cx="762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75" b="0">
                <a:solidFill>
                  <a:srgbClr val="59646A"/>
                </a:solidFill>
                <a:latin typeface="Aptos"/>
                <a:ea typeface="Aptos"/>
                <a:cs typeface="Aptos"/>
              </a:defRPr>
            </a:pPr>
            <a:r>
              <a:rPr sz="675" b="0">
                <a:solidFill>
                  <a:srgbClr val="59646A"/>
                </a:solidFill>
                <a:latin typeface="Aptos"/>
                <a:ea typeface="Aptos"/>
                <a:cs typeface="Aptos"/>
              </a:rPr>
              <a:t>4/15</a:t>
            </a:r>
          </a:p>
        </p:txBody>
      </p:sp>
      <p:sp>
        <p:nvSpPr>
          <p:cNvPr id="12" name="">
            <a:extLst xmlns:a="http://schemas.openxmlformats.org/drawingml/2006/main">
              <a:ext uri="{FF2B5EF4-FFF2-40B4-BE49-F238E27FC236}">
                <a16:creationId xmlns:a16="http://schemas.microsoft.com/office/drawing/2014/main" id="{028E85AC-A910-4879-AFC1-88B8B32F10DA}"/>
              </a:ext>
            </a:extLst>
          </p:cNvPr>
          <p:cNvSpPr>
            <a:spLocks xmlns:a="http://schemas.openxmlformats.org/drawingml/2006/main" noGrp="1"/>
          </p:cNvSpPr>
          <p:nvPr/>
        </p:nvSpPr>
        <p:spPr>
          <a:xfrm xmlns:a="http://schemas.openxmlformats.org/drawingml/2006/main">
            <a:off x="228600" y="1809750"/>
            <a:ext cx="11963400" cy="4591050"/>
          </a:xfrm>
          <a:prstGeom xmlns:a="http://schemas.openxmlformats.org/drawingml/2006/main" prst="rect">
            <a:avLst/>
          </a:prstGeom>
          <a:solidFill xmlns:a="http://schemas.openxmlformats.org/drawingml/2006/main">
            <a:srgbClr val="F5F6F2"/>
          </a:solidFill>
          <a:ln xmlns:a="http://schemas.openxmlformats.org/drawingml/2006/main" w="0">
            <a:solidFill>
              <a:srgbClr val="000000">
                <a:alpha val="0"/>
              </a:srgbClr>
            </a:solidFill>
            <a:prstDash val="solid"/>
          </a:ln>
        </p:spPr>
      </p:sp>
      <p:sp>
        <p:nvSpPr>
          <p:cNvPr id="13" name="">
            <a:extLst xmlns:a="http://schemas.openxmlformats.org/drawingml/2006/main">
              <a:ext uri="{FF2B5EF4-FFF2-40B4-BE49-F238E27FC236}">
                <a16:creationId xmlns:a16="http://schemas.microsoft.com/office/drawing/2014/main" id="{69890973-E64B-4882-A9B6-1217A887B6B0}"/>
              </a:ext>
            </a:extLst>
          </p:cNvPr>
          <p:cNvSpPr>
            <a:spLocks xmlns:a="http://schemas.openxmlformats.org/drawingml/2006/main" noGrp="1"/>
          </p:cNvSpPr>
          <p:nvPr/>
        </p:nvSpPr>
        <p:spPr>
          <a:xfrm xmlns:a="http://schemas.openxmlformats.org/drawingml/2006/main">
            <a:off x="228600" y="1809750"/>
            <a:ext cx="11963400" cy="4591050"/>
          </a:xfrm>
          <a:prstGeom xmlns:a="http://schemas.openxmlformats.org/drawingml/2006/main" prst="rect">
            <a:avLst/>
          </a:prstGeom>
          <a:solidFill xmlns:a="http://schemas.openxmlformats.org/drawingml/2006/main">
            <a:srgbClr val="FCFCFA"/>
          </a:solidFill>
          <a:ln xmlns:a="http://schemas.openxmlformats.org/drawingml/2006/main" w="9525">
            <a:solidFill>
              <a:srgbClr val="D9DDD6"/>
            </a:solidFill>
            <a:prstDash val="solid"/>
          </a:ln>
        </p:spPr>
      </p:sp>
      <p:sp>
        <p:nvSpPr>
          <p:cNvPr id="14" name="">
            <a:extLst xmlns:a="http://schemas.openxmlformats.org/drawingml/2006/main">
              <a:ext uri="{FF2B5EF4-FFF2-40B4-BE49-F238E27FC236}">
                <a16:creationId xmlns:a16="http://schemas.microsoft.com/office/drawing/2014/main" id="{D727B6F6-7661-480A-B217-5A37E321FB21}"/>
              </a:ext>
            </a:extLst>
          </p:cNvPr>
          <p:cNvSpPr>
            <a:spLocks xmlns:a="http://schemas.openxmlformats.org/drawingml/2006/main" noGrp="1"/>
          </p:cNvSpPr>
          <p:nvPr/>
        </p:nvSpPr>
        <p:spPr>
          <a:xfrm xmlns:a="http://schemas.openxmlformats.org/drawingml/2006/main">
            <a:off x="457200" y="2114550"/>
            <a:ext cx="266700" cy="19050"/>
          </a:xfrm>
          <a:prstGeom xmlns:a="http://schemas.openxmlformats.org/drawingml/2006/main" prst="rect">
            <a:avLst/>
          </a:prstGeom>
          <a:solidFill xmlns:a="http://schemas.openxmlformats.org/drawingml/2006/main">
            <a:srgbClr val="1D6072"/>
          </a:solidFill>
          <a:ln xmlns:a="http://schemas.openxmlformats.org/drawingml/2006/main" w="0">
            <a:solidFill>
              <a:srgbClr val="000000">
                <a:alpha val="0"/>
              </a:srgbClr>
            </a:solidFill>
            <a:prstDash val="solid"/>
          </a:ln>
        </p:spPr>
      </p:sp>
      <p:sp>
        <p:nvSpPr>
          <p:cNvPr id="15" name="">
            <a:extLst xmlns:a="http://schemas.openxmlformats.org/drawingml/2006/main">
              <a:ext uri="{FF2B5EF4-FFF2-40B4-BE49-F238E27FC236}">
                <a16:creationId xmlns:a16="http://schemas.microsoft.com/office/drawing/2014/main" id="{82578E37-FE00-448E-8283-40CFF98FDD41}"/>
              </a:ext>
            </a:extLst>
          </p:cNvPr>
          <p:cNvSpPr>
            <a:spLocks xmlns:a="http://schemas.openxmlformats.org/drawingml/2006/main" noGrp="1"/>
          </p:cNvSpPr>
          <p:nvPr/>
        </p:nvSpPr>
        <p:spPr>
          <a:xfrm xmlns:a="http://schemas.openxmlformats.org/drawingml/2006/main">
            <a:off x="819150" y="2038350"/>
            <a:ext cx="2476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NATIVE OPERATING DIAGRAM</a:t>
            </a:r>
          </a:p>
        </p:txBody>
      </p:sp>
      <p:sp>
        <p:nvSpPr>
          <p:cNvPr id="16" name="">
            <a:extLst xmlns:a="http://schemas.openxmlformats.org/drawingml/2006/main">
              <a:ext uri="{FF2B5EF4-FFF2-40B4-BE49-F238E27FC236}">
                <a16:creationId xmlns:a16="http://schemas.microsoft.com/office/drawing/2014/main" id="{29256D26-975E-475F-BA28-EF0298B73E26}"/>
              </a:ext>
            </a:extLst>
          </p:cNvPr>
          <p:cNvSpPr>
            <a:spLocks xmlns:a="http://schemas.openxmlformats.org/drawingml/2006/main" noGrp="1"/>
          </p:cNvSpPr>
          <p:nvPr/>
        </p:nvSpPr>
        <p:spPr>
          <a:xfrm xmlns:a="http://schemas.openxmlformats.org/drawingml/2006/main">
            <a:off x="495300" y="2686050"/>
            <a:ext cx="2609850" cy="914400"/>
          </a:xfrm>
          <a:prstGeom xmlns:a="http://schemas.openxmlformats.org/drawingml/2006/main" prst="rect">
            <a:avLst/>
          </a:prstGeom>
          <a:solidFill xmlns:a="http://schemas.openxmlformats.org/drawingml/2006/main">
            <a:srgbClr val="FFFFFF"/>
          </a:solidFill>
          <a:ln xmlns:a="http://schemas.openxmlformats.org/drawingml/2006/main" w="9525">
            <a:solidFill>
              <a:srgbClr val="D9DDD6"/>
            </a:solidFill>
            <a:prstDash val="solid"/>
          </a:ln>
        </p:spPr>
      </p:sp>
      <p:sp>
        <p:nvSpPr>
          <p:cNvPr id="17" name="">
            <a:extLst xmlns:a="http://schemas.openxmlformats.org/drawingml/2006/main">
              <a:ext uri="{FF2B5EF4-FFF2-40B4-BE49-F238E27FC236}">
                <a16:creationId xmlns:a16="http://schemas.microsoft.com/office/drawing/2014/main" id="{AF1775F3-E579-4D39-B41F-60A3DB90733A}"/>
              </a:ext>
            </a:extLst>
          </p:cNvPr>
          <p:cNvSpPr>
            <a:spLocks xmlns:a="http://schemas.openxmlformats.org/drawingml/2006/main" noGrp="1"/>
          </p:cNvSpPr>
          <p:nvPr/>
        </p:nvSpPr>
        <p:spPr>
          <a:xfrm xmlns:a="http://schemas.openxmlformats.org/drawingml/2006/main">
            <a:off x="495300" y="2686050"/>
            <a:ext cx="2609850" cy="57150"/>
          </a:xfrm>
          <a:prstGeom xmlns:a="http://schemas.openxmlformats.org/drawingml/2006/main" prst="rect">
            <a:avLst/>
          </a:prstGeom>
          <a:solidFill xmlns:a="http://schemas.openxmlformats.org/drawingml/2006/main">
            <a:srgbClr val="1D6072"/>
          </a:solidFill>
          <a:ln xmlns:a="http://schemas.openxmlformats.org/drawingml/2006/main" w="0">
            <a:solidFill>
              <a:srgbClr val="000000">
                <a:alpha val="0"/>
              </a:srgbClr>
            </a:solidFill>
            <a:prstDash val="solid"/>
          </a:ln>
        </p:spPr>
      </p:sp>
      <p:sp>
        <p:nvSpPr>
          <p:cNvPr id="18" name="">
            <a:extLst xmlns:a="http://schemas.openxmlformats.org/drawingml/2006/main">
              <a:ext uri="{FF2B5EF4-FFF2-40B4-BE49-F238E27FC236}">
                <a16:creationId xmlns:a16="http://schemas.microsoft.com/office/drawing/2014/main" id="{8AABE6F2-1EE2-4AF8-BC4B-D178DE18138C}"/>
              </a:ext>
            </a:extLst>
          </p:cNvPr>
          <p:cNvSpPr>
            <a:spLocks xmlns:a="http://schemas.openxmlformats.org/drawingml/2006/main" noGrp="1"/>
          </p:cNvSpPr>
          <p:nvPr/>
        </p:nvSpPr>
        <p:spPr>
          <a:xfrm xmlns:a="http://schemas.openxmlformats.org/drawingml/2006/main">
            <a:off x="609600" y="2857500"/>
            <a:ext cx="20955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75" b="1">
                <a:solidFill>
                  <a:srgbClr val="1D6072"/>
                </a:solidFill>
                <a:latin typeface="Aptos"/>
                <a:ea typeface="Aptos"/>
                <a:cs typeface="Aptos"/>
              </a:defRPr>
            </a:pPr>
            <a:r>
              <a:rPr sz="975" b="1">
                <a:solidFill>
                  <a:srgbClr val="1D6072"/>
                </a:solidFill>
                <a:latin typeface="Aptos"/>
                <a:ea typeface="Aptos"/>
                <a:cs typeface="Aptos"/>
              </a:rPr>
              <a:t>1</a:t>
            </a:r>
          </a:p>
        </p:txBody>
      </p:sp>
      <p:sp>
        <p:nvSpPr>
          <p:cNvPr id="19" name="">
            <a:extLst xmlns:a="http://schemas.openxmlformats.org/drawingml/2006/main">
              <a:ext uri="{FF2B5EF4-FFF2-40B4-BE49-F238E27FC236}">
                <a16:creationId xmlns:a16="http://schemas.microsoft.com/office/drawing/2014/main" id="{97BDF3B0-C9C2-4FD6-BE47-0CF4EC49EE2F}"/>
              </a:ext>
            </a:extLst>
          </p:cNvPr>
          <p:cNvSpPr>
            <a:spLocks xmlns:a="http://schemas.openxmlformats.org/drawingml/2006/main" noGrp="1"/>
          </p:cNvSpPr>
          <p:nvPr/>
        </p:nvSpPr>
        <p:spPr>
          <a:xfrm xmlns:a="http://schemas.openxmlformats.org/drawingml/2006/main">
            <a:off x="895350" y="2838450"/>
            <a:ext cx="2076450" cy="476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1">
                <a:solidFill>
                  <a:srgbClr val="172026"/>
                </a:solidFill>
                <a:latin typeface="Aptos"/>
                <a:ea typeface="Aptos"/>
                <a:cs typeface="Aptos"/>
              </a:defRPr>
            </a:pPr>
            <a:r>
              <a:rPr sz="900" b="1">
                <a:solidFill>
                  <a:srgbClr val="172026"/>
                </a:solidFill>
                <a:latin typeface="Aptos"/>
                <a:ea typeface="Aptos"/>
                <a:cs typeface="Aptos"/>
              </a:rPr>
              <a:t>Choose the ICP segment</a:t>
            </a:r>
          </a:p>
        </p:txBody>
      </p:sp>
      <p:sp>
        <p:nvSpPr>
          <p:cNvPr id="20" name="">
            <a:extLst xmlns:a="http://schemas.openxmlformats.org/drawingml/2006/main">
              <a:ext uri="{FF2B5EF4-FFF2-40B4-BE49-F238E27FC236}">
                <a16:creationId xmlns:a16="http://schemas.microsoft.com/office/drawing/2014/main" id="{9C774052-CFC0-4FA1-BCAF-30BBC6B82276}"/>
              </a:ext>
            </a:extLst>
          </p:cNvPr>
          <p:cNvSpPr>
            <a:spLocks xmlns:a="http://schemas.openxmlformats.org/drawingml/2006/main" noGrp="1"/>
          </p:cNvSpPr>
          <p:nvPr/>
        </p:nvSpPr>
        <p:spPr>
          <a:xfrm xmlns:a="http://schemas.openxmlformats.org/drawingml/2006/main">
            <a:off x="3143250" y="3143250"/>
            <a:ext cx="152400" cy="19050"/>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21" name="">
            <a:extLst xmlns:a="http://schemas.openxmlformats.org/drawingml/2006/main">
              <a:ext uri="{FF2B5EF4-FFF2-40B4-BE49-F238E27FC236}">
                <a16:creationId xmlns:a16="http://schemas.microsoft.com/office/drawing/2014/main" id="{0622B7DF-CFFC-4C70-A385-4D3016E318E6}"/>
              </a:ext>
            </a:extLst>
          </p:cNvPr>
          <p:cNvSpPr>
            <a:spLocks xmlns:a="http://schemas.openxmlformats.org/drawingml/2006/main" noGrp="1"/>
          </p:cNvSpPr>
          <p:nvPr/>
        </p:nvSpPr>
        <p:spPr>
          <a:xfrm xmlns:a="http://schemas.openxmlformats.org/drawingml/2006/main">
            <a:off x="3314700" y="2686050"/>
            <a:ext cx="2609850" cy="914400"/>
          </a:xfrm>
          <a:prstGeom xmlns:a="http://schemas.openxmlformats.org/drawingml/2006/main" prst="rect">
            <a:avLst/>
          </a:prstGeom>
          <a:solidFill xmlns:a="http://schemas.openxmlformats.org/drawingml/2006/main">
            <a:srgbClr val="FFFFFF"/>
          </a:solidFill>
          <a:ln xmlns:a="http://schemas.openxmlformats.org/drawingml/2006/main" w="9525">
            <a:solidFill>
              <a:srgbClr val="D9DDD6"/>
            </a:solidFill>
            <a:prstDash val="solid"/>
          </a:ln>
        </p:spPr>
      </p:sp>
      <p:sp>
        <p:nvSpPr>
          <p:cNvPr id="22" name="">
            <a:extLst xmlns:a="http://schemas.openxmlformats.org/drawingml/2006/main">
              <a:ext uri="{FF2B5EF4-FFF2-40B4-BE49-F238E27FC236}">
                <a16:creationId xmlns:a16="http://schemas.microsoft.com/office/drawing/2014/main" id="{B5DA3059-6D69-410C-8726-B61B862EE890}"/>
              </a:ext>
            </a:extLst>
          </p:cNvPr>
          <p:cNvSpPr>
            <a:spLocks xmlns:a="http://schemas.openxmlformats.org/drawingml/2006/main" noGrp="1"/>
          </p:cNvSpPr>
          <p:nvPr/>
        </p:nvSpPr>
        <p:spPr>
          <a:xfrm xmlns:a="http://schemas.openxmlformats.org/drawingml/2006/main">
            <a:off x="3314700" y="2686050"/>
            <a:ext cx="2609850" cy="5715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23" name="">
            <a:extLst xmlns:a="http://schemas.openxmlformats.org/drawingml/2006/main">
              <a:ext uri="{FF2B5EF4-FFF2-40B4-BE49-F238E27FC236}">
                <a16:creationId xmlns:a16="http://schemas.microsoft.com/office/drawing/2014/main" id="{E306C989-FB5B-40AE-805E-453DE7436C8E}"/>
              </a:ext>
            </a:extLst>
          </p:cNvPr>
          <p:cNvSpPr>
            <a:spLocks xmlns:a="http://schemas.openxmlformats.org/drawingml/2006/main" noGrp="1"/>
          </p:cNvSpPr>
          <p:nvPr/>
        </p:nvSpPr>
        <p:spPr>
          <a:xfrm xmlns:a="http://schemas.openxmlformats.org/drawingml/2006/main">
            <a:off x="3429000" y="2857500"/>
            <a:ext cx="20955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75" b="1">
                <a:solidFill>
                  <a:srgbClr val="A85D2A"/>
                </a:solidFill>
                <a:latin typeface="Aptos"/>
                <a:ea typeface="Aptos"/>
                <a:cs typeface="Aptos"/>
              </a:defRPr>
            </a:pPr>
            <a:r>
              <a:rPr sz="975" b="1">
                <a:solidFill>
                  <a:srgbClr val="A85D2A"/>
                </a:solidFill>
                <a:latin typeface="Aptos"/>
                <a:ea typeface="Aptos"/>
                <a:cs typeface="Aptos"/>
              </a:rPr>
              <a:t>2</a:t>
            </a:r>
          </a:p>
        </p:txBody>
      </p:sp>
      <p:sp>
        <p:nvSpPr>
          <p:cNvPr id="24" name="">
            <a:extLst xmlns:a="http://schemas.openxmlformats.org/drawingml/2006/main">
              <a:ext uri="{FF2B5EF4-FFF2-40B4-BE49-F238E27FC236}">
                <a16:creationId xmlns:a16="http://schemas.microsoft.com/office/drawing/2014/main" id="{DCACDB40-3B05-4737-A081-7C77B0F2B3EA}"/>
              </a:ext>
            </a:extLst>
          </p:cNvPr>
          <p:cNvSpPr>
            <a:spLocks xmlns:a="http://schemas.openxmlformats.org/drawingml/2006/main" noGrp="1"/>
          </p:cNvSpPr>
          <p:nvPr/>
        </p:nvSpPr>
        <p:spPr>
          <a:xfrm xmlns:a="http://schemas.openxmlformats.org/drawingml/2006/main">
            <a:off x="3714750" y="2838450"/>
            <a:ext cx="2076450" cy="476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1">
                <a:solidFill>
                  <a:srgbClr val="172026"/>
                </a:solidFill>
                <a:latin typeface="Aptos"/>
                <a:ea typeface="Aptos"/>
                <a:cs typeface="Aptos"/>
              </a:defRPr>
            </a:pPr>
            <a:r>
              <a:rPr sz="900" b="1">
                <a:solidFill>
                  <a:srgbClr val="172026"/>
                </a:solidFill>
                <a:latin typeface="Aptos"/>
                <a:ea typeface="Aptos"/>
                <a:cs typeface="Aptos"/>
              </a:rPr>
              <a:t>List committee roles</a:t>
            </a:r>
          </a:p>
        </p:txBody>
      </p:sp>
      <p:sp>
        <p:nvSpPr>
          <p:cNvPr id="25" name="">
            <a:extLst xmlns:a="http://schemas.openxmlformats.org/drawingml/2006/main">
              <a:ext uri="{FF2B5EF4-FFF2-40B4-BE49-F238E27FC236}">
                <a16:creationId xmlns:a16="http://schemas.microsoft.com/office/drawing/2014/main" id="{E107EED5-3794-483F-B457-00F9E51C1793}"/>
              </a:ext>
            </a:extLst>
          </p:cNvPr>
          <p:cNvSpPr>
            <a:spLocks xmlns:a="http://schemas.openxmlformats.org/drawingml/2006/main" noGrp="1"/>
          </p:cNvSpPr>
          <p:nvPr/>
        </p:nvSpPr>
        <p:spPr>
          <a:xfrm xmlns:a="http://schemas.openxmlformats.org/drawingml/2006/main">
            <a:off x="5962650" y="3143250"/>
            <a:ext cx="152400" cy="19050"/>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26" name="">
            <a:extLst xmlns:a="http://schemas.openxmlformats.org/drawingml/2006/main">
              <a:ext uri="{FF2B5EF4-FFF2-40B4-BE49-F238E27FC236}">
                <a16:creationId xmlns:a16="http://schemas.microsoft.com/office/drawing/2014/main" id="{DA086EB9-47A0-4E75-9359-D4352C41CDF8}"/>
              </a:ext>
            </a:extLst>
          </p:cNvPr>
          <p:cNvSpPr>
            <a:spLocks xmlns:a="http://schemas.openxmlformats.org/drawingml/2006/main" noGrp="1"/>
          </p:cNvSpPr>
          <p:nvPr/>
        </p:nvSpPr>
        <p:spPr>
          <a:xfrm xmlns:a="http://schemas.openxmlformats.org/drawingml/2006/main">
            <a:off x="6134100" y="2686050"/>
            <a:ext cx="2609850" cy="914400"/>
          </a:xfrm>
          <a:prstGeom xmlns:a="http://schemas.openxmlformats.org/drawingml/2006/main" prst="rect">
            <a:avLst/>
          </a:prstGeom>
          <a:solidFill xmlns:a="http://schemas.openxmlformats.org/drawingml/2006/main">
            <a:srgbClr val="FFFFFF"/>
          </a:solidFill>
          <a:ln xmlns:a="http://schemas.openxmlformats.org/drawingml/2006/main" w="9525">
            <a:solidFill>
              <a:srgbClr val="D9DDD6"/>
            </a:solidFill>
            <a:prstDash val="solid"/>
          </a:ln>
        </p:spPr>
      </p:sp>
      <p:sp>
        <p:nvSpPr>
          <p:cNvPr id="27" name="">
            <a:extLst xmlns:a="http://schemas.openxmlformats.org/drawingml/2006/main">
              <a:ext uri="{FF2B5EF4-FFF2-40B4-BE49-F238E27FC236}">
                <a16:creationId xmlns:a16="http://schemas.microsoft.com/office/drawing/2014/main" id="{88411B23-908B-4C42-91A6-7902CC751141}"/>
              </a:ext>
            </a:extLst>
          </p:cNvPr>
          <p:cNvSpPr>
            <a:spLocks xmlns:a="http://schemas.openxmlformats.org/drawingml/2006/main" noGrp="1"/>
          </p:cNvSpPr>
          <p:nvPr/>
        </p:nvSpPr>
        <p:spPr>
          <a:xfrm xmlns:a="http://schemas.openxmlformats.org/drawingml/2006/main">
            <a:off x="6134100" y="2686050"/>
            <a:ext cx="2609850" cy="57150"/>
          </a:xfrm>
          <a:prstGeom xmlns:a="http://schemas.openxmlformats.org/drawingml/2006/main" prst="rect">
            <a:avLst/>
          </a:prstGeom>
          <a:solidFill xmlns:a="http://schemas.openxmlformats.org/drawingml/2006/main">
            <a:srgbClr val="667A39"/>
          </a:solidFill>
          <a:ln xmlns:a="http://schemas.openxmlformats.org/drawingml/2006/main" w="0">
            <a:solidFill>
              <a:srgbClr val="000000">
                <a:alpha val="0"/>
              </a:srgbClr>
            </a:solidFill>
            <a:prstDash val="solid"/>
          </a:ln>
        </p:spPr>
      </p:sp>
      <p:sp>
        <p:nvSpPr>
          <p:cNvPr id="28" name="">
            <a:extLst xmlns:a="http://schemas.openxmlformats.org/drawingml/2006/main">
              <a:ext uri="{FF2B5EF4-FFF2-40B4-BE49-F238E27FC236}">
                <a16:creationId xmlns:a16="http://schemas.microsoft.com/office/drawing/2014/main" id="{E38F46CD-FD9B-4145-BF0C-7DEAF5375CE5}"/>
              </a:ext>
            </a:extLst>
          </p:cNvPr>
          <p:cNvSpPr>
            <a:spLocks xmlns:a="http://schemas.openxmlformats.org/drawingml/2006/main" noGrp="1"/>
          </p:cNvSpPr>
          <p:nvPr/>
        </p:nvSpPr>
        <p:spPr>
          <a:xfrm xmlns:a="http://schemas.openxmlformats.org/drawingml/2006/main">
            <a:off x="6248400" y="2857500"/>
            <a:ext cx="20955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75" b="1">
                <a:solidFill>
                  <a:srgbClr val="667A39"/>
                </a:solidFill>
                <a:latin typeface="Aptos"/>
                <a:ea typeface="Aptos"/>
                <a:cs typeface="Aptos"/>
              </a:defRPr>
            </a:pPr>
            <a:r>
              <a:rPr sz="975" b="1">
                <a:solidFill>
                  <a:srgbClr val="667A39"/>
                </a:solidFill>
                <a:latin typeface="Aptos"/>
                <a:ea typeface="Aptos"/>
                <a:cs typeface="Aptos"/>
              </a:rPr>
              <a:t>3</a:t>
            </a:r>
          </a:p>
        </p:txBody>
      </p:sp>
      <p:sp>
        <p:nvSpPr>
          <p:cNvPr id="29" name="">
            <a:extLst xmlns:a="http://schemas.openxmlformats.org/drawingml/2006/main">
              <a:ext uri="{FF2B5EF4-FFF2-40B4-BE49-F238E27FC236}">
                <a16:creationId xmlns:a16="http://schemas.microsoft.com/office/drawing/2014/main" id="{398DA07F-6864-4CBC-A003-BFDC48FD6733}"/>
              </a:ext>
            </a:extLst>
          </p:cNvPr>
          <p:cNvSpPr>
            <a:spLocks xmlns:a="http://schemas.openxmlformats.org/drawingml/2006/main" noGrp="1"/>
          </p:cNvSpPr>
          <p:nvPr/>
        </p:nvSpPr>
        <p:spPr>
          <a:xfrm xmlns:a="http://schemas.openxmlformats.org/drawingml/2006/main">
            <a:off x="6534150" y="2838450"/>
            <a:ext cx="2076450" cy="476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1">
                <a:solidFill>
                  <a:srgbClr val="172026"/>
                </a:solidFill>
                <a:latin typeface="Aptos"/>
                <a:ea typeface="Aptos"/>
                <a:cs typeface="Aptos"/>
              </a:defRPr>
            </a:pPr>
            <a:r>
              <a:rPr sz="900" b="1">
                <a:solidFill>
                  <a:srgbClr val="172026"/>
                </a:solidFill>
                <a:latin typeface="Aptos"/>
                <a:ea typeface="Aptos"/>
                <a:cs typeface="Aptos"/>
              </a:rPr>
              <a:t>Write content-demand questions</a:t>
            </a:r>
          </a:p>
        </p:txBody>
      </p:sp>
      <p:sp>
        <p:nvSpPr>
          <p:cNvPr id="30" name="">
            <a:extLst xmlns:a="http://schemas.openxmlformats.org/drawingml/2006/main">
              <a:ext uri="{FF2B5EF4-FFF2-40B4-BE49-F238E27FC236}">
                <a16:creationId xmlns:a16="http://schemas.microsoft.com/office/drawing/2014/main" id="{D373F099-CC09-439F-8E22-8EDCFD3E764C}"/>
              </a:ext>
            </a:extLst>
          </p:cNvPr>
          <p:cNvSpPr>
            <a:spLocks xmlns:a="http://schemas.openxmlformats.org/drawingml/2006/main" noGrp="1"/>
          </p:cNvSpPr>
          <p:nvPr/>
        </p:nvSpPr>
        <p:spPr>
          <a:xfrm xmlns:a="http://schemas.openxmlformats.org/drawingml/2006/main">
            <a:off x="8782050" y="3143250"/>
            <a:ext cx="152400" cy="19050"/>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31" name="">
            <a:extLst xmlns:a="http://schemas.openxmlformats.org/drawingml/2006/main">
              <a:ext uri="{FF2B5EF4-FFF2-40B4-BE49-F238E27FC236}">
                <a16:creationId xmlns:a16="http://schemas.microsoft.com/office/drawing/2014/main" id="{4765362E-1819-4A5F-96B7-C7FA8F73AF5F}"/>
              </a:ext>
            </a:extLst>
          </p:cNvPr>
          <p:cNvSpPr>
            <a:spLocks xmlns:a="http://schemas.openxmlformats.org/drawingml/2006/main" noGrp="1"/>
          </p:cNvSpPr>
          <p:nvPr/>
        </p:nvSpPr>
        <p:spPr>
          <a:xfrm xmlns:a="http://schemas.openxmlformats.org/drawingml/2006/main">
            <a:off x="8953500" y="2686050"/>
            <a:ext cx="2609850" cy="914400"/>
          </a:xfrm>
          <a:prstGeom xmlns:a="http://schemas.openxmlformats.org/drawingml/2006/main" prst="rect">
            <a:avLst/>
          </a:prstGeom>
          <a:solidFill xmlns:a="http://schemas.openxmlformats.org/drawingml/2006/main">
            <a:srgbClr val="FFFFFF"/>
          </a:solidFill>
          <a:ln xmlns:a="http://schemas.openxmlformats.org/drawingml/2006/main" w="9525">
            <a:solidFill>
              <a:srgbClr val="D9DDD6"/>
            </a:solidFill>
            <a:prstDash val="solid"/>
          </a:ln>
        </p:spPr>
      </p:sp>
      <p:sp>
        <p:nvSpPr>
          <p:cNvPr id="32" name="">
            <a:extLst xmlns:a="http://schemas.openxmlformats.org/drawingml/2006/main">
              <a:ext uri="{FF2B5EF4-FFF2-40B4-BE49-F238E27FC236}">
                <a16:creationId xmlns:a16="http://schemas.microsoft.com/office/drawing/2014/main" id="{72235A3F-DC8C-4F31-B634-0AE2D2670243}"/>
              </a:ext>
            </a:extLst>
          </p:cNvPr>
          <p:cNvSpPr>
            <a:spLocks xmlns:a="http://schemas.openxmlformats.org/drawingml/2006/main" noGrp="1"/>
          </p:cNvSpPr>
          <p:nvPr/>
        </p:nvSpPr>
        <p:spPr>
          <a:xfrm xmlns:a="http://schemas.openxmlformats.org/drawingml/2006/main">
            <a:off x="8953500" y="2686050"/>
            <a:ext cx="2609850" cy="57150"/>
          </a:xfrm>
          <a:prstGeom xmlns:a="http://schemas.openxmlformats.org/drawingml/2006/main" prst="rect">
            <a:avLst/>
          </a:prstGeom>
          <a:solidFill xmlns:a="http://schemas.openxmlformats.org/drawingml/2006/main">
            <a:srgbClr val="B7953B"/>
          </a:solidFill>
          <a:ln xmlns:a="http://schemas.openxmlformats.org/drawingml/2006/main" w="0">
            <a:solidFill>
              <a:srgbClr val="000000">
                <a:alpha val="0"/>
              </a:srgbClr>
            </a:solidFill>
            <a:prstDash val="solid"/>
          </a:ln>
        </p:spPr>
      </p:sp>
      <p:sp>
        <p:nvSpPr>
          <p:cNvPr id="33" name="">
            <a:extLst xmlns:a="http://schemas.openxmlformats.org/drawingml/2006/main">
              <a:ext uri="{FF2B5EF4-FFF2-40B4-BE49-F238E27FC236}">
                <a16:creationId xmlns:a16="http://schemas.microsoft.com/office/drawing/2014/main" id="{599F890F-FD11-4C27-8C1D-A207A3394431}"/>
              </a:ext>
            </a:extLst>
          </p:cNvPr>
          <p:cNvSpPr>
            <a:spLocks xmlns:a="http://schemas.openxmlformats.org/drawingml/2006/main" noGrp="1"/>
          </p:cNvSpPr>
          <p:nvPr/>
        </p:nvSpPr>
        <p:spPr>
          <a:xfrm xmlns:a="http://schemas.openxmlformats.org/drawingml/2006/main">
            <a:off x="9067800" y="2857500"/>
            <a:ext cx="20955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75" b="1">
                <a:solidFill>
                  <a:srgbClr val="B7953B"/>
                </a:solidFill>
                <a:latin typeface="Aptos"/>
                <a:ea typeface="Aptos"/>
                <a:cs typeface="Aptos"/>
              </a:defRPr>
            </a:pPr>
            <a:r>
              <a:rPr sz="975" b="1">
                <a:solidFill>
                  <a:srgbClr val="B7953B"/>
                </a:solidFill>
                <a:latin typeface="Aptos"/>
                <a:ea typeface="Aptos"/>
                <a:cs typeface="Aptos"/>
              </a:rPr>
              <a:t>4</a:t>
            </a:r>
          </a:p>
        </p:txBody>
      </p:sp>
      <p:sp>
        <p:nvSpPr>
          <p:cNvPr id="34" name="">
            <a:extLst xmlns:a="http://schemas.openxmlformats.org/drawingml/2006/main">
              <a:ext uri="{FF2B5EF4-FFF2-40B4-BE49-F238E27FC236}">
                <a16:creationId xmlns:a16="http://schemas.microsoft.com/office/drawing/2014/main" id="{0C4BFA70-790C-4742-96C9-D6F1EDD21875}"/>
              </a:ext>
            </a:extLst>
          </p:cNvPr>
          <p:cNvSpPr>
            <a:spLocks xmlns:a="http://schemas.openxmlformats.org/drawingml/2006/main" noGrp="1"/>
          </p:cNvSpPr>
          <p:nvPr/>
        </p:nvSpPr>
        <p:spPr>
          <a:xfrm xmlns:a="http://schemas.openxmlformats.org/drawingml/2006/main">
            <a:off x="9353550" y="2838450"/>
            <a:ext cx="2076450" cy="476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1">
                <a:solidFill>
                  <a:srgbClr val="172026"/>
                </a:solidFill>
                <a:latin typeface="Aptos"/>
                <a:ea typeface="Aptos"/>
                <a:cs typeface="Aptos"/>
              </a:defRPr>
            </a:pPr>
            <a:r>
              <a:rPr sz="900" b="1">
                <a:solidFill>
                  <a:srgbClr val="172026"/>
                </a:solidFill>
                <a:latin typeface="Aptos"/>
                <a:ea typeface="Aptos"/>
                <a:cs typeface="Aptos"/>
              </a:rPr>
              <a:t>Write solution-demand questions</a:t>
            </a:r>
          </a:p>
        </p:txBody>
      </p:sp>
      <p:sp>
        <p:nvSpPr>
          <p:cNvPr id="35" name="">
            <a:extLst xmlns:a="http://schemas.openxmlformats.org/drawingml/2006/main">
              <a:ext uri="{FF2B5EF4-FFF2-40B4-BE49-F238E27FC236}">
                <a16:creationId xmlns:a16="http://schemas.microsoft.com/office/drawing/2014/main" id="{E433287C-68DF-4EC9-93B2-9E05F92005E1}"/>
              </a:ext>
            </a:extLst>
          </p:cNvPr>
          <p:cNvSpPr>
            <a:spLocks xmlns:a="http://schemas.openxmlformats.org/drawingml/2006/main" noGrp="1"/>
          </p:cNvSpPr>
          <p:nvPr/>
        </p:nvSpPr>
        <p:spPr>
          <a:xfrm xmlns:a="http://schemas.openxmlformats.org/drawingml/2006/main">
            <a:off x="495300" y="4076700"/>
            <a:ext cx="2609850" cy="914400"/>
          </a:xfrm>
          <a:prstGeom xmlns:a="http://schemas.openxmlformats.org/drawingml/2006/main" prst="rect">
            <a:avLst/>
          </a:prstGeom>
          <a:solidFill xmlns:a="http://schemas.openxmlformats.org/drawingml/2006/main">
            <a:srgbClr val="FFFFFF"/>
          </a:solidFill>
          <a:ln xmlns:a="http://schemas.openxmlformats.org/drawingml/2006/main" w="9525">
            <a:solidFill>
              <a:srgbClr val="D9DDD6"/>
            </a:solidFill>
            <a:prstDash val="solid"/>
          </a:ln>
        </p:spPr>
      </p:sp>
      <p:sp>
        <p:nvSpPr>
          <p:cNvPr id="36" name="">
            <a:extLst xmlns:a="http://schemas.openxmlformats.org/drawingml/2006/main">
              <a:ext uri="{FF2B5EF4-FFF2-40B4-BE49-F238E27FC236}">
                <a16:creationId xmlns:a16="http://schemas.microsoft.com/office/drawing/2014/main" id="{573B6505-1AB1-42AA-AB89-A3757BE7DC56}"/>
              </a:ext>
            </a:extLst>
          </p:cNvPr>
          <p:cNvSpPr>
            <a:spLocks xmlns:a="http://schemas.openxmlformats.org/drawingml/2006/main" noGrp="1"/>
          </p:cNvSpPr>
          <p:nvPr/>
        </p:nvSpPr>
        <p:spPr>
          <a:xfrm xmlns:a="http://schemas.openxmlformats.org/drawingml/2006/main">
            <a:off x="495300" y="4076700"/>
            <a:ext cx="2609850" cy="57150"/>
          </a:xfrm>
          <a:prstGeom xmlns:a="http://schemas.openxmlformats.org/drawingml/2006/main" prst="rect">
            <a:avLst/>
          </a:prstGeom>
          <a:solidFill xmlns:a="http://schemas.openxmlformats.org/drawingml/2006/main">
            <a:srgbClr val="1D6072"/>
          </a:solidFill>
          <a:ln xmlns:a="http://schemas.openxmlformats.org/drawingml/2006/main" w="0">
            <a:solidFill>
              <a:srgbClr val="000000">
                <a:alpha val="0"/>
              </a:srgbClr>
            </a:solidFill>
            <a:prstDash val="solid"/>
          </a:ln>
        </p:spPr>
      </p:sp>
      <p:sp>
        <p:nvSpPr>
          <p:cNvPr id="37" name="">
            <a:extLst xmlns:a="http://schemas.openxmlformats.org/drawingml/2006/main">
              <a:ext uri="{FF2B5EF4-FFF2-40B4-BE49-F238E27FC236}">
                <a16:creationId xmlns:a16="http://schemas.microsoft.com/office/drawing/2014/main" id="{A82A93DE-D1EE-4870-9881-0F0B68D230D1}"/>
              </a:ext>
            </a:extLst>
          </p:cNvPr>
          <p:cNvSpPr>
            <a:spLocks xmlns:a="http://schemas.openxmlformats.org/drawingml/2006/main" noGrp="1"/>
          </p:cNvSpPr>
          <p:nvPr/>
        </p:nvSpPr>
        <p:spPr>
          <a:xfrm xmlns:a="http://schemas.openxmlformats.org/drawingml/2006/main">
            <a:off x="609600" y="4248150"/>
            <a:ext cx="20955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75" b="1">
                <a:solidFill>
                  <a:srgbClr val="1D6072"/>
                </a:solidFill>
                <a:latin typeface="Aptos"/>
                <a:ea typeface="Aptos"/>
                <a:cs typeface="Aptos"/>
              </a:defRPr>
            </a:pPr>
            <a:r>
              <a:rPr sz="975" b="1">
                <a:solidFill>
                  <a:srgbClr val="1D6072"/>
                </a:solidFill>
                <a:latin typeface="Aptos"/>
                <a:ea typeface="Aptos"/>
                <a:cs typeface="Aptos"/>
              </a:rPr>
              <a:t>5</a:t>
            </a:r>
          </a:p>
        </p:txBody>
      </p:sp>
      <p:sp>
        <p:nvSpPr>
          <p:cNvPr id="38" name="">
            <a:extLst xmlns:a="http://schemas.openxmlformats.org/drawingml/2006/main">
              <a:ext uri="{FF2B5EF4-FFF2-40B4-BE49-F238E27FC236}">
                <a16:creationId xmlns:a16="http://schemas.microsoft.com/office/drawing/2014/main" id="{393808E9-50DD-42D7-A011-112BE7BFAA61}"/>
              </a:ext>
            </a:extLst>
          </p:cNvPr>
          <p:cNvSpPr>
            <a:spLocks xmlns:a="http://schemas.openxmlformats.org/drawingml/2006/main" noGrp="1"/>
          </p:cNvSpPr>
          <p:nvPr/>
        </p:nvSpPr>
        <p:spPr>
          <a:xfrm xmlns:a="http://schemas.openxmlformats.org/drawingml/2006/main">
            <a:off x="895350" y="4229100"/>
            <a:ext cx="2076450" cy="476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1">
                <a:solidFill>
                  <a:srgbClr val="172026"/>
                </a:solidFill>
                <a:latin typeface="Aptos"/>
                <a:ea typeface="Aptos"/>
                <a:cs typeface="Aptos"/>
              </a:defRPr>
            </a:pPr>
            <a:r>
              <a:rPr sz="900" b="1">
                <a:solidFill>
                  <a:srgbClr val="172026"/>
                </a:solidFill>
                <a:latin typeface="Aptos"/>
                <a:ea typeface="Aptos"/>
                <a:cs typeface="Aptos"/>
              </a:rPr>
              <a:t>Write vendor-demand questions</a:t>
            </a:r>
          </a:p>
        </p:txBody>
      </p:sp>
      <p:sp>
        <p:nvSpPr>
          <p:cNvPr id="39" name="">
            <a:extLst xmlns:a="http://schemas.openxmlformats.org/drawingml/2006/main">
              <a:ext uri="{FF2B5EF4-FFF2-40B4-BE49-F238E27FC236}">
                <a16:creationId xmlns:a16="http://schemas.microsoft.com/office/drawing/2014/main" id="{C97EFDF9-5537-4E32-970D-1FE717CC54A2}"/>
              </a:ext>
            </a:extLst>
          </p:cNvPr>
          <p:cNvSpPr>
            <a:spLocks xmlns:a="http://schemas.openxmlformats.org/drawingml/2006/main" noGrp="1"/>
          </p:cNvSpPr>
          <p:nvPr/>
        </p:nvSpPr>
        <p:spPr>
          <a:xfrm xmlns:a="http://schemas.openxmlformats.org/drawingml/2006/main">
            <a:off x="3143250" y="4533900"/>
            <a:ext cx="152400" cy="19050"/>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40" name="">
            <a:extLst xmlns:a="http://schemas.openxmlformats.org/drawingml/2006/main">
              <a:ext uri="{FF2B5EF4-FFF2-40B4-BE49-F238E27FC236}">
                <a16:creationId xmlns:a16="http://schemas.microsoft.com/office/drawing/2014/main" id="{ECFE9DA0-0B2B-4B25-AC66-675BB511FF8A}"/>
              </a:ext>
            </a:extLst>
          </p:cNvPr>
          <p:cNvSpPr>
            <a:spLocks xmlns:a="http://schemas.openxmlformats.org/drawingml/2006/main" noGrp="1"/>
          </p:cNvSpPr>
          <p:nvPr/>
        </p:nvSpPr>
        <p:spPr>
          <a:xfrm xmlns:a="http://schemas.openxmlformats.org/drawingml/2006/main">
            <a:off x="3314700" y="4076700"/>
            <a:ext cx="2609850" cy="914400"/>
          </a:xfrm>
          <a:prstGeom xmlns:a="http://schemas.openxmlformats.org/drawingml/2006/main" prst="rect">
            <a:avLst/>
          </a:prstGeom>
          <a:solidFill xmlns:a="http://schemas.openxmlformats.org/drawingml/2006/main">
            <a:srgbClr val="FFFFFF"/>
          </a:solidFill>
          <a:ln xmlns:a="http://schemas.openxmlformats.org/drawingml/2006/main" w="9525">
            <a:solidFill>
              <a:srgbClr val="D9DDD6"/>
            </a:solidFill>
            <a:prstDash val="solid"/>
          </a:ln>
        </p:spPr>
      </p:sp>
      <p:sp>
        <p:nvSpPr>
          <p:cNvPr id="41" name="">
            <a:extLst xmlns:a="http://schemas.openxmlformats.org/drawingml/2006/main">
              <a:ext uri="{FF2B5EF4-FFF2-40B4-BE49-F238E27FC236}">
                <a16:creationId xmlns:a16="http://schemas.microsoft.com/office/drawing/2014/main" id="{BEAD9A60-347D-4027-8E6E-C3611D0B27BA}"/>
              </a:ext>
            </a:extLst>
          </p:cNvPr>
          <p:cNvSpPr>
            <a:spLocks xmlns:a="http://schemas.openxmlformats.org/drawingml/2006/main" noGrp="1"/>
          </p:cNvSpPr>
          <p:nvPr/>
        </p:nvSpPr>
        <p:spPr>
          <a:xfrm xmlns:a="http://schemas.openxmlformats.org/drawingml/2006/main">
            <a:off x="3314700" y="4076700"/>
            <a:ext cx="2609850" cy="5715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42" name="">
            <a:extLst xmlns:a="http://schemas.openxmlformats.org/drawingml/2006/main">
              <a:ext uri="{FF2B5EF4-FFF2-40B4-BE49-F238E27FC236}">
                <a16:creationId xmlns:a16="http://schemas.microsoft.com/office/drawing/2014/main" id="{5A81CFA9-046A-4D98-B212-D1ECCDA102CB}"/>
              </a:ext>
            </a:extLst>
          </p:cNvPr>
          <p:cNvSpPr>
            <a:spLocks xmlns:a="http://schemas.openxmlformats.org/drawingml/2006/main" noGrp="1"/>
          </p:cNvSpPr>
          <p:nvPr/>
        </p:nvSpPr>
        <p:spPr>
          <a:xfrm xmlns:a="http://schemas.openxmlformats.org/drawingml/2006/main">
            <a:off x="3429000" y="4248150"/>
            <a:ext cx="20955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75" b="1">
                <a:solidFill>
                  <a:srgbClr val="A85D2A"/>
                </a:solidFill>
                <a:latin typeface="Aptos"/>
                <a:ea typeface="Aptos"/>
                <a:cs typeface="Aptos"/>
              </a:defRPr>
            </a:pPr>
            <a:r>
              <a:rPr sz="975" b="1">
                <a:solidFill>
                  <a:srgbClr val="A85D2A"/>
                </a:solidFill>
                <a:latin typeface="Aptos"/>
                <a:ea typeface="Aptos"/>
                <a:cs typeface="Aptos"/>
              </a:rPr>
              <a:t>6</a:t>
            </a:r>
          </a:p>
        </p:txBody>
      </p:sp>
      <p:sp>
        <p:nvSpPr>
          <p:cNvPr id="43" name="">
            <a:extLst xmlns:a="http://schemas.openxmlformats.org/drawingml/2006/main">
              <a:ext uri="{FF2B5EF4-FFF2-40B4-BE49-F238E27FC236}">
                <a16:creationId xmlns:a16="http://schemas.microsoft.com/office/drawing/2014/main" id="{8169F406-7053-47CF-9C7E-2A5FB3AF57B4}"/>
              </a:ext>
            </a:extLst>
          </p:cNvPr>
          <p:cNvSpPr>
            <a:spLocks xmlns:a="http://schemas.openxmlformats.org/drawingml/2006/main" noGrp="1"/>
          </p:cNvSpPr>
          <p:nvPr/>
        </p:nvSpPr>
        <p:spPr>
          <a:xfrm xmlns:a="http://schemas.openxmlformats.org/drawingml/2006/main">
            <a:off x="3714750" y="4229100"/>
            <a:ext cx="2076450" cy="476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1">
                <a:solidFill>
                  <a:srgbClr val="172026"/>
                </a:solidFill>
                <a:latin typeface="Aptos"/>
                <a:ea typeface="Aptos"/>
                <a:cs typeface="Aptos"/>
              </a:defRPr>
            </a:pPr>
            <a:r>
              <a:rPr sz="900" b="1">
                <a:solidFill>
                  <a:srgbClr val="172026"/>
                </a:solidFill>
                <a:latin typeface="Aptos"/>
                <a:ea typeface="Aptos"/>
                <a:cs typeface="Aptos"/>
              </a:rPr>
              <a:t>Identify proof assets</a:t>
            </a:r>
          </a:p>
        </p:txBody>
      </p:sp>
      <p:sp>
        <p:nvSpPr>
          <p:cNvPr id="44" name="">
            <a:extLst xmlns:a="http://schemas.openxmlformats.org/drawingml/2006/main">
              <a:ext uri="{FF2B5EF4-FFF2-40B4-BE49-F238E27FC236}">
                <a16:creationId xmlns:a16="http://schemas.microsoft.com/office/drawing/2014/main" id="{4DBCBB8B-182E-43F7-BFF1-9B97AFF45924}"/>
              </a:ext>
            </a:extLst>
          </p:cNvPr>
          <p:cNvSpPr>
            <a:spLocks xmlns:a="http://schemas.openxmlformats.org/drawingml/2006/main" noGrp="1"/>
          </p:cNvSpPr>
          <p:nvPr/>
        </p:nvSpPr>
        <p:spPr>
          <a:xfrm xmlns:a="http://schemas.openxmlformats.org/drawingml/2006/main">
            <a:off x="5962650" y="4533900"/>
            <a:ext cx="152400" cy="19050"/>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45" name="">
            <a:extLst xmlns:a="http://schemas.openxmlformats.org/drawingml/2006/main">
              <a:ext uri="{FF2B5EF4-FFF2-40B4-BE49-F238E27FC236}">
                <a16:creationId xmlns:a16="http://schemas.microsoft.com/office/drawing/2014/main" id="{BF3AA8A7-6CBC-4357-B20C-E6C8890285BC}"/>
              </a:ext>
            </a:extLst>
          </p:cNvPr>
          <p:cNvSpPr>
            <a:spLocks xmlns:a="http://schemas.openxmlformats.org/drawingml/2006/main" noGrp="1"/>
          </p:cNvSpPr>
          <p:nvPr/>
        </p:nvSpPr>
        <p:spPr>
          <a:xfrm xmlns:a="http://schemas.openxmlformats.org/drawingml/2006/main">
            <a:off x="6134100" y="4076700"/>
            <a:ext cx="2609850" cy="914400"/>
          </a:xfrm>
          <a:prstGeom xmlns:a="http://schemas.openxmlformats.org/drawingml/2006/main" prst="rect">
            <a:avLst/>
          </a:prstGeom>
          <a:solidFill xmlns:a="http://schemas.openxmlformats.org/drawingml/2006/main">
            <a:srgbClr val="FFFFFF"/>
          </a:solidFill>
          <a:ln xmlns:a="http://schemas.openxmlformats.org/drawingml/2006/main" w="9525">
            <a:solidFill>
              <a:srgbClr val="D9DDD6"/>
            </a:solidFill>
            <a:prstDash val="solid"/>
          </a:ln>
        </p:spPr>
      </p:sp>
      <p:sp>
        <p:nvSpPr>
          <p:cNvPr id="46" name="">
            <a:extLst xmlns:a="http://schemas.openxmlformats.org/drawingml/2006/main">
              <a:ext uri="{FF2B5EF4-FFF2-40B4-BE49-F238E27FC236}">
                <a16:creationId xmlns:a16="http://schemas.microsoft.com/office/drawing/2014/main" id="{08E53AB6-37B5-409B-AA88-4BA2EAED3609}"/>
              </a:ext>
            </a:extLst>
          </p:cNvPr>
          <p:cNvSpPr>
            <a:spLocks xmlns:a="http://schemas.openxmlformats.org/drawingml/2006/main" noGrp="1"/>
          </p:cNvSpPr>
          <p:nvPr/>
        </p:nvSpPr>
        <p:spPr>
          <a:xfrm xmlns:a="http://schemas.openxmlformats.org/drawingml/2006/main">
            <a:off x="6134100" y="4076700"/>
            <a:ext cx="2609850" cy="57150"/>
          </a:xfrm>
          <a:prstGeom xmlns:a="http://schemas.openxmlformats.org/drawingml/2006/main" prst="rect">
            <a:avLst/>
          </a:prstGeom>
          <a:solidFill xmlns:a="http://schemas.openxmlformats.org/drawingml/2006/main">
            <a:srgbClr val="667A39"/>
          </a:solidFill>
          <a:ln xmlns:a="http://schemas.openxmlformats.org/drawingml/2006/main" w="0">
            <a:solidFill>
              <a:srgbClr val="000000">
                <a:alpha val="0"/>
              </a:srgbClr>
            </a:solidFill>
            <a:prstDash val="solid"/>
          </a:ln>
        </p:spPr>
      </p:sp>
      <p:sp>
        <p:nvSpPr>
          <p:cNvPr id="47" name="">
            <a:extLst xmlns:a="http://schemas.openxmlformats.org/drawingml/2006/main">
              <a:ext uri="{FF2B5EF4-FFF2-40B4-BE49-F238E27FC236}">
                <a16:creationId xmlns:a16="http://schemas.microsoft.com/office/drawing/2014/main" id="{3B820AF2-A5FE-4E01-B58E-2A5A1750C7F4}"/>
              </a:ext>
            </a:extLst>
          </p:cNvPr>
          <p:cNvSpPr>
            <a:spLocks xmlns:a="http://schemas.openxmlformats.org/drawingml/2006/main" noGrp="1"/>
          </p:cNvSpPr>
          <p:nvPr/>
        </p:nvSpPr>
        <p:spPr>
          <a:xfrm xmlns:a="http://schemas.openxmlformats.org/drawingml/2006/main">
            <a:off x="6248400" y="4248150"/>
            <a:ext cx="20955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75" b="1">
                <a:solidFill>
                  <a:srgbClr val="667A39"/>
                </a:solidFill>
                <a:latin typeface="Aptos"/>
                <a:ea typeface="Aptos"/>
                <a:cs typeface="Aptos"/>
              </a:defRPr>
            </a:pPr>
            <a:r>
              <a:rPr sz="975" b="1">
                <a:solidFill>
                  <a:srgbClr val="667A39"/>
                </a:solidFill>
                <a:latin typeface="Aptos"/>
                <a:ea typeface="Aptos"/>
                <a:cs typeface="Aptos"/>
              </a:rPr>
              <a:t>7</a:t>
            </a:r>
          </a:p>
        </p:txBody>
      </p:sp>
      <p:sp>
        <p:nvSpPr>
          <p:cNvPr id="48" name="">
            <a:extLst xmlns:a="http://schemas.openxmlformats.org/drawingml/2006/main">
              <a:ext uri="{FF2B5EF4-FFF2-40B4-BE49-F238E27FC236}">
                <a16:creationId xmlns:a16="http://schemas.microsoft.com/office/drawing/2014/main" id="{2358AE53-17E4-4E5C-8620-5C613D51416E}"/>
              </a:ext>
            </a:extLst>
          </p:cNvPr>
          <p:cNvSpPr>
            <a:spLocks xmlns:a="http://schemas.openxmlformats.org/drawingml/2006/main" noGrp="1"/>
          </p:cNvSpPr>
          <p:nvPr/>
        </p:nvSpPr>
        <p:spPr>
          <a:xfrm xmlns:a="http://schemas.openxmlformats.org/drawingml/2006/main">
            <a:off x="6534150" y="4229100"/>
            <a:ext cx="2076450" cy="476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1">
                <a:solidFill>
                  <a:srgbClr val="172026"/>
                </a:solidFill>
                <a:latin typeface="Aptos"/>
                <a:ea typeface="Aptos"/>
                <a:cs typeface="Aptos"/>
              </a:defRPr>
            </a:pPr>
            <a:r>
              <a:rPr sz="900" b="1">
                <a:solidFill>
                  <a:srgbClr val="172026"/>
                </a:solidFill>
                <a:latin typeface="Aptos"/>
                <a:ea typeface="Aptos"/>
                <a:cs typeface="Aptos"/>
              </a:rPr>
              <a:t>Define sales use and signal meaning</a:t>
            </a:r>
          </a:p>
        </p:txBody>
      </p:sp>
      <p:sp>
        <p:nvSpPr>
          <p:cNvPr id="49" name="">
            <a:extLst xmlns:a="http://schemas.openxmlformats.org/drawingml/2006/main">
              <a:ext uri="{FF2B5EF4-FFF2-40B4-BE49-F238E27FC236}">
                <a16:creationId xmlns:a16="http://schemas.microsoft.com/office/drawing/2014/main" id="{B5379A3B-66AB-40E1-BE0E-CAB7EA6ED2AE}"/>
              </a:ext>
            </a:extLst>
          </p:cNvPr>
          <p:cNvSpPr>
            <a:spLocks xmlns:a="http://schemas.openxmlformats.org/drawingml/2006/main" noGrp="1"/>
          </p:cNvSpPr>
          <p:nvPr/>
        </p:nvSpPr>
        <p:spPr>
          <a:xfrm xmlns:a="http://schemas.openxmlformats.org/drawingml/2006/main">
            <a:off x="495300" y="5772150"/>
            <a:ext cx="11430000" cy="381000"/>
          </a:xfrm>
          <a:prstGeom xmlns:a="http://schemas.openxmlformats.org/drawingml/2006/main" prst="rect">
            <a:avLst/>
          </a:prstGeom>
          <a:solidFill xmlns:a="http://schemas.openxmlformats.org/drawingml/2006/main">
            <a:srgbClr val="12232B"/>
          </a:solidFill>
          <a:ln xmlns:a="http://schemas.openxmlformats.org/drawingml/2006/main" w="9525">
            <a:solidFill>
              <a:srgbClr val="12232B"/>
            </a:solidFill>
            <a:prstDash val="solid"/>
          </a:ln>
        </p:spPr>
      </p:sp>
      <p:sp>
        <p:nvSpPr>
          <p:cNvPr id="50" name="">
            <a:extLst xmlns:a="http://schemas.openxmlformats.org/drawingml/2006/main">
              <a:ext uri="{FF2B5EF4-FFF2-40B4-BE49-F238E27FC236}">
                <a16:creationId xmlns:a16="http://schemas.microsoft.com/office/drawing/2014/main" id="{D3914892-60F2-4189-B775-C33E16261CC3}"/>
              </a:ext>
            </a:extLst>
          </p:cNvPr>
          <p:cNvSpPr>
            <a:spLocks xmlns:a="http://schemas.openxmlformats.org/drawingml/2006/main" noGrp="1"/>
          </p:cNvSpPr>
          <p:nvPr/>
        </p:nvSpPr>
        <p:spPr>
          <a:xfrm xmlns:a="http://schemas.openxmlformats.org/drawingml/2006/main">
            <a:off x="685800" y="5876925"/>
            <a:ext cx="11049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750" b="0">
                <a:solidFill>
                  <a:srgbClr val="D6E3E5"/>
                </a:solidFill>
                <a:latin typeface="Aptos"/>
                <a:ea typeface="Aptos"/>
                <a:cs typeface="Aptos"/>
              </a:defRPr>
            </a:pPr>
            <a:r>
              <a:rPr sz="750" b="0">
                <a:solidFill>
                  <a:srgbClr val="D6E3E5"/>
                </a:solidFill>
                <a:latin typeface="Aptos"/>
                <a:ea typeface="Aptos"/>
                <a:cs typeface="Aptos"/>
              </a:rPr>
              <a:t>Flowchart companion: assets/flowcharts/05-moin-to-content-roadmap.svg</a:t>
            </a:r>
          </a:p>
        </p:txBody>
      </p:sp>
      <p:sp>
        <p:nvSpPr>
          <p:cNvPr id="51" name="">
            <a:extLst xmlns:a="http://schemas.openxmlformats.org/drawingml/2006/main">
              <a:ext uri="{FF2B5EF4-FFF2-40B4-BE49-F238E27FC236}">
                <a16:creationId xmlns:a16="http://schemas.microsoft.com/office/drawing/2014/main" id="{921480FE-36EB-4DE1-B440-F7B45A80FD19}"/>
              </a:ext>
            </a:extLst>
          </p:cNvPr>
          <p:cNvSpPr>
            <a:spLocks xmlns:a="http://schemas.openxmlformats.org/drawingml/2006/main" noGrp="1"/>
          </p:cNvSpPr>
          <p:nvPr/>
        </p:nvSpPr>
        <p:spPr>
          <a:xfrm xmlns:a="http://schemas.openxmlformats.org/drawingml/2006/main">
            <a:off x="514350" y="6438900"/>
            <a:ext cx="1091565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52" name="">
            <a:extLst xmlns:a="http://schemas.openxmlformats.org/drawingml/2006/main">
              <a:ext uri="{FF2B5EF4-FFF2-40B4-BE49-F238E27FC236}">
                <a16:creationId xmlns:a16="http://schemas.microsoft.com/office/drawing/2014/main" id="{6342065F-F06D-44CB-B2FF-17B02B65BAFA}"/>
              </a:ext>
            </a:extLst>
          </p:cNvPr>
          <p:cNvSpPr>
            <a:spLocks xmlns:a="http://schemas.openxmlformats.org/drawingml/2006/main" noGrp="1"/>
          </p:cNvSpPr>
          <p:nvPr/>
        </p:nvSpPr>
        <p:spPr>
          <a:xfrm xmlns:a="http://schemas.openxmlformats.org/drawingml/2006/main">
            <a:off x="514350" y="6553200"/>
            <a:ext cx="590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59646A"/>
                </a:solidFill>
                <a:latin typeface="Aptos"/>
                <a:ea typeface="Aptos"/>
                <a:cs typeface="Aptos"/>
              </a:defRPr>
            </a:pPr>
            <a:r>
              <a:rPr sz="675" b="0">
                <a:solidFill>
                  <a:srgbClr val="59646A"/>
                </a:solidFill>
                <a:latin typeface="Aptos"/>
                <a:ea typeface="Aptos"/>
                <a:cs typeface="Aptos"/>
              </a:rPr>
              <a:t>Lesson 04 - MOIN: Map Of Informational Needs</a:t>
            </a:r>
          </a:p>
        </p:txBody>
      </p:sp>
      <p:sp>
        <p:nvSpPr>
          <p:cNvPr id="53" name="">
            <a:extLst xmlns:a="http://schemas.openxmlformats.org/drawingml/2006/main">
              <a:ext uri="{FF2B5EF4-FFF2-40B4-BE49-F238E27FC236}">
                <a16:creationId xmlns:a16="http://schemas.microsoft.com/office/drawing/2014/main" id="{842DCBC1-B891-4AB3-A775-E47F5ABD9CB6}"/>
              </a:ext>
            </a:extLst>
          </p:cNvPr>
          <p:cNvSpPr>
            <a:spLocks xmlns:a="http://schemas.openxmlformats.org/drawingml/2006/main" noGrp="1"/>
          </p:cNvSpPr>
          <p:nvPr/>
        </p:nvSpPr>
        <p:spPr>
          <a:xfrm xmlns:a="http://schemas.openxmlformats.org/drawingml/2006/main">
            <a:off x="5334000" y="6553200"/>
            <a:ext cx="4095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00" b="0">
                <a:solidFill>
                  <a:srgbClr val="59646A"/>
                </a:solidFill>
                <a:latin typeface="Aptos"/>
                <a:ea typeface="Aptos"/>
                <a:cs typeface="Aptos"/>
              </a:defRPr>
            </a:pPr>
            <a:r>
              <a:rPr sz="600" b="0">
                <a:solidFill>
                  <a:srgbClr val="59646A"/>
                </a:solidFill>
                <a:latin typeface="Aptos"/>
                <a:ea typeface="Aptos"/>
                <a:cs typeface="Aptos"/>
              </a:rPr>
              <a:t>Source: modules/module-01-industrial-demand-generation/lessons/04-moin-map-of-informational-needs.md @ 9e28222</a:t>
            </a:r>
          </a:p>
        </p:txBody>
      </p:sp>
      <p:sp>
        <p:nvSpPr>
          <p:cNvPr id="54" name="">
            <a:extLst xmlns:a="http://schemas.openxmlformats.org/drawingml/2006/main">
              <a:ext uri="{FF2B5EF4-FFF2-40B4-BE49-F238E27FC236}">
                <a16:creationId xmlns:a16="http://schemas.microsoft.com/office/drawing/2014/main" id="{F84B06D8-1CDD-4CF0-9327-2B28C21FE652}"/>
              </a:ext>
            </a:extLst>
          </p:cNvPr>
          <p:cNvSpPr>
            <a:spLocks xmlns:a="http://schemas.openxmlformats.org/drawingml/2006/main" noGrp="1"/>
          </p:cNvSpPr>
          <p:nvPr/>
        </p:nvSpPr>
        <p:spPr>
          <a:xfrm xmlns:a="http://schemas.openxmlformats.org/drawingml/2006/main">
            <a:off x="10668000" y="6553200"/>
            <a:ext cx="762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75" b="0">
                <a:solidFill>
                  <a:srgbClr val="59646A"/>
                </a:solidFill>
                <a:latin typeface="Aptos"/>
                <a:ea typeface="Aptos"/>
                <a:cs typeface="Aptos"/>
              </a:defRPr>
            </a:pPr>
            <a:r>
              <a:rPr sz="675" b="0">
                <a:solidFill>
                  <a:srgbClr val="59646A"/>
                </a:solidFill>
                <a:latin typeface="Aptos"/>
                <a:ea typeface="Aptos"/>
                <a:cs typeface="Aptos"/>
              </a:rPr>
              <a:t>4/15</a:t>
            </a:r>
          </a:p>
        </p:txBody>
      </p:sp>
      <p:sp>
        <p:nvSpPr>
          <p:cNvPr id="55" name="">
            <a:extLst xmlns:a="http://schemas.openxmlformats.org/drawingml/2006/main">
              <a:ext uri="{FF2B5EF4-FFF2-40B4-BE49-F238E27FC236}">
                <a16:creationId xmlns:a16="http://schemas.microsoft.com/office/drawing/2014/main" id="{931925CD-908A-4F9C-B179-F42AD8CB65FF}"/>
              </a:ext>
            </a:extLst>
          </p:cNvPr>
          <p:cNvSpPr>
            <a:spLocks xmlns:a="http://schemas.openxmlformats.org/drawingml/2006/main" noGrp="1"/>
          </p:cNvSpPr>
          <p:nvPr/>
        </p:nvSpPr>
        <p:spPr>
          <a:xfrm xmlns:a="http://schemas.openxmlformats.org/drawingml/2006/main">
            <a:off x="0" y="0"/>
            <a:ext cx="12192000" cy="1809750"/>
          </a:xfrm>
          <a:prstGeom xmlns:a="http://schemas.openxmlformats.org/drawingml/2006/main" prst="rect">
            <a:avLst/>
          </a:prstGeom>
          <a:solidFill xmlns:a="http://schemas.openxmlformats.org/drawingml/2006/main">
            <a:srgbClr val="F5F6F2"/>
          </a:solidFill>
          <a:ln xmlns:a="http://schemas.openxmlformats.org/drawingml/2006/main" w="0">
            <a:solidFill>
              <a:srgbClr val="000000">
                <a:alpha val="0"/>
              </a:srgbClr>
            </a:solidFill>
            <a:prstDash val="solid"/>
          </a:ln>
        </p:spPr>
      </p:sp>
      <p:sp>
        <p:nvSpPr>
          <p:cNvPr id="56" name="">
            <a:extLst xmlns:a="http://schemas.openxmlformats.org/drawingml/2006/main">
              <a:ext uri="{FF2B5EF4-FFF2-40B4-BE49-F238E27FC236}">
                <a16:creationId xmlns:a16="http://schemas.microsoft.com/office/drawing/2014/main" id="{6C36B413-6250-4FFE-B4E4-AE3AF84F7683}"/>
              </a:ext>
            </a:extLst>
          </p:cNvPr>
          <p:cNvSpPr>
            <a:spLocks xmlns:a="http://schemas.openxmlformats.org/drawingml/2006/main" noGrp="1"/>
          </p:cNvSpPr>
          <p:nvPr/>
        </p:nvSpPr>
        <p:spPr>
          <a:xfrm xmlns:a="http://schemas.openxmlformats.org/drawingml/2006/main">
            <a:off x="0" y="0"/>
            <a:ext cx="171450" cy="1809750"/>
          </a:xfrm>
          <a:prstGeom xmlns:a="http://schemas.openxmlformats.org/drawingml/2006/main" prst="rect">
            <a:avLst/>
          </a:prstGeom>
          <a:solidFill xmlns:a="http://schemas.openxmlformats.org/drawingml/2006/main">
            <a:srgbClr val="12232B"/>
          </a:solidFill>
          <a:ln xmlns:a="http://schemas.openxmlformats.org/drawingml/2006/main" w="0">
            <a:solidFill>
              <a:srgbClr val="000000">
                <a:alpha val="0"/>
              </a:srgbClr>
            </a:solidFill>
            <a:prstDash val="solid"/>
          </a:ln>
        </p:spPr>
      </p:sp>
      <p:sp>
        <p:nvSpPr>
          <p:cNvPr id="57" name="">
            <a:extLst xmlns:a="http://schemas.openxmlformats.org/drawingml/2006/main">
              <a:ext uri="{FF2B5EF4-FFF2-40B4-BE49-F238E27FC236}">
                <a16:creationId xmlns:a16="http://schemas.microsoft.com/office/drawing/2014/main" id="{ADFA0672-F36B-4831-8BFF-1E5C1646BACC}"/>
              </a:ext>
            </a:extLst>
          </p:cNvPr>
          <p:cNvSpPr>
            <a:spLocks xmlns:a="http://schemas.openxmlformats.org/drawingml/2006/main" noGrp="1"/>
          </p:cNvSpPr>
          <p:nvPr/>
        </p:nvSpPr>
        <p:spPr>
          <a:xfrm xmlns:a="http://schemas.openxmlformats.org/drawingml/2006/main">
            <a:off x="171450" y="0"/>
            <a:ext cx="57150" cy="180975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58" name="kicker-04-marker">
            <a:extLst xmlns:a="http://schemas.openxmlformats.org/drawingml/2006/main">
              <a:ext uri="{FF2B5EF4-FFF2-40B4-BE49-F238E27FC236}">
                <a16:creationId xmlns:a16="http://schemas.microsoft.com/office/drawing/2014/main" id="{5F86795E-1E51-4B2C-886F-346A98AFD3C3}"/>
              </a:ext>
            </a:extLst>
          </p:cNvPr>
          <p:cNvSpPr>
            <a:spLocks xmlns:a="http://schemas.openxmlformats.org/drawingml/2006/main" noGrp="1"/>
          </p:cNvSpPr>
          <p:nvPr/>
        </p:nvSpPr>
        <p:spPr>
          <a:xfrm xmlns:a="http://schemas.openxmlformats.org/drawingml/2006/main">
            <a:off x="514350" y="390525"/>
            <a:ext cx="76200" cy="762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59" name="kicker-04-label">
            <a:extLst xmlns:a="http://schemas.openxmlformats.org/drawingml/2006/main">
              <a:ext uri="{FF2B5EF4-FFF2-40B4-BE49-F238E27FC236}">
                <a16:creationId xmlns:a16="http://schemas.microsoft.com/office/drawing/2014/main" id="{47E93023-BCF7-4059-96F0-96F81FF7B3E4}"/>
              </a:ext>
            </a:extLst>
          </p:cNvPr>
          <p:cNvSpPr>
            <a:spLocks xmlns:a="http://schemas.openxmlformats.org/drawingml/2006/main" noGrp="1"/>
          </p:cNvSpPr>
          <p:nvPr/>
        </p:nvSpPr>
        <p:spPr>
          <a:xfrm xmlns:a="http://schemas.openxmlformats.org/drawingml/2006/main">
            <a:off x="685800" y="323850"/>
            <a:ext cx="75247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MODULE 1 / LESSON 04 / CORE FRAMEWORK</a:t>
            </a:r>
          </a:p>
        </p:txBody>
      </p:sp>
      <p:sp>
        <p:nvSpPr>
          <p:cNvPr id="60" name="">
            <a:extLst xmlns:a="http://schemas.openxmlformats.org/drawingml/2006/main">
              <a:ext uri="{FF2B5EF4-FFF2-40B4-BE49-F238E27FC236}">
                <a16:creationId xmlns:a16="http://schemas.microsoft.com/office/drawing/2014/main" id="{E363CF86-E71F-4C9E-8D46-7B3EC1BE763C}"/>
              </a:ext>
            </a:extLst>
          </p:cNvPr>
          <p:cNvSpPr>
            <a:spLocks xmlns:a="http://schemas.openxmlformats.org/drawingml/2006/main" noGrp="1"/>
          </p:cNvSpPr>
          <p:nvPr/>
        </p:nvSpPr>
        <p:spPr>
          <a:xfrm xmlns:a="http://schemas.openxmlformats.org/drawingml/2006/main">
            <a:off x="514350" y="704850"/>
            <a:ext cx="8096250" cy="666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250" b="1">
                <a:solidFill>
                  <a:srgbClr val="172026"/>
                </a:solidFill>
                <a:latin typeface="Aptos Display"/>
                <a:ea typeface="Aptos Display"/>
                <a:cs typeface="Aptos Display"/>
              </a:defRPr>
            </a:pPr>
            <a:r>
              <a:rPr sz="2250" b="1">
                <a:solidFill>
                  <a:srgbClr val="172026"/>
                </a:solidFill>
                <a:latin typeface="Aptos Display"/>
                <a:ea typeface="Aptos Display"/>
                <a:cs typeface="Aptos Display"/>
              </a:rPr>
              <a:t>MOIN maps buyer uncertainty by role and demand state.</a:t>
            </a:r>
          </a:p>
        </p:txBody>
      </p:sp>
      <p:sp>
        <p:nvSpPr>
          <p:cNvPr id="61" name="">
            <a:extLst xmlns:a="http://schemas.openxmlformats.org/drawingml/2006/main">
              <a:ext uri="{FF2B5EF4-FFF2-40B4-BE49-F238E27FC236}">
                <a16:creationId xmlns:a16="http://schemas.microsoft.com/office/drawing/2014/main" id="{825206F6-D080-4444-88CA-5BC2885A5FD8}"/>
              </a:ext>
            </a:extLst>
          </p:cNvPr>
          <p:cNvSpPr>
            <a:spLocks xmlns:a="http://schemas.openxmlformats.org/drawingml/2006/main" noGrp="1"/>
          </p:cNvSpPr>
          <p:nvPr/>
        </p:nvSpPr>
        <p:spPr>
          <a:xfrm xmlns:a="http://schemas.openxmlformats.org/drawingml/2006/main">
            <a:off x="514350" y="1314450"/>
            <a:ext cx="819150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59646A"/>
                </a:solidFill>
                <a:latin typeface="Aptos"/>
                <a:ea typeface="Aptos"/>
                <a:cs typeface="Aptos"/>
              </a:defRPr>
            </a:pPr>
            <a:r>
              <a:rPr sz="1125" b="0">
                <a:solidFill>
                  <a:srgbClr val="59646A"/>
                </a:solidFill>
                <a:latin typeface="Aptos"/>
                <a:ea typeface="Aptos"/>
                <a:cs typeface="Aptos"/>
              </a:rPr>
              <a:t>Use the diagram as the visual anchor; the visible path is the teachable sequence.</a:t>
            </a:r>
          </a:p>
        </p:txBody>
      </p:sp>
      <p:sp>
        <p:nvSpPr>
          <p:cNvPr id="62" name="">
            <a:extLst xmlns:a="http://schemas.openxmlformats.org/drawingml/2006/main">
              <a:ext uri="{FF2B5EF4-FFF2-40B4-BE49-F238E27FC236}">
                <a16:creationId xmlns:a16="http://schemas.microsoft.com/office/drawing/2014/main" id="{C9B5BB14-8EF9-4B7E-AA92-15D1C310379A}"/>
              </a:ext>
            </a:extLst>
          </p:cNvPr>
          <p:cNvSpPr>
            <a:spLocks xmlns:a="http://schemas.openxmlformats.org/drawingml/2006/main" noGrp="1"/>
          </p:cNvSpPr>
          <p:nvPr/>
        </p:nvSpPr>
        <p:spPr>
          <a:xfrm xmlns:a="http://schemas.openxmlformats.org/drawingml/2006/main">
            <a:off x="0" y="6400800"/>
            <a:ext cx="12192000" cy="457200"/>
          </a:xfrm>
          <a:prstGeom xmlns:a="http://schemas.openxmlformats.org/drawingml/2006/main" prst="rect">
            <a:avLst/>
          </a:prstGeom>
          <a:solidFill xmlns:a="http://schemas.openxmlformats.org/drawingml/2006/main">
            <a:srgbClr val="F5F6F2"/>
          </a:solidFill>
          <a:ln xmlns:a="http://schemas.openxmlformats.org/drawingml/2006/main" w="0">
            <a:solidFill>
              <a:srgbClr val="000000">
                <a:alpha val="0"/>
              </a:srgbClr>
            </a:solidFill>
            <a:prstDash val="solid"/>
          </a:ln>
        </p:spPr>
      </p:sp>
      <p:sp>
        <p:nvSpPr>
          <p:cNvPr id="63" name="">
            <a:extLst xmlns:a="http://schemas.openxmlformats.org/drawingml/2006/main">
              <a:ext uri="{FF2B5EF4-FFF2-40B4-BE49-F238E27FC236}">
                <a16:creationId xmlns:a16="http://schemas.microsoft.com/office/drawing/2014/main" id="{F5099B5A-A365-4B78-A810-DAE9B53C0F1D}"/>
              </a:ext>
            </a:extLst>
          </p:cNvPr>
          <p:cNvSpPr>
            <a:spLocks xmlns:a="http://schemas.openxmlformats.org/drawingml/2006/main" noGrp="1"/>
          </p:cNvSpPr>
          <p:nvPr/>
        </p:nvSpPr>
        <p:spPr>
          <a:xfrm xmlns:a="http://schemas.openxmlformats.org/drawingml/2006/main">
            <a:off x="0" y="6400800"/>
            <a:ext cx="171450" cy="457200"/>
          </a:xfrm>
          <a:prstGeom xmlns:a="http://schemas.openxmlformats.org/drawingml/2006/main" prst="rect">
            <a:avLst/>
          </a:prstGeom>
          <a:solidFill xmlns:a="http://schemas.openxmlformats.org/drawingml/2006/main">
            <a:srgbClr val="12232B"/>
          </a:solidFill>
          <a:ln xmlns:a="http://schemas.openxmlformats.org/drawingml/2006/main" w="0">
            <a:solidFill>
              <a:srgbClr val="000000">
                <a:alpha val="0"/>
              </a:srgbClr>
            </a:solidFill>
            <a:prstDash val="solid"/>
          </a:ln>
        </p:spPr>
      </p:sp>
      <p:sp>
        <p:nvSpPr>
          <p:cNvPr id="64" name="">
            <a:extLst xmlns:a="http://schemas.openxmlformats.org/drawingml/2006/main">
              <a:ext uri="{FF2B5EF4-FFF2-40B4-BE49-F238E27FC236}">
                <a16:creationId xmlns:a16="http://schemas.microsoft.com/office/drawing/2014/main" id="{A3FCC92D-1559-4151-8CBE-3BAEF7780AB8}"/>
              </a:ext>
            </a:extLst>
          </p:cNvPr>
          <p:cNvSpPr>
            <a:spLocks xmlns:a="http://schemas.openxmlformats.org/drawingml/2006/main" noGrp="1"/>
          </p:cNvSpPr>
          <p:nvPr/>
        </p:nvSpPr>
        <p:spPr>
          <a:xfrm xmlns:a="http://schemas.openxmlformats.org/drawingml/2006/main">
            <a:off x="171450" y="6400800"/>
            <a:ext cx="57150" cy="4572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65" name="">
            <a:extLst xmlns:a="http://schemas.openxmlformats.org/drawingml/2006/main">
              <a:ext uri="{FF2B5EF4-FFF2-40B4-BE49-F238E27FC236}">
                <a16:creationId xmlns:a16="http://schemas.microsoft.com/office/drawing/2014/main" id="{F1285AE4-260A-4D25-977E-2E74CE425F76}"/>
              </a:ext>
            </a:extLst>
          </p:cNvPr>
          <p:cNvSpPr>
            <a:spLocks xmlns:a="http://schemas.openxmlformats.org/drawingml/2006/main" noGrp="1"/>
          </p:cNvSpPr>
          <p:nvPr/>
        </p:nvSpPr>
        <p:spPr>
          <a:xfrm xmlns:a="http://schemas.openxmlformats.org/drawingml/2006/main">
            <a:off x="514350" y="6438900"/>
            <a:ext cx="1091565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66" name="">
            <a:extLst xmlns:a="http://schemas.openxmlformats.org/drawingml/2006/main">
              <a:ext uri="{FF2B5EF4-FFF2-40B4-BE49-F238E27FC236}">
                <a16:creationId xmlns:a16="http://schemas.microsoft.com/office/drawing/2014/main" id="{7E3E4D06-5594-4413-9695-55021834B3B7}"/>
              </a:ext>
            </a:extLst>
          </p:cNvPr>
          <p:cNvSpPr>
            <a:spLocks xmlns:a="http://schemas.openxmlformats.org/drawingml/2006/main" noGrp="1"/>
          </p:cNvSpPr>
          <p:nvPr/>
        </p:nvSpPr>
        <p:spPr>
          <a:xfrm xmlns:a="http://schemas.openxmlformats.org/drawingml/2006/main">
            <a:off x="514350" y="6553200"/>
            <a:ext cx="590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59646A"/>
                </a:solidFill>
                <a:latin typeface="Aptos"/>
                <a:ea typeface="Aptos"/>
                <a:cs typeface="Aptos"/>
              </a:defRPr>
            </a:pPr>
            <a:r>
              <a:rPr sz="675" b="0">
                <a:solidFill>
                  <a:srgbClr val="59646A"/>
                </a:solidFill>
                <a:latin typeface="Aptos"/>
                <a:ea typeface="Aptos"/>
                <a:cs typeface="Aptos"/>
              </a:rPr>
              <a:t>Lesson 04 - MOIN: Map Of Informational Needs</a:t>
            </a:r>
          </a:p>
        </p:txBody>
      </p:sp>
      <p:sp>
        <p:nvSpPr>
          <p:cNvPr id="67" name="">
            <a:extLst xmlns:a="http://schemas.openxmlformats.org/drawingml/2006/main">
              <a:ext uri="{FF2B5EF4-FFF2-40B4-BE49-F238E27FC236}">
                <a16:creationId xmlns:a16="http://schemas.microsoft.com/office/drawing/2014/main" id="{AA144164-9BCA-41DD-A35C-1D2806FDFE5C}"/>
              </a:ext>
            </a:extLst>
          </p:cNvPr>
          <p:cNvSpPr>
            <a:spLocks xmlns:a="http://schemas.openxmlformats.org/drawingml/2006/main" noGrp="1"/>
          </p:cNvSpPr>
          <p:nvPr/>
        </p:nvSpPr>
        <p:spPr>
          <a:xfrm xmlns:a="http://schemas.openxmlformats.org/drawingml/2006/main">
            <a:off x="5334000" y="6553200"/>
            <a:ext cx="4095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00" b="0">
                <a:solidFill>
                  <a:srgbClr val="59646A"/>
                </a:solidFill>
                <a:latin typeface="Aptos"/>
                <a:ea typeface="Aptos"/>
                <a:cs typeface="Aptos"/>
              </a:defRPr>
            </a:pPr>
            <a:r>
              <a:rPr sz="600" b="0">
                <a:solidFill>
                  <a:srgbClr val="59646A"/>
                </a:solidFill>
                <a:latin typeface="Aptos"/>
                <a:ea typeface="Aptos"/>
                <a:cs typeface="Aptos"/>
              </a:rPr>
              <a:t>Source: modules/module-01-industrial-demand-generation/lessons/04-moin-map-of-informational-needs.md @ 9e28222</a:t>
            </a:r>
          </a:p>
        </p:txBody>
      </p:sp>
      <p:sp>
        <p:nvSpPr>
          <p:cNvPr id="68" name="">
            <a:extLst xmlns:a="http://schemas.openxmlformats.org/drawingml/2006/main">
              <a:ext uri="{FF2B5EF4-FFF2-40B4-BE49-F238E27FC236}">
                <a16:creationId xmlns:a16="http://schemas.microsoft.com/office/drawing/2014/main" id="{DE0AD854-D87B-49D6-8086-E3E504AD906E}"/>
              </a:ext>
            </a:extLst>
          </p:cNvPr>
          <p:cNvSpPr>
            <a:spLocks xmlns:a="http://schemas.openxmlformats.org/drawingml/2006/main" noGrp="1"/>
          </p:cNvSpPr>
          <p:nvPr/>
        </p:nvSpPr>
        <p:spPr>
          <a:xfrm xmlns:a="http://schemas.openxmlformats.org/drawingml/2006/main">
            <a:off x="10668000" y="6553200"/>
            <a:ext cx="762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75" b="0">
                <a:solidFill>
                  <a:srgbClr val="59646A"/>
                </a:solidFill>
                <a:latin typeface="Aptos"/>
                <a:ea typeface="Aptos"/>
                <a:cs typeface="Aptos"/>
              </a:defRPr>
            </a:pPr>
            <a:r>
              <a:rPr sz="675" b="0">
                <a:solidFill>
                  <a:srgbClr val="59646A"/>
                </a:solidFill>
                <a:latin typeface="Aptos"/>
                <a:ea typeface="Aptos"/>
                <a:cs typeface="Aptos"/>
              </a:rPr>
              <a:t>4/15</a:t>
            </a:r>
          </a:p>
        </p:txBody>
      </p:sp>
    </p:spTree>
    <p:extLst>
      <p:ext uri="{BB962C8B-B14F-4D97-AF65-F5344CB8AC3E}">
        <p14:creationId xmlns:p14="http://schemas.microsoft.com/office/powerpoint/2010/main" val="1588679972"/>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E829B760-CA81-4B10-88C9-F0BE7AA8FA8E}"/>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6F2"/>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6516CD8B-5AEB-45AD-991D-6C806D5D860D}"/>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12232B"/>
          </a:solidFill>
          <a:ln xmlns:a="http://schemas.openxmlformats.org/drawingml/2006/main" w="0">
            <a:solidFill>
              <a:srgbClr val="000000">
                <a:alpha val="0"/>
              </a:srgbClr>
            </a:solidFill>
            <a:prstDash val="solid"/>
          </a:ln>
        </p:spPr>
      </p:sp>
      <p:sp>
        <p:nvSpPr>
          <p:cNvPr id="3" name="">
            <a:extLst xmlns:a="http://schemas.openxmlformats.org/drawingml/2006/main">
              <a:ext uri="{FF2B5EF4-FFF2-40B4-BE49-F238E27FC236}">
                <a16:creationId xmlns:a16="http://schemas.microsoft.com/office/drawing/2014/main" id="{05C5B360-05FB-4327-BD2B-A8177AA226F1}"/>
              </a:ext>
            </a:extLst>
          </p:cNvPr>
          <p:cNvSpPr>
            <a:spLocks xmlns:a="http://schemas.openxmlformats.org/drawingml/2006/main" noGrp="1"/>
          </p:cNvSpPr>
          <p:nvPr/>
        </p:nvSpPr>
        <p:spPr>
          <a:xfrm xmlns:a="http://schemas.openxmlformats.org/drawingml/2006/main">
            <a:off x="171450" y="0"/>
            <a:ext cx="57150" cy="68580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4" name="kicker-04-marker">
            <a:extLst xmlns:a="http://schemas.openxmlformats.org/drawingml/2006/main">
              <a:ext uri="{FF2B5EF4-FFF2-40B4-BE49-F238E27FC236}">
                <a16:creationId xmlns:a16="http://schemas.microsoft.com/office/drawing/2014/main" id="{609E5FCB-F379-4244-BED1-E8D0E251B72E}"/>
              </a:ext>
            </a:extLst>
          </p:cNvPr>
          <p:cNvSpPr>
            <a:spLocks xmlns:a="http://schemas.openxmlformats.org/drawingml/2006/main" noGrp="1"/>
          </p:cNvSpPr>
          <p:nvPr/>
        </p:nvSpPr>
        <p:spPr>
          <a:xfrm xmlns:a="http://schemas.openxmlformats.org/drawingml/2006/main">
            <a:off x="514350" y="390525"/>
            <a:ext cx="76200" cy="762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5" name="kicker-04-label">
            <a:extLst xmlns:a="http://schemas.openxmlformats.org/drawingml/2006/main">
              <a:ext uri="{FF2B5EF4-FFF2-40B4-BE49-F238E27FC236}">
                <a16:creationId xmlns:a16="http://schemas.microsoft.com/office/drawing/2014/main" id="{15BAB363-D484-43A7-8B59-DB7429A0EECC}"/>
              </a:ext>
            </a:extLst>
          </p:cNvPr>
          <p:cNvSpPr>
            <a:spLocks xmlns:a="http://schemas.openxmlformats.org/drawingml/2006/main" noGrp="1"/>
          </p:cNvSpPr>
          <p:nvPr/>
        </p:nvSpPr>
        <p:spPr>
          <a:xfrm xmlns:a="http://schemas.openxmlformats.org/drawingml/2006/main">
            <a:off x="685800" y="323850"/>
            <a:ext cx="75247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MODULE 1 / LESSON 04 / MENTAL MODEL</a:t>
            </a:r>
          </a:p>
        </p:txBody>
      </p:sp>
      <p:sp>
        <p:nvSpPr>
          <p:cNvPr id="6" name="">
            <a:extLst xmlns:a="http://schemas.openxmlformats.org/drawingml/2006/main">
              <a:ext uri="{FF2B5EF4-FFF2-40B4-BE49-F238E27FC236}">
                <a16:creationId xmlns:a16="http://schemas.microsoft.com/office/drawing/2014/main" id="{7146C703-0A6A-41AF-B81E-E279AF96F09E}"/>
              </a:ext>
            </a:extLst>
          </p:cNvPr>
          <p:cNvSpPr>
            <a:spLocks xmlns:a="http://schemas.openxmlformats.org/drawingml/2006/main" noGrp="1"/>
          </p:cNvSpPr>
          <p:nvPr/>
        </p:nvSpPr>
        <p:spPr>
          <a:xfrm xmlns:a="http://schemas.openxmlformats.org/drawingml/2006/main">
            <a:off x="514350" y="704850"/>
            <a:ext cx="8096250" cy="666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250" b="1">
                <a:solidFill>
                  <a:srgbClr val="172026"/>
                </a:solidFill>
                <a:latin typeface="Aptos Display"/>
                <a:ea typeface="Aptos Display"/>
                <a:cs typeface="Aptos Display"/>
              </a:defRPr>
            </a:pPr>
            <a:r>
              <a:rPr sz="2250" b="1">
                <a:solidFill>
                  <a:srgbClr val="172026"/>
                </a:solidFill>
                <a:latin typeface="Aptos Display"/>
                <a:ea typeface="Aptos Display"/>
                <a:cs typeface="Aptos Display"/>
              </a:rPr>
              <a:t>Every substantial asset must answer four operating questions.</a:t>
            </a:r>
          </a:p>
        </p:txBody>
      </p:sp>
      <p:sp>
        <p:nvSpPr>
          <p:cNvPr id="7" name="">
            <a:extLst xmlns:a="http://schemas.openxmlformats.org/drawingml/2006/main">
              <a:ext uri="{FF2B5EF4-FFF2-40B4-BE49-F238E27FC236}">
                <a16:creationId xmlns:a16="http://schemas.microsoft.com/office/drawing/2014/main" id="{260C22FE-8BF0-4D67-A362-65B56EB2634D}"/>
              </a:ext>
            </a:extLst>
          </p:cNvPr>
          <p:cNvSpPr>
            <a:spLocks xmlns:a="http://schemas.openxmlformats.org/drawingml/2006/main" noGrp="1"/>
          </p:cNvSpPr>
          <p:nvPr/>
        </p:nvSpPr>
        <p:spPr>
          <a:xfrm xmlns:a="http://schemas.openxmlformats.org/drawingml/2006/main">
            <a:off x="514350" y="1314450"/>
            <a:ext cx="819150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59646A"/>
                </a:solidFill>
                <a:latin typeface="Aptos"/>
                <a:ea typeface="Aptos"/>
                <a:cs typeface="Aptos"/>
              </a:defRPr>
            </a:pPr>
            <a:r>
              <a:rPr sz="1125" b="0">
                <a:solidFill>
                  <a:srgbClr val="59646A"/>
                </a:solidFill>
                <a:latin typeface="Aptos"/>
                <a:ea typeface="Aptos"/>
                <a:cs typeface="Aptos"/>
              </a:rPr>
              <a:t>Keep this slide conversational: make learners say what would change in their current system.</a:t>
            </a:r>
          </a:p>
        </p:txBody>
      </p:sp>
      <p:sp>
        <p:nvSpPr>
          <p:cNvPr id="8" name="">
            <a:extLst xmlns:a="http://schemas.openxmlformats.org/drawingml/2006/main">
              <a:ext uri="{FF2B5EF4-FFF2-40B4-BE49-F238E27FC236}">
                <a16:creationId xmlns:a16="http://schemas.microsoft.com/office/drawing/2014/main" id="{20A09879-4E14-43D6-9F36-F3EAA13DB04A}"/>
              </a:ext>
            </a:extLst>
          </p:cNvPr>
          <p:cNvSpPr>
            <a:spLocks xmlns:a="http://schemas.openxmlformats.org/drawingml/2006/main" noGrp="1"/>
          </p:cNvSpPr>
          <p:nvPr/>
        </p:nvSpPr>
        <p:spPr>
          <a:xfrm xmlns:a="http://schemas.openxmlformats.org/drawingml/2006/main">
            <a:off x="514350" y="6438900"/>
            <a:ext cx="1091565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2CAD2547-37DE-467C-90E9-2EB6DFBDCDDC}"/>
              </a:ext>
            </a:extLst>
          </p:cNvPr>
          <p:cNvSpPr>
            <a:spLocks xmlns:a="http://schemas.openxmlformats.org/drawingml/2006/main" noGrp="1"/>
          </p:cNvSpPr>
          <p:nvPr/>
        </p:nvSpPr>
        <p:spPr>
          <a:xfrm xmlns:a="http://schemas.openxmlformats.org/drawingml/2006/main">
            <a:off x="514350" y="6553200"/>
            <a:ext cx="590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59646A"/>
                </a:solidFill>
                <a:latin typeface="Aptos"/>
                <a:ea typeface="Aptos"/>
                <a:cs typeface="Aptos"/>
              </a:defRPr>
            </a:pPr>
            <a:r>
              <a:rPr sz="675" b="0">
                <a:solidFill>
                  <a:srgbClr val="59646A"/>
                </a:solidFill>
                <a:latin typeface="Aptos"/>
                <a:ea typeface="Aptos"/>
                <a:cs typeface="Aptos"/>
              </a:rPr>
              <a:t>Lesson 04 - MOIN: Map Of Informational Needs</a:t>
            </a:r>
          </a:p>
        </p:txBody>
      </p:sp>
      <p:sp>
        <p:nvSpPr>
          <p:cNvPr id="10" name="">
            <a:extLst xmlns:a="http://schemas.openxmlformats.org/drawingml/2006/main">
              <a:ext uri="{FF2B5EF4-FFF2-40B4-BE49-F238E27FC236}">
                <a16:creationId xmlns:a16="http://schemas.microsoft.com/office/drawing/2014/main" id="{C306A0B0-3CC3-41A3-9712-421D9B528256}"/>
              </a:ext>
            </a:extLst>
          </p:cNvPr>
          <p:cNvSpPr>
            <a:spLocks xmlns:a="http://schemas.openxmlformats.org/drawingml/2006/main" noGrp="1"/>
          </p:cNvSpPr>
          <p:nvPr/>
        </p:nvSpPr>
        <p:spPr>
          <a:xfrm xmlns:a="http://schemas.openxmlformats.org/drawingml/2006/main">
            <a:off x="5334000" y="6553200"/>
            <a:ext cx="4095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00" b="0">
                <a:solidFill>
                  <a:srgbClr val="59646A"/>
                </a:solidFill>
                <a:latin typeface="Aptos"/>
                <a:ea typeface="Aptos"/>
                <a:cs typeface="Aptos"/>
              </a:defRPr>
            </a:pPr>
            <a:r>
              <a:rPr sz="600" b="0">
                <a:solidFill>
                  <a:srgbClr val="59646A"/>
                </a:solidFill>
                <a:latin typeface="Aptos"/>
                <a:ea typeface="Aptos"/>
                <a:cs typeface="Aptos"/>
              </a:rPr>
              <a:t>Source: modules/module-01-industrial-demand-generation/lessons/04-moin-map-of-informational-needs.md @ 9e28222</a:t>
            </a:r>
          </a:p>
        </p:txBody>
      </p:sp>
      <p:sp>
        <p:nvSpPr>
          <p:cNvPr id="11" name="">
            <a:extLst xmlns:a="http://schemas.openxmlformats.org/drawingml/2006/main">
              <a:ext uri="{FF2B5EF4-FFF2-40B4-BE49-F238E27FC236}">
                <a16:creationId xmlns:a16="http://schemas.microsoft.com/office/drawing/2014/main" id="{8A91D03D-16C6-4B1F-AAE6-897384F5644E}"/>
              </a:ext>
            </a:extLst>
          </p:cNvPr>
          <p:cNvSpPr>
            <a:spLocks xmlns:a="http://schemas.openxmlformats.org/drawingml/2006/main" noGrp="1"/>
          </p:cNvSpPr>
          <p:nvPr/>
        </p:nvSpPr>
        <p:spPr>
          <a:xfrm xmlns:a="http://schemas.openxmlformats.org/drawingml/2006/main">
            <a:off x="10668000" y="6553200"/>
            <a:ext cx="762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75" b="0">
                <a:solidFill>
                  <a:srgbClr val="59646A"/>
                </a:solidFill>
                <a:latin typeface="Aptos"/>
                <a:ea typeface="Aptos"/>
                <a:cs typeface="Aptos"/>
              </a:defRPr>
            </a:pPr>
            <a:r>
              <a:rPr sz="675" b="0">
                <a:solidFill>
                  <a:srgbClr val="59646A"/>
                </a:solidFill>
                <a:latin typeface="Aptos"/>
                <a:ea typeface="Aptos"/>
                <a:cs typeface="Aptos"/>
              </a:rPr>
              <a:t>5/15</a:t>
            </a:r>
          </a:p>
        </p:txBody>
      </p:sp>
      <p:sp>
        <p:nvSpPr>
          <p:cNvPr id="12" name="">
            <a:extLst xmlns:a="http://schemas.openxmlformats.org/drawingml/2006/main">
              <a:ext uri="{FF2B5EF4-FFF2-40B4-BE49-F238E27FC236}">
                <a16:creationId xmlns:a16="http://schemas.microsoft.com/office/drawing/2014/main" id="{CB019512-A571-4314-87F3-5CF9003DB8CD}"/>
              </a:ext>
            </a:extLst>
          </p:cNvPr>
          <p:cNvSpPr>
            <a:spLocks xmlns:a="http://schemas.openxmlformats.org/drawingml/2006/main" noGrp="1"/>
          </p:cNvSpPr>
          <p:nvPr/>
        </p:nvSpPr>
        <p:spPr>
          <a:xfrm xmlns:a="http://schemas.openxmlformats.org/drawingml/2006/main">
            <a:off x="514350" y="2266950"/>
            <a:ext cx="2557463" cy="2724150"/>
          </a:xfrm>
          <a:prstGeom xmlns:a="http://schemas.openxmlformats.org/drawingml/2006/main" prst="rect">
            <a:avLst/>
          </a:prstGeom>
          <a:solidFill xmlns:a="http://schemas.openxmlformats.org/drawingml/2006/main">
            <a:srgbClr val="FFFFFF"/>
          </a:solidFill>
          <a:ln xmlns:a="http://schemas.openxmlformats.org/drawingml/2006/main" w="9525">
            <a:solidFill>
              <a:srgbClr val="D9DDD6"/>
            </a:solidFill>
            <a:prstDash val="solid"/>
          </a:ln>
        </p:spPr>
      </p:sp>
      <p:sp>
        <p:nvSpPr>
          <p:cNvPr id="13" name="">
            <a:extLst xmlns:a="http://schemas.openxmlformats.org/drawingml/2006/main">
              <a:ext uri="{FF2B5EF4-FFF2-40B4-BE49-F238E27FC236}">
                <a16:creationId xmlns:a16="http://schemas.microsoft.com/office/drawing/2014/main" id="{E17749F5-453F-449E-AA5C-43DA798DC9C3}"/>
              </a:ext>
            </a:extLst>
          </p:cNvPr>
          <p:cNvSpPr>
            <a:spLocks xmlns:a="http://schemas.openxmlformats.org/drawingml/2006/main" noGrp="1"/>
          </p:cNvSpPr>
          <p:nvPr/>
        </p:nvSpPr>
        <p:spPr>
          <a:xfrm xmlns:a="http://schemas.openxmlformats.org/drawingml/2006/main">
            <a:off x="514350" y="2266950"/>
            <a:ext cx="2557463" cy="66675"/>
          </a:xfrm>
          <a:prstGeom xmlns:a="http://schemas.openxmlformats.org/drawingml/2006/main" prst="rect">
            <a:avLst/>
          </a:prstGeom>
          <a:solidFill xmlns:a="http://schemas.openxmlformats.org/drawingml/2006/main">
            <a:srgbClr val="1D6072"/>
          </a:solidFill>
          <a:ln xmlns:a="http://schemas.openxmlformats.org/drawingml/2006/main" w="0">
            <a:solidFill>
              <a:srgbClr val="000000">
                <a:alpha val="0"/>
              </a:srgbClr>
            </a:solidFill>
            <a:prstDash val="solid"/>
          </a:ln>
        </p:spPr>
      </p:sp>
      <p:sp>
        <p:nvSpPr>
          <p:cNvPr id="14" name="">
            <a:extLst xmlns:a="http://schemas.openxmlformats.org/drawingml/2006/main">
              <a:ext uri="{FF2B5EF4-FFF2-40B4-BE49-F238E27FC236}">
                <a16:creationId xmlns:a16="http://schemas.microsoft.com/office/drawing/2014/main" id="{89DD5F15-ABDB-42BA-9F26-690A308CDE5A}"/>
              </a:ext>
            </a:extLst>
          </p:cNvPr>
          <p:cNvSpPr>
            <a:spLocks xmlns:a="http://schemas.openxmlformats.org/drawingml/2006/main" noGrp="1"/>
          </p:cNvSpPr>
          <p:nvPr/>
        </p:nvSpPr>
        <p:spPr>
          <a:xfrm xmlns:a="http://schemas.openxmlformats.org/drawingml/2006/main">
            <a:off x="723900" y="2590800"/>
            <a:ext cx="2138363" cy="419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800" b="1">
                <a:solidFill>
                  <a:srgbClr val="1D6072"/>
                </a:solidFill>
                <a:latin typeface="Aptos Display"/>
                <a:ea typeface="Aptos Display"/>
                <a:cs typeface="Aptos Display"/>
              </a:defRPr>
            </a:pPr>
            <a:r>
              <a:rPr sz="1800" b="1">
                <a:solidFill>
                  <a:srgbClr val="1D6072"/>
                </a:solidFill>
                <a:latin typeface="Aptos Display"/>
                <a:ea typeface="Aptos Display"/>
                <a:cs typeface="Aptos Display"/>
              </a:rPr>
              <a:t>Market</a:t>
            </a:r>
          </a:p>
        </p:txBody>
      </p:sp>
      <p:sp>
        <p:nvSpPr>
          <p:cNvPr id="15" name="">
            <a:extLst xmlns:a="http://schemas.openxmlformats.org/drawingml/2006/main">
              <a:ext uri="{FF2B5EF4-FFF2-40B4-BE49-F238E27FC236}">
                <a16:creationId xmlns:a16="http://schemas.microsoft.com/office/drawing/2014/main" id="{03E15FDF-1DFE-402C-A8B5-8FEF91FCD2F8}"/>
              </a:ext>
            </a:extLst>
          </p:cNvPr>
          <p:cNvSpPr>
            <a:spLocks xmlns:a="http://schemas.openxmlformats.org/drawingml/2006/main" noGrp="1"/>
          </p:cNvSpPr>
          <p:nvPr/>
        </p:nvSpPr>
        <p:spPr>
          <a:xfrm xmlns:a="http://schemas.openxmlformats.org/drawingml/2006/main">
            <a:off x="723900" y="3257550"/>
            <a:ext cx="2138363" cy="1123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72026"/>
                </a:solidFill>
                <a:latin typeface="Aptos"/>
                <a:ea typeface="Aptos"/>
                <a:cs typeface="Aptos"/>
              </a:defRPr>
            </a:pPr>
            <a:r>
              <a:rPr sz="1200" b="0">
                <a:solidFill>
                  <a:srgbClr val="172026"/>
                </a:solidFill>
                <a:latin typeface="Aptos"/>
                <a:ea typeface="Aptos"/>
                <a:cs typeface="Aptos"/>
              </a:rPr>
              <a:t>Which segment or account cluster is this for?</a:t>
            </a:r>
          </a:p>
        </p:txBody>
      </p:sp>
      <p:sp>
        <p:nvSpPr>
          <p:cNvPr id="16" name="">
            <a:extLst xmlns:a="http://schemas.openxmlformats.org/drawingml/2006/main">
              <a:ext uri="{FF2B5EF4-FFF2-40B4-BE49-F238E27FC236}">
                <a16:creationId xmlns:a16="http://schemas.microsoft.com/office/drawing/2014/main" id="{85C2FA16-0CA3-47D9-A7DB-2F1622DC9D19}"/>
              </a:ext>
            </a:extLst>
          </p:cNvPr>
          <p:cNvSpPr>
            <a:spLocks xmlns:a="http://schemas.openxmlformats.org/drawingml/2006/main" noGrp="1"/>
          </p:cNvSpPr>
          <p:nvPr/>
        </p:nvSpPr>
        <p:spPr>
          <a:xfrm xmlns:a="http://schemas.openxmlformats.org/drawingml/2006/main">
            <a:off x="3300413" y="2266950"/>
            <a:ext cx="2557463" cy="2724150"/>
          </a:xfrm>
          <a:prstGeom xmlns:a="http://schemas.openxmlformats.org/drawingml/2006/main" prst="rect">
            <a:avLst/>
          </a:prstGeom>
          <a:solidFill xmlns:a="http://schemas.openxmlformats.org/drawingml/2006/main">
            <a:srgbClr val="FFFFFF"/>
          </a:solidFill>
          <a:ln xmlns:a="http://schemas.openxmlformats.org/drawingml/2006/main" w="9525">
            <a:solidFill>
              <a:srgbClr val="D9DDD6"/>
            </a:solidFill>
            <a:prstDash val="solid"/>
          </a:ln>
        </p:spPr>
      </p:sp>
      <p:sp>
        <p:nvSpPr>
          <p:cNvPr id="17" name="">
            <a:extLst xmlns:a="http://schemas.openxmlformats.org/drawingml/2006/main">
              <a:ext uri="{FF2B5EF4-FFF2-40B4-BE49-F238E27FC236}">
                <a16:creationId xmlns:a16="http://schemas.microsoft.com/office/drawing/2014/main" id="{AB42FA22-22F0-433B-91E5-00A32ECD41BC}"/>
              </a:ext>
            </a:extLst>
          </p:cNvPr>
          <p:cNvSpPr>
            <a:spLocks xmlns:a="http://schemas.openxmlformats.org/drawingml/2006/main" noGrp="1"/>
          </p:cNvSpPr>
          <p:nvPr/>
        </p:nvSpPr>
        <p:spPr>
          <a:xfrm xmlns:a="http://schemas.openxmlformats.org/drawingml/2006/main">
            <a:off x="3300413" y="2266950"/>
            <a:ext cx="2557463" cy="66675"/>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18" name="">
            <a:extLst xmlns:a="http://schemas.openxmlformats.org/drawingml/2006/main">
              <a:ext uri="{FF2B5EF4-FFF2-40B4-BE49-F238E27FC236}">
                <a16:creationId xmlns:a16="http://schemas.microsoft.com/office/drawing/2014/main" id="{D78A9D53-4C84-4A7D-B790-C5DEF449A09F}"/>
              </a:ext>
            </a:extLst>
          </p:cNvPr>
          <p:cNvSpPr>
            <a:spLocks xmlns:a="http://schemas.openxmlformats.org/drawingml/2006/main" noGrp="1"/>
          </p:cNvSpPr>
          <p:nvPr/>
        </p:nvSpPr>
        <p:spPr>
          <a:xfrm xmlns:a="http://schemas.openxmlformats.org/drawingml/2006/main">
            <a:off x="3509963" y="2590800"/>
            <a:ext cx="2138363" cy="419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800" b="1">
                <a:solidFill>
                  <a:srgbClr val="A85D2A"/>
                </a:solidFill>
                <a:latin typeface="Aptos Display"/>
                <a:ea typeface="Aptos Display"/>
                <a:cs typeface="Aptos Display"/>
              </a:defRPr>
            </a:pPr>
            <a:r>
              <a:rPr sz="1800" b="1">
                <a:solidFill>
                  <a:srgbClr val="A85D2A"/>
                </a:solidFill>
                <a:latin typeface="Aptos Display"/>
                <a:ea typeface="Aptos Display"/>
                <a:cs typeface="Aptos Display"/>
              </a:rPr>
              <a:t>Objective</a:t>
            </a:r>
          </a:p>
        </p:txBody>
      </p:sp>
      <p:sp>
        <p:nvSpPr>
          <p:cNvPr id="19" name="">
            <a:extLst xmlns:a="http://schemas.openxmlformats.org/drawingml/2006/main">
              <a:ext uri="{FF2B5EF4-FFF2-40B4-BE49-F238E27FC236}">
                <a16:creationId xmlns:a16="http://schemas.microsoft.com/office/drawing/2014/main" id="{61F69260-836B-4D45-A9F8-637231BF702A}"/>
              </a:ext>
            </a:extLst>
          </p:cNvPr>
          <p:cNvSpPr>
            <a:spLocks xmlns:a="http://schemas.openxmlformats.org/drawingml/2006/main" noGrp="1"/>
          </p:cNvSpPr>
          <p:nvPr/>
        </p:nvSpPr>
        <p:spPr>
          <a:xfrm xmlns:a="http://schemas.openxmlformats.org/drawingml/2006/main">
            <a:off x="3509963" y="3257550"/>
            <a:ext cx="2138363" cy="1123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72026"/>
                </a:solidFill>
                <a:latin typeface="Aptos"/>
                <a:ea typeface="Aptos"/>
                <a:cs typeface="Aptos"/>
              </a:defRPr>
            </a:pPr>
            <a:r>
              <a:rPr sz="1200" b="0">
                <a:solidFill>
                  <a:srgbClr val="172026"/>
                </a:solidFill>
                <a:latin typeface="Aptos"/>
                <a:ea typeface="Aptos"/>
                <a:cs typeface="Aptos"/>
              </a:rPr>
              <a:t>What belief, signal, or movement should it create?</a:t>
            </a:r>
          </a:p>
        </p:txBody>
      </p:sp>
      <p:sp>
        <p:nvSpPr>
          <p:cNvPr id="20" name="">
            <a:extLst xmlns:a="http://schemas.openxmlformats.org/drawingml/2006/main">
              <a:ext uri="{FF2B5EF4-FFF2-40B4-BE49-F238E27FC236}">
                <a16:creationId xmlns:a16="http://schemas.microsoft.com/office/drawing/2014/main" id="{B7D5E3C0-50CB-44E6-B254-8EAE8B631A0C}"/>
              </a:ext>
            </a:extLst>
          </p:cNvPr>
          <p:cNvSpPr>
            <a:spLocks xmlns:a="http://schemas.openxmlformats.org/drawingml/2006/main" noGrp="1"/>
          </p:cNvSpPr>
          <p:nvPr/>
        </p:nvSpPr>
        <p:spPr>
          <a:xfrm xmlns:a="http://schemas.openxmlformats.org/drawingml/2006/main">
            <a:off x="6086475" y="2266950"/>
            <a:ext cx="2557463" cy="2724150"/>
          </a:xfrm>
          <a:prstGeom xmlns:a="http://schemas.openxmlformats.org/drawingml/2006/main" prst="rect">
            <a:avLst/>
          </a:prstGeom>
          <a:solidFill xmlns:a="http://schemas.openxmlformats.org/drawingml/2006/main">
            <a:srgbClr val="FFFFFF"/>
          </a:solidFill>
          <a:ln xmlns:a="http://schemas.openxmlformats.org/drawingml/2006/main" w="9525">
            <a:solidFill>
              <a:srgbClr val="D9DDD6"/>
            </a:solidFill>
            <a:prstDash val="solid"/>
          </a:ln>
        </p:spPr>
      </p:sp>
      <p:sp>
        <p:nvSpPr>
          <p:cNvPr id="21" name="">
            <a:extLst xmlns:a="http://schemas.openxmlformats.org/drawingml/2006/main">
              <a:ext uri="{FF2B5EF4-FFF2-40B4-BE49-F238E27FC236}">
                <a16:creationId xmlns:a16="http://schemas.microsoft.com/office/drawing/2014/main" id="{CE118128-C317-4DFE-87EF-39797A276AEE}"/>
              </a:ext>
            </a:extLst>
          </p:cNvPr>
          <p:cNvSpPr>
            <a:spLocks xmlns:a="http://schemas.openxmlformats.org/drawingml/2006/main" noGrp="1"/>
          </p:cNvSpPr>
          <p:nvPr/>
        </p:nvSpPr>
        <p:spPr>
          <a:xfrm xmlns:a="http://schemas.openxmlformats.org/drawingml/2006/main">
            <a:off x="6086475" y="2266950"/>
            <a:ext cx="2557463" cy="66675"/>
          </a:xfrm>
          <a:prstGeom xmlns:a="http://schemas.openxmlformats.org/drawingml/2006/main" prst="rect">
            <a:avLst/>
          </a:prstGeom>
          <a:solidFill xmlns:a="http://schemas.openxmlformats.org/drawingml/2006/main">
            <a:srgbClr val="667A39"/>
          </a:solidFill>
          <a:ln xmlns:a="http://schemas.openxmlformats.org/drawingml/2006/main" w="0">
            <a:solidFill>
              <a:srgbClr val="000000">
                <a:alpha val="0"/>
              </a:srgbClr>
            </a:solidFill>
            <a:prstDash val="solid"/>
          </a:ln>
        </p:spPr>
      </p:sp>
      <p:sp>
        <p:nvSpPr>
          <p:cNvPr id="22" name="">
            <a:extLst xmlns:a="http://schemas.openxmlformats.org/drawingml/2006/main">
              <a:ext uri="{FF2B5EF4-FFF2-40B4-BE49-F238E27FC236}">
                <a16:creationId xmlns:a16="http://schemas.microsoft.com/office/drawing/2014/main" id="{DA4C0EA0-0423-4609-B4E7-9BFE918D3719}"/>
              </a:ext>
            </a:extLst>
          </p:cNvPr>
          <p:cNvSpPr>
            <a:spLocks xmlns:a="http://schemas.openxmlformats.org/drawingml/2006/main" noGrp="1"/>
          </p:cNvSpPr>
          <p:nvPr/>
        </p:nvSpPr>
        <p:spPr>
          <a:xfrm xmlns:a="http://schemas.openxmlformats.org/drawingml/2006/main">
            <a:off x="6296025" y="2590800"/>
            <a:ext cx="2138363" cy="419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800" b="1">
                <a:solidFill>
                  <a:srgbClr val="667A39"/>
                </a:solidFill>
                <a:latin typeface="Aptos Display"/>
                <a:ea typeface="Aptos Display"/>
                <a:cs typeface="Aptos Display"/>
              </a:defRPr>
            </a:pPr>
            <a:r>
              <a:rPr sz="1800" b="1">
                <a:solidFill>
                  <a:srgbClr val="667A39"/>
                </a:solidFill>
                <a:latin typeface="Aptos Display"/>
                <a:ea typeface="Aptos Display"/>
                <a:cs typeface="Aptos Display"/>
              </a:rPr>
              <a:t>Insight</a:t>
            </a:r>
          </a:p>
        </p:txBody>
      </p:sp>
      <p:sp>
        <p:nvSpPr>
          <p:cNvPr id="23" name="">
            <a:extLst xmlns:a="http://schemas.openxmlformats.org/drawingml/2006/main">
              <a:ext uri="{FF2B5EF4-FFF2-40B4-BE49-F238E27FC236}">
                <a16:creationId xmlns:a16="http://schemas.microsoft.com/office/drawing/2014/main" id="{8D5FD829-8BF4-4802-8B4F-783BC6229DAF}"/>
              </a:ext>
            </a:extLst>
          </p:cNvPr>
          <p:cNvSpPr>
            <a:spLocks xmlns:a="http://schemas.openxmlformats.org/drawingml/2006/main" noGrp="1"/>
          </p:cNvSpPr>
          <p:nvPr/>
        </p:nvSpPr>
        <p:spPr>
          <a:xfrm xmlns:a="http://schemas.openxmlformats.org/drawingml/2006/main">
            <a:off x="6296025" y="3257550"/>
            <a:ext cx="2138363" cy="1123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72026"/>
                </a:solidFill>
                <a:latin typeface="Aptos"/>
                <a:ea typeface="Aptos"/>
                <a:cs typeface="Aptos"/>
              </a:defRPr>
            </a:pPr>
            <a:r>
              <a:rPr sz="1200" b="0">
                <a:solidFill>
                  <a:srgbClr val="172026"/>
                </a:solidFill>
                <a:latin typeface="Aptos"/>
                <a:ea typeface="Aptos"/>
                <a:cs typeface="Aptos"/>
              </a:rPr>
              <a:t>What non-obvious lesson does it teach?</a:t>
            </a:r>
          </a:p>
        </p:txBody>
      </p:sp>
      <p:sp>
        <p:nvSpPr>
          <p:cNvPr id="24" name="">
            <a:extLst xmlns:a="http://schemas.openxmlformats.org/drawingml/2006/main">
              <a:ext uri="{FF2B5EF4-FFF2-40B4-BE49-F238E27FC236}">
                <a16:creationId xmlns:a16="http://schemas.microsoft.com/office/drawing/2014/main" id="{8836C34A-58D4-4826-9C1D-842A0EF777F2}"/>
              </a:ext>
            </a:extLst>
          </p:cNvPr>
          <p:cNvSpPr>
            <a:spLocks xmlns:a="http://schemas.openxmlformats.org/drawingml/2006/main" noGrp="1"/>
          </p:cNvSpPr>
          <p:nvPr/>
        </p:nvSpPr>
        <p:spPr>
          <a:xfrm xmlns:a="http://schemas.openxmlformats.org/drawingml/2006/main">
            <a:off x="8872538" y="2266950"/>
            <a:ext cx="2557463" cy="2724150"/>
          </a:xfrm>
          <a:prstGeom xmlns:a="http://schemas.openxmlformats.org/drawingml/2006/main" prst="rect">
            <a:avLst/>
          </a:prstGeom>
          <a:solidFill xmlns:a="http://schemas.openxmlformats.org/drawingml/2006/main">
            <a:srgbClr val="FFFFFF"/>
          </a:solidFill>
          <a:ln xmlns:a="http://schemas.openxmlformats.org/drawingml/2006/main" w="9525">
            <a:solidFill>
              <a:srgbClr val="D9DDD6"/>
            </a:solidFill>
            <a:prstDash val="solid"/>
          </a:ln>
        </p:spPr>
      </p:sp>
      <p:sp>
        <p:nvSpPr>
          <p:cNvPr id="25" name="">
            <a:extLst xmlns:a="http://schemas.openxmlformats.org/drawingml/2006/main">
              <a:ext uri="{FF2B5EF4-FFF2-40B4-BE49-F238E27FC236}">
                <a16:creationId xmlns:a16="http://schemas.microsoft.com/office/drawing/2014/main" id="{3FEFC410-2628-4BBC-9DAE-205EA45DCE3E}"/>
              </a:ext>
            </a:extLst>
          </p:cNvPr>
          <p:cNvSpPr>
            <a:spLocks xmlns:a="http://schemas.openxmlformats.org/drawingml/2006/main" noGrp="1"/>
          </p:cNvSpPr>
          <p:nvPr/>
        </p:nvSpPr>
        <p:spPr>
          <a:xfrm xmlns:a="http://schemas.openxmlformats.org/drawingml/2006/main">
            <a:off x="8872538" y="2266950"/>
            <a:ext cx="2557463" cy="66675"/>
          </a:xfrm>
          <a:prstGeom xmlns:a="http://schemas.openxmlformats.org/drawingml/2006/main" prst="rect">
            <a:avLst/>
          </a:prstGeom>
          <a:solidFill xmlns:a="http://schemas.openxmlformats.org/drawingml/2006/main">
            <a:srgbClr val="B7953B"/>
          </a:solidFill>
          <a:ln xmlns:a="http://schemas.openxmlformats.org/drawingml/2006/main" w="0">
            <a:solidFill>
              <a:srgbClr val="000000">
                <a:alpha val="0"/>
              </a:srgbClr>
            </a:solidFill>
            <a:prstDash val="solid"/>
          </a:ln>
        </p:spPr>
      </p:sp>
      <p:sp>
        <p:nvSpPr>
          <p:cNvPr id="26" name="">
            <a:extLst xmlns:a="http://schemas.openxmlformats.org/drawingml/2006/main">
              <a:ext uri="{FF2B5EF4-FFF2-40B4-BE49-F238E27FC236}">
                <a16:creationId xmlns:a16="http://schemas.microsoft.com/office/drawing/2014/main" id="{6D59E4E5-78FC-45EB-B53B-6964FC8A5570}"/>
              </a:ext>
            </a:extLst>
          </p:cNvPr>
          <p:cNvSpPr>
            <a:spLocks xmlns:a="http://schemas.openxmlformats.org/drawingml/2006/main" noGrp="1"/>
          </p:cNvSpPr>
          <p:nvPr/>
        </p:nvSpPr>
        <p:spPr>
          <a:xfrm xmlns:a="http://schemas.openxmlformats.org/drawingml/2006/main">
            <a:off x="9082088" y="2590800"/>
            <a:ext cx="2138363" cy="419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800" b="1">
                <a:solidFill>
                  <a:srgbClr val="B7953B"/>
                </a:solidFill>
                <a:latin typeface="Aptos Display"/>
                <a:ea typeface="Aptos Display"/>
                <a:cs typeface="Aptos Display"/>
              </a:defRPr>
            </a:pPr>
            <a:r>
              <a:rPr sz="1800" b="1">
                <a:solidFill>
                  <a:srgbClr val="B7953B"/>
                </a:solidFill>
                <a:latin typeface="Aptos Display"/>
                <a:ea typeface="Aptos Display"/>
                <a:cs typeface="Aptos Display"/>
              </a:rPr>
              <a:t>Next action</a:t>
            </a:r>
          </a:p>
        </p:txBody>
      </p:sp>
      <p:sp>
        <p:nvSpPr>
          <p:cNvPr id="27" name="">
            <a:extLst xmlns:a="http://schemas.openxmlformats.org/drawingml/2006/main">
              <a:ext uri="{FF2B5EF4-FFF2-40B4-BE49-F238E27FC236}">
                <a16:creationId xmlns:a16="http://schemas.microsoft.com/office/drawing/2014/main" id="{06DCBB98-A1F7-44B6-B52E-9667334D257E}"/>
              </a:ext>
            </a:extLst>
          </p:cNvPr>
          <p:cNvSpPr>
            <a:spLocks xmlns:a="http://schemas.openxmlformats.org/drawingml/2006/main" noGrp="1"/>
          </p:cNvSpPr>
          <p:nvPr/>
        </p:nvSpPr>
        <p:spPr>
          <a:xfrm xmlns:a="http://schemas.openxmlformats.org/drawingml/2006/main">
            <a:off x="9082088" y="3257550"/>
            <a:ext cx="2138363" cy="1123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72026"/>
                </a:solidFill>
                <a:latin typeface="Aptos"/>
                <a:ea typeface="Aptos"/>
                <a:cs typeface="Aptos"/>
              </a:defRPr>
            </a:pPr>
            <a:r>
              <a:rPr sz="1200" b="0">
                <a:solidFill>
                  <a:srgbClr val="172026"/>
                </a:solidFill>
                <a:latin typeface="Aptos"/>
                <a:ea typeface="Aptos"/>
                <a:cs typeface="Aptos"/>
              </a:rPr>
              <a:t>What should the buyer or account team do after engagement?</a:t>
            </a:r>
          </a:p>
        </p:txBody>
      </p:sp>
      <p:sp>
        <p:nvSpPr>
          <p:cNvPr id="28" name="">
            <a:extLst xmlns:a="http://schemas.openxmlformats.org/drawingml/2006/main">
              <a:ext uri="{FF2B5EF4-FFF2-40B4-BE49-F238E27FC236}">
                <a16:creationId xmlns:a16="http://schemas.microsoft.com/office/drawing/2014/main" id="{A93509B6-A5E1-4400-B5A4-1CF94A422992}"/>
              </a:ext>
            </a:extLst>
          </p:cNvPr>
          <p:cNvSpPr>
            <a:spLocks xmlns:a="http://schemas.openxmlformats.org/drawingml/2006/main" noGrp="1"/>
          </p:cNvSpPr>
          <p:nvPr/>
        </p:nvSpPr>
        <p:spPr>
          <a:xfrm xmlns:a="http://schemas.openxmlformats.org/drawingml/2006/main">
            <a:off x="8782050" y="5353050"/>
            <a:ext cx="2647950" cy="838200"/>
          </a:xfrm>
          <a:prstGeom xmlns:a="http://schemas.openxmlformats.org/drawingml/2006/main" prst="rect">
            <a:avLst/>
          </a:prstGeom>
          <a:solidFill xmlns:a="http://schemas.openxmlformats.org/drawingml/2006/main">
            <a:srgbClr val="12232B"/>
          </a:solidFill>
          <a:ln xmlns:a="http://schemas.openxmlformats.org/drawingml/2006/main" w="9525">
            <a:solidFill>
              <a:srgbClr val="12232B"/>
            </a:solidFill>
            <a:prstDash val="solid"/>
          </a:ln>
        </p:spPr>
      </p:sp>
      <p:sp>
        <p:nvSpPr>
          <p:cNvPr id="29" name="">
            <a:extLst xmlns:a="http://schemas.openxmlformats.org/drawingml/2006/main">
              <a:ext uri="{FF2B5EF4-FFF2-40B4-BE49-F238E27FC236}">
                <a16:creationId xmlns:a16="http://schemas.microsoft.com/office/drawing/2014/main" id="{2E03BA3F-6DA1-4552-8580-426832565985}"/>
              </a:ext>
            </a:extLst>
          </p:cNvPr>
          <p:cNvSpPr>
            <a:spLocks xmlns:a="http://schemas.openxmlformats.org/drawingml/2006/main" noGrp="1"/>
          </p:cNvSpPr>
          <p:nvPr/>
        </p:nvSpPr>
        <p:spPr>
          <a:xfrm xmlns:a="http://schemas.openxmlformats.org/drawingml/2006/main">
            <a:off x="8972550" y="5505450"/>
            <a:ext cx="1428750" cy="152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1">
                <a:solidFill>
                  <a:srgbClr val="AFC3C8"/>
                </a:solidFill>
                <a:latin typeface="Aptos"/>
                <a:ea typeface="Aptos"/>
                <a:cs typeface="Aptos"/>
              </a:defRPr>
            </a:pPr>
            <a:r>
              <a:rPr sz="675" b="1">
                <a:solidFill>
                  <a:srgbClr val="AFC3C8"/>
                </a:solidFill>
                <a:latin typeface="Aptos"/>
                <a:ea typeface="Aptos"/>
                <a:cs typeface="Aptos"/>
              </a:rPr>
              <a:t>INSTRUCTOR CUE</a:t>
            </a:r>
          </a:p>
        </p:txBody>
      </p:sp>
      <p:sp>
        <p:nvSpPr>
          <p:cNvPr id="30" name="">
            <a:extLst xmlns:a="http://schemas.openxmlformats.org/drawingml/2006/main">
              <a:ext uri="{FF2B5EF4-FFF2-40B4-BE49-F238E27FC236}">
                <a16:creationId xmlns:a16="http://schemas.microsoft.com/office/drawing/2014/main" id="{75BE06D7-EB0B-4D26-AF9D-5091AA84C54B}"/>
              </a:ext>
            </a:extLst>
          </p:cNvPr>
          <p:cNvSpPr>
            <a:spLocks xmlns:a="http://schemas.openxmlformats.org/drawingml/2006/main" noGrp="1"/>
          </p:cNvSpPr>
          <p:nvPr/>
        </p:nvSpPr>
        <p:spPr>
          <a:xfrm xmlns:a="http://schemas.openxmlformats.org/drawingml/2006/main">
            <a:off x="8972550" y="5676900"/>
            <a:ext cx="219075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0">
                <a:solidFill>
                  <a:srgbClr val="FFFFFF"/>
                </a:solidFill>
                <a:latin typeface="Aptos"/>
                <a:ea typeface="Aptos"/>
                <a:cs typeface="Aptos"/>
              </a:defRPr>
            </a:pPr>
            <a:r>
              <a:rPr sz="975" b="0">
                <a:solidFill>
                  <a:srgbClr val="FFFFFF"/>
                </a:solidFill>
                <a:latin typeface="Aptos"/>
                <a:ea typeface="Aptos"/>
                <a:cs typeface="Aptos"/>
              </a:rPr>
              <a:t>Ask: which box is weakest in your current category?</a:t>
            </a:r>
          </a:p>
        </p:txBody>
      </p:sp>
      <p:sp>
        <p:nvSpPr>
          <p:cNvPr id="31" name="">
            <a:extLst xmlns:a="http://schemas.openxmlformats.org/drawingml/2006/main">
              <a:ext uri="{FF2B5EF4-FFF2-40B4-BE49-F238E27FC236}">
                <a16:creationId xmlns:a16="http://schemas.microsoft.com/office/drawing/2014/main" id="{328B9435-E69A-4B2E-9F2A-425EB7A2C7A5}"/>
              </a:ext>
            </a:extLst>
          </p:cNvPr>
          <p:cNvSpPr>
            <a:spLocks xmlns:a="http://schemas.openxmlformats.org/drawingml/2006/main" noGrp="1"/>
          </p:cNvSpPr>
          <p:nvPr/>
        </p:nvSpPr>
        <p:spPr>
          <a:xfrm xmlns:a="http://schemas.openxmlformats.org/drawingml/2006/main">
            <a:off x="514350" y="6438900"/>
            <a:ext cx="1091565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32" name="">
            <a:extLst xmlns:a="http://schemas.openxmlformats.org/drawingml/2006/main">
              <a:ext uri="{FF2B5EF4-FFF2-40B4-BE49-F238E27FC236}">
                <a16:creationId xmlns:a16="http://schemas.microsoft.com/office/drawing/2014/main" id="{38B73158-8CF3-44E8-B2C9-0FA471FAA318}"/>
              </a:ext>
            </a:extLst>
          </p:cNvPr>
          <p:cNvSpPr>
            <a:spLocks xmlns:a="http://schemas.openxmlformats.org/drawingml/2006/main" noGrp="1"/>
          </p:cNvSpPr>
          <p:nvPr/>
        </p:nvSpPr>
        <p:spPr>
          <a:xfrm xmlns:a="http://schemas.openxmlformats.org/drawingml/2006/main">
            <a:off x="514350" y="6553200"/>
            <a:ext cx="590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59646A"/>
                </a:solidFill>
                <a:latin typeface="Aptos"/>
                <a:ea typeface="Aptos"/>
                <a:cs typeface="Aptos"/>
              </a:defRPr>
            </a:pPr>
            <a:r>
              <a:rPr sz="675" b="0">
                <a:solidFill>
                  <a:srgbClr val="59646A"/>
                </a:solidFill>
                <a:latin typeface="Aptos"/>
                <a:ea typeface="Aptos"/>
                <a:cs typeface="Aptos"/>
              </a:rPr>
              <a:t>Lesson 04 - MOIN: Map Of Informational Needs</a:t>
            </a:r>
          </a:p>
        </p:txBody>
      </p:sp>
      <p:sp>
        <p:nvSpPr>
          <p:cNvPr id="33" name="">
            <a:extLst xmlns:a="http://schemas.openxmlformats.org/drawingml/2006/main">
              <a:ext uri="{FF2B5EF4-FFF2-40B4-BE49-F238E27FC236}">
                <a16:creationId xmlns:a16="http://schemas.microsoft.com/office/drawing/2014/main" id="{C286241B-A52E-47F3-82B8-6FE0FBDCCC81}"/>
              </a:ext>
            </a:extLst>
          </p:cNvPr>
          <p:cNvSpPr>
            <a:spLocks xmlns:a="http://schemas.openxmlformats.org/drawingml/2006/main" noGrp="1"/>
          </p:cNvSpPr>
          <p:nvPr/>
        </p:nvSpPr>
        <p:spPr>
          <a:xfrm xmlns:a="http://schemas.openxmlformats.org/drawingml/2006/main">
            <a:off x="5334000" y="6553200"/>
            <a:ext cx="4095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00" b="0">
                <a:solidFill>
                  <a:srgbClr val="59646A"/>
                </a:solidFill>
                <a:latin typeface="Aptos"/>
                <a:ea typeface="Aptos"/>
                <a:cs typeface="Aptos"/>
              </a:defRPr>
            </a:pPr>
            <a:r>
              <a:rPr sz="600" b="0">
                <a:solidFill>
                  <a:srgbClr val="59646A"/>
                </a:solidFill>
                <a:latin typeface="Aptos"/>
                <a:ea typeface="Aptos"/>
                <a:cs typeface="Aptos"/>
              </a:rPr>
              <a:t>Source: modules/module-01-industrial-demand-generation/lessons/04-moin-map-of-informational-needs.md @ 9e28222</a:t>
            </a:r>
          </a:p>
        </p:txBody>
      </p:sp>
      <p:sp>
        <p:nvSpPr>
          <p:cNvPr id="34" name="">
            <a:extLst xmlns:a="http://schemas.openxmlformats.org/drawingml/2006/main">
              <a:ext uri="{FF2B5EF4-FFF2-40B4-BE49-F238E27FC236}">
                <a16:creationId xmlns:a16="http://schemas.microsoft.com/office/drawing/2014/main" id="{C3B5A108-C7D8-41FE-BA99-F0DB35256E1C}"/>
              </a:ext>
            </a:extLst>
          </p:cNvPr>
          <p:cNvSpPr>
            <a:spLocks xmlns:a="http://schemas.openxmlformats.org/drawingml/2006/main" noGrp="1"/>
          </p:cNvSpPr>
          <p:nvPr/>
        </p:nvSpPr>
        <p:spPr>
          <a:xfrm xmlns:a="http://schemas.openxmlformats.org/drawingml/2006/main">
            <a:off x="10668000" y="6553200"/>
            <a:ext cx="762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75" b="0">
                <a:solidFill>
                  <a:srgbClr val="59646A"/>
                </a:solidFill>
                <a:latin typeface="Aptos"/>
                <a:ea typeface="Aptos"/>
                <a:cs typeface="Aptos"/>
              </a:defRPr>
            </a:pPr>
            <a:r>
              <a:rPr sz="675" b="0">
                <a:solidFill>
                  <a:srgbClr val="59646A"/>
                </a:solidFill>
                <a:latin typeface="Aptos"/>
                <a:ea typeface="Aptos"/>
                <a:cs typeface="Aptos"/>
              </a:rPr>
              <a:t>5/15</a:t>
            </a:r>
          </a:p>
        </p:txBody>
      </p:sp>
    </p:spTree>
    <p:extLst>
      <p:ext uri="{BB962C8B-B14F-4D97-AF65-F5344CB8AC3E}">
        <p14:creationId xmlns:p14="http://schemas.microsoft.com/office/powerpoint/2010/main" val="961179342"/>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A15E3BD3-708D-4E01-B5AF-A737D01C5979}"/>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6F2"/>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DFC0F2F0-4CF4-47FF-BBA1-439EAEFF7F90}"/>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12232B"/>
          </a:solidFill>
          <a:ln xmlns:a="http://schemas.openxmlformats.org/drawingml/2006/main" w="0">
            <a:solidFill>
              <a:srgbClr val="000000">
                <a:alpha val="0"/>
              </a:srgbClr>
            </a:solidFill>
            <a:prstDash val="solid"/>
          </a:ln>
        </p:spPr>
      </p:sp>
      <p:sp>
        <p:nvSpPr>
          <p:cNvPr id="3" name="">
            <a:extLst xmlns:a="http://schemas.openxmlformats.org/drawingml/2006/main">
              <a:ext uri="{FF2B5EF4-FFF2-40B4-BE49-F238E27FC236}">
                <a16:creationId xmlns:a16="http://schemas.microsoft.com/office/drawing/2014/main" id="{6C26B209-5C5B-43D5-9238-837994634499}"/>
              </a:ext>
            </a:extLst>
          </p:cNvPr>
          <p:cNvSpPr>
            <a:spLocks xmlns:a="http://schemas.openxmlformats.org/drawingml/2006/main" noGrp="1"/>
          </p:cNvSpPr>
          <p:nvPr/>
        </p:nvSpPr>
        <p:spPr>
          <a:xfrm xmlns:a="http://schemas.openxmlformats.org/drawingml/2006/main">
            <a:off x="171450" y="0"/>
            <a:ext cx="57150" cy="68580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4" name="kicker-04-marker">
            <a:extLst xmlns:a="http://schemas.openxmlformats.org/drawingml/2006/main">
              <a:ext uri="{FF2B5EF4-FFF2-40B4-BE49-F238E27FC236}">
                <a16:creationId xmlns:a16="http://schemas.microsoft.com/office/drawing/2014/main" id="{C349684A-2517-4160-AEFF-62F329C3303F}"/>
              </a:ext>
            </a:extLst>
          </p:cNvPr>
          <p:cNvSpPr>
            <a:spLocks xmlns:a="http://schemas.openxmlformats.org/drawingml/2006/main" noGrp="1"/>
          </p:cNvSpPr>
          <p:nvPr/>
        </p:nvSpPr>
        <p:spPr>
          <a:xfrm xmlns:a="http://schemas.openxmlformats.org/drawingml/2006/main">
            <a:off x="514350" y="390525"/>
            <a:ext cx="76200" cy="762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5" name="kicker-04-label">
            <a:extLst xmlns:a="http://schemas.openxmlformats.org/drawingml/2006/main">
              <a:ext uri="{FF2B5EF4-FFF2-40B4-BE49-F238E27FC236}">
                <a16:creationId xmlns:a16="http://schemas.microsoft.com/office/drawing/2014/main" id="{A618F60C-3CC5-4021-9CD5-4F82C16FD529}"/>
              </a:ext>
            </a:extLst>
          </p:cNvPr>
          <p:cNvSpPr>
            <a:spLocks xmlns:a="http://schemas.openxmlformats.org/drawingml/2006/main" noGrp="1"/>
          </p:cNvSpPr>
          <p:nvPr/>
        </p:nvSpPr>
        <p:spPr>
          <a:xfrm xmlns:a="http://schemas.openxmlformats.org/drawingml/2006/main">
            <a:off x="685800" y="323850"/>
            <a:ext cx="75247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MODULE 1 / LESSON 04 / COMPOSITE EXAMPLE</a:t>
            </a:r>
          </a:p>
        </p:txBody>
      </p:sp>
      <p:sp>
        <p:nvSpPr>
          <p:cNvPr id="6" name="">
            <a:extLst xmlns:a="http://schemas.openxmlformats.org/drawingml/2006/main">
              <a:ext uri="{FF2B5EF4-FFF2-40B4-BE49-F238E27FC236}">
                <a16:creationId xmlns:a16="http://schemas.microsoft.com/office/drawing/2014/main" id="{66E467E4-0EA5-4420-8F14-1F948ED0FA33}"/>
              </a:ext>
            </a:extLst>
          </p:cNvPr>
          <p:cNvSpPr>
            <a:spLocks xmlns:a="http://schemas.openxmlformats.org/drawingml/2006/main" noGrp="1"/>
          </p:cNvSpPr>
          <p:nvPr/>
        </p:nvSpPr>
        <p:spPr>
          <a:xfrm xmlns:a="http://schemas.openxmlformats.org/drawingml/2006/main">
            <a:off x="514350" y="704850"/>
            <a:ext cx="8096250" cy="666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250" b="1">
                <a:solidFill>
                  <a:srgbClr val="172026"/>
                </a:solidFill>
                <a:latin typeface="Aptos Display"/>
                <a:ea typeface="Aptos Display"/>
                <a:cs typeface="Aptos Display"/>
              </a:defRPr>
            </a:pPr>
            <a:r>
              <a:rPr sz="2250" b="1">
                <a:solidFill>
                  <a:srgbClr val="172026"/>
                </a:solidFill>
                <a:latin typeface="Aptos Display"/>
                <a:ea typeface="Aptos Display"/>
                <a:cs typeface="Aptos Display"/>
              </a:rPr>
              <a:t>Composite inspection and automation-adjacent supplier</a:t>
            </a:r>
          </a:p>
        </p:txBody>
      </p:sp>
      <p:sp>
        <p:nvSpPr>
          <p:cNvPr id="7" name="">
            <a:extLst xmlns:a="http://schemas.openxmlformats.org/drawingml/2006/main">
              <a:ext uri="{FF2B5EF4-FFF2-40B4-BE49-F238E27FC236}">
                <a16:creationId xmlns:a16="http://schemas.microsoft.com/office/drawing/2014/main" id="{8397D81C-9052-45DC-A6FA-3B27DCD1B61B}"/>
              </a:ext>
            </a:extLst>
          </p:cNvPr>
          <p:cNvSpPr>
            <a:spLocks xmlns:a="http://schemas.openxmlformats.org/drawingml/2006/main" noGrp="1"/>
          </p:cNvSpPr>
          <p:nvPr/>
        </p:nvSpPr>
        <p:spPr>
          <a:xfrm xmlns:a="http://schemas.openxmlformats.org/drawingml/2006/main">
            <a:off x="514350" y="1314450"/>
            <a:ext cx="819150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59646A"/>
                </a:solidFill>
                <a:latin typeface="Aptos"/>
                <a:ea typeface="Aptos"/>
                <a:cs typeface="Aptos"/>
              </a:defRPr>
            </a:pPr>
            <a:r>
              <a:rPr sz="1125" b="0">
                <a:solidFill>
                  <a:srgbClr val="59646A"/>
                </a:solidFill>
                <a:latin typeface="Aptos"/>
                <a:ea typeface="Aptos"/>
                <a:cs typeface="Aptos"/>
              </a:rPr>
              <a:t>Use as an anonymized industrial pattern, not a named-company case study.</a:t>
            </a:r>
          </a:p>
        </p:txBody>
      </p:sp>
      <p:sp>
        <p:nvSpPr>
          <p:cNvPr id="8" name="">
            <a:extLst xmlns:a="http://schemas.openxmlformats.org/drawingml/2006/main">
              <a:ext uri="{FF2B5EF4-FFF2-40B4-BE49-F238E27FC236}">
                <a16:creationId xmlns:a16="http://schemas.microsoft.com/office/drawing/2014/main" id="{8E032147-1B45-4B42-9A2C-7830CB2DD6BB}"/>
              </a:ext>
            </a:extLst>
          </p:cNvPr>
          <p:cNvSpPr>
            <a:spLocks xmlns:a="http://schemas.openxmlformats.org/drawingml/2006/main" noGrp="1"/>
          </p:cNvSpPr>
          <p:nvPr/>
        </p:nvSpPr>
        <p:spPr>
          <a:xfrm xmlns:a="http://schemas.openxmlformats.org/drawingml/2006/main">
            <a:off x="514350" y="6438900"/>
            <a:ext cx="1091565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8B527710-5841-4628-B930-89E10A2AA9B8}"/>
              </a:ext>
            </a:extLst>
          </p:cNvPr>
          <p:cNvSpPr>
            <a:spLocks xmlns:a="http://schemas.openxmlformats.org/drawingml/2006/main" noGrp="1"/>
          </p:cNvSpPr>
          <p:nvPr/>
        </p:nvSpPr>
        <p:spPr>
          <a:xfrm xmlns:a="http://schemas.openxmlformats.org/drawingml/2006/main">
            <a:off x="514350" y="6553200"/>
            <a:ext cx="590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59646A"/>
                </a:solidFill>
                <a:latin typeface="Aptos"/>
                <a:ea typeface="Aptos"/>
                <a:cs typeface="Aptos"/>
              </a:defRPr>
            </a:pPr>
            <a:r>
              <a:rPr sz="675" b="0">
                <a:solidFill>
                  <a:srgbClr val="59646A"/>
                </a:solidFill>
                <a:latin typeface="Aptos"/>
                <a:ea typeface="Aptos"/>
                <a:cs typeface="Aptos"/>
              </a:rPr>
              <a:t>Lesson 04 - MOIN: Map Of Informational Needs</a:t>
            </a:r>
          </a:p>
        </p:txBody>
      </p:sp>
      <p:sp>
        <p:nvSpPr>
          <p:cNvPr id="10" name="">
            <a:extLst xmlns:a="http://schemas.openxmlformats.org/drawingml/2006/main">
              <a:ext uri="{FF2B5EF4-FFF2-40B4-BE49-F238E27FC236}">
                <a16:creationId xmlns:a16="http://schemas.microsoft.com/office/drawing/2014/main" id="{04C36C6B-4870-4B26-A7FF-9E7A5030203F}"/>
              </a:ext>
            </a:extLst>
          </p:cNvPr>
          <p:cNvSpPr>
            <a:spLocks xmlns:a="http://schemas.openxmlformats.org/drawingml/2006/main" noGrp="1"/>
          </p:cNvSpPr>
          <p:nvPr/>
        </p:nvSpPr>
        <p:spPr>
          <a:xfrm xmlns:a="http://schemas.openxmlformats.org/drawingml/2006/main">
            <a:off x="5334000" y="6553200"/>
            <a:ext cx="4095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00" b="0">
                <a:solidFill>
                  <a:srgbClr val="59646A"/>
                </a:solidFill>
                <a:latin typeface="Aptos"/>
                <a:ea typeface="Aptos"/>
                <a:cs typeface="Aptos"/>
              </a:defRPr>
            </a:pPr>
            <a:r>
              <a:rPr sz="600" b="0">
                <a:solidFill>
                  <a:srgbClr val="59646A"/>
                </a:solidFill>
                <a:latin typeface="Aptos"/>
                <a:ea typeface="Aptos"/>
                <a:cs typeface="Aptos"/>
              </a:rPr>
              <a:t>Source: modules/module-01-industrial-demand-generation/lessons/04-moin-map-of-informational-needs.md @ 9e28222</a:t>
            </a:r>
          </a:p>
        </p:txBody>
      </p:sp>
      <p:sp>
        <p:nvSpPr>
          <p:cNvPr id="11" name="">
            <a:extLst xmlns:a="http://schemas.openxmlformats.org/drawingml/2006/main">
              <a:ext uri="{FF2B5EF4-FFF2-40B4-BE49-F238E27FC236}">
                <a16:creationId xmlns:a16="http://schemas.microsoft.com/office/drawing/2014/main" id="{1F4DECE1-A387-4024-A279-3BDEFAAA02E5}"/>
              </a:ext>
            </a:extLst>
          </p:cNvPr>
          <p:cNvSpPr>
            <a:spLocks xmlns:a="http://schemas.openxmlformats.org/drawingml/2006/main" noGrp="1"/>
          </p:cNvSpPr>
          <p:nvPr/>
        </p:nvSpPr>
        <p:spPr>
          <a:xfrm xmlns:a="http://schemas.openxmlformats.org/drawingml/2006/main">
            <a:off x="10668000" y="6553200"/>
            <a:ext cx="762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75" b="0">
                <a:solidFill>
                  <a:srgbClr val="59646A"/>
                </a:solidFill>
                <a:latin typeface="Aptos"/>
                <a:ea typeface="Aptos"/>
                <a:cs typeface="Aptos"/>
              </a:defRPr>
            </a:pPr>
            <a:r>
              <a:rPr sz="675" b="0">
                <a:solidFill>
                  <a:srgbClr val="59646A"/>
                </a:solidFill>
                <a:latin typeface="Aptos"/>
                <a:ea typeface="Aptos"/>
                <a:cs typeface="Aptos"/>
              </a:rPr>
              <a:t>6/15</a:t>
            </a:r>
          </a:p>
        </p:txBody>
      </p:sp>
      <p:sp>
        <p:nvSpPr>
          <p:cNvPr id="12" name="">
            <a:extLst xmlns:a="http://schemas.openxmlformats.org/drawingml/2006/main">
              <a:ext uri="{FF2B5EF4-FFF2-40B4-BE49-F238E27FC236}">
                <a16:creationId xmlns:a16="http://schemas.microsoft.com/office/drawing/2014/main" id="{EC8B8484-A24E-495F-86E2-CC35FBC1479E}"/>
              </a:ext>
            </a:extLst>
          </p:cNvPr>
          <p:cNvSpPr>
            <a:spLocks xmlns:a="http://schemas.openxmlformats.org/drawingml/2006/main" noGrp="1"/>
          </p:cNvSpPr>
          <p:nvPr/>
        </p:nvSpPr>
        <p:spPr>
          <a:xfrm xmlns:a="http://schemas.openxmlformats.org/drawingml/2006/main">
            <a:off x="228600" y="1809750"/>
            <a:ext cx="11963400" cy="4591050"/>
          </a:xfrm>
          <a:prstGeom xmlns:a="http://schemas.openxmlformats.org/drawingml/2006/main" prst="rect">
            <a:avLst/>
          </a:prstGeom>
          <a:solidFill xmlns:a="http://schemas.openxmlformats.org/drawingml/2006/main">
            <a:srgbClr val="F5F6F2"/>
          </a:solidFill>
          <a:ln xmlns:a="http://schemas.openxmlformats.org/drawingml/2006/main" w="0">
            <a:solidFill>
              <a:srgbClr val="000000">
                <a:alpha val="0"/>
              </a:srgbClr>
            </a:solidFill>
            <a:prstDash val="solid"/>
          </a:ln>
        </p:spPr>
      </p:sp>
      <p:sp>
        <p:nvSpPr>
          <p:cNvPr id="13" name="">
            <a:extLst xmlns:a="http://schemas.openxmlformats.org/drawingml/2006/main">
              <a:ext uri="{FF2B5EF4-FFF2-40B4-BE49-F238E27FC236}">
                <a16:creationId xmlns:a16="http://schemas.microsoft.com/office/drawing/2014/main" id="{E821D2A6-D1BE-4828-84E1-7C4FC04CC13A}"/>
              </a:ext>
            </a:extLst>
          </p:cNvPr>
          <p:cNvSpPr>
            <a:spLocks xmlns:a="http://schemas.openxmlformats.org/drawingml/2006/main" noGrp="1"/>
          </p:cNvSpPr>
          <p:nvPr/>
        </p:nvSpPr>
        <p:spPr>
          <a:xfrm xmlns:a="http://schemas.openxmlformats.org/drawingml/2006/main">
            <a:off x="228600" y="1809750"/>
            <a:ext cx="11963400" cy="4591050"/>
          </a:xfrm>
          <a:prstGeom xmlns:a="http://schemas.openxmlformats.org/drawingml/2006/main" prst="rect">
            <a:avLst/>
          </a:prstGeom>
          <a:solidFill xmlns:a="http://schemas.openxmlformats.org/drawingml/2006/main">
            <a:srgbClr val="FFFFFF"/>
          </a:solidFill>
          <a:ln xmlns:a="http://schemas.openxmlformats.org/drawingml/2006/main" w="9525">
            <a:solidFill>
              <a:srgbClr val="D9DDD6"/>
            </a:solidFill>
            <a:prstDash val="solid"/>
          </a:ln>
        </p:spPr>
      </p:sp>
      <p:sp>
        <p:nvSpPr>
          <p:cNvPr id="14" name="">
            <a:extLst xmlns:a="http://schemas.openxmlformats.org/drawingml/2006/main">
              <a:ext uri="{FF2B5EF4-FFF2-40B4-BE49-F238E27FC236}">
                <a16:creationId xmlns:a16="http://schemas.microsoft.com/office/drawing/2014/main" id="{B736B482-0AA2-4218-BF7C-8CAD595A08B7}"/>
              </a:ext>
            </a:extLst>
          </p:cNvPr>
          <p:cNvSpPr>
            <a:spLocks xmlns:a="http://schemas.openxmlformats.org/drawingml/2006/main" noGrp="1"/>
          </p:cNvSpPr>
          <p:nvPr/>
        </p:nvSpPr>
        <p:spPr>
          <a:xfrm xmlns:a="http://schemas.openxmlformats.org/drawingml/2006/main">
            <a:off x="609600" y="2266950"/>
            <a:ext cx="266700" cy="19050"/>
          </a:xfrm>
          <a:prstGeom xmlns:a="http://schemas.openxmlformats.org/drawingml/2006/main" prst="rect">
            <a:avLst/>
          </a:prstGeom>
          <a:solidFill xmlns:a="http://schemas.openxmlformats.org/drawingml/2006/main">
            <a:srgbClr val="1D6072"/>
          </a:solidFill>
          <a:ln xmlns:a="http://schemas.openxmlformats.org/drawingml/2006/main" w="0">
            <a:solidFill>
              <a:srgbClr val="000000">
                <a:alpha val="0"/>
              </a:srgbClr>
            </a:solidFill>
            <a:prstDash val="solid"/>
          </a:ln>
        </p:spPr>
      </p:sp>
      <p:sp>
        <p:nvSpPr>
          <p:cNvPr id="15" name="">
            <a:extLst xmlns:a="http://schemas.openxmlformats.org/drawingml/2006/main">
              <a:ext uri="{FF2B5EF4-FFF2-40B4-BE49-F238E27FC236}">
                <a16:creationId xmlns:a16="http://schemas.microsoft.com/office/drawing/2014/main" id="{13284CD8-6225-4FC3-848A-7BB3B643B084}"/>
              </a:ext>
            </a:extLst>
          </p:cNvPr>
          <p:cNvSpPr>
            <a:spLocks xmlns:a="http://schemas.openxmlformats.org/drawingml/2006/main" noGrp="1"/>
          </p:cNvSpPr>
          <p:nvPr/>
        </p:nvSpPr>
        <p:spPr>
          <a:xfrm xmlns:a="http://schemas.openxmlformats.org/drawingml/2006/main">
            <a:off x="971550" y="2190750"/>
            <a:ext cx="2476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PATTERN AND REPAIR</a:t>
            </a:r>
          </a:p>
        </p:txBody>
      </p:sp>
      <p:sp>
        <p:nvSpPr>
          <p:cNvPr id="16" name="">
            <a:extLst xmlns:a="http://schemas.openxmlformats.org/drawingml/2006/main">
              <a:ext uri="{FF2B5EF4-FFF2-40B4-BE49-F238E27FC236}">
                <a16:creationId xmlns:a16="http://schemas.microsoft.com/office/drawing/2014/main" id="{339B5765-0C45-44A5-9960-8C6A3E90CF05}"/>
              </a:ext>
            </a:extLst>
          </p:cNvPr>
          <p:cNvSpPr>
            <a:spLocks xmlns:a="http://schemas.openxmlformats.org/drawingml/2006/main" noGrp="1"/>
          </p:cNvSpPr>
          <p:nvPr/>
        </p:nvSpPr>
        <p:spPr>
          <a:xfrm xmlns:a="http://schemas.openxmlformats.org/drawingml/2006/main">
            <a:off x="609600" y="2714625"/>
            <a:ext cx="57150" cy="5715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17" name="">
            <a:extLst xmlns:a="http://schemas.openxmlformats.org/drawingml/2006/main">
              <a:ext uri="{FF2B5EF4-FFF2-40B4-BE49-F238E27FC236}">
                <a16:creationId xmlns:a16="http://schemas.microsoft.com/office/drawing/2014/main" id="{56028690-731A-4829-A894-DE41EA42BBB0}"/>
              </a:ext>
            </a:extLst>
          </p:cNvPr>
          <p:cNvSpPr>
            <a:spLocks xmlns:a="http://schemas.openxmlformats.org/drawingml/2006/main" noGrp="1"/>
          </p:cNvSpPr>
          <p:nvPr/>
        </p:nvSpPr>
        <p:spPr>
          <a:xfrm xmlns:a="http://schemas.openxmlformats.org/drawingml/2006/main">
            <a:off x="781050" y="2647950"/>
            <a:ext cx="10115550" cy="514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72026"/>
                </a:solidFill>
                <a:latin typeface="Aptos"/>
                <a:ea typeface="Aptos"/>
                <a:cs typeface="Aptos"/>
              </a:defRPr>
            </a:pPr>
            <a:r>
              <a:rPr sz="1200" b="0">
                <a:solidFill>
                  <a:srgbClr val="172026"/>
                </a:solidFill>
                <a:latin typeface="Aptos"/>
                <a:ea typeface="Aptos"/>
                <a:cs typeface="Aptos"/>
              </a:rPr>
              <a:t>The weak plan is automation trends, product demos, brochure excerpts, and ads to a form.</a:t>
            </a:r>
          </a:p>
        </p:txBody>
      </p:sp>
      <p:sp>
        <p:nvSpPr>
          <p:cNvPr id="18" name="">
            <a:extLst xmlns:a="http://schemas.openxmlformats.org/drawingml/2006/main">
              <a:ext uri="{FF2B5EF4-FFF2-40B4-BE49-F238E27FC236}">
                <a16:creationId xmlns:a16="http://schemas.microsoft.com/office/drawing/2014/main" id="{0B32845B-4AB4-4AB0-A8A9-0318DCF02B5A}"/>
              </a:ext>
            </a:extLst>
          </p:cNvPr>
          <p:cNvSpPr>
            <a:spLocks xmlns:a="http://schemas.openxmlformats.org/drawingml/2006/main" noGrp="1"/>
          </p:cNvSpPr>
          <p:nvPr/>
        </p:nvSpPr>
        <p:spPr>
          <a:xfrm xmlns:a="http://schemas.openxmlformats.org/drawingml/2006/main">
            <a:off x="609600" y="3267075"/>
            <a:ext cx="57150" cy="5715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19" name="">
            <a:extLst xmlns:a="http://schemas.openxmlformats.org/drawingml/2006/main">
              <a:ext uri="{FF2B5EF4-FFF2-40B4-BE49-F238E27FC236}">
                <a16:creationId xmlns:a16="http://schemas.microsoft.com/office/drawing/2014/main" id="{4743D4F9-96F3-4631-A09E-EE7AD0D335F0}"/>
              </a:ext>
            </a:extLst>
          </p:cNvPr>
          <p:cNvSpPr>
            <a:spLocks xmlns:a="http://schemas.openxmlformats.org/drawingml/2006/main" noGrp="1"/>
          </p:cNvSpPr>
          <p:nvPr/>
        </p:nvSpPr>
        <p:spPr>
          <a:xfrm xmlns:a="http://schemas.openxmlformats.org/drawingml/2006/main">
            <a:off x="781050" y="3200400"/>
            <a:ext cx="10115550" cy="514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72026"/>
                </a:solidFill>
                <a:latin typeface="Aptos"/>
                <a:ea typeface="Aptos"/>
                <a:cs typeface="Aptos"/>
              </a:defRPr>
            </a:pPr>
            <a:r>
              <a:rPr sz="1200" b="0">
                <a:solidFill>
                  <a:srgbClr val="172026"/>
                </a:solidFill>
                <a:latin typeface="Aptos"/>
                <a:ea typeface="Aptos"/>
                <a:cs typeface="Aptos"/>
              </a:rPr>
              <a:t>The MOIN plan starts with defect cost, inspection method comparison, validation proof, integration criteria, TCO, and...</a:t>
            </a:r>
          </a:p>
        </p:txBody>
      </p:sp>
      <p:sp>
        <p:nvSpPr>
          <p:cNvPr id="20" name="">
            <a:extLst xmlns:a="http://schemas.openxmlformats.org/drawingml/2006/main">
              <a:ext uri="{FF2B5EF4-FFF2-40B4-BE49-F238E27FC236}">
                <a16:creationId xmlns:a16="http://schemas.microsoft.com/office/drawing/2014/main" id="{840C5FEF-6F15-4203-A02F-10818FF894AB}"/>
              </a:ext>
            </a:extLst>
          </p:cNvPr>
          <p:cNvSpPr>
            <a:spLocks xmlns:a="http://schemas.openxmlformats.org/drawingml/2006/main" noGrp="1"/>
          </p:cNvSpPr>
          <p:nvPr/>
        </p:nvSpPr>
        <p:spPr>
          <a:xfrm xmlns:a="http://schemas.openxmlformats.org/drawingml/2006/main">
            <a:off x="609600" y="3819525"/>
            <a:ext cx="57150" cy="5715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21" name="">
            <a:extLst xmlns:a="http://schemas.openxmlformats.org/drawingml/2006/main">
              <a:ext uri="{FF2B5EF4-FFF2-40B4-BE49-F238E27FC236}">
                <a16:creationId xmlns:a16="http://schemas.microsoft.com/office/drawing/2014/main" id="{14543AF2-39F0-4C8E-A14E-3248AFF646EA}"/>
              </a:ext>
            </a:extLst>
          </p:cNvPr>
          <p:cNvSpPr>
            <a:spLocks xmlns:a="http://schemas.openxmlformats.org/drawingml/2006/main" noGrp="1"/>
          </p:cNvSpPr>
          <p:nvPr/>
        </p:nvSpPr>
        <p:spPr>
          <a:xfrm xmlns:a="http://schemas.openxmlformats.org/drawingml/2006/main">
            <a:off x="781050" y="3752850"/>
            <a:ext cx="10115550" cy="514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72026"/>
                </a:solidFill>
                <a:latin typeface="Aptos"/>
                <a:ea typeface="Aptos"/>
                <a:cs typeface="Aptos"/>
              </a:defRPr>
            </a:pPr>
            <a:r>
              <a:rPr sz="1200" b="0">
                <a:solidFill>
                  <a:srgbClr val="172026"/>
                </a:solidFill>
                <a:latin typeface="Aptos"/>
                <a:ea typeface="Aptos"/>
                <a:cs typeface="Aptos"/>
              </a:rPr>
              <a:t>Questions are separated for quality, plant, engineering, finance, and procurement roles.</a:t>
            </a:r>
          </a:p>
        </p:txBody>
      </p:sp>
      <p:sp>
        <p:nvSpPr>
          <p:cNvPr id="22" name="">
            <a:extLst xmlns:a="http://schemas.openxmlformats.org/drawingml/2006/main">
              <a:ext uri="{FF2B5EF4-FFF2-40B4-BE49-F238E27FC236}">
                <a16:creationId xmlns:a16="http://schemas.microsoft.com/office/drawing/2014/main" id="{DF1FDCAE-BFF9-4E3B-AC9B-5464F07C0708}"/>
              </a:ext>
            </a:extLst>
          </p:cNvPr>
          <p:cNvSpPr>
            <a:spLocks xmlns:a="http://schemas.openxmlformats.org/drawingml/2006/main" noGrp="1"/>
          </p:cNvSpPr>
          <p:nvPr/>
        </p:nvSpPr>
        <p:spPr>
          <a:xfrm xmlns:a="http://schemas.openxmlformats.org/drawingml/2006/main">
            <a:off x="609600" y="4371975"/>
            <a:ext cx="57150" cy="5715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23" name="">
            <a:extLst xmlns:a="http://schemas.openxmlformats.org/drawingml/2006/main">
              <a:ext uri="{FF2B5EF4-FFF2-40B4-BE49-F238E27FC236}">
                <a16:creationId xmlns:a16="http://schemas.microsoft.com/office/drawing/2014/main" id="{0BA3A4C2-BDA2-472C-9DFE-EE93BF91B257}"/>
              </a:ext>
            </a:extLst>
          </p:cNvPr>
          <p:cNvSpPr>
            <a:spLocks xmlns:a="http://schemas.openxmlformats.org/drawingml/2006/main" noGrp="1"/>
          </p:cNvSpPr>
          <p:nvPr/>
        </p:nvSpPr>
        <p:spPr>
          <a:xfrm xmlns:a="http://schemas.openxmlformats.org/drawingml/2006/main">
            <a:off x="781050" y="4305300"/>
            <a:ext cx="10115550" cy="514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72026"/>
                </a:solidFill>
                <a:latin typeface="Aptos"/>
                <a:ea typeface="Aptos"/>
                <a:cs typeface="Aptos"/>
              </a:defRPr>
            </a:pPr>
            <a:r>
              <a:rPr sz="1200" b="0">
                <a:solidFill>
                  <a:srgbClr val="172026"/>
                </a:solidFill>
                <a:latin typeface="Aptos"/>
                <a:ea typeface="Aptos"/>
                <a:cs typeface="Aptos"/>
              </a:rPr>
              <a:t>The result is demand generation because it educates, equips sales, creates signals, and reduces internal risk.</a:t>
            </a:r>
          </a:p>
        </p:txBody>
      </p:sp>
      <p:sp>
        <p:nvSpPr>
          <p:cNvPr id="24" name="">
            <a:extLst xmlns:a="http://schemas.openxmlformats.org/drawingml/2006/main">
              <a:ext uri="{FF2B5EF4-FFF2-40B4-BE49-F238E27FC236}">
                <a16:creationId xmlns:a16="http://schemas.microsoft.com/office/drawing/2014/main" id="{CA9C446C-EB00-41F1-A8D4-CB527167DF33}"/>
              </a:ext>
            </a:extLst>
          </p:cNvPr>
          <p:cNvSpPr>
            <a:spLocks xmlns:a="http://schemas.openxmlformats.org/drawingml/2006/main" noGrp="1"/>
          </p:cNvSpPr>
          <p:nvPr/>
        </p:nvSpPr>
        <p:spPr>
          <a:xfrm xmlns:a="http://schemas.openxmlformats.org/drawingml/2006/main">
            <a:off x="514350" y="6438900"/>
            <a:ext cx="1091565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25" name="">
            <a:extLst xmlns:a="http://schemas.openxmlformats.org/drawingml/2006/main">
              <a:ext uri="{FF2B5EF4-FFF2-40B4-BE49-F238E27FC236}">
                <a16:creationId xmlns:a16="http://schemas.microsoft.com/office/drawing/2014/main" id="{642CDCC2-ABB0-4922-98A2-3F76EF2C241D}"/>
              </a:ext>
            </a:extLst>
          </p:cNvPr>
          <p:cNvSpPr>
            <a:spLocks xmlns:a="http://schemas.openxmlformats.org/drawingml/2006/main" noGrp="1"/>
          </p:cNvSpPr>
          <p:nvPr/>
        </p:nvSpPr>
        <p:spPr>
          <a:xfrm xmlns:a="http://schemas.openxmlformats.org/drawingml/2006/main">
            <a:off x="514350" y="6553200"/>
            <a:ext cx="590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59646A"/>
                </a:solidFill>
                <a:latin typeface="Aptos"/>
                <a:ea typeface="Aptos"/>
                <a:cs typeface="Aptos"/>
              </a:defRPr>
            </a:pPr>
            <a:r>
              <a:rPr sz="675" b="0">
                <a:solidFill>
                  <a:srgbClr val="59646A"/>
                </a:solidFill>
                <a:latin typeface="Aptos"/>
                <a:ea typeface="Aptos"/>
                <a:cs typeface="Aptos"/>
              </a:rPr>
              <a:t>Lesson 04 - MOIN: Map Of Informational Needs</a:t>
            </a:r>
          </a:p>
        </p:txBody>
      </p:sp>
      <p:sp>
        <p:nvSpPr>
          <p:cNvPr id="26" name="">
            <a:extLst xmlns:a="http://schemas.openxmlformats.org/drawingml/2006/main">
              <a:ext uri="{FF2B5EF4-FFF2-40B4-BE49-F238E27FC236}">
                <a16:creationId xmlns:a16="http://schemas.microsoft.com/office/drawing/2014/main" id="{96BEF404-7C51-41ED-BE5C-C076E84DAD2F}"/>
              </a:ext>
            </a:extLst>
          </p:cNvPr>
          <p:cNvSpPr>
            <a:spLocks xmlns:a="http://schemas.openxmlformats.org/drawingml/2006/main" noGrp="1"/>
          </p:cNvSpPr>
          <p:nvPr/>
        </p:nvSpPr>
        <p:spPr>
          <a:xfrm xmlns:a="http://schemas.openxmlformats.org/drawingml/2006/main">
            <a:off x="5334000" y="6553200"/>
            <a:ext cx="4095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00" b="0">
                <a:solidFill>
                  <a:srgbClr val="59646A"/>
                </a:solidFill>
                <a:latin typeface="Aptos"/>
                <a:ea typeface="Aptos"/>
                <a:cs typeface="Aptos"/>
              </a:defRPr>
            </a:pPr>
            <a:r>
              <a:rPr sz="600" b="0">
                <a:solidFill>
                  <a:srgbClr val="59646A"/>
                </a:solidFill>
                <a:latin typeface="Aptos"/>
                <a:ea typeface="Aptos"/>
                <a:cs typeface="Aptos"/>
              </a:rPr>
              <a:t>Source: modules/module-01-industrial-demand-generation/lessons/04-moin-map-of-informational-needs.md @ 9e28222</a:t>
            </a:r>
          </a:p>
        </p:txBody>
      </p:sp>
      <p:sp>
        <p:nvSpPr>
          <p:cNvPr id="27" name="">
            <a:extLst xmlns:a="http://schemas.openxmlformats.org/drawingml/2006/main">
              <a:ext uri="{FF2B5EF4-FFF2-40B4-BE49-F238E27FC236}">
                <a16:creationId xmlns:a16="http://schemas.microsoft.com/office/drawing/2014/main" id="{C7F7F729-6FAE-44DE-B365-0F02A64320FF}"/>
              </a:ext>
            </a:extLst>
          </p:cNvPr>
          <p:cNvSpPr>
            <a:spLocks xmlns:a="http://schemas.openxmlformats.org/drawingml/2006/main" noGrp="1"/>
          </p:cNvSpPr>
          <p:nvPr/>
        </p:nvSpPr>
        <p:spPr>
          <a:xfrm xmlns:a="http://schemas.openxmlformats.org/drawingml/2006/main">
            <a:off x="10668000" y="6553200"/>
            <a:ext cx="762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75" b="0">
                <a:solidFill>
                  <a:srgbClr val="59646A"/>
                </a:solidFill>
                <a:latin typeface="Aptos"/>
                <a:ea typeface="Aptos"/>
                <a:cs typeface="Aptos"/>
              </a:defRPr>
            </a:pPr>
            <a:r>
              <a:rPr sz="675" b="0">
                <a:solidFill>
                  <a:srgbClr val="59646A"/>
                </a:solidFill>
                <a:latin typeface="Aptos"/>
                <a:ea typeface="Aptos"/>
                <a:cs typeface="Aptos"/>
              </a:rPr>
              <a:t>6/15</a:t>
            </a:r>
          </a:p>
        </p:txBody>
      </p:sp>
      <p:sp>
        <p:nvSpPr>
          <p:cNvPr id="28" name="">
            <a:extLst xmlns:a="http://schemas.openxmlformats.org/drawingml/2006/main">
              <a:ext uri="{FF2B5EF4-FFF2-40B4-BE49-F238E27FC236}">
                <a16:creationId xmlns:a16="http://schemas.microsoft.com/office/drawing/2014/main" id="{50C96D42-3958-4421-B59E-F355689C2E41}"/>
              </a:ext>
            </a:extLst>
          </p:cNvPr>
          <p:cNvSpPr>
            <a:spLocks xmlns:a="http://schemas.openxmlformats.org/drawingml/2006/main" noGrp="1"/>
          </p:cNvSpPr>
          <p:nvPr/>
        </p:nvSpPr>
        <p:spPr>
          <a:xfrm xmlns:a="http://schemas.openxmlformats.org/drawingml/2006/main">
            <a:off x="0" y="0"/>
            <a:ext cx="12192000" cy="1809750"/>
          </a:xfrm>
          <a:prstGeom xmlns:a="http://schemas.openxmlformats.org/drawingml/2006/main" prst="rect">
            <a:avLst/>
          </a:prstGeom>
          <a:solidFill xmlns:a="http://schemas.openxmlformats.org/drawingml/2006/main">
            <a:srgbClr val="F5F6F2"/>
          </a:solidFill>
          <a:ln xmlns:a="http://schemas.openxmlformats.org/drawingml/2006/main" w="0">
            <a:solidFill>
              <a:srgbClr val="000000">
                <a:alpha val="0"/>
              </a:srgbClr>
            </a:solidFill>
            <a:prstDash val="solid"/>
          </a:ln>
        </p:spPr>
      </p:sp>
      <p:sp>
        <p:nvSpPr>
          <p:cNvPr id="29" name="">
            <a:extLst xmlns:a="http://schemas.openxmlformats.org/drawingml/2006/main">
              <a:ext uri="{FF2B5EF4-FFF2-40B4-BE49-F238E27FC236}">
                <a16:creationId xmlns:a16="http://schemas.microsoft.com/office/drawing/2014/main" id="{A168BD6C-853D-4FA4-9F21-B7B77CA60A6D}"/>
              </a:ext>
            </a:extLst>
          </p:cNvPr>
          <p:cNvSpPr>
            <a:spLocks xmlns:a="http://schemas.openxmlformats.org/drawingml/2006/main" noGrp="1"/>
          </p:cNvSpPr>
          <p:nvPr/>
        </p:nvSpPr>
        <p:spPr>
          <a:xfrm xmlns:a="http://schemas.openxmlformats.org/drawingml/2006/main">
            <a:off x="0" y="0"/>
            <a:ext cx="171450" cy="1809750"/>
          </a:xfrm>
          <a:prstGeom xmlns:a="http://schemas.openxmlformats.org/drawingml/2006/main" prst="rect">
            <a:avLst/>
          </a:prstGeom>
          <a:solidFill xmlns:a="http://schemas.openxmlformats.org/drawingml/2006/main">
            <a:srgbClr val="12232B"/>
          </a:solidFill>
          <a:ln xmlns:a="http://schemas.openxmlformats.org/drawingml/2006/main" w="0">
            <a:solidFill>
              <a:srgbClr val="000000">
                <a:alpha val="0"/>
              </a:srgbClr>
            </a:solidFill>
            <a:prstDash val="solid"/>
          </a:ln>
        </p:spPr>
      </p:sp>
      <p:sp>
        <p:nvSpPr>
          <p:cNvPr id="30" name="">
            <a:extLst xmlns:a="http://schemas.openxmlformats.org/drawingml/2006/main">
              <a:ext uri="{FF2B5EF4-FFF2-40B4-BE49-F238E27FC236}">
                <a16:creationId xmlns:a16="http://schemas.microsoft.com/office/drawing/2014/main" id="{9C2BA305-042F-4CBF-913B-EC572037C00E}"/>
              </a:ext>
            </a:extLst>
          </p:cNvPr>
          <p:cNvSpPr>
            <a:spLocks xmlns:a="http://schemas.openxmlformats.org/drawingml/2006/main" noGrp="1"/>
          </p:cNvSpPr>
          <p:nvPr/>
        </p:nvSpPr>
        <p:spPr>
          <a:xfrm xmlns:a="http://schemas.openxmlformats.org/drawingml/2006/main">
            <a:off x="171450" y="0"/>
            <a:ext cx="57150" cy="180975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31" name="kicker-04-marker">
            <a:extLst xmlns:a="http://schemas.openxmlformats.org/drawingml/2006/main">
              <a:ext uri="{FF2B5EF4-FFF2-40B4-BE49-F238E27FC236}">
                <a16:creationId xmlns:a16="http://schemas.microsoft.com/office/drawing/2014/main" id="{6FDA611E-9DC7-4A43-8D5D-4E2FB713D931}"/>
              </a:ext>
            </a:extLst>
          </p:cNvPr>
          <p:cNvSpPr>
            <a:spLocks xmlns:a="http://schemas.openxmlformats.org/drawingml/2006/main" noGrp="1"/>
          </p:cNvSpPr>
          <p:nvPr/>
        </p:nvSpPr>
        <p:spPr>
          <a:xfrm xmlns:a="http://schemas.openxmlformats.org/drawingml/2006/main">
            <a:off x="514350" y="390525"/>
            <a:ext cx="76200" cy="762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32" name="kicker-04-label">
            <a:extLst xmlns:a="http://schemas.openxmlformats.org/drawingml/2006/main">
              <a:ext uri="{FF2B5EF4-FFF2-40B4-BE49-F238E27FC236}">
                <a16:creationId xmlns:a16="http://schemas.microsoft.com/office/drawing/2014/main" id="{FCF2FC08-B936-4C90-AA72-6F1CB6D1A4F1}"/>
              </a:ext>
            </a:extLst>
          </p:cNvPr>
          <p:cNvSpPr>
            <a:spLocks xmlns:a="http://schemas.openxmlformats.org/drawingml/2006/main" noGrp="1"/>
          </p:cNvSpPr>
          <p:nvPr/>
        </p:nvSpPr>
        <p:spPr>
          <a:xfrm xmlns:a="http://schemas.openxmlformats.org/drawingml/2006/main">
            <a:off x="685800" y="323850"/>
            <a:ext cx="75247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MODULE 1 / LESSON 04 / COMPOSITE EXAMPLE</a:t>
            </a:r>
          </a:p>
        </p:txBody>
      </p:sp>
      <p:sp>
        <p:nvSpPr>
          <p:cNvPr id="33" name="">
            <a:extLst xmlns:a="http://schemas.openxmlformats.org/drawingml/2006/main">
              <a:ext uri="{FF2B5EF4-FFF2-40B4-BE49-F238E27FC236}">
                <a16:creationId xmlns:a16="http://schemas.microsoft.com/office/drawing/2014/main" id="{C435A5C7-5D58-4406-978E-98C6175BC3A2}"/>
              </a:ext>
            </a:extLst>
          </p:cNvPr>
          <p:cNvSpPr>
            <a:spLocks xmlns:a="http://schemas.openxmlformats.org/drawingml/2006/main" noGrp="1"/>
          </p:cNvSpPr>
          <p:nvPr/>
        </p:nvSpPr>
        <p:spPr>
          <a:xfrm xmlns:a="http://schemas.openxmlformats.org/drawingml/2006/main">
            <a:off x="514350" y="704850"/>
            <a:ext cx="8096250" cy="666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250" b="1">
                <a:solidFill>
                  <a:srgbClr val="172026"/>
                </a:solidFill>
                <a:latin typeface="Aptos Display"/>
                <a:ea typeface="Aptos Display"/>
                <a:cs typeface="Aptos Display"/>
              </a:defRPr>
            </a:pPr>
            <a:r>
              <a:rPr sz="2250" b="1">
                <a:solidFill>
                  <a:srgbClr val="172026"/>
                </a:solidFill>
                <a:latin typeface="Aptos Display"/>
                <a:ea typeface="Aptos Display"/>
                <a:cs typeface="Aptos Display"/>
              </a:rPr>
              <a:t>Composite inspection and automation-adjacent supplier</a:t>
            </a:r>
          </a:p>
        </p:txBody>
      </p:sp>
      <p:sp>
        <p:nvSpPr>
          <p:cNvPr id="34" name="">
            <a:extLst xmlns:a="http://schemas.openxmlformats.org/drawingml/2006/main">
              <a:ext uri="{FF2B5EF4-FFF2-40B4-BE49-F238E27FC236}">
                <a16:creationId xmlns:a16="http://schemas.microsoft.com/office/drawing/2014/main" id="{FDA492AE-C133-45D3-B060-BC335565B42E}"/>
              </a:ext>
            </a:extLst>
          </p:cNvPr>
          <p:cNvSpPr>
            <a:spLocks xmlns:a="http://schemas.openxmlformats.org/drawingml/2006/main" noGrp="1"/>
          </p:cNvSpPr>
          <p:nvPr/>
        </p:nvSpPr>
        <p:spPr>
          <a:xfrm xmlns:a="http://schemas.openxmlformats.org/drawingml/2006/main">
            <a:off x="514350" y="1314450"/>
            <a:ext cx="819150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59646A"/>
                </a:solidFill>
                <a:latin typeface="Aptos"/>
                <a:ea typeface="Aptos"/>
                <a:cs typeface="Aptos"/>
              </a:defRPr>
            </a:pPr>
            <a:r>
              <a:rPr sz="1125" b="0">
                <a:solidFill>
                  <a:srgbClr val="59646A"/>
                </a:solidFill>
                <a:latin typeface="Aptos"/>
                <a:ea typeface="Aptos"/>
                <a:cs typeface="Aptos"/>
              </a:rPr>
              <a:t>Use as an anonymized industrial pattern, not a named-company case study.</a:t>
            </a:r>
          </a:p>
        </p:txBody>
      </p:sp>
      <p:sp>
        <p:nvSpPr>
          <p:cNvPr id="35" name="">
            <a:extLst xmlns:a="http://schemas.openxmlformats.org/drawingml/2006/main">
              <a:ext uri="{FF2B5EF4-FFF2-40B4-BE49-F238E27FC236}">
                <a16:creationId xmlns:a16="http://schemas.microsoft.com/office/drawing/2014/main" id="{2C593DE4-22A2-4C68-A9E3-EA2F1B7F7C5D}"/>
              </a:ext>
            </a:extLst>
          </p:cNvPr>
          <p:cNvSpPr>
            <a:spLocks xmlns:a="http://schemas.openxmlformats.org/drawingml/2006/main" noGrp="1"/>
          </p:cNvSpPr>
          <p:nvPr/>
        </p:nvSpPr>
        <p:spPr>
          <a:xfrm xmlns:a="http://schemas.openxmlformats.org/drawingml/2006/main">
            <a:off x="0" y="6400800"/>
            <a:ext cx="12192000" cy="457200"/>
          </a:xfrm>
          <a:prstGeom xmlns:a="http://schemas.openxmlformats.org/drawingml/2006/main" prst="rect">
            <a:avLst/>
          </a:prstGeom>
          <a:solidFill xmlns:a="http://schemas.openxmlformats.org/drawingml/2006/main">
            <a:srgbClr val="F5F6F2"/>
          </a:solidFill>
          <a:ln xmlns:a="http://schemas.openxmlformats.org/drawingml/2006/main" w="0">
            <a:solidFill>
              <a:srgbClr val="000000">
                <a:alpha val="0"/>
              </a:srgbClr>
            </a:solidFill>
            <a:prstDash val="solid"/>
          </a:ln>
        </p:spPr>
      </p:sp>
      <p:sp>
        <p:nvSpPr>
          <p:cNvPr id="36" name="">
            <a:extLst xmlns:a="http://schemas.openxmlformats.org/drawingml/2006/main">
              <a:ext uri="{FF2B5EF4-FFF2-40B4-BE49-F238E27FC236}">
                <a16:creationId xmlns:a16="http://schemas.microsoft.com/office/drawing/2014/main" id="{DE9B08FA-D617-4564-A14A-E37C3BA116BB}"/>
              </a:ext>
            </a:extLst>
          </p:cNvPr>
          <p:cNvSpPr>
            <a:spLocks xmlns:a="http://schemas.openxmlformats.org/drawingml/2006/main" noGrp="1"/>
          </p:cNvSpPr>
          <p:nvPr/>
        </p:nvSpPr>
        <p:spPr>
          <a:xfrm xmlns:a="http://schemas.openxmlformats.org/drawingml/2006/main">
            <a:off x="0" y="6400800"/>
            <a:ext cx="171450" cy="457200"/>
          </a:xfrm>
          <a:prstGeom xmlns:a="http://schemas.openxmlformats.org/drawingml/2006/main" prst="rect">
            <a:avLst/>
          </a:prstGeom>
          <a:solidFill xmlns:a="http://schemas.openxmlformats.org/drawingml/2006/main">
            <a:srgbClr val="12232B"/>
          </a:solidFill>
          <a:ln xmlns:a="http://schemas.openxmlformats.org/drawingml/2006/main" w="0">
            <a:solidFill>
              <a:srgbClr val="000000">
                <a:alpha val="0"/>
              </a:srgbClr>
            </a:solidFill>
            <a:prstDash val="solid"/>
          </a:ln>
        </p:spPr>
      </p:sp>
      <p:sp>
        <p:nvSpPr>
          <p:cNvPr id="37" name="">
            <a:extLst xmlns:a="http://schemas.openxmlformats.org/drawingml/2006/main">
              <a:ext uri="{FF2B5EF4-FFF2-40B4-BE49-F238E27FC236}">
                <a16:creationId xmlns:a16="http://schemas.microsoft.com/office/drawing/2014/main" id="{A5F2F7D2-D570-459F-88E2-59B65E49289F}"/>
              </a:ext>
            </a:extLst>
          </p:cNvPr>
          <p:cNvSpPr>
            <a:spLocks xmlns:a="http://schemas.openxmlformats.org/drawingml/2006/main" noGrp="1"/>
          </p:cNvSpPr>
          <p:nvPr/>
        </p:nvSpPr>
        <p:spPr>
          <a:xfrm xmlns:a="http://schemas.openxmlformats.org/drawingml/2006/main">
            <a:off x="171450" y="6400800"/>
            <a:ext cx="57150" cy="4572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38" name="">
            <a:extLst xmlns:a="http://schemas.openxmlformats.org/drawingml/2006/main">
              <a:ext uri="{FF2B5EF4-FFF2-40B4-BE49-F238E27FC236}">
                <a16:creationId xmlns:a16="http://schemas.microsoft.com/office/drawing/2014/main" id="{2D08923C-2801-4985-933E-0A888D84F038}"/>
              </a:ext>
            </a:extLst>
          </p:cNvPr>
          <p:cNvSpPr>
            <a:spLocks xmlns:a="http://schemas.openxmlformats.org/drawingml/2006/main" noGrp="1"/>
          </p:cNvSpPr>
          <p:nvPr/>
        </p:nvSpPr>
        <p:spPr>
          <a:xfrm xmlns:a="http://schemas.openxmlformats.org/drawingml/2006/main">
            <a:off x="514350" y="6438900"/>
            <a:ext cx="1091565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39" name="">
            <a:extLst xmlns:a="http://schemas.openxmlformats.org/drawingml/2006/main">
              <a:ext uri="{FF2B5EF4-FFF2-40B4-BE49-F238E27FC236}">
                <a16:creationId xmlns:a16="http://schemas.microsoft.com/office/drawing/2014/main" id="{1FC9CFC4-D964-4492-9ABF-E8F7CB1107A1}"/>
              </a:ext>
            </a:extLst>
          </p:cNvPr>
          <p:cNvSpPr>
            <a:spLocks xmlns:a="http://schemas.openxmlformats.org/drawingml/2006/main" noGrp="1"/>
          </p:cNvSpPr>
          <p:nvPr/>
        </p:nvSpPr>
        <p:spPr>
          <a:xfrm xmlns:a="http://schemas.openxmlformats.org/drawingml/2006/main">
            <a:off x="514350" y="6553200"/>
            <a:ext cx="590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59646A"/>
                </a:solidFill>
                <a:latin typeface="Aptos"/>
                <a:ea typeface="Aptos"/>
                <a:cs typeface="Aptos"/>
              </a:defRPr>
            </a:pPr>
            <a:r>
              <a:rPr sz="675" b="0">
                <a:solidFill>
                  <a:srgbClr val="59646A"/>
                </a:solidFill>
                <a:latin typeface="Aptos"/>
                <a:ea typeface="Aptos"/>
                <a:cs typeface="Aptos"/>
              </a:rPr>
              <a:t>Lesson 04 - MOIN: Map Of Informational Needs</a:t>
            </a:r>
          </a:p>
        </p:txBody>
      </p:sp>
      <p:sp>
        <p:nvSpPr>
          <p:cNvPr id="40" name="">
            <a:extLst xmlns:a="http://schemas.openxmlformats.org/drawingml/2006/main">
              <a:ext uri="{FF2B5EF4-FFF2-40B4-BE49-F238E27FC236}">
                <a16:creationId xmlns:a16="http://schemas.microsoft.com/office/drawing/2014/main" id="{9BD1C8CE-9118-4DB6-8311-D64F4F8A1B1B}"/>
              </a:ext>
            </a:extLst>
          </p:cNvPr>
          <p:cNvSpPr>
            <a:spLocks xmlns:a="http://schemas.openxmlformats.org/drawingml/2006/main" noGrp="1"/>
          </p:cNvSpPr>
          <p:nvPr/>
        </p:nvSpPr>
        <p:spPr>
          <a:xfrm xmlns:a="http://schemas.openxmlformats.org/drawingml/2006/main">
            <a:off x="5334000" y="6553200"/>
            <a:ext cx="4095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00" b="0">
                <a:solidFill>
                  <a:srgbClr val="59646A"/>
                </a:solidFill>
                <a:latin typeface="Aptos"/>
                <a:ea typeface="Aptos"/>
                <a:cs typeface="Aptos"/>
              </a:defRPr>
            </a:pPr>
            <a:r>
              <a:rPr sz="600" b="0">
                <a:solidFill>
                  <a:srgbClr val="59646A"/>
                </a:solidFill>
                <a:latin typeface="Aptos"/>
                <a:ea typeface="Aptos"/>
                <a:cs typeface="Aptos"/>
              </a:rPr>
              <a:t>Source: modules/module-01-industrial-demand-generation/lessons/04-moin-map-of-informational-needs.md @ 9e28222</a:t>
            </a:r>
          </a:p>
        </p:txBody>
      </p:sp>
      <p:sp>
        <p:nvSpPr>
          <p:cNvPr id="41" name="">
            <a:extLst xmlns:a="http://schemas.openxmlformats.org/drawingml/2006/main">
              <a:ext uri="{FF2B5EF4-FFF2-40B4-BE49-F238E27FC236}">
                <a16:creationId xmlns:a16="http://schemas.microsoft.com/office/drawing/2014/main" id="{10E1D3C7-96B0-4AEC-A28E-A9CED86E63E9}"/>
              </a:ext>
            </a:extLst>
          </p:cNvPr>
          <p:cNvSpPr>
            <a:spLocks xmlns:a="http://schemas.openxmlformats.org/drawingml/2006/main" noGrp="1"/>
          </p:cNvSpPr>
          <p:nvPr/>
        </p:nvSpPr>
        <p:spPr>
          <a:xfrm xmlns:a="http://schemas.openxmlformats.org/drawingml/2006/main">
            <a:off x="10668000" y="6553200"/>
            <a:ext cx="762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75" b="0">
                <a:solidFill>
                  <a:srgbClr val="59646A"/>
                </a:solidFill>
                <a:latin typeface="Aptos"/>
                <a:ea typeface="Aptos"/>
                <a:cs typeface="Aptos"/>
              </a:defRPr>
            </a:pPr>
            <a:r>
              <a:rPr sz="675" b="0">
                <a:solidFill>
                  <a:srgbClr val="59646A"/>
                </a:solidFill>
                <a:latin typeface="Aptos"/>
                <a:ea typeface="Aptos"/>
                <a:cs typeface="Aptos"/>
              </a:rPr>
              <a:t>6/15</a:t>
            </a:r>
          </a:p>
        </p:txBody>
      </p:sp>
    </p:spTree>
    <p:extLst>
      <p:ext uri="{BB962C8B-B14F-4D97-AF65-F5344CB8AC3E}">
        <p14:creationId xmlns:p14="http://schemas.microsoft.com/office/powerpoint/2010/main" val="216558550"/>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C3E3B603-ECDF-4471-B1DD-BF5663B35A62}"/>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6F2"/>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D7537730-70F7-4A4C-A09E-AEBFD731DB16}"/>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12232B"/>
          </a:solidFill>
          <a:ln xmlns:a="http://schemas.openxmlformats.org/drawingml/2006/main" w="0">
            <a:solidFill>
              <a:srgbClr val="000000">
                <a:alpha val="0"/>
              </a:srgbClr>
            </a:solidFill>
            <a:prstDash val="solid"/>
          </a:ln>
        </p:spPr>
      </p:sp>
      <p:sp>
        <p:nvSpPr>
          <p:cNvPr id="3" name="">
            <a:extLst xmlns:a="http://schemas.openxmlformats.org/drawingml/2006/main">
              <a:ext uri="{FF2B5EF4-FFF2-40B4-BE49-F238E27FC236}">
                <a16:creationId xmlns:a16="http://schemas.microsoft.com/office/drawing/2014/main" id="{DBB302F7-5FCF-40C5-8137-73A4DFC78CCE}"/>
              </a:ext>
            </a:extLst>
          </p:cNvPr>
          <p:cNvSpPr>
            <a:spLocks xmlns:a="http://schemas.openxmlformats.org/drawingml/2006/main" noGrp="1"/>
          </p:cNvSpPr>
          <p:nvPr/>
        </p:nvSpPr>
        <p:spPr>
          <a:xfrm xmlns:a="http://schemas.openxmlformats.org/drawingml/2006/main">
            <a:off x="171450" y="0"/>
            <a:ext cx="57150" cy="68580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4" name="kicker-04-marker">
            <a:extLst xmlns:a="http://schemas.openxmlformats.org/drawingml/2006/main">
              <a:ext uri="{FF2B5EF4-FFF2-40B4-BE49-F238E27FC236}">
                <a16:creationId xmlns:a16="http://schemas.microsoft.com/office/drawing/2014/main" id="{236D44DF-499C-4867-BF1A-617B8964AA0D}"/>
              </a:ext>
            </a:extLst>
          </p:cNvPr>
          <p:cNvSpPr>
            <a:spLocks xmlns:a="http://schemas.openxmlformats.org/drawingml/2006/main" noGrp="1"/>
          </p:cNvSpPr>
          <p:nvPr/>
        </p:nvSpPr>
        <p:spPr>
          <a:xfrm xmlns:a="http://schemas.openxmlformats.org/drawingml/2006/main">
            <a:off x="514350" y="390525"/>
            <a:ext cx="76200" cy="762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5" name="kicker-04-label">
            <a:extLst xmlns:a="http://schemas.openxmlformats.org/drawingml/2006/main">
              <a:ext uri="{FF2B5EF4-FFF2-40B4-BE49-F238E27FC236}">
                <a16:creationId xmlns:a16="http://schemas.microsoft.com/office/drawing/2014/main" id="{04AA200B-738E-4630-AEDD-93AEF3CA9414}"/>
              </a:ext>
            </a:extLst>
          </p:cNvPr>
          <p:cNvSpPr>
            <a:spLocks xmlns:a="http://schemas.openxmlformats.org/drawingml/2006/main" noGrp="1"/>
          </p:cNvSpPr>
          <p:nvPr/>
        </p:nvSpPr>
        <p:spPr>
          <a:xfrm xmlns:a="http://schemas.openxmlformats.org/drawingml/2006/main">
            <a:off x="685800" y="323850"/>
            <a:ext cx="75247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MODULE 1 / LESSON 04 / DIAGNOSTIC</a:t>
            </a:r>
          </a:p>
        </p:txBody>
      </p:sp>
      <p:sp>
        <p:nvSpPr>
          <p:cNvPr id="6" name="">
            <a:extLst xmlns:a="http://schemas.openxmlformats.org/drawingml/2006/main">
              <a:ext uri="{FF2B5EF4-FFF2-40B4-BE49-F238E27FC236}">
                <a16:creationId xmlns:a16="http://schemas.microsoft.com/office/drawing/2014/main" id="{B32953DF-03D2-4471-BA4E-E98F7543A63D}"/>
              </a:ext>
            </a:extLst>
          </p:cNvPr>
          <p:cNvSpPr>
            <a:spLocks xmlns:a="http://schemas.openxmlformats.org/drawingml/2006/main" noGrp="1"/>
          </p:cNvSpPr>
          <p:nvPr/>
        </p:nvSpPr>
        <p:spPr>
          <a:xfrm xmlns:a="http://schemas.openxmlformats.org/drawingml/2006/main">
            <a:off x="514350" y="704850"/>
            <a:ext cx="8096250" cy="666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250" b="1">
                <a:solidFill>
                  <a:srgbClr val="172026"/>
                </a:solidFill>
                <a:latin typeface="Aptos Display"/>
                <a:ea typeface="Aptos Display"/>
                <a:cs typeface="Aptos Display"/>
              </a:defRPr>
            </a:pPr>
            <a:r>
              <a:rPr sz="2250" b="1">
                <a:solidFill>
                  <a:srgbClr val="172026"/>
                </a:solidFill>
                <a:latin typeface="Aptos Display"/>
                <a:ea typeface="Aptos Display"/>
                <a:cs typeface="Aptos Display"/>
              </a:rPr>
              <a:t>Run the room on one hard operating question.</a:t>
            </a:r>
          </a:p>
        </p:txBody>
      </p:sp>
      <p:sp>
        <p:nvSpPr>
          <p:cNvPr id="7" name="">
            <a:extLst xmlns:a="http://schemas.openxmlformats.org/drawingml/2006/main">
              <a:ext uri="{FF2B5EF4-FFF2-40B4-BE49-F238E27FC236}">
                <a16:creationId xmlns:a16="http://schemas.microsoft.com/office/drawing/2014/main" id="{A65AA247-8063-4E90-94FB-9427E010800E}"/>
              </a:ext>
            </a:extLst>
          </p:cNvPr>
          <p:cNvSpPr>
            <a:spLocks xmlns:a="http://schemas.openxmlformats.org/drawingml/2006/main" noGrp="1"/>
          </p:cNvSpPr>
          <p:nvPr/>
        </p:nvSpPr>
        <p:spPr>
          <a:xfrm xmlns:a="http://schemas.openxmlformats.org/drawingml/2006/main">
            <a:off x="514350" y="1314450"/>
            <a:ext cx="819150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59646A"/>
                </a:solidFill>
                <a:latin typeface="Aptos"/>
                <a:ea typeface="Aptos"/>
                <a:cs typeface="Aptos"/>
              </a:defRPr>
            </a:pPr>
            <a:r>
              <a:rPr sz="1125" b="0">
                <a:solidFill>
                  <a:srgbClr val="59646A"/>
                </a:solidFill>
                <a:latin typeface="Aptos"/>
                <a:ea typeface="Aptos"/>
                <a:cs typeface="Aptos"/>
              </a:rPr>
              <a:t>This slide is the short live diagnostic before the exercise.</a:t>
            </a:r>
          </a:p>
        </p:txBody>
      </p:sp>
      <p:sp>
        <p:nvSpPr>
          <p:cNvPr id="8" name="">
            <a:extLst xmlns:a="http://schemas.openxmlformats.org/drawingml/2006/main">
              <a:ext uri="{FF2B5EF4-FFF2-40B4-BE49-F238E27FC236}">
                <a16:creationId xmlns:a16="http://schemas.microsoft.com/office/drawing/2014/main" id="{1EA41634-30F0-4197-8ED5-6C1BD31749E2}"/>
              </a:ext>
            </a:extLst>
          </p:cNvPr>
          <p:cNvSpPr>
            <a:spLocks xmlns:a="http://schemas.openxmlformats.org/drawingml/2006/main" noGrp="1"/>
          </p:cNvSpPr>
          <p:nvPr/>
        </p:nvSpPr>
        <p:spPr>
          <a:xfrm xmlns:a="http://schemas.openxmlformats.org/drawingml/2006/main">
            <a:off x="514350" y="6438900"/>
            <a:ext cx="1091565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B2C31538-7454-423C-95BD-734057145BEB}"/>
              </a:ext>
            </a:extLst>
          </p:cNvPr>
          <p:cNvSpPr>
            <a:spLocks xmlns:a="http://schemas.openxmlformats.org/drawingml/2006/main" noGrp="1"/>
          </p:cNvSpPr>
          <p:nvPr/>
        </p:nvSpPr>
        <p:spPr>
          <a:xfrm xmlns:a="http://schemas.openxmlformats.org/drawingml/2006/main">
            <a:off x="514350" y="6553200"/>
            <a:ext cx="590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59646A"/>
                </a:solidFill>
                <a:latin typeface="Aptos"/>
                <a:ea typeface="Aptos"/>
                <a:cs typeface="Aptos"/>
              </a:defRPr>
            </a:pPr>
            <a:r>
              <a:rPr sz="675" b="0">
                <a:solidFill>
                  <a:srgbClr val="59646A"/>
                </a:solidFill>
                <a:latin typeface="Aptos"/>
                <a:ea typeface="Aptos"/>
                <a:cs typeface="Aptos"/>
              </a:rPr>
              <a:t>Lesson 04 - MOIN: Map Of Informational Needs</a:t>
            </a:r>
          </a:p>
        </p:txBody>
      </p:sp>
      <p:sp>
        <p:nvSpPr>
          <p:cNvPr id="10" name="">
            <a:extLst xmlns:a="http://schemas.openxmlformats.org/drawingml/2006/main">
              <a:ext uri="{FF2B5EF4-FFF2-40B4-BE49-F238E27FC236}">
                <a16:creationId xmlns:a16="http://schemas.microsoft.com/office/drawing/2014/main" id="{E9AAC7A1-4FD2-4FC7-BB58-6EC0D3FACB24}"/>
              </a:ext>
            </a:extLst>
          </p:cNvPr>
          <p:cNvSpPr>
            <a:spLocks xmlns:a="http://schemas.openxmlformats.org/drawingml/2006/main" noGrp="1"/>
          </p:cNvSpPr>
          <p:nvPr/>
        </p:nvSpPr>
        <p:spPr>
          <a:xfrm xmlns:a="http://schemas.openxmlformats.org/drawingml/2006/main">
            <a:off x="5334000" y="6553200"/>
            <a:ext cx="4095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00" b="0">
                <a:solidFill>
                  <a:srgbClr val="59646A"/>
                </a:solidFill>
                <a:latin typeface="Aptos"/>
                <a:ea typeface="Aptos"/>
                <a:cs typeface="Aptos"/>
              </a:defRPr>
            </a:pPr>
            <a:r>
              <a:rPr sz="600" b="0">
                <a:solidFill>
                  <a:srgbClr val="59646A"/>
                </a:solidFill>
                <a:latin typeface="Aptos"/>
                <a:ea typeface="Aptos"/>
                <a:cs typeface="Aptos"/>
              </a:rPr>
              <a:t>Source: modules/module-01-industrial-demand-generation/lessons/04-moin-map-of-informational-needs.md @ 9e28222</a:t>
            </a:r>
          </a:p>
        </p:txBody>
      </p:sp>
      <p:sp>
        <p:nvSpPr>
          <p:cNvPr id="11" name="">
            <a:extLst xmlns:a="http://schemas.openxmlformats.org/drawingml/2006/main">
              <a:ext uri="{FF2B5EF4-FFF2-40B4-BE49-F238E27FC236}">
                <a16:creationId xmlns:a16="http://schemas.microsoft.com/office/drawing/2014/main" id="{A6DFACE8-1868-4C32-B3BC-79EDFC822E71}"/>
              </a:ext>
            </a:extLst>
          </p:cNvPr>
          <p:cNvSpPr>
            <a:spLocks xmlns:a="http://schemas.openxmlformats.org/drawingml/2006/main" noGrp="1"/>
          </p:cNvSpPr>
          <p:nvPr/>
        </p:nvSpPr>
        <p:spPr>
          <a:xfrm xmlns:a="http://schemas.openxmlformats.org/drawingml/2006/main">
            <a:off x="10668000" y="6553200"/>
            <a:ext cx="762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75" b="0">
                <a:solidFill>
                  <a:srgbClr val="59646A"/>
                </a:solidFill>
                <a:latin typeface="Aptos"/>
                <a:ea typeface="Aptos"/>
                <a:cs typeface="Aptos"/>
              </a:defRPr>
            </a:pPr>
            <a:r>
              <a:rPr sz="675" b="0">
                <a:solidFill>
                  <a:srgbClr val="59646A"/>
                </a:solidFill>
                <a:latin typeface="Aptos"/>
                <a:ea typeface="Aptos"/>
                <a:cs typeface="Aptos"/>
              </a:rPr>
              <a:t>7/15</a:t>
            </a:r>
          </a:p>
        </p:txBody>
      </p:sp>
      <p:sp>
        <p:nvSpPr>
          <p:cNvPr id="12" name="">
            <a:extLst xmlns:a="http://schemas.openxmlformats.org/drawingml/2006/main">
              <a:ext uri="{FF2B5EF4-FFF2-40B4-BE49-F238E27FC236}">
                <a16:creationId xmlns:a16="http://schemas.microsoft.com/office/drawing/2014/main" id="{303B4AE2-D34A-4F5D-ABF7-5E8DB9151152}"/>
              </a:ext>
            </a:extLst>
          </p:cNvPr>
          <p:cNvSpPr>
            <a:spLocks xmlns:a="http://schemas.openxmlformats.org/drawingml/2006/main" noGrp="1"/>
          </p:cNvSpPr>
          <p:nvPr/>
        </p:nvSpPr>
        <p:spPr>
          <a:xfrm xmlns:a="http://schemas.openxmlformats.org/drawingml/2006/main">
            <a:off x="514350" y="1962150"/>
            <a:ext cx="10915650" cy="1219200"/>
          </a:xfrm>
          <a:prstGeom xmlns:a="http://schemas.openxmlformats.org/drawingml/2006/main" prst="rect">
            <a:avLst/>
          </a:prstGeom>
          <a:solidFill xmlns:a="http://schemas.openxmlformats.org/drawingml/2006/main">
            <a:srgbClr val="12232B"/>
          </a:solidFill>
          <a:ln xmlns:a="http://schemas.openxmlformats.org/drawingml/2006/main" w="9525">
            <a:solidFill>
              <a:srgbClr val="12232B"/>
            </a:solidFill>
            <a:prstDash val="solid"/>
          </a:ln>
        </p:spPr>
      </p:sp>
      <p:sp>
        <p:nvSpPr>
          <p:cNvPr id="13" name="">
            <a:extLst xmlns:a="http://schemas.openxmlformats.org/drawingml/2006/main">
              <a:ext uri="{FF2B5EF4-FFF2-40B4-BE49-F238E27FC236}">
                <a16:creationId xmlns:a16="http://schemas.microsoft.com/office/drawing/2014/main" id="{7E903968-47AA-4619-9E5F-0DDE6E5767C4}"/>
              </a:ext>
            </a:extLst>
          </p:cNvPr>
          <p:cNvSpPr>
            <a:spLocks xmlns:a="http://schemas.openxmlformats.org/drawingml/2006/main" noGrp="1"/>
          </p:cNvSpPr>
          <p:nvPr/>
        </p:nvSpPr>
        <p:spPr>
          <a:xfrm xmlns:a="http://schemas.openxmlformats.org/drawingml/2006/main">
            <a:off x="857250" y="2190750"/>
            <a:ext cx="10058400" cy="666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2325" b="1">
                <a:solidFill>
                  <a:srgbClr val="FFFFFF"/>
                </a:solidFill>
                <a:latin typeface="Aptos Display"/>
                <a:ea typeface="Aptos Display"/>
                <a:cs typeface="Aptos Display"/>
              </a:defRPr>
            </a:pPr>
            <a:r>
              <a:rPr sz="2325" b="1">
                <a:solidFill>
                  <a:srgbClr val="FFFFFF"/>
                </a:solidFill>
                <a:latin typeface="Aptos Display"/>
                <a:ea typeface="Aptos Display"/>
                <a:cs typeface="Aptos Display"/>
              </a:rPr>
              <a:t>What does each buyer role need to understand before the account can move to the next demand state?</a:t>
            </a:r>
          </a:p>
        </p:txBody>
      </p:sp>
      <p:sp>
        <p:nvSpPr>
          <p:cNvPr id="14" name="">
            <a:extLst xmlns:a="http://schemas.openxmlformats.org/drawingml/2006/main">
              <a:ext uri="{FF2B5EF4-FFF2-40B4-BE49-F238E27FC236}">
                <a16:creationId xmlns:a16="http://schemas.microsoft.com/office/drawing/2014/main" id="{33ADCD7C-7CEB-4337-91BD-9F2046F3654A}"/>
              </a:ext>
            </a:extLst>
          </p:cNvPr>
          <p:cNvSpPr>
            <a:spLocks xmlns:a="http://schemas.openxmlformats.org/drawingml/2006/main" noGrp="1"/>
          </p:cNvSpPr>
          <p:nvPr/>
        </p:nvSpPr>
        <p:spPr>
          <a:xfrm xmlns:a="http://schemas.openxmlformats.org/drawingml/2006/main">
            <a:off x="704850" y="3714750"/>
            <a:ext cx="266700" cy="19050"/>
          </a:xfrm>
          <a:prstGeom xmlns:a="http://schemas.openxmlformats.org/drawingml/2006/main" prst="rect">
            <a:avLst/>
          </a:prstGeom>
          <a:solidFill xmlns:a="http://schemas.openxmlformats.org/drawingml/2006/main">
            <a:srgbClr val="1D6072"/>
          </a:solidFill>
          <a:ln xmlns:a="http://schemas.openxmlformats.org/drawingml/2006/main" w="0">
            <a:solidFill>
              <a:srgbClr val="000000">
                <a:alpha val="0"/>
              </a:srgbClr>
            </a:solidFill>
            <a:prstDash val="solid"/>
          </a:ln>
        </p:spPr>
      </p:sp>
      <p:sp>
        <p:nvSpPr>
          <p:cNvPr id="15" name="">
            <a:extLst xmlns:a="http://schemas.openxmlformats.org/drawingml/2006/main">
              <a:ext uri="{FF2B5EF4-FFF2-40B4-BE49-F238E27FC236}">
                <a16:creationId xmlns:a16="http://schemas.microsoft.com/office/drawing/2014/main" id="{DB91EB2E-B39F-414A-862A-561E7CD7E33E}"/>
              </a:ext>
            </a:extLst>
          </p:cNvPr>
          <p:cNvSpPr>
            <a:spLocks xmlns:a="http://schemas.openxmlformats.org/drawingml/2006/main" noGrp="1"/>
          </p:cNvSpPr>
          <p:nvPr/>
        </p:nvSpPr>
        <p:spPr>
          <a:xfrm xmlns:a="http://schemas.openxmlformats.org/drawingml/2006/main">
            <a:off x="1066800" y="3638550"/>
            <a:ext cx="2476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PROMPT STACK</a:t>
            </a:r>
          </a:p>
        </p:txBody>
      </p:sp>
      <p:sp>
        <p:nvSpPr>
          <p:cNvPr id="16" name="">
            <a:extLst xmlns:a="http://schemas.openxmlformats.org/drawingml/2006/main">
              <a:ext uri="{FF2B5EF4-FFF2-40B4-BE49-F238E27FC236}">
                <a16:creationId xmlns:a16="http://schemas.microsoft.com/office/drawing/2014/main" id="{C17B410D-6D7B-4DF6-BC37-B721184E3DA4}"/>
              </a:ext>
            </a:extLst>
          </p:cNvPr>
          <p:cNvSpPr>
            <a:spLocks xmlns:a="http://schemas.openxmlformats.org/drawingml/2006/main" noGrp="1"/>
          </p:cNvSpPr>
          <p:nvPr/>
        </p:nvSpPr>
        <p:spPr>
          <a:xfrm xmlns:a="http://schemas.openxmlformats.org/drawingml/2006/main">
            <a:off x="876300" y="4105275"/>
            <a:ext cx="57150" cy="57150"/>
          </a:xfrm>
          <a:prstGeom xmlns:a="http://schemas.openxmlformats.org/drawingml/2006/main" prst="rect">
            <a:avLst/>
          </a:prstGeom>
          <a:solidFill xmlns:a="http://schemas.openxmlformats.org/drawingml/2006/main">
            <a:srgbClr val="1D6072"/>
          </a:solidFill>
          <a:ln xmlns:a="http://schemas.openxmlformats.org/drawingml/2006/main" w="0">
            <a:solidFill>
              <a:srgbClr val="000000">
                <a:alpha val="0"/>
              </a:srgbClr>
            </a:solidFill>
            <a:prstDash val="solid"/>
          </a:ln>
        </p:spPr>
      </p:sp>
      <p:sp>
        <p:nvSpPr>
          <p:cNvPr id="17" name="">
            <a:extLst xmlns:a="http://schemas.openxmlformats.org/drawingml/2006/main">
              <a:ext uri="{FF2B5EF4-FFF2-40B4-BE49-F238E27FC236}">
                <a16:creationId xmlns:a16="http://schemas.microsoft.com/office/drawing/2014/main" id="{78C809C5-6376-40D9-A63A-3959BEE34F62}"/>
              </a:ext>
            </a:extLst>
          </p:cNvPr>
          <p:cNvSpPr>
            <a:spLocks xmlns:a="http://schemas.openxmlformats.org/drawingml/2006/main" noGrp="1"/>
          </p:cNvSpPr>
          <p:nvPr/>
        </p:nvSpPr>
        <p:spPr>
          <a:xfrm xmlns:a="http://schemas.openxmlformats.org/drawingml/2006/main">
            <a:off x="1047750" y="4038600"/>
            <a:ext cx="421005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72026"/>
                </a:solidFill>
                <a:latin typeface="Aptos"/>
                <a:ea typeface="Aptos"/>
                <a:cs typeface="Aptos"/>
              </a:defRPr>
            </a:pPr>
            <a:r>
              <a:rPr sz="1200" b="0">
                <a:solidFill>
                  <a:srgbClr val="172026"/>
                </a:solidFill>
                <a:latin typeface="Aptos"/>
                <a:ea typeface="Aptos"/>
                <a:cs typeface="Aptos"/>
              </a:rPr>
              <a:t>What does the buyer not yet believe?</a:t>
            </a:r>
          </a:p>
        </p:txBody>
      </p:sp>
      <p:sp>
        <p:nvSpPr>
          <p:cNvPr id="18" name="">
            <a:extLst xmlns:a="http://schemas.openxmlformats.org/drawingml/2006/main">
              <a:ext uri="{FF2B5EF4-FFF2-40B4-BE49-F238E27FC236}">
                <a16:creationId xmlns:a16="http://schemas.microsoft.com/office/drawing/2014/main" id="{19D9CD9F-8A93-4BC8-BB55-63B948891868}"/>
              </a:ext>
            </a:extLst>
          </p:cNvPr>
          <p:cNvSpPr>
            <a:spLocks xmlns:a="http://schemas.openxmlformats.org/drawingml/2006/main" noGrp="1"/>
          </p:cNvSpPr>
          <p:nvPr/>
        </p:nvSpPr>
        <p:spPr>
          <a:xfrm xmlns:a="http://schemas.openxmlformats.org/drawingml/2006/main">
            <a:off x="876300" y="4600575"/>
            <a:ext cx="57150" cy="57150"/>
          </a:xfrm>
          <a:prstGeom xmlns:a="http://schemas.openxmlformats.org/drawingml/2006/main" prst="rect">
            <a:avLst/>
          </a:prstGeom>
          <a:solidFill xmlns:a="http://schemas.openxmlformats.org/drawingml/2006/main">
            <a:srgbClr val="1D6072"/>
          </a:solidFill>
          <a:ln xmlns:a="http://schemas.openxmlformats.org/drawingml/2006/main" w="0">
            <a:solidFill>
              <a:srgbClr val="000000">
                <a:alpha val="0"/>
              </a:srgbClr>
            </a:solidFill>
            <a:prstDash val="solid"/>
          </a:ln>
        </p:spPr>
      </p:sp>
      <p:sp>
        <p:nvSpPr>
          <p:cNvPr id="19" name="">
            <a:extLst xmlns:a="http://schemas.openxmlformats.org/drawingml/2006/main">
              <a:ext uri="{FF2B5EF4-FFF2-40B4-BE49-F238E27FC236}">
                <a16:creationId xmlns:a16="http://schemas.microsoft.com/office/drawing/2014/main" id="{D36F8A3A-CF32-4912-9B23-1A86C5D595FA}"/>
              </a:ext>
            </a:extLst>
          </p:cNvPr>
          <p:cNvSpPr>
            <a:spLocks xmlns:a="http://schemas.openxmlformats.org/drawingml/2006/main" noGrp="1"/>
          </p:cNvSpPr>
          <p:nvPr/>
        </p:nvSpPr>
        <p:spPr>
          <a:xfrm xmlns:a="http://schemas.openxmlformats.org/drawingml/2006/main">
            <a:off x="1047750" y="4533900"/>
            <a:ext cx="421005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72026"/>
                </a:solidFill>
                <a:latin typeface="Aptos"/>
                <a:ea typeface="Aptos"/>
                <a:cs typeface="Aptos"/>
              </a:defRPr>
            </a:pPr>
            <a:r>
              <a:rPr sz="1200" b="0">
                <a:solidFill>
                  <a:srgbClr val="172026"/>
                </a:solidFill>
                <a:latin typeface="Aptos"/>
                <a:ea typeface="Aptos"/>
                <a:cs typeface="Aptos"/>
              </a:rPr>
              <a:t>Which role is under-educated?</a:t>
            </a:r>
          </a:p>
        </p:txBody>
      </p:sp>
      <p:sp>
        <p:nvSpPr>
          <p:cNvPr id="20" name="">
            <a:extLst xmlns:a="http://schemas.openxmlformats.org/drawingml/2006/main">
              <a:ext uri="{FF2B5EF4-FFF2-40B4-BE49-F238E27FC236}">
                <a16:creationId xmlns:a16="http://schemas.microsoft.com/office/drawing/2014/main" id="{E7CD4707-D1CB-42A7-9E85-E69CDDA558AB}"/>
              </a:ext>
            </a:extLst>
          </p:cNvPr>
          <p:cNvSpPr>
            <a:spLocks xmlns:a="http://schemas.openxmlformats.org/drawingml/2006/main" noGrp="1"/>
          </p:cNvSpPr>
          <p:nvPr/>
        </p:nvSpPr>
        <p:spPr>
          <a:xfrm xmlns:a="http://schemas.openxmlformats.org/drawingml/2006/main">
            <a:off x="876300" y="5095875"/>
            <a:ext cx="57150" cy="57150"/>
          </a:xfrm>
          <a:prstGeom xmlns:a="http://schemas.openxmlformats.org/drawingml/2006/main" prst="rect">
            <a:avLst/>
          </a:prstGeom>
          <a:solidFill xmlns:a="http://schemas.openxmlformats.org/drawingml/2006/main">
            <a:srgbClr val="1D6072"/>
          </a:solidFill>
          <a:ln xmlns:a="http://schemas.openxmlformats.org/drawingml/2006/main" w="0">
            <a:solidFill>
              <a:srgbClr val="000000">
                <a:alpha val="0"/>
              </a:srgbClr>
            </a:solidFill>
            <a:prstDash val="solid"/>
          </a:ln>
        </p:spPr>
      </p:sp>
      <p:sp>
        <p:nvSpPr>
          <p:cNvPr id="21" name="">
            <a:extLst xmlns:a="http://schemas.openxmlformats.org/drawingml/2006/main">
              <a:ext uri="{FF2B5EF4-FFF2-40B4-BE49-F238E27FC236}">
                <a16:creationId xmlns:a16="http://schemas.microsoft.com/office/drawing/2014/main" id="{5E2B1365-3177-44D5-B050-838D629D8195}"/>
              </a:ext>
            </a:extLst>
          </p:cNvPr>
          <p:cNvSpPr>
            <a:spLocks xmlns:a="http://schemas.openxmlformats.org/drawingml/2006/main" noGrp="1"/>
          </p:cNvSpPr>
          <p:nvPr/>
        </p:nvSpPr>
        <p:spPr>
          <a:xfrm xmlns:a="http://schemas.openxmlformats.org/drawingml/2006/main">
            <a:off x="1047750" y="5029200"/>
            <a:ext cx="421005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72026"/>
                </a:solidFill>
                <a:latin typeface="Aptos"/>
                <a:ea typeface="Aptos"/>
                <a:cs typeface="Aptos"/>
              </a:defRPr>
            </a:pPr>
            <a:r>
              <a:rPr sz="1200" b="0">
                <a:solidFill>
                  <a:srgbClr val="172026"/>
                </a:solidFill>
                <a:latin typeface="Aptos"/>
                <a:ea typeface="Aptos"/>
                <a:cs typeface="Aptos"/>
              </a:rPr>
              <a:t>Which question blocks internal consensus?</a:t>
            </a:r>
          </a:p>
        </p:txBody>
      </p:sp>
      <p:sp>
        <p:nvSpPr>
          <p:cNvPr id="22" name="">
            <a:extLst xmlns:a="http://schemas.openxmlformats.org/drawingml/2006/main">
              <a:ext uri="{FF2B5EF4-FFF2-40B4-BE49-F238E27FC236}">
                <a16:creationId xmlns:a16="http://schemas.microsoft.com/office/drawing/2014/main" id="{D4982735-D430-46CB-966C-20E1FE4084F4}"/>
              </a:ext>
            </a:extLst>
          </p:cNvPr>
          <p:cNvSpPr>
            <a:spLocks xmlns:a="http://schemas.openxmlformats.org/drawingml/2006/main" noGrp="1"/>
          </p:cNvSpPr>
          <p:nvPr/>
        </p:nvSpPr>
        <p:spPr>
          <a:xfrm xmlns:a="http://schemas.openxmlformats.org/drawingml/2006/main">
            <a:off x="6096000" y="4105275"/>
            <a:ext cx="57150" cy="5715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23" name="">
            <a:extLst xmlns:a="http://schemas.openxmlformats.org/drawingml/2006/main">
              <a:ext uri="{FF2B5EF4-FFF2-40B4-BE49-F238E27FC236}">
                <a16:creationId xmlns:a16="http://schemas.microsoft.com/office/drawing/2014/main" id="{7356E163-1F34-4898-A5C7-7ECE0F62AFA0}"/>
              </a:ext>
            </a:extLst>
          </p:cNvPr>
          <p:cNvSpPr>
            <a:spLocks xmlns:a="http://schemas.openxmlformats.org/drawingml/2006/main" noGrp="1"/>
          </p:cNvSpPr>
          <p:nvPr/>
        </p:nvSpPr>
        <p:spPr>
          <a:xfrm xmlns:a="http://schemas.openxmlformats.org/drawingml/2006/main">
            <a:off x="6267450" y="4038600"/>
            <a:ext cx="421005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72026"/>
                </a:solidFill>
                <a:latin typeface="Aptos"/>
                <a:ea typeface="Aptos"/>
                <a:cs typeface="Aptos"/>
              </a:defRPr>
            </a:pPr>
            <a:r>
              <a:rPr sz="1200" b="0">
                <a:solidFill>
                  <a:srgbClr val="172026"/>
                </a:solidFill>
                <a:latin typeface="Aptos"/>
                <a:ea typeface="Aptos"/>
                <a:cs typeface="Aptos"/>
              </a:rPr>
              <a:t>Which question appears repeatedly in sales calls?</a:t>
            </a:r>
          </a:p>
        </p:txBody>
      </p:sp>
      <p:sp>
        <p:nvSpPr>
          <p:cNvPr id="24" name="">
            <a:extLst xmlns:a="http://schemas.openxmlformats.org/drawingml/2006/main">
              <a:ext uri="{FF2B5EF4-FFF2-40B4-BE49-F238E27FC236}">
                <a16:creationId xmlns:a16="http://schemas.microsoft.com/office/drawing/2014/main" id="{47E4A818-F9EF-4C6C-8896-BBB859A9F099}"/>
              </a:ext>
            </a:extLst>
          </p:cNvPr>
          <p:cNvSpPr>
            <a:spLocks xmlns:a="http://schemas.openxmlformats.org/drawingml/2006/main" noGrp="1"/>
          </p:cNvSpPr>
          <p:nvPr/>
        </p:nvSpPr>
        <p:spPr>
          <a:xfrm xmlns:a="http://schemas.openxmlformats.org/drawingml/2006/main">
            <a:off x="6096000" y="4600575"/>
            <a:ext cx="57150" cy="5715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25" name="">
            <a:extLst xmlns:a="http://schemas.openxmlformats.org/drawingml/2006/main">
              <a:ext uri="{FF2B5EF4-FFF2-40B4-BE49-F238E27FC236}">
                <a16:creationId xmlns:a16="http://schemas.microsoft.com/office/drawing/2014/main" id="{BAC3B6EE-1AF0-4104-9DAF-16C86D640EE7}"/>
              </a:ext>
            </a:extLst>
          </p:cNvPr>
          <p:cNvSpPr>
            <a:spLocks xmlns:a="http://schemas.openxmlformats.org/drawingml/2006/main" noGrp="1"/>
          </p:cNvSpPr>
          <p:nvPr/>
        </p:nvSpPr>
        <p:spPr>
          <a:xfrm xmlns:a="http://schemas.openxmlformats.org/drawingml/2006/main">
            <a:off x="6267450" y="4533900"/>
            <a:ext cx="421005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72026"/>
                </a:solidFill>
                <a:latin typeface="Aptos"/>
                <a:ea typeface="Aptos"/>
                <a:cs typeface="Aptos"/>
              </a:defRPr>
            </a:pPr>
            <a:r>
              <a:rPr sz="1200" b="0">
                <a:solidFill>
                  <a:srgbClr val="172026"/>
                </a:solidFill>
                <a:latin typeface="Aptos"/>
                <a:ea typeface="Aptos"/>
                <a:cs typeface="Aptos"/>
              </a:rPr>
              <a:t>What proof would shorten the internal debate?</a:t>
            </a:r>
          </a:p>
        </p:txBody>
      </p:sp>
      <p:sp>
        <p:nvSpPr>
          <p:cNvPr id="26" name="">
            <a:extLst xmlns:a="http://schemas.openxmlformats.org/drawingml/2006/main">
              <a:ext uri="{FF2B5EF4-FFF2-40B4-BE49-F238E27FC236}">
                <a16:creationId xmlns:a16="http://schemas.microsoft.com/office/drawing/2014/main" id="{76DFA3CE-5FBD-4D41-B650-000107D6B260}"/>
              </a:ext>
            </a:extLst>
          </p:cNvPr>
          <p:cNvSpPr>
            <a:spLocks xmlns:a="http://schemas.openxmlformats.org/drawingml/2006/main" noGrp="1"/>
          </p:cNvSpPr>
          <p:nvPr/>
        </p:nvSpPr>
        <p:spPr>
          <a:xfrm xmlns:a="http://schemas.openxmlformats.org/drawingml/2006/main">
            <a:off x="6096000" y="5095875"/>
            <a:ext cx="57150" cy="5715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27" name="">
            <a:extLst xmlns:a="http://schemas.openxmlformats.org/drawingml/2006/main">
              <a:ext uri="{FF2B5EF4-FFF2-40B4-BE49-F238E27FC236}">
                <a16:creationId xmlns:a16="http://schemas.microsoft.com/office/drawing/2014/main" id="{F3B731CD-01CF-43AE-8988-46F2C598B282}"/>
              </a:ext>
            </a:extLst>
          </p:cNvPr>
          <p:cNvSpPr>
            <a:spLocks xmlns:a="http://schemas.openxmlformats.org/drawingml/2006/main" noGrp="1"/>
          </p:cNvSpPr>
          <p:nvPr/>
        </p:nvSpPr>
        <p:spPr>
          <a:xfrm xmlns:a="http://schemas.openxmlformats.org/drawingml/2006/main">
            <a:off x="6267450" y="5029200"/>
            <a:ext cx="421005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72026"/>
                </a:solidFill>
                <a:latin typeface="Aptos"/>
                <a:ea typeface="Aptos"/>
                <a:cs typeface="Aptos"/>
              </a:defRPr>
            </a:pPr>
            <a:r>
              <a:rPr sz="1200" b="0">
                <a:solidFill>
                  <a:srgbClr val="172026"/>
                </a:solidFill>
                <a:latin typeface="Aptos"/>
                <a:ea typeface="Aptos"/>
                <a:cs typeface="Aptos"/>
              </a:rPr>
              <a:t>What engagement would create a meaningful signal?</a:t>
            </a:r>
          </a:p>
        </p:txBody>
      </p:sp>
      <p:sp>
        <p:nvSpPr>
          <p:cNvPr id="28" name="">
            <a:extLst xmlns:a="http://schemas.openxmlformats.org/drawingml/2006/main">
              <a:ext uri="{FF2B5EF4-FFF2-40B4-BE49-F238E27FC236}">
                <a16:creationId xmlns:a16="http://schemas.microsoft.com/office/drawing/2014/main" id="{0F8FEB52-5489-4DB3-84E0-598FDA02B2B2}"/>
              </a:ext>
            </a:extLst>
          </p:cNvPr>
          <p:cNvSpPr>
            <a:spLocks xmlns:a="http://schemas.openxmlformats.org/drawingml/2006/main" noGrp="1"/>
          </p:cNvSpPr>
          <p:nvPr/>
        </p:nvSpPr>
        <p:spPr>
          <a:xfrm xmlns:a="http://schemas.openxmlformats.org/drawingml/2006/main">
            <a:off x="514350" y="6438900"/>
            <a:ext cx="1091565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29" name="">
            <a:extLst xmlns:a="http://schemas.openxmlformats.org/drawingml/2006/main">
              <a:ext uri="{FF2B5EF4-FFF2-40B4-BE49-F238E27FC236}">
                <a16:creationId xmlns:a16="http://schemas.microsoft.com/office/drawing/2014/main" id="{9BEB103D-C433-4A7F-B1DC-3E42FDE4BADF}"/>
              </a:ext>
            </a:extLst>
          </p:cNvPr>
          <p:cNvSpPr>
            <a:spLocks xmlns:a="http://schemas.openxmlformats.org/drawingml/2006/main" noGrp="1"/>
          </p:cNvSpPr>
          <p:nvPr/>
        </p:nvSpPr>
        <p:spPr>
          <a:xfrm xmlns:a="http://schemas.openxmlformats.org/drawingml/2006/main">
            <a:off x="514350" y="6553200"/>
            <a:ext cx="590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59646A"/>
                </a:solidFill>
                <a:latin typeface="Aptos"/>
                <a:ea typeface="Aptos"/>
                <a:cs typeface="Aptos"/>
              </a:defRPr>
            </a:pPr>
            <a:r>
              <a:rPr sz="675" b="0">
                <a:solidFill>
                  <a:srgbClr val="59646A"/>
                </a:solidFill>
                <a:latin typeface="Aptos"/>
                <a:ea typeface="Aptos"/>
                <a:cs typeface="Aptos"/>
              </a:rPr>
              <a:t>Lesson 04 - MOIN: Map Of Informational Needs</a:t>
            </a:r>
          </a:p>
        </p:txBody>
      </p:sp>
      <p:sp>
        <p:nvSpPr>
          <p:cNvPr id="30" name="">
            <a:extLst xmlns:a="http://schemas.openxmlformats.org/drawingml/2006/main">
              <a:ext uri="{FF2B5EF4-FFF2-40B4-BE49-F238E27FC236}">
                <a16:creationId xmlns:a16="http://schemas.microsoft.com/office/drawing/2014/main" id="{C62B6E1D-0D26-43FB-9C1E-82A6FBE42980}"/>
              </a:ext>
            </a:extLst>
          </p:cNvPr>
          <p:cNvSpPr>
            <a:spLocks xmlns:a="http://schemas.openxmlformats.org/drawingml/2006/main" noGrp="1"/>
          </p:cNvSpPr>
          <p:nvPr/>
        </p:nvSpPr>
        <p:spPr>
          <a:xfrm xmlns:a="http://schemas.openxmlformats.org/drawingml/2006/main">
            <a:off x="5334000" y="6553200"/>
            <a:ext cx="4095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00" b="0">
                <a:solidFill>
                  <a:srgbClr val="59646A"/>
                </a:solidFill>
                <a:latin typeface="Aptos"/>
                <a:ea typeface="Aptos"/>
                <a:cs typeface="Aptos"/>
              </a:defRPr>
            </a:pPr>
            <a:r>
              <a:rPr sz="600" b="0">
                <a:solidFill>
                  <a:srgbClr val="59646A"/>
                </a:solidFill>
                <a:latin typeface="Aptos"/>
                <a:ea typeface="Aptos"/>
                <a:cs typeface="Aptos"/>
              </a:rPr>
              <a:t>Source: modules/module-01-industrial-demand-generation/lessons/04-moin-map-of-informational-needs.md @ 9e28222</a:t>
            </a:r>
          </a:p>
        </p:txBody>
      </p:sp>
      <p:sp>
        <p:nvSpPr>
          <p:cNvPr id="31" name="">
            <a:extLst xmlns:a="http://schemas.openxmlformats.org/drawingml/2006/main">
              <a:ext uri="{FF2B5EF4-FFF2-40B4-BE49-F238E27FC236}">
                <a16:creationId xmlns:a16="http://schemas.microsoft.com/office/drawing/2014/main" id="{A993B8ED-2816-4397-BB31-EDAF54E8EEB5}"/>
              </a:ext>
            </a:extLst>
          </p:cNvPr>
          <p:cNvSpPr>
            <a:spLocks xmlns:a="http://schemas.openxmlformats.org/drawingml/2006/main" noGrp="1"/>
          </p:cNvSpPr>
          <p:nvPr/>
        </p:nvSpPr>
        <p:spPr>
          <a:xfrm xmlns:a="http://schemas.openxmlformats.org/drawingml/2006/main">
            <a:off x="10668000" y="6553200"/>
            <a:ext cx="762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75" b="0">
                <a:solidFill>
                  <a:srgbClr val="59646A"/>
                </a:solidFill>
                <a:latin typeface="Aptos"/>
                <a:ea typeface="Aptos"/>
                <a:cs typeface="Aptos"/>
              </a:defRPr>
            </a:pPr>
            <a:r>
              <a:rPr sz="675" b="0">
                <a:solidFill>
                  <a:srgbClr val="59646A"/>
                </a:solidFill>
                <a:latin typeface="Aptos"/>
                <a:ea typeface="Aptos"/>
                <a:cs typeface="Aptos"/>
              </a:rPr>
              <a:t>7/15</a:t>
            </a:r>
          </a:p>
        </p:txBody>
      </p:sp>
    </p:spTree>
    <p:extLst>
      <p:ext uri="{BB962C8B-B14F-4D97-AF65-F5344CB8AC3E}">
        <p14:creationId xmlns:p14="http://schemas.microsoft.com/office/powerpoint/2010/main" val="122286437"/>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6EA2F5A5-6085-4DFB-8708-1900262B4A87}"/>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6F2"/>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C9B30809-E9D8-490B-8DCB-EA37948A66CC}"/>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12232B"/>
          </a:solidFill>
          <a:ln xmlns:a="http://schemas.openxmlformats.org/drawingml/2006/main" w="0">
            <a:solidFill>
              <a:srgbClr val="000000">
                <a:alpha val="0"/>
              </a:srgbClr>
            </a:solidFill>
            <a:prstDash val="solid"/>
          </a:ln>
        </p:spPr>
      </p:sp>
      <p:sp>
        <p:nvSpPr>
          <p:cNvPr id="3" name="">
            <a:extLst xmlns:a="http://schemas.openxmlformats.org/drawingml/2006/main">
              <a:ext uri="{FF2B5EF4-FFF2-40B4-BE49-F238E27FC236}">
                <a16:creationId xmlns:a16="http://schemas.microsoft.com/office/drawing/2014/main" id="{3D00F986-D64C-477C-ABE0-09BB67D5DB35}"/>
              </a:ext>
            </a:extLst>
          </p:cNvPr>
          <p:cNvSpPr>
            <a:spLocks xmlns:a="http://schemas.openxmlformats.org/drawingml/2006/main" noGrp="1"/>
          </p:cNvSpPr>
          <p:nvPr/>
        </p:nvSpPr>
        <p:spPr>
          <a:xfrm xmlns:a="http://schemas.openxmlformats.org/drawingml/2006/main">
            <a:off x="171450" y="0"/>
            <a:ext cx="57150" cy="68580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4" name="kicker-04-marker">
            <a:extLst xmlns:a="http://schemas.openxmlformats.org/drawingml/2006/main">
              <a:ext uri="{FF2B5EF4-FFF2-40B4-BE49-F238E27FC236}">
                <a16:creationId xmlns:a16="http://schemas.microsoft.com/office/drawing/2014/main" id="{04A39084-8E05-4325-AA13-A0FCC3D2F8B2}"/>
              </a:ext>
            </a:extLst>
          </p:cNvPr>
          <p:cNvSpPr>
            <a:spLocks xmlns:a="http://schemas.openxmlformats.org/drawingml/2006/main" noGrp="1"/>
          </p:cNvSpPr>
          <p:nvPr/>
        </p:nvSpPr>
        <p:spPr>
          <a:xfrm xmlns:a="http://schemas.openxmlformats.org/drawingml/2006/main">
            <a:off x="514350" y="390525"/>
            <a:ext cx="76200" cy="762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5" name="kicker-04-label">
            <a:extLst xmlns:a="http://schemas.openxmlformats.org/drawingml/2006/main">
              <a:ext uri="{FF2B5EF4-FFF2-40B4-BE49-F238E27FC236}">
                <a16:creationId xmlns:a16="http://schemas.microsoft.com/office/drawing/2014/main" id="{FAE7B02F-FDA5-45D4-86F3-785F0BF4E3BE}"/>
              </a:ext>
            </a:extLst>
          </p:cNvPr>
          <p:cNvSpPr>
            <a:spLocks xmlns:a="http://schemas.openxmlformats.org/drawingml/2006/main" noGrp="1"/>
          </p:cNvSpPr>
          <p:nvPr/>
        </p:nvSpPr>
        <p:spPr>
          <a:xfrm xmlns:a="http://schemas.openxmlformats.org/drawingml/2006/main">
            <a:off x="685800" y="323850"/>
            <a:ext cx="75247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MODULE 1 / LESSON 04 / EXERCISE SETUP</a:t>
            </a:r>
          </a:p>
        </p:txBody>
      </p:sp>
      <p:sp>
        <p:nvSpPr>
          <p:cNvPr id="6" name="">
            <a:extLst xmlns:a="http://schemas.openxmlformats.org/drawingml/2006/main">
              <a:ext uri="{FF2B5EF4-FFF2-40B4-BE49-F238E27FC236}">
                <a16:creationId xmlns:a16="http://schemas.microsoft.com/office/drawing/2014/main" id="{FB6001A3-3A8F-4707-92EC-6794E801FC3E}"/>
              </a:ext>
            </a:extLst>
          </p:cNvPr>
          <p:cNvSpPr>
            <a:spLocks xmlns:a="http://schemas.openxmlformats.org/drawingml/2006/main" noGrp="1"/>
          </p:cNvSpPr>
          <p:nvPr/>
        </p:nvSpPr>
        <p:spPr>
          <a:xfrm xmlns:a="http://schemas.openxmlformats.org/drawingml/2006/main">
            <a:off x="514350" y="704850"/>
            <a:ext cx="8096250" cy="666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250" b="1">
                <a:solidFill>
                  <a:srgbClr val="172026"/>
                </a:solidFill>
                <a:latin typeface="Aptos Display"/>
                <a:ea typeface="Aptos Display"/>
                <a:cs typeface="Aptos Display"/>
              </a:defRPr>
            </a:pPr>
            <a:r>
              <a:rPr sz="2250" b="1">
                <a:solidFill>
                  <a:srgbClr val="172026"/>
                </a:solidFill>
                <a:latin typeface="Aptos Display"/>
                <a:ea typeface="Aptos Display"/>
                <a:cs typeface="Aptos Display"/>
              </a:rPr>
              <a:t>Build the MOIN grid</a:t>
            </a:r>
          </a:p>
        </p:txBody>
      </p:sp>
      <p:sp>
        <p:nvSpPr>
          <p:cNvPr id="7" name="">
            <a:extLst xmlns:a="http://schemas.openxmlformats.org/drawingml/2006/main">
              <a:ext uri="{FF2B5EF4-FFF2-40B4-BE49-F238E27FC236}">
                <a16:creationId xmlns:a16="http://schemas.microsoft.com/office/drawing/2014/main" id="{DCD623AE-3598-47C6-B9BD-AA0E84C310B7}"/>
              </a:ext>
            </a:extLst>
          </p:cNvPr>
          <p:cNvSpPr>
            <a:spLocks xmlns:a="http://schemas.openxmlformats.org/drawingml/2006/main" noGrp="1"/>
          </p:cNvSpPr>
          <p:nvPr/>
        </p:nvSpPr>
        <p:spPr>
          <a:xfrm xmlns:a="http://schemas.openxmlformats.org/drawingml/2006/main">
            <a:off x="514350" y="1314450"/>
            <a:ext cx="819150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59646A"/>
                </a:solidFill>
                <a:latin typeface="Aptos"/>
                <a:ea typeface="Aptos"/>
                <a:cs typeface="Aptos"/>
              </a:defRPr>
            </a:pPr>
            <a:r>
              <a:rPr sz="1125" b="0">
                <a:solidFill>
                  <a:srgbClr val="59646A"/>
                </a:solidFill>
                <a:latin typeface="Aptos"/>
                <a:ea typeface="Aptos"/>
                <a:cs typeface="Aptos"/>
              </a:rPr>
              <a:t>The exercise produces a working artifact, not class discussion notes.</a:t>
            </a:r>
          </a:p>
        </p:txBody>
      </p:sp>
      <p:sp>
        <p:nvSpPr>
          <p:cNvPr id="8" name="">
            <a:extLst xmlns:a="http://schemas.openxmlformats.org/drawingml/2006/main">
              <a:ext uri="{FF2B5EF4-FFF2-40B4-BE49-F238E27FC236}">
                <a16:creationId xmlns:a16="http://schemas.microsoft.com/office/drawing/2014/main" id="{AF723D81-932E-4E2B-8AED-47EA972AE4CB}"/>
              </a:ext>
            </a:extLst>
          </p:cNvPr>
          <p:cNvSpPr>
            <a:spLocks xmlns:a="http://schemas.openxmlformats.org/drawingml/2006/main" noGrp="1"/>
          </p:cNvSpPr>
          <p:nvPr/>
        </p:nvSpPr>
        <p:spPr>
          <a:xfrm xmlns:a="http://schemas.openxmlformats.org/drawingml/2006/main">
            <a:off x="514350" y="6438900"/>
            <a:ext cx="1091565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A6F3983E-3004-4D0E-BD05-459C72E55310}"/>
              </a:ext>
            </a:extLst>
          </p:cNvPr>
          <p:cNvSpPr>
            <a:spLocks xmlns:a="http://schemas.openxmlformats.org/drawingml/2006/main" noGrp="1"/>
          </p:cNvSpPr>
          <p:nvPr/>
        </p:nvSpPr>
        <p:spPr>
          <a:xfrm xmlns:a="http://schemas.openxmlformats.org/drawingml/2006/main">
            <a:off x="514350" y="6553200"/>
            <a:ext cx="590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59646A"/>
                </a:solidFill>
                <a:latin typeface="Aptos"/>
                <a:ea typeface="Aptos"/>
                <a:cs typeface="Aptos"/>
              </a:defRPr>
            </a:pPr>
            <a:r>
              <a:rPr sz="675" b="0">
                <a:solidFill>
                  <a:srgbClr val="59646A"/>
                </a:solidFill>
                <a:latin typeface="Aptos"/>
                <a:ea typeface="Aptos"/>
                <a:cs typeface="Aptos"/>
              </a:rPr>
              <a:t>Lesson 04 - MOIN: Map Of Informational Needs</a:t>
            </a:r>
          </a:p>
        </p:txBody>
      </p:sp>
      <p:sp>
        <p:nvSpPr>
          <p:cNvPr id="10" name="">
            <a:extLst xmlns:a="http://schemas.openxmlformats.org/drawingml/2006/main">
              <a:ext uri="{FF2B5EF4-FFF2-40B4-BE49-F238E27FC236}">
                <a16:creationId xmlns:a16="http://schemas.microsoft.com/office/drawing/2014/main" id="{5C16D352-170E-4913-96CF-F6C4236B8C5A}"/>
              </a:ext>
            </a:extLst>
          </p:cNvPr>
          <p:cNvSpPr>
            <a:spLocks xmlns:a="http://schemas.openxmlformats.org/drawingml/2006/main" noGrp="1"/>
          </p:cNvSpPr>
          <p:nvPr/>
        </p:nvSpPr>
        <p:spPr>
          <a:xfrm xmlns:a="http://schemas.openxmlformats.org/drawingml/2006/main">
            <a:off x="5334000" y="6553200"/>
            <a:ext cx="4095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00" b="0">
                <a:solidFill>
                  <a:srgbClr val="59646A"/>
                </a:solidFill>
                <a:latin typeface="Aptos"/>
                <a:ea typeface="Aptos"/>
                <a:cs typeface="Aptos"/>
              </a:defRPr>
            </a:pPr>
            <a:r>
              <a:rPr sz="600" b="0">
                <a:solidFill>
                  <a:srgbClr val="59646A"/>
                </a:solidFill>
                <a:latin typeface="Aptos"/>
                <a:ea typeface="Aptos"/>
                <a:cs typeface="Aptos"/>
              </a:rPr>
              <a:t>Source: modules/module-01-industrial-demand-generation/lessons/04-moin-map-of-informational-needs.md @ 9e28222</a:t>
            </a:r>
          </a:p>
        </p:txBody>
      </p:sp>
      <p:sp>
        <p:nvSpPr>
          <p:cNvPr id="11" name="">
            <a:extLst xmlns:a="http://schemas.openxmlformats.org/drawingml/2006/main">
              <a:ext uri="{FF2B5EF4-FFF2-40B4-BE49-F238E27FC236}">
                <a16:creationId xmlns:a16="http://schemas.microsoft.com/office/drawing/2014/main" id="{512F96A4-81BF-4537-8529-D1DDEE7F8EAB}"/>
              </a:ext>
            </a:extLst>
          </p:cNvPr>
          <p:cNvSpPr>
            <a:spLocks xmlns:a="http://schemas.openxmlformats.org/drawingml/2006/main" noGrp="1"/>
          </p:cNvSpPr>
          <p:nvPr/>
        </p:nvSpPr>
        <p:spPr>
          <a:xfrm xmlns:a="http://schemas.openxmlformats.org/drawingml/2006/main">
            <a:off x="10668000" y="6553200"/>
            <a:ext cx="762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75" b="0">
                <a:solidFill>
                  <a:srgbClr val="59646A"/>
                </a:solidFill>
                <a:latin typeface="Aptos"/>
                <a:ea typeface="Aptos"/>
                <a:cs typeface="Aptos"/>
              </a:defRPr>
            </a:pPr>
            <a:r>
              <a:rPr sz="675" b="0">
                <a:solidFill>
                  <a:srgbClr val="59646A"/>
                </a:solidFill>
                <a:latin typeface="Aptos"/>
                <a:ea typeface="Aptos"/>
                <a:cs typeface="Aptos"/>
              </a:rPr>
              <a:t>8/15</a:t>
            </a:r>
          </a:p>
        </p:txBody>
      </p:sp>
      <p:sp>
        <p:nvSpPr>
          <p:cNvPr id="12" name="">
            <a:extLst xmlns:a="http://schemas.openxmlformats.org/drawingml/2006/main">
              <a:ext uri="{FF2B5EF4-FFF2-40B4-BE49-F238E27FC236}">
                <a16:creationId xmlns:a16="http://schemas.microsoft.com/office/drawing/2014/main" id="{0CE4029F-BBF8-4B17-8C0A-4B1BB3540BF9}"/>
              </a:ext>
            </a:extLst>
          </p:cNvPr>
          <p:cNvSpPr>
            <a:spLocks xmlns:a="http://schemas.openxmlformats.org/drawingml/2006/main" noGrp="1"/>
          </p:cNvSpPr>
          <p:nvPr/>
        </p:nvSpPr>
        <p:spPr>
          <a:xfrm xmlns:a="http://schemas.openxmlformats.org/drawingml/2006/main">
            <a:off x="514350" y="2038350"/>
            <a:ext cx="3143250" cy="3048000"/>
          </a:xfrm>
          <a:prstGeom xmlns:a="http://schemas.openxmlformats.org/drawingml/2006/main" prst="rect">
            <a:avLst/>
          </a:prstGeom>
          <a:solidFill xmlns:a="http://schemas.openxmlformats.org/drawingml/2006/main">
            <a:srgbClr val="FFFFFF"/>
          </a:solidFill>
          <a:ln xmlns:a="http://schemas.openxmlformats.org/drawingml/2006/main" w="9525">
            <a:solidFill>
              <a:srgbClr val="D9DDD6"/>
            </a:solidFill>
            <a:prstDash val="solid"/>
          </a:ln>
        </p:spPr>
      </p:sp>
      <p:sp>
        <p:nvSpPr>
          <p:cNvPr id="13" name="">
            <a:extLst xmlns:a="http://schemas.openxmlformats.org/drawingml/2006/main">
              <a:ext uri="{FF2B5EF4-FFF2-40B4-BE49-F238E27FC236}">
                <a16:creationId xmlns:a16="http://schemas.microsoft.com/office/drawing/2014/main" id="{35E0E5D3-C445-4A5F-81E9-51DB2D877B52}"/>
              </a:ext>
            </a:extLst>
          </p:cNvPr>
          <p:cNvSpPr>
            <a:spLocks xmlns:a="http://schemas.openxmlformats.org/drawingml/2006/main" noGrp="1"/>
          </p:cNvSpPr>
          <p:nvPr/>
        </p:nvSpPr>
        <p:spPr>
          <a:xfrm xmlns:a="http://schemas.openxmlformats.org/drawingml/2006/main">
            <a:off x="819150" y="2419350"/>
            <a:ext cx="266700" cy="1905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14" name="">
            <a:extLst xmlns:a="http://schemas.openxmlformats.org/drawingml/2006/main">
              <a:ext uri="{FF2B5EF4-FFF2-40B4-BE49-F238E27FC236}">
                <a16:creationId xmlns:a16="http://schemas.microsoft.com/office/drawing/2014/main" id="{C7FECFFC-0C5F-45A8-A1E7-D27509FCA2C5}"/>
              </a:ext>
            </a:extLst>
          </p:cNvPr>
          <p:cNvSpPr>
            <a:spLocks xmlns:a="http://schemas.openxmlformats.org/drawingml/2006/main" noGrp="1"/>
          </p:cNvSpPr>
          <p:nvPr/>
        </p:nvSpPr>
        <p:spPr>
          <a:xfrm xmlns:a="http://schemas.openxmlformats.org/drawingml/2006/main">
            <a:off x="1181100" y="2343150"/>
            <a:ext cx="2476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TIMEBOX</a:t>
            </a:r>
          </a:p>
        </p:txBody>
      </p:sp>
      <p:sp>
        <p:nvSpPr>
          <p:cNvPr id="15" name="">
            <a:extLst xmlns:a="http://schemas.openxmlformats.org/drawingml/2006/main">
              <a:ext uri="{FF2B5EF4-FFF2-40B4-BE49-F238E27FC236}">
                <a16:creationId xmlns:a16="http://schemas.microsoft.com/office/drawing/2014/main" id="{B297930E-DA4B-4193-A3CA-063087820C67}"/>
              </a:ext>
            </a:extLst>
          </p:cNvPr>
          <p:cNvSpPr>
            <a:spLocks xmlns:a="http://schemas.openxmlformats.org/drawingml/2006/main" noGrp="1"/>
          </p:cNvSpPr>
          <p:nvPr/>
        </p:nvSpPr>
        <p:spPr>
          <a:xfrm xmlns:a="http://schemas.openxmlformats.org/drawingml/2006/main">
            <a:off x="819150" y="2705100"/>
            <a:ext cx="2266950" cy="571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950" b="1">
                <a:solidFill>
                  <a:srgbClr val="172026"/>
                </a:solidFill>
                <a:latin typeface="Aptos Display"/>
                <a:ea typeface="Aptos Display"/>
                <a:cs typeface="Aptos Display"/>
              </a:defRPr>
            </a:pPr>
            <a:r>
              <a:rPr sz="1950" b="1">
                <a:solidFill>
                  <a:srgbClr val="172026"/>
                </a:solidFill>
                <a:latin typeface="Aptos Display"/>
                <a:ea typeface="Aptos Display"/>
                <a:cs typeface="Aptos Display"/>
              </a:rPr>
              <a:t>8 min grid, 4 min prioritization</a:t>
            </a:r>
          </a:p>
        </p:txBody>
      </p:sp>
      <p:sp>
        <p:nvSpPr>
          <p:cNvPr id="16" name="">
            <a:extLst xmlns:a="http://schemas.openxmlformats.org/drawingml/2006/main">
              <a:ext uri="{FF2B5EF4-FFF2-40B4-BE49-F238E27FC236}">
                <a16:creationId xmlns:a16="http://schemas.microsoft.com/office/drawing/2014/main" id="{049DE472-D65A-45A4-B1F2-35FC0AE39750}"/>
              </a:ext>
            </a:extLst>
          </p:cNvPr>
          <p:cNvSpPr>
            <a:spLocks xmlns:a="http://schemas.openxmlformats.org/drawingml/2006/main" noGrp="1"/>
          </p:cNvSpPr>
          <p:nvPr/>
        </p:nvSpPr>
        <p:spPr>
          <a:xfrm xmlns:a="http://schemas.openxmlformats.org/drawingml/2006/main">
            <a:off x="819150" y="3733800"/>
            <a:ext cx="266700" cy="19050"/>
          </a:xfrm>
          <a:prstGeom xmlns:a="http://schemas.openxmlformats.org/drawingml/2006/main" prst="rect">
            <a:avLst/>
          </a:prstGeom>
          <a:solidFill xmlns:a="http://schemas.openxmlformats.org/drawingml/2006/main">
            <a:srgbClr val="1D6072"/>
          </a:solidFill>
          <a:ln xmlns:a="http://schemas.openxmlformats.org/drawingml/2006/main" w="0">
            <a:solidFill>
              <a:srgbClr val="000000">
                <a:alpha val="0"/>
              </a:srgbClr>
            </a:solidFill>
            <a:prstDash val="solid"/>
          </a:ln>
        </p:spPr>
      </p:sp>
      <p:sp>
        <p:nvSpPr>
          <p:cNvPr id="17" name="">
            <a:extLst xmlns:a="http://schemas.openxmlformats.org/drawingml/2006/main">
              <a:ext uri="{FF2B5EF4-FFF2-40B4-BE49-F238E27FC236}">
                <a16:creationId xmlns:a16="http://schemas.microsoft.com/office/drawing/2014/main" id="{E902E2D0-A2F8-4BCA-B89E-B1F0A9E0365C}"/>
              </a:ext>
            </a:extLst>
          </p:cNvPr>
          <p:cNvSpPr>
            <a:spLocks xmlns:a="http://schemas.openxmlformats.org/drawingml/2006/main" noGrp="1"/>
          </p:cNvSpPr>
          <p:nvPr/>
        </p:nvSpPr>
        <p:spPr>
          <a:xfrm xmlns:a="http://schemas.openxmlformats.org/drawingml/2006/main">
            <a:off x="1181100" y="3657600"/>
            <a:ext cx="2476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OUTPUT</a:t>
            </a:r>
          </a:p>
        </p:txBody>
      </p:sp>
      <p:sp>
        <p:nvSpPr>
          <p:cNvPr id="18" name="">
            <a:extLst xmlns:a="http://schemas.openxmlformats.org/drawingml/2006/main">
              <a:ext uri="{FF2B5EF4-FFF2-40B4-BE49-F238E27FC236}">
                <a16:creationId xmlns:a16="http://schemas.microsoft.com/office/drawing/2014/main" id="{B79FA952-1FE3-4F3C-964A-B510F6A59275}"/>
              </a:ext>
            </a:extLst>
          </p:cNvPr>
          <p:cNvSpPr>
            <a:spLocks xmlns:a="http://schemas.openxmlformats.org/drawingml/2006/main" noGrp="1"/>
          </p:cNvSpPr>
          <p:nvPr/>
        </p:nvSpPr>
        <p:spPr>
          <a:xfrm xmlns:a="http://schemas.openxmlformats.org/drawingml/2006/main">
            <a:off x="819150" y="4000500"/>
            <a:ext cx="2324100" cy="7239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0">
                <a:solidFill>
                  <a:srgbClr val="59646A"/>
                </a:solidFill>
                <a:latin typeface="Aptos"/>
                <a:ea typeface="Aptos"/>
                <a:cs typeface="Aptos"/>
              </a:defRPr>
            </a:pPr>
            <a:r>
              <a:rPr sz="1275" b="0">
                <a:solidFill>
                  <a:srgbClr val="59646A"/>
                </a:solidFill>
                <a:latin typeface="Aptos"/>
                <a:ea typeface="Aptos"/>
                <a:cs typeface="Aptos"/>
              </a:rPr>
              <a:t>MOIN grid</a:t>
            </a:r>
          </a:p>
        </p:txBody>
      </p:sp>
      <p:sp>
        <p:nvSpPr>
          <p:cNvPr id="19" name="">
            <a:extLst xmlns:a="http://schemas.openxmlformats.org/drawingml/2006/main">
              <a:ext uri="{FF2B5EF4-FFF2-40B4-BE49-F238E27FC236}">
                <a16:creationId xmlns:a16="http://schemas.microsoft.com/office/drawing/2014/main" id="{3B868014-1F2B-49FD-83D8-C8AD5E5ED93C}"/>
              </a:ext>
            </a:extLst>
          </p:cNvPr>
          <p:cNvSpPr>
            <a:spLocks xmlns:a="http://schemas.openxmlformats.org/drawingml/2006/main" noGrp="1"/>
          </p:cNvSpPr>
          <p:nvPr/>
        </p:nvSpPr>
        <p:spPr>
          <a:xfrm xmlns:a="http://schemas.openxmlformats.org/drawingml/2006/main">
            <a:off x="4095750" y="2038350"/>
            <a:ext cx="7334250" cy="3048000"/>
          </a:xfrm>
          <a:prstGeom xmlns:a="http://schemas.openxmlformats.org/drawingml/2006/main" prst="rect">
            <a:avLst/>
          </a:prstGeom>
          <a:solidFill xmlns:a="http://schemas.openxmlformats.org/drawingml/2006/main">
            <a:srgbClr val="F9FAF7"/>
          </a:solidFill>
          <a:ln xmlns:a="http://schemas.openxmlformats.org/drawingml/2006/main" w="9525">
            <a:solidFill>
              <a:srgbClr val="D9DDD6"/>
            </a:solidFill>
            <a:prstDash val="solid"/>
          </a:ln>
        </p:spPr>
      </p:sp>
      <p:sp>
        <p:nvSpPr>
          <p:cNvPr id="20" name="">
            <a:extLst xmlns:a="http://schemas.openxmlformats.org/drawingml/2006/main">
              <a:ext uri="{FF2B5EF4-FFF2-40B4-BE49-F238E27FC236}">
                <a16:creationId xmlns:a16="http://schemas.microsoft.com/office/drawing/2014/main" id="{6F53C985-AE27-40FC-A066-47E5F62D6665}"/>
              </a:ext>
            </a:extLst>
          </p:cNvPr>
          <p:cNvSpPr>
            <a:spLocks xmlns:a="http://schemas.openxmlformats.org/drawingml/2006/main" noGrp="1"/>
          </p:cNvSpPr>
          <p:nvPr/>
        </p:nvSpPr>
        <p:spPr>
          <a:xfrm xmlns:a="http://schemas.openxmlformats.org/drawingml/2006/main">
            <a:off x="4419600" y="2419350"/>
            <a:ext cx="266700" cy="19050"/>
          </a:xfrm>
          <a:prstGeom xmlns:a="http://schemas.openxmlformats.org/drawingml/2006/main" prst="rect">
            <a:avLst/>
          </a:prstGeom>
          <a:solidFill xmlns:a="http://schemas.openxmlformats.org/drawingml/2006/main">
            <a:srgbClr val="667A39"/>
          </a:solidFill>
          <a:ln xmlns:a="http://schemas.openxmlformats.org/drawingml/2006/main" w="0">
            <a:solidFill>
              <a:srgbClr val="000000">
                <a:alpha val="0"/>
              </a:srgbClr>
            </a:solidFill>
            <a:prstDash val="solid"/>
          </a:ln>
        </p:spPr>
      </p:sp>
      <p:sp>
        <p:nvSpPr>
          <p:cNvPr id="21" name="">
            <a:extLst xmlns:a="http://schemas.openxmlformats.org/drawingml/2006/main">
              <a:ext uri="{FF2B5EF4-FFF2-40B4-BE49-F238E27FC236}">
                <a16:creationId xmlns:a16="http://schemas.microsoft.com/office/drawing/2014/main" id="{26786943-1DF2-4843-BDA3-258BEE972C98}"/>
              </a:ext>
            </a:extLst>
          </p:cNvPr>
          <p:cNvSpPr>
            <a:spLocks xmlns:a="http://schemas.openxmlformats.org/drawingml/2006/main" noGrp="1"/>
          </p:cNvSpPr>
          <p:nvPr/>
        </p:nvSpPr>
        <p:spPr>
          <a:xfrm xmlns:a="http://schemas.openxmlformats.org/drawingml/2006/main">
            <a:off x="4781550" y="2343150"/>
            <a:ext cx="2476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LEARNER ACTIONS</a:t>
            </a:r>
          </a:p>
        </p:txBody>
      </p:sp>
      <p:sp>
        <p:nvSpPr>
          <p:cNvPr id="22" name="">
            <a:extLst xmlns:a="http://schemas.openxmlformats.org/drawingml/2006/main">
              <a:ext uri="{FF2B5EF4-FFF2-40B4-BE49-F238E27FC236}">
                <a16:creationId xmlns:a16="http://schemas.microsoft.com/office/drawing/2014/main" id="{D3068759-ABFB-4D7F-9FF4-C777B1817675}"/>
              </a:ext>
            </a:extLst>
          </p:cNvPr>
          <p:cNvSpPr>
            <a:spLocks xmlns:a="http://schemas.openxmlformats.org/drawingml/2006/main" noGrp="1"/>
          </p:cNvSpPr>
          <p:nvPr/>
        </p:nvSpPr>
        <p:spPr>
          <a:xfrm xmlns:a="http://schemas.openxmlformats.org/drawingml/2006/main">
            <a:off x="4419600" y="2781300"/>
            <a:ext cx="247650" cy="247650"/>
          </a:xfrm>
          <a:prstGeom xmlns:a="http://schemas.openxmlformats.org/drawingml/2006/main" prst="rect">
            <a:avLst/>
          </a:prstGeom>
          <a:solidFill xmlns:a="http://schemas.openxmlformats.org/drawingml/2006/main">
            <a:srgbClr val="E4E9D8"/>
          </a:solidFill>
          <a:ln xmlns:a="http://schemas.openxmlformats.org/drawingml/2006/main" w="9525">
            <a:solidFill>
              <a:srgbClr val="667A39"/>
            </a:solidFill>
            <a:prstDash val="solid"/>
          </a:ln>
        </p:spPr>
      </p:sp>
      <p:sp>
        <p:nvSpPr>
          <p:cNvPr id="23" name="">
            <a:extLst xmlns:a="http://schemas.openxmlformats.org/drawingml/2006/main">
              <a:ext uri="{FF2B5EF4-FFF2-40B4-BE49-F238E27FC236}">
                <a16:creationId xmlns:a16="http://schemas.microsoft.com/office/drawing/2014/main" id="{32D7626E-9B3C-4707-A30D-7656B88C9D6A}"/>
              </a:ext>
            </a:extLst>
          </p:cNvPr>
          <p:cNvSpPr>
            <a:spLocks xmlns:a="http://schemas.openxmlformats.org/drawingml/2006/main" noGrp="1"/>
          </p:cNvSpPr>
          <p:nvPr/>
        </p:nvSpPr>
        <p:spPr>
          <a:xfrm xmlns:a="http://schemas.openxmlformats.org/drawingml/2006/main">
            <a:off x="4419600" y="2809875"/>
            <a:ext cx="2476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825" b="1">
                <a:solidFill>
                  <a:srgbClr val="1D6072"/>
                </a:solidFill>
                <a:latin typeface="Aptos"/>
                <a:ea typeface="Aptos"/>
                <a:cs typeface="Aptos"/>
              </a:defRPr>
            </a:pPr>
            <a:r>
              <a:rPr sz="825" b="1">
                <a:solidFill>
                  <a:srgbClr val="1D6072"/>
                </a:solidFill>
                <a:latin typeface="Aptos"/>
                <a:ea typeface="Aptos"/>
                <a:cs typeface="Aptos"/>
              </a:rPr>
              <a:t>1</a:t>
            </a:r>
          </a:p>
        </p:txBody>
      </p:sp>
      <p:sp>
        <p:nvSpPr>
          <p:cNvPr id="24" name="">
            <a:extLst xmlns:a="http://schemas.openxmlformats.org/drawingml/2006/main">
              <a:ext uri="{FF2B5EF4-FFF2-40B4-BE49-F238E27FC236}">
                <a16:creationId xmlns:a16="http://schemas.microsoft.com/office/drawing/2014/main" id="{D737F974-777A-4B69-B78E-C592B4EB3C9C}"/>
              </a:ext>
            </a:extLst>
          </p:cNvPr>
          <p:cNvSpPr>
            <a:spLocks xmlns:a="http://schemas.openxmlformats.org/drawingml/2006/main" noGrp="1"/>
          </p:cNvSpPr>
          <p:nvPr/>
        </p:nvSpPr>
        <p:spPr>
          <a:xfrm xmlns:a="http://schemas.openxmlformats.org/drawingml/2006/main">
            <a:off x="4819650" y="2771775"/>
            <a:ext cx="5695950" cy="609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72026"/>
                </a:solidFill>
                <a:latin typeface="Aptos"/>
                <a:ea typeface="Aptos"/>
                <a:cs typeface="Aptos"/>
              </a:defRPr>
            </a:pPr>
            <a:r>
              <a:rPr sz="1200" b="0">
                <a:solidFill>
                  <a:srgbClr val="172026"/>
                </a:solidFill>
                <a:latin typeface="Aptos"/>
                <a:ea typeface="Aptos"/>
                <a:cs typeface="Aptos"/>
              </a:rPr>
              <a:t>Pick five committee roles.</a:t>
            </a:r>
          </a:p>
        </p:txBody>
      </p:sp>
      <p:sp>
        <p:nvSpPr>
          <p:cNvPr id="25" name="">
            <a:extLst xmlns:a="http://schemas.openxmlformats.org/drawingml/2006/main">
              <a:ext uri="{FF2B5EF4-FFF2-40B4-BE49-F238E27FC236}">
                <a16:creationId xmlns:a16="http://schemas.microsoft.com/office/drawing/2014/main" id="{A23B3637-0F19-42B5-950E-1D8A7EFD4FD7}"/>
              </a:ext>
            </a:extLst>
          </p:cNvPr>
          <p:cNvSpPr>
            <a:spLocks xmlns:a="http://schemas.openxmlformats.org/drawingml/2006/main" noGrp="1"/>
          </p:cNvSpPr>
          <p:nvPr/>
        </p:nvSpPr>
        <p:spPr>
          <a:xfrm xmlns:a="http://schemas.openxmlformats.org/drawingml/2006/main">
            <a:off x="4419600" y="3429000"/>
            <a:ext cx="247650" cy="247650"/>
          </a:xfrm>
          <a:prstGeom xmlns:a="http://schemas.openxmlformats.org/drawingml/2006/main" prst="rect">
            <a:avLst/>
          </a:prstGeom>
          <a:solidFill xmlns:a="http://schemas.openxmlformats.org/drawingml/2006/main">
            <a:srgbClr val="E4E9D8"/>
          </a:solidFill>
          <a:ln xmlns:a="http://schemas.openxmlformats.org/drawingml/2006/main" w="9525">
            <a:solidFill>
              <a:srgbClr val="667A39"/>
            </a:solidFill>
            <a:prstDash val="solid"/>
          </a:ln>
        </p:spPr>
      </p:sp>
      <p:sp>
        <p:nvSpPr>
          <p:cNvPr id="26" name="">
            <a:extLst xmlns:a="http://schemas.openxmlformats.org/drawingml/2006/main">
              <a:ext uri="{FF2B5EF4-FFF2-40B4-BE49-F238E27FC236}">
                <a16:creationId xmlns:a16="http://schemas.microsoft.com/office/drawing/2014/main" id="{95C22488-CA22-41D7-BA76-AE8018978A4D}"/>
              </a:ext>
            </a:extLst>
          </p:cNvPr>
          <p:cNvSpPr>
            <a:spLocks xmlns:a="http://schemas.openxmlformats.org/drawingml/2006/main" noGrp="1"/>
          </p:cNvSpPr>
          <p:nvPr/>
        </p:nvSpPr>
        <p:spPr>
          <a:xfrm xmlns:a="http://schemas.openxmlformats.org/drawingml/2006/main">
            <a:off x="4419600" y="3457575"/>
            <a:ext cx="2476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825" b="1">
                <a:solidFill>
                  <a:srgbClr val="1D6072"/>
                </a:solidFill>
                <a:latin typeface="Aptos"/>
                <a:ea typeface="Aptos"/>
                <a:cs typeface="Aptos"/>
              </a:defRPr>
            </a:pPr>
            <a:r>
              <a:rPr sz="825" b="1">
                <a:solidFill>
                  <a:srgbClr val="1D6072"/>
                </a:solidFill>
                <a:latin typeface="Aptos"/>
                <a:ea typeface="Aptos"/>
                <a:cs typeface="Aptos"/>
              </a:rPr>
              <a:t>2</a:t>
            </a:r>
          </a:p>
        </p:txBody>
      </p:sp>
      <p:sp>
        <p:nvSpPr>
          <p:cNvPr id="27" name="">
            <a:extLst xmlns:a="http://schemas.openxmlformats.org/drawingml/2006/main">
              <a:ext uri="{FF2B5EF4-FFF2-40B4-BE49-F238E27FC236}">
                <a16:creationId xmlns:a16="http://schemas.microsoft.com/office/drawing/2014/main" id="{7390B6BF-5557-4419-A4D6-BA3862366280}"/>
              </a:ext>
            </a:extLst>
          </p:cNvPr>
          <p:cNvSpPr>
            <a:spLocks xmlns:a="http://schemas.openxmlformats.org/drawingml/2006/main" noGrp="1"/>
          </p:cNvSpPr>
          <p:nvPr/>
        </p:nvSpPr>
        <p:spPr>
          <a:xfrm xmlns:a="http://schemas.openxmlformats.org/drawingml/2006/main">
            <a:off x="4819650" y="3419475"/>
            <a:ext cx="5695950" cy="609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72026"/>
                </a:solidFill>
                <a:latin typeface="Aptos"/>
                <a:ea typeface="Aptos"/>
                <a:cs typeface="Aptos"/>
              </a:defRPr>
            </a:pPr>
            <a:r>
              <a:rPr sz="1200" b="0">
                <a:solidFill>
                  <a:srgbClr val="172026"/>
                </a:solidFill>
                <a:latin typeface="Aptos"/>
                <a:ea typeface="Aptos"/>
                <a:cs typeface="Aptos"/>
              </a:rPr>
              <a:t>Write content, solution, and vendor-demand questions for each.</a:t>
            </a:r>
          </a:p>
        </p:txBody>
      </p:sp>
      <p:sp>
        <p:nvSpPr>
          <p:cNvPr id="28" name="">
            <a:extLst xmlns:a="http://schemas.openxmlformats.org/drawingml/2006/main">
              <a:ext uri="{FF2B5EF4-FFF2-40B4-BE49-F238E27FC236}">
                <a16:creationId xmlns:a16="http://schemas.microsoft.com/office/drawing/2014/main" id="{9B700087-FBBA-4FF5-A0F7-7E4999B2A2B3}"/>
              </a:ext>
            </a:extLst>
          </p:cNvPr>
          <p:cNvSpPr>
            <a:spLocks xmlns:a="http://schemas.openxmlformats.org/drawingml/2006/main" noGrp="1"/>
          </p:cNvSpPr>
          <p:nvPr/>
        </p:nvSpPr>
        <p:spPr>
          <a:xfrm xmlns:a="http://schemas.openxmlformats.org/drawingml/2006/main">
            <a:off x="4419600" y="4076700"/>
            <a:ext cx="247650" cy="247650"/>
          </a:xfrm>
          <a:prstGeom xmlns:a="http://schemas.openxmlformats.org/drawingml/2006/main" prst="rect">
            <a:avLst/>
          </a:prstGeom>
          <a:solidFill xmlns:a="http://schemas.openxmlformats.org/drawingml/2006/main">
            <a:srgbClr val="E4E9D8"/>
          </a:solidFill>
          <a:ln xmlns:a="http://schemas.openxmlformats.org/drawingml/2006/main" w="9525">
            <a:solidFill>
              <a:srgbClr val="667A39"/>
            </a:solidFill>
            <a:prstDash val="solid"/>
          </a:ln>
        </p:spPr>
      </p:sp>
      <p:sp>
        <p:nvSpPr>
          <p:cNvPr id="29" name="">
            <a:extLst xmlns:a="http://schemas.openxmlformats.org/drawingml/2006/main">
              <a:ext uri="{FF2B5EF4-FFF2-40B4-BE49-F238E27FC236}">
                <a16:creationId xmlns:a16="http://schemas.microsoft.com/office/drawing/2014/main" id="{1DA80AE7-1612-4979-A1AA-04EC50C59DC0}"/>
              </a:ext>
            </a:extLst>
          </p:cNvPr>
          <p:cNvSpPr>
            <a:spLocks xmlns:a="http://schemas.openxmlformats.org/drawingml/2006/main" noGrp="1"/>
          </p:cNvSpPr>
          <p:nvPr/>
        </p:nvSpPr>
        <p:spPr>
          <a:xfrm xmlns:a="http://schemas.openxmlformats.org/drawingml/2006/main">
            <a:off x="4419600" y="4105275"/>
            <a:ext cx="2476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825" b="1">
                <a:solidFill>
                  <a:srgbClr val="1D6072"/>
                </a:solidFill>
                <a:latin typeface="Aptos"/>
                <a:ea typeface="Aptos"/>
                <a:cs typeface="Aptos"/>
              </a:defRPr>
            </a:pPr>
            <a:r>
              <a:rPr sz="825" b="1">
                <a:solidFill>
                  <a:srgbClr val="1D6072"/>
                </a:solidFill>
                <a:latin typeface="Aptos"/>
                <a:ea typeface="Aptos"/>
                <a:cs typeface="Aptos"/>
              </a:rPr>
              <a:t>3</a:t>
            </a:r>
          </a:p>
        </p:txBody>
      </p:sp>
      <p:sp>
        <p:nvSpPr>
          <p:cNvPr id="30" name="">
            <a:extLst xmlns:a="http://schemas.openxmlformats.org/drawingml/2006/main">
              <a:ext uri="{FF2B5EF4-FFF2-40B4-BE49-F238E27FC236}">
                <a16:creationId xmlns:a16="http://schemas.microsoft.com/office/drawing/2014/main" id="{4CCC03A4-5EB5-4C5E-AA9A-5D75868E18EA}"/>
              </a:ext>
            </a:extLst>
          </p:cNvPr>
          <p:cNvSpPr>
            <a:spLocks xmlns:a="http://schemas.openxmlformats.org/drawingml/2006/main" noGrp="1"/>
          </p:cNvSpPr>
          <p:nvPr/>
        </p:nvSpPr>
        <p:spPr>
          <a:xfrm xmlns:a="http://schemas.openxmlformats.org/drawingml/2006/main">
            <a:off x="4819650" y="4067175"/>
            <a:ext cx="5695950" cy="609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72026"/>
                </a:solidFill>
                <a:latin typeface="Aptos"/>
                <a:ea typeface="Aptos"/>
                <a:cs typeface="Aptos"/>
              </a:defRPr>
            </a:pPr>
            <a:r>
              <a:rPr sz="1200" b="0">
                <a:solidFill>
                  <a:srgbClr val="172026"/>
                </a:solidFill>
                <a:latin typeface="Aptos"/>
                <a:ea typeface="Aptos"/>
                <a:cs typeface="Aptos"/>
              </a:rPr>
              <a:t>Name the required asset, sales use, and signal created.</a:t>
            </a:r>
          </a:p>
        </p:txBody>
      </p:sp>
      <p:sp>
        <p:nvSpPr>
          <p:cNvPr id="31" name="">
            <a:extLst xmlns:a="http://schemas.openxmlformats.org/drawingml/2006/main">
              <a:ext uri="{FF2B5EF4-FFF2-40B4-BE49-F238E27FC236}">
                <a16:creationId xmlns:a16="http://schemas.microsoft.com/office/drawing/2014/main" id="{2B80F608-DECD-4EC0-8CF8-A6199936D902}"/>
              </a:ext>
            </a:extLst>
          </p:cNvPr>
          <p:cNvSpPr>
            <a:spLocks xmlns:a="http://schemas.openxmlformats.org/drawingml/2006/main" noGrp="1"/>
          </p:cNvSpPr>
          <p:nvPr/>
        </p:nvSpPr>
        <p:spPr>
          <a:xfrm xmlns:a="http://schemas.openxmlformats.org/drawingml/2006/main">
            <a:off x="4419600" y="4724400"/>
            <a:ext cx="247650" cy="247650"/>
          </a:xfrm>
          <a:prstGeom xmlns:a="http://schemas.openxmlformats.org/drawingml/2006/main" prst="rect">
            <a:avLst/>
          </a:prstGeom>
          <a:solidFill xmlns:a="http://schemas.openxmlformats.org/drawingml/2006/main">
            <a:srgbClr val="E4E9D8"/>
          </a:solidFill>
          <a:ln xmlns:a="http://schemas.openxmlformats.org/drawingml/2006/main" w="9525">
            <a:solidFill>
              <a:srgbClr val="667A39"/>
            </a:solidFill>
            <a:prstDash val="solid"/>
          </a:ln>
        </p:spPr>
      </p:sp>
      <p:sp>
        <p:nvSpPr>
          <p:cNvPr id="32" name="">
            <a:extLst xmlns:a="http://schemas.openxmlformats.org/drawingml/2006/main">
              <a:ext uri="{FF2B5EF4-FFF2-40B4-BE49-F238E27FC236}">
                <a16:creationId xmlns:a16="http://schemas.microsoft.com/office/drawing/2014/main" id="{1D9D974A-C35E-4A38-8F5C-FFDB036B3E71}"/>
              </a:ext>
            </a:extLst>
          </p:cNvPr>
          <p:cNvSpPr>
            <a:spLocks xmlns:a="http://schemas.openxmlformats.org/drawingml/2006/main" noGrp="1"/>
          </p:cNvSpPr>
          <p:nvPr/>
        </p:nvSpPr>
        <p:spPr>
          <a:xfrm xmlns:a="http://schemas.openxmlformats.org/drawingml/2006/main">
            <a:off x="4419600" y="4752975"/>
            <a:ext cx="2476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825" b="1">
                <a:solidFill>
                  <a:srgbClr val="1D6072"/>
                </a:solidFill>
                <a:latin typeface="Aptos"/>
                <a:ea typeface="Aptos"/>
                <a:cs typeface="Aptos"/>
              </a:defRPr>
            </a:pPr>
            <a:r>
              <a:rPr sz="825" b="1">
                <a:solidFill>
                  <a:srgbClr val="1D6072"/>
                </a:solidFill>
                <a:latin typeface="Aptos"/>
                <a:ea typeface="Aptos"/>
                <a:cs typeface="Aptos"/>
              </a:rPr>
              <a:t>4</a:t>
            </a:r>
          </a:p>
        </p:txBody>
      </p:sp>
      <p:sp>
        <p:nvSpPr>
          <p:cNvPr id="33" name="">
            <a:extLst xmlns:a="http://schemas.openxmlformats.org/drawingml/2006/main">
              <a:ext uri="{FF2B5EF4-FFF2-40B4-BE49-F238E27FC236}">
                <a16:creationId xmlns:a16="http://schemas.microsoft.com/office/drawing/2014/main" id="{C79472FE-D317-4EB2-BEC2-40CFD556578C}"/>
              </a:ext>
            </a:extLst>
          </p:cNvPr>
          <p:cNvSpPr>
            <a:spLocks xmlns:a="http://schemas.openxmlformats.org/drawingml/2006/main" noGrp="1"/>
          </p:cNvSpPr>
          <p:nvPr/>
        </p:nvSpPr>
        <p:spPr>
          <a:xfrm xmlns:a="http://schemas.openxmlformats.org/drawingml/2006/main">
            <a:off x="4819650" y="4714875"/>
            <a:ext cx="5695950" cy="609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72026"/>
                </a:solidFill>
                <a:latin typeface="Aptos"/>
                <a:ea typeface="Aptos"/>
                <a:cs typeface="Aptos"/>
              </a:defRPr>
            </a:pPr>
            <a:r>
              <a:rPr sz="1200" b="0">
                <a:solidFill>
                  <a:srgbClr val="172026"/>
                </a:solidFill>
                <a:latin typeface="Aptos"/>
                <a:ea typeface="Aptos"/>
                <a:cs typeface="Aptos"/>
              </a:rPr>
              <a:t>Prioritize the top five assets by account movement potential.</a:t>
            </a:r>
          </a:p>
        </p:txBody>
      </p:sp>
      <p:sp>
        <p:nvSpPr>
          <p:cNvPr id="34" name="">
            <a:extLst xmlns:a="http://schemas.openxmlformats.org/drawingml/2006/main">
              <a:ext uri="{FF2B5EF4-FFF2-40B4-BE49-F238E27FC236}">
                <a16:creationId xmlns:a16="http://schemas.microsoft.com/office/drawing/2014/main" id="{C1367178-E128-4573-B4E5-99D23FB7AFB4}"/>
              </a:ext>
            </a:extLst>
          </p:cNvPr>
          <p:cNvSpPr>
            <a:spLocks xmlns:a="http://schemas.openxmlformats.org/drawingml/2006/main" noGrp="1"/>
          </p:cNvSpPr>
          <p:nvPr/>
        </p:nvSpPr>
        <p:spPr>
          <a:xfrm xmlns:a="http://schemas.openxmlformats.org/drawingml/2006/main">
            <a:off x="514350" y="6438900"/>
            <a:ext cx="1091565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35" name="">
            <a:extLst xmlns:a="http://schemas.openxmlformats.org/drawingml/2006/main">
              <a:ext uri="{FF2B5EF4-FFF2-40B4-BE49-F238E27FC236}">
                <a16:creationId xmlns:a16="http://schemas.microsoft.com/office/drawing/2014/main" id="{6B4FFD29-3FD9-4BD1-BCC7-2B01B74042C6}"/>
              </a:ext>
            </a:extLst>
          </p:cNvPr>
          <p:cNvSpPr>
            <a:spLocks xmlns:a="http://schemas.openxmlformats.org/drawingml/2006/main" noGrp="1"/>
          </p:cNvSpPr>
          <p:nvPr/>
        </p:nvSpPr>
        <p:spPr>
          <a:xfrm xmlns:a="http://schemas.openxmlformats.org/drawingml/2006/main">
            <a:off x="514350" y="6553200"/>
            <a:ext cx="590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59646A"/>
                </a:solidFill>
                <a:latin typeface="Aptos"/>
                <a:ea typeface="Aptos"/>
                <a:cs typeface="Aptos"/>
              </a:defRPr>
            </a:pPr>
            <a:r>
              <a:rPr sz="675" b="0">
                <a:solidFill>
                  <a:srgbClr val="59646A"/>
                </a:solidFill>
                <a:latin typeface="Aptos"/>
                <a:ea typeface="Aptos"/>
                <a:cs typeface="Aptos"/>
              </a:rPr>
              <a:t>Lesson 04 - MOIN: Map Of Informational Needs</a:t>
            </a:r>
          </a:p>
        </p:txBody>
      </p:sp>
      <p:sp>
        <p:nvSpPr>
          <p:cNvPr id="36" name="">
            <a:extLst xmlns:a="http://schemas.openxmlformats.org/drawingml/2006/main">
              <a:ext uri="{FF2B5EF4-FFF2-40B4-BE49-F238E27FC236}">
                <a16:creationId xmlns:a16="http://schemas.microsoft.com/office/drawing/2014/main" id="{6E708CED-9A0E-42DB-A441-A1F530D477BF}"/>
              </a:ext>
            </a:extLst>
          </p:cNvPr>
          <p:cNvSpPr>
            <a:spLocks xmlns:a="http://schemas.openxmlformats.org/drawingml/2006/main" noGrp="1"/>
          </p:cNvSpPr>
          <p:nvPr/>
        </p:nvSpPr>
        <p:spPr>
          <a:xfrm xmlns:a="http://schemas.openxmlformats.org/drawingml/2006/main">
            <a:off x="5334000" y="6553200"/>
            <a:ext cx="4095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00" b="0">
                <a:solidFill>
                  <a:srgbClr val="59646A"/>
                </a:solidFill>
                <a:latin typeface="Aptos"/>
                <a:ea typeface="Aptos"/>
                <a:cs typeface="Aptos"/>
              </a:defRPr>
            </a:pPr>
            <a:r>
              <a:rPr sz="600" b="0">
                <a:solidFill>
                  <a:srgbClr val="59646A"/>
                </a:solidFill>
                <a:latin typeface="Aptos"/>
                <a:ea typeface="Aptos"/>
                <a:cs typeface="Aptos"/>
              </a:rPr>
              <a:t>Source: modules/module-01-industrial-demand-generation/lessons/04-moin-map-of-informational-needs.md @ 9e28222</a:t>
            </a:r>
          </a:p>
        </p:txBody>
      </p:sp>
      <p:sp>
        <p:nvSpPr>
          <p:cNvPr id="37" name="">
            <a:extLst xmlns:a="http://schemas.openxmlformats.org/drawingml/2006/main">
              <a:ext uri="{FF2B5EF4-FFF2-40B4-BE49-F238E27FC236}">
                <a16:creationId xmlns:a16="http://schemas.microsoft.com/office/drawing/2014/main" id="{2EAE97DE-0FDB-46BF-A322-20A1B52680DD}"/>
              </a:ext>
            </a:extLst>
          </p:cNvPr>
          <p:cNvSpPr>
            <a:spLocks xmlns:a="http://schemas.openxmlformats.org/drawingml/2006/main" noGrp="1"/>
          </p:cNvSpPr>
          <p:nvPr/>
        </p:nvSpPr>
        <p:spPr>
          <a:xfrm xmlns:a="http://schemas.openxmlformats.org/drawingml/2006/main">
            <a:off x="10668000" y="6553200"/>
            <a:ext cx="762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75" b="0">
                <a:solidFill>
                  <a:srgbClr val="59646A"/>
                </a:solidFill>
                <a:latin typeface="Aptos"/>
                <a:ea typeface="Aptos"/>
                <a:cs typeface="Aptos"/>
              </a:defRPr>
            </a:pPr>
            <a:r>
              <a:rPr sz="675" b="0">
                <a:solidFill>
                  <a:srgbClr val="59646A"/>
                </a:solidFill>
                <a:latin typeface="Aptos"/>
                <a:ea typeface="Aptos"/>
                <a:cs typeface="Aptos"/>
              </a:rPr>
              <a:t>8/15</a:t>
            </a:r>
          </a:p>
        </p:txBody>
      </p:sp>
    </p:spTree>
    <p:extLst>
      <p:ext uri="{BB962C8B-B14F-4D97-AF65-F5344CB8AC3E}">
        <p14:creationId xmlns:p14="http://schemas.microsoft.com/office/powerpoint/2010/main" val="1099871379"/>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B518404D-2774-4C6B-901E-210480C6A13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6F2"/>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EF7A8D13-69FE-4BE1-AA86-A8B5153D70F1}"/>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12232B"/>
          </a:solidFill>
          <a:ln xmlns:a="http://schemas.openxmlformats.org/drawingml/2006/main" w="0">
            <a:solidFill>
              <a:srgbClr val="000000">
                <a:alpha val="0"/>
              </a:srgbClr>
            </a:solidFill>
            <a:prstDash val="solid"/>
          </a:ln>
        </p:spPr>
      </p:sp>
      <p:sp>
        <p:nvSpPr>
          <p:cNvPr id="3" name="">
            <a:extLst xmlns:a="http://schemas.openxmlformats.org/drawingml/2006/main">
              <a:ext uri="{FF2B5EF4-FFF2-40B4-BE49-F238E27FC236}">
                <a16:creationId xmlns:a16="http://schemas.microsoft.com/office/drawing/2014/main" id="{29C81031-9370-4D02-8E98-EB66D83A1CAB}"/>
              </a:ext>
            </a:extLst>
          </p:cNvPr>
          <p:cNvSpPr>
            <a:spLocks xmlns:a="http://schemas.openxmlformats.org/drawingml/2006/main" noGrp="1"/>
          </p:cNvSpPr>
          <p:nvPr/>
        </p:nvSpPr>
        <p:spPr>
          <a:xfrm xmlns:a="http://schemas.openxmlformats.org/drawingml/2006/main">
            <a:off x="171450" y="0"/>
            <a:ext cx="57150" cy="68580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4" name="kicker-04-marker">
            <a:extLst xmlns:a="http://schemas.openxmlformats.org/drawingml/2006/main">
              <a:ext uri="{FF2B5EF4-FFF2-40B4-BE49-F238E27FC236}">
                <a16:creationId xmlns:a16="http://schemas.microsoft.com/office/drawing/2014/main" id="{FB4EB531-90DB-4FD6-9373-49A9E718DE29}"/>
              </a:ext>
            </a:extLst>
          </p:cNvPr>
          <p:cNvSpPr>
            <a:spLocks xmlns:a="http://schemas.openxmlformats.org/drawingml/2006/main" noGrp="1"/>
          </p:cNvSpPr>
          <p:nvPr/>
        </p:nvSpPr>
        <p:spPr>
          <a:xfrm xmlns:a="http://schemas.openxmlformats.org/drawingml/2006/main">
            <a:off x="514350" y="390525"/>
            <a:ext cx="76200" cy="762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5" name="kicker-04-label">
            <a:extLst xmlns:a="http://schemas.openxmlformats.org/drawingml/2006/main">
              <a:ext uri="{FF2B5EF4-FFF2-40B4-BE49-F238E27FC236}">
                <a16:creationId xmlns:a16="http://schemas.microsoft.com/office/drawing/2014/main" id="{917FEEBA-29ED-4B7D-808E-EB296EED1CCF}"/>
              </a:ext>
            </a:extLst>
          </p:cNvPr>
          <p:cNvSpPr>
            <a:spLocks xmlns:a="http://schemas.openxmlformats.org/drawingml/2006/main" noGrp="1"/>
          </p:cNvSpPr>
          <p:nvPr/>
        </p:nvSpPr>
        <p:spPr>
          <a:xfrm xmlns:a="http://schemas.openxmlformats.org/drawingml/2006/main">
            <a:off x="685800" y="323850"/>
            <a:ext cx="75247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MODULE 1 / LESSON 04 / GROUP CRITIQUE</a:t>
            </a:r>
          </a:p>
        </p:txBody>
      </p:sp>
      <p:sp>
        <p:nvSpPr>
          <p:cNvPr id="6" name="">
            <a:extLst xmlns:a="http://schemas.openxmlformats.org/drawingml/2006/main">
              <a:ext uri="{FF2B5EF4-FFF2-40B4-BE49-F238E27FC236}">
                <a16:creationId xmlns:a16="http://schemas.microsoft.com/office/drawing/2014/main" id="{89385867-63CE-4B51-97EA-4D04652AA48B}"/>
              </a:ext>
            </a:extLst>
          </p:cNvPr>
          <p:cNvSpPr>
            <a:spLocks xmlns:a="http://schemas.openxmlformats.org/drawingml/2006/main" noGrp="1"/>
          </p:cNvSpPr>
          <p:nvPr/>
        </p:nvSpPr>
        <p:spPr>
          <a:xfrm xmlns:a="http://schemas.openxmlformats.org/drawingml/2006/main">
            <a:off x="514350" y="704850"/>
            <a:ext cx="8096250" cy="666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250" b="1">
                <a:solidFill>
                  <a:srgbClr val="172026"/>
                </a:solidFill>
                <a:latin typeface="Aptos Display"/>
                <a:ea typeface="Aptos Display"/>
                <a:cs typeface="Aptos Display"/>
              </a:defRPr>
            </a:pPr>
            <a:r>
              <a:rPr sz="2250" b="1">
                <a:solidFill>
                  <a:srgbClr val="172026"/>
                </a:solidFill>
                <a:latin typeface="Aptos Display"/>
                <a:ea typeface="Aptos Display"/>
                <a:cs typeface="Aptos Display"/>
              </a:rPr>
              <a:t>Critique the operating decision, not the writing style.</a:t>
            </a:r>
          </a:p>
        </p:txBody>
      </p:sp>
      <p:sp>
        <p:nvSpPr>
          <p:cNvPr id="7" name="">
            <a:extLst xmlns:a="http://schemas.openxmlformats.org/drawingml/2006/main">
              <a:ext uri="{FF2B5EF4-FFF2-40B4-BE49-F238E27FC236}">
                <a16:creationId xmlns:a16="http://schemas.microsoft.com/office/drawing/2014/main" id="{665191DB-31D4-4B8B-AD23-84D95DD746D0}"/>
              </a:ext>
            </a:extLst>
          </p:cNvPr>
          <p:cNvSpPr>
            <a:spLocks xmlns:a="http://schemas.openxmlformats.org/drawingml/2006/main" noGrp="1"/>
          </p:cNvSpPr>
          <p:nvPr/>
        </p:nvSpPr>
        <p:spPr>
          <a:xfrm xmlns:a="http://schemas.openxmlformats.org/drawingml/2006/main">
            <a:off x="514350" y="1314450"/>
            <a:ext cx="819150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59646A"/>
                </a:solidFill>
                <a:latin typeface="Aptos"/>
                <a:ea typeface="Aptos"/>
                <a:cs typeface="Aptos"/>
              </a:defRPr>
            </a:pPr>
            <a:r>
              <a:rPr sz="1125" b="0">
                <a:solidFill>
                  <a:srgbClr val="59646A"/>
                </a:solidFill>
                <a:latin typeface="Aptos"/>
                <a:ea typeface="Aptos"/>
                <a:cs typeface="Aptos"/>
              </a:rPr>
              <a:t>Peers should find one false assumption, missing proof need, or unclear owner.</a:t>
            </a:r>
          </a:p>
        </p:txBody>
      </p:sp>
      <p:sp>
        <p:nvSpPr>
          <p:cNvPr id="8" name="">
            <a:extLst xmlns:a="http://schemas.openxmlformats.org/drawingml/2006/main">
              <a:ext uri="{FF2B5EF4-FFF2-40B4-BE49-F238E27FC236}">
                <a16:creationId xmlns:a16="http://schemas.microsoft.com/office/drawing/2014/main" id="{6FF4EE35-61D5-40FF-AB88-174C31E1CA76}"/>
              </a:ext>
            </a:extLst>
          </p:cNvPr>
          <p:cNvSpPr>
            <a:spLocks xmlns:a="http://schemas.openxmlformats.org/drawingml/2006/main" noGrp="1"/>
          </p:cNvSpPr>
          <p:nvPr/>
        </p:nvSpPr>
        <p:spPr>
          <a:xfrm xmlns:a="http://schemas.openxmlformats.org/drawingml/2006/main">
            <a:off x="514350" y="6438900"/>
            <a:ext cx="1091565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F10B42E8-7D8A-4046-B1AF-5737103516C3}"/>
              </a:ext>
            </a:extLst>
          </p:cNvPr>
          <p:cNvSpPr>
            <a:spLocks xmlns:a="http://schemas.openxmlformats.org/drawingml/2006/main" noGrp="1"/>
          </p:cNvSpPr>
          <p:nvPr/>
        </p:nvSpPr>
        <p:spPr>
          <a:xfrm xmlns:a="http://schemas.openxmlformats.org/drawingml/2006/main">
            <a:off x="514350" y="6553200"/>
            <a:ext cx="590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59646A"/>
                </a:solidFill>
                <a:latin typeface="Aptos"/>
                <a:ea typeface="Aptos"/>
                <a:cs typeface="Aptos"/>
              </a:defRPr>
            </a:pPr>
            <a:r>
              <a:rPr sz="675" b="0">
                <a:solidFill>
                  <a:srgbClr val="59646A"/>
                </a:solidFill>
                <a:latin typeface="Aptos"/>
                <a:ea typeface="Aptos"/>
                <a:cs typeface="Aptos"/>
              </a:rPr>
              <a:t>Lesson 04 - MOIN: Map Of Informational Needs</a:t>
            </a:r>
          </a:p>
        </p:txBody>
      </p:sp>
      <p:sp>
        <p:nvSpPr>
          <p:cNvPr id="10" name="">
            <a:extLst xmlns:a="http://schemas.openxmlformats.org/drawingml/2006/main">
              <a:ext uri="{FF2B5EF4-FFF2-40B4-BE49-F238E27FC236}">
                <a16:creationId xmlns:a16="http://schemas.microsoft.com/office/drawing/2014/main" id="{83901DEA-386D-4049-9D94-C437A23258BB}"/>
              </a:ext>
            </a:extLst>
          </p:cNvPr>
          <p:cNvSpPr>
            <a:spLocks xmlns:a="http://schemas.openxmlformats.org/drawingml/2006/main" noGrp="1"/>
          </p:cNvSpPr>
          <p:nvPr/>
        </p:nvSpPr>
        <p:spPr>
          <a:xfrm xmlns:a="http://schemas.openxmlformats.org/drawingml/2006/main">
            <a:off x="5334000" y="6553200"/>
            <a:ext cx="4095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00" b="0">
                <a:solidFill>
                  <a:srgbClr val="59646A"/>
                </a:solidFill>
                <a:latin typeface="Aptos"/>
                <a:ea typeface="Aptos"/>
                <a:cs typeface="Aptos"/>
              </a:defRPr>
            </a:pPr>
            <a:r>
              <a:rPr sz="600" b="0">
                <a:solidFill>
                  <a:srgbClr val="59646A"/>
                </a:solidFill>
                <a:latin typeface="Aptos"/>
                <a:ea typeface="Aptos"/>
                <a:cs typeface="Aptos"/>
              </a:rPr>
              <a:t>Source: modules/module-01-industrial-demand-generation/lessons/04-moin-map-of-informational-needs.md @ 9e28222</a:t>
            </a:r>
          </a:p>
        </p:txBody>
      </p:sp>
      <p:sp>
        <p:nvSpPr>
          <p:cNvPr id="11" name="">
            <a:extLst xmlns:a="http://schemas.openxmlformats.org/drawingml/2006/main">
              <a:ext uri="{FF2B5EF4-FFF2-40B4-BE49-F238E27FC236}">
                <a16:creationId xmlns:a16="http://schemas.microsoft.com/office/drawing/2014/main" id="{100BA5E0-865A-4E4B-A3A0-F913E0F42CA4}"/>
              </a:ext>
            </a:extLst>
          </p:cNvPr>
          <p:cNvSpPr>
            <a:spLocks xmlns:a="http://schemas.openxmlformats.org/drawingml/2006/main" noGrp="1"/>
          </p:cNvSpPr>
          <p:nvPr/>
        </p:nvSpPr>
        <p:spPr>
          <a:xfrm xmlns:a="http://schemas.openxmlformats.org/drawingml/2006/main">
            <a:off x="10668000" y="6553200"/>
            <a:ext cx="762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75" b="0">
                <a:solidFill>
                  <a:srgbClr val="59646A"/>
                </a:solidFill>
                <a:latin typeface="Aptos"/>
                <a:ea typeface="Aptos"/>
                <a:cs typeface="Aptos"/>
              </a:defRPr>
            </a:pPr>
            <a:r>
              <a:rPr sz="675" b="0">
                <a:solidFill>
                  <a:srgbClr val="59646A"/>
                </a:solidFill>
                <a:latin typeface="Aptos"/>
                <a:ea typeface="Aptos"/>
                <a:cs typeface="Aptos"/>
              </a:rPr>
              <a:t>9/15</a:t>
            </a:r>
          </a:p>
        </p:txBody>
      </p:sp>
      <p:sp>
        <p:nvSpPr>
          <p:cNvPr id="12" name="">
            <a:extLst xmlns:a="http://schemas.openxmlformats.org/drawingml/2006/main">
              <a:ext uri="{FF2B5EF4-FFF2-40B4-BE49-F238E27FC236}">
                <a16:creationId xmlns:a16="http://schemas.microsoft.com/office/drawing/2014/main" id="{0A101280-614E-4EDB-8576-4EAA9B671B06}"/>
              </a:ext>
            </a:extLst>
          </p:cNvPr>
          <p:cNvSpPr>
            <a:spLocks xmlns:a="http://schemas.openxmlformats.org/drawingml/2006/main" noGrp="1"/>
          </p:cNvSpPr>
          <p:nvPr/>
        </p:nvSpPr>
        <p:spPr>
          <a:xfrm xmlns:a="http://schemas.openxmlformats.org/drawingml/2006/main">
            <a:off x="228600" y="1809750"/>
            <a:ext cx="11963400" cy="4591050"/>
          </a:xfrm>
          <a:prstGeom xmlns:a="http://schemas.openxmlformats.org/drawingml/2006/main" prst="rect">
            <a:avLst/>
          </a:prstGeom>
          <a:solidFill xmlns:a="http://schemas.openxmlformats.org/drawingml/2006/main">
            <a:srgbClr val="F5F6F2"/>
          </a:solidFill>
          <a:ln xmlns:a="http://schemas.openxmlformats.org/drawingml/2006/main" w="0">
            <a:solidFill>
              <a:srgbClr val="000000">
                <a:alpha val="0"/>
              </a:srgbClr>
            </a:solidFill>
            <a:prstDash val="solid"/>
          </a:ln>
        </p:spPr>
      </p:sp>
      <p:sp>
        <p:nvSpPr>
          <p:cNvPr id="13" name="">
            <a:extLst xmlns:a="http://schemas.openxmlformats.org/drawingml/2006/main">
              <a:ext uri="{FF2B5EF4-FFF2-40B4-BE49-F238E27FC236}">
                <a16:creationId xmlns:a16="http://schemas.microsoft.com/office/drawing/2014/main" id="{0048D5E7-959E-4470-AC48-00FEA0B97CF2}"/>
              </a:ext>
            </a:extLst>
          </p:cNvPr>
          <p:cNvSpPr>
            <a:spLocks xmlns:a="http://schemas.openxmlformats.org/drawingml/2006/main" noGrp="1"/>
          </p:cNvSpPr>
          <p:nvPr/>
        </p:nvSpPr>
        <p:spPr>
          <a:xfrm xmlns:a="http://schemas.openxmlformats.org/drawingml/2006/main">
            <a:off x="228600" y="1809750"/>
            <a:ext cx="11963400" cy="4591050"/>
          </a:xfrm>
          <a:prstGeom xmlns:a="http://schemas.openxmlformats.org/drawingml/2006/main" prst="rect">
            <a:avLst/>
          </a:prstGeom>
          <a:solidFill xmlns:a="http://schemas.openxmlformats.org/drawingml/2006/main">
            <a:srgbClr val="FFFFFF"/>
          </a:solidFill>
          <a:ln xmlns:a="http://schemas.openxmlformats.org/drawingml/2006/main" w="9525">
            <a:solidFill>
              <a:srgbClr val="D9DDD6"/>
            </a:solidFill>
            <a:prstDash val="solid"/>
          </a:ln>
        </p:spPr>
      </p:sp>
      <p:sp>
        <p:nvSpPr>
          <p:cNvPr id="14" name="">
            <a:extLst xmlns:a="http://schemas.openxmlformats.org/drawingml/2006/main">
              <a:ext uri="{FF2B5EF4-FFF2-40B4-BE49-F238E27FC236}">
                <a16:creationId xmlns:a16="http://schemas.microsoft.com/office/drawing/2014/main" id="{32C904DA-BAB3-4A62-8D50-11AC79ED4651}"/>
              </a:ext>
            </a:extLst>
          </p:cNvPr>
          <p:cNvSpPr>
            <a:spLocks xmlns:a="http://schemas.openxmlformats.org/drawingml/2006/main" noGrp="1"/>
          </p:cNvSpPr>
          <p:nvPr/>
        </p:nvSpPr>
        <p:spPr>
          <a:xfrm xmlns:a="http://schemas.openxmlformats.org/drawingml/2006/main">
            <a:off x="609600" y="2266950"/>
            <a:ext cx="266700" cy="19050"/>
          </a:xfrm>
          <a:prstGeom xmlns:a="http://schemas.openxmlformats.org/drawingml/2006/main" prst="rect">
            <a:avLst/>
          </a:prstGeom>
          <a:solidFill xmlns:a="http://schemas.openxmlformats.org/drawingml/2006/main">
            <a:srgbClr val="1D6072"/>
          </a:solidFill>
          <a:ln xmlns:a="http://schemas.openxmlformats.org/drawingml/2006/main" w="0">
            <a:solidFill>
              <a:srgbClr val="000000">
                <a:alpha val="0"/>
              </a:srgbClr>
            </a:solidFill>
            <a:prstDash val="solid"/>
          </a:ln>
        </p:spPr>
      </p:sp>
      <p:sp>
        <p:nvSpPr>
          <p:cNvPr id="15" name="">
            <a:extLst xmlns:a="http://schemas.openxmlformats.org/drawingml/2006/main">
              <a:ext uri="{FF2B5EF4-FFF2-40B4-BE49-F238E27FC236}">
                <a16:creationId xmlns:a16="http://schemas.microsoft.com/office/drawing/2014/main" id="{2DBB475B-B967-4FCE-945E-AA5121D1F32F}"/>
              </a:ext>
            </a:extLst>
          </p:cNvPr>
          <p:cNvSpPr>
            <a:spLocks xmlns:a="http://schemas.openxmlformats.org/drawingml/2006/main" noGrp="1"/>
          </p:cNvSpPr>
          <p:nvPr/>
        </p:nvSpPr>
        <p:spPr>
          <a:xfrm xmlns:a="http://schemas.openxmlformats.org/drawingml/2006/main">
            <a:off x="971550" y="2190750"/>
            <a:ext cx="2476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TEST THE ARTIFACT</a:t>
            </a:r>
          </a:p>
        </p:txBody>
      </p:sp>
      <p:sp>
        <p:nvSpPr>
          <p:cNvPr id="16" name="">
            <a:extLst xmlns:a="http://schemas.openxmlformats.org/drawingml/2006/main">
              <a:ext uri="{FF2B5EF4-FFF2-40B4-BE49-F238E27FC236}">
                <a16:creationId xmlns:a16="http://schemas.microsoft.com/office/drawing/2014/main" id="{C22F4CBA-CE58-42C8-9AE0-8BFCB1B75F62}"/>
              </a:ext>
            </a:extLst>
          </p:cNvPr>
          <p:cNvSpPr>
            <a:spLocks xmlns:a="http://schemas.openxmlformats.org/drawingml/2006/main" noGrp="1"/>
          </p:cNvSpPr>
          <p:nvPr/>
        </p:nvSpPr>
        <p:spPr>
          <a:xfrm xmlns:a="http://schemas.openxmlformats.org/drawingml/2006/main">
            <a:off x="609600" y="2647950"/>
            <a:ext cx="247650" cy="247650"/>
          </a:xfrm>
          <a:prstGeom xmlns:a="http://schemas.openxmlformats.org/drawingml/2006/main" prst="rect">
            <a:avLst/>
          </a:prstGeom>
          <a:solidFill xmlns:a="http://schemas.openxmlformats.org/drawingml/2006/main">
            <a:srgbClr val="DCE8E9"/>
          </a:solidFill>
          <a:ln xmlns:a="http://schemas.openxmlformats.org/drawingml/2006/main" w="9525">
            <a:solidFill>
              <a:srgbClr val="1D6072"/>
            </a:solidFill>
            <a:prstDash val="solid"/>
          </a:ln>
        </p:spPr>
      </p:sp>
      <p:sp>
        <p:nvSpPr>
          <p:cNvPr id="17" name="">
            <a:extLst xmlns:a="http://schemas.openxmlformats.org/drawingml/2006/main">
              <a:ext uri="{FF2B5EF4-FFF2-40B4-BE49-F238E27FC236}">
                <a16:creationId xmlns:a16="http://schemas.microsoft.com/office/drawing/2014/main" id="{7B8202DC-26F4-411E-AC59-CF48EF264ED1}"/>
              </a:ext>
            </a:extLst>
          </p:cNvPr>
          <p:cNvSpPr>
            <a:spLocks xmlns:a="http://schemas.openxmlformats.org/drawingml/2006/main" noGrp="1"/>
          </p:cNvSpPr>
          <p:nvPr/>
        </p:nvSpPr>
        <p:spPr>
          <a:xfrm xmlns:a="http://schemas.openxmlformats.org/drawingml/2006/main">
            <a:off x="609600" y="2676525"/>
            <a:ext cx="2476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825" b="1">
                <a:solidFill>
                  <a:srgbClr val="1D6072"/>
                </a:solidFill>
                <a:latin typeface="Aptos"/>
                <a:ea typeface="Aptos"/>
                <a:cs typeface="Aptos"/>
              </a:defRPr>
            </a:pPr>
            <a:r>
              <a:rPr sz="825" b="1">
                <a:solidFill>
                  <a:srgbClr val="1D6072"/>
                </a:solidFill>
                <a:latin typeface="Aptos"/>
                <a:ea typeface="Aptos"/>
                <a:cs typeface="Aptos"/>
              </a:rPr>
              <a:t>1</a:t>
            </a:r>
          </a:p>
        </p:txBody>
      </p:sp>
      <p:sp>
        <p:nvSpPr>
          <p:cNvPr id="18" name="">
            <a:extLst xmlns:a="http://schemas.openxmlformats.org/drawingml/2006/main">
              <a:ext uri="{FF2B5EF4-FFF2-40B4-BE49-F238E27FC236}">
                <a16:creationId xmlns:a16="http://schemas.microsoft.com/office/drawing/2014/main" id="{1DEF8370-5126-4527-A675-42F72C8DA6A2}"/>
              </a:ext>
            </a:extLst>
          </p:cNvPr>
          <p:cNvSpPr>
            <a:spLocks xmlns:a="http://schemas.openxmlformats.org/drawingml/2006/main" noGrp="1"/>
          </p:cNvSpPr>
          <p:nvPr/>
        </p:nvSpPr>
        <p:spPr>
          <a:xfrm xmlns:a="http://schemas.openxmlformats.org/drawingml/2006/main">
            <a:off x="1009650" y="2638425"/>
            <a:ext cx="4362450" cy="552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172026"/>
                </a:solidFill>
                <a:latin typeface="Aptos"/>
                <a:ea typeface="Aptos"/>
                <a:cs typeface="Aptos"/>
              </a:defRPr>
            </a:pPr>
            <a:r>
              <a:rPr sz="1125" b="0">
                <a:solidFill>
                  <a:srgbClr val="172026"/>
                </a:solidFill>
                <a:latin typeface="Aptos"/>
                <a:ea typeface="Aptos"/>
                <a:cs typeface="Aptos"/>
              </a:rPr>
              <a:t>Mark each question green, yellow, or red.</a:t>
            </a:r>
          </a:p>
        </p:txBody>
      </p:sp>
      <p:sp>
        <p:nvSpPr>
          <p:cNvPr id="19" name="">
            <a:extLst xmlns:a="http://schemas.openxmlformats.org/drawingml/2006/main">
              <a:ext uri="{FF2B5EF4-FFF2-40B4-BE49-F238E27FC236}">
                <a16:creationId xmlns:a16="http://schemas.microsoft.com/office/drawing/2014/main" id="{612A7095-B101-46D5-AE72-8126457CA532}"/>
              </a:ext>
            </a:extLst>
          </p:cNvPr>
          <p:cNvSpPr>
            <a:spLocks xmlns:a="http://schemas.openxmlformats.org/drawingml/2006/main" noGrp="1"/>
          </p:cNvSpPr>
          <p:nvPr/>
        </p:nvSpPr>
        <p:spPr>
          <a:xfrm xmlns:a="http://schemas.openxmlformats.org/drawingml/2006/main">
            <a:off x="609600" y="3238500"/>
            <a:ext cx="247650" cy="247650"/>
          </a:xfrm>
          <a:prstGeom xmlns:a="http://schemas.openxmlformats.org/drawingml/2006/main" prst="rect">
            <a:avLst/>
          </a:prstGeom>
          <a:solidFill xmlns:a="http://schemas.openxmlformats.org/drawingml/2006/main">
            <a:srgbClr val="DCE8E9"/>
          </a:solidFill>
          <a:ln xmlns:a="http://schemas.openxmlformats.org/drawingml/2006/main" w="9525">
            <a:solidFill>
              <a:srgbClr val="1D6072"/>
            </a:solidFill>
            <a:prstDash val="solid"/>
          </a:ln>
        </p:spPr>
      </p:sp>
      <p:sp>
        <p:nvSpPr>
          <p:cNvPr id="20" name="">
            <a:extLst xmlns:a="http://schemas.openxmlformats.org/drawingml/2006/main">
              <a:ext uri="{FF2B5EF4-FFF2-40B4-BE49-F238E27FC236}">
                <a16:creationId xmlns:a16="http://schemas.microsoft.com/office/drawing/2014/main" id="{BB93302B-1C44-4B75-8BDA-2EF4DCB64322}"/>
              </a:ext>
            </a:extLst>
          </p:cNvPr>
          <p:cNvSpPr>
            <a:spLocks xmlns:a="http://schemas.openxmlformats.org/drawingml/2006/main" noGrp="1"/>
          </p:cNvSpPr>
          <p:nvPr/>
        </p:nvSpPr>
        <p:spPr>
          <a:xfrm xmlns:a="http://schemas.openxmlformats.org/drawingml/2006/main">
            <a:off x="609600" y="3267075"/>
            <a:ext cx="2476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825" b="1">
                <a:solidFill>
                  <a:srgbClr val="1D6072"/>
                </a:solidFill>
                <a:latin typeface="Aptos"/>
                <a:ea typeface="Aptos"/>
                <a:cs typeface="Aptos"/>
              </a:defRPr>
            </a:pPr>
            <a:r>
              <a:rPr sz="825" b="1">
                <a:solidFill>
                  <a:srgbClr val="1D6072"/>
                </a:solidFill>
                <a:latin typeface="Aptos"/>
                <a:ea typeface="Aptos"/>
                <a:cs typeface="Aptos"/>
              </a:rPr>
              <a:t>2</a:t>
            </a:r>
          </a:p>
        </p:txBody>
      </p:sp>
      <p:sp>
        <p:nvSpPr>
          <p:cNvPr id="21" name="">
            <a:extLst xmlns:a="http://schemas.openxmlformats.org/drawingml/2006/main">
              <a:ext uri="{FF2B5EF4-FFF2-40B4-BE49-F238E27FC236}">
                <a16:creationId xmlns:a16="http://schemas.microsoft.com/office/drawing/2014/main" id="{380091A1-A7F9-47E8-B41A-3B7E89C61F3B}"/>
              </a:ext>
            </a:extLst>
          </p:cNvPr>
          <p:cNvSpPr>
            <a:spLocks xmlns:a="http://schemas.openxmlformats.org/drawingml/2006/main" noGrp="1"/>
          </p:cNvSpPr>
          <p:nvPr/>
        </p:nvSpPr>
        <p:spPr>
          <a:xfrm xmlns:a="http://schemas.openxmlformats.org/drawingml/2006/main">
            <a:off x="1009650" y="3228975"/>
            <a:ext cx="4362450" cy="552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172026"/>
                </a:solidFill>
                <a:latin typeface="Aptos"/>
                <a:ea typeface="Aptos"/>
                <a:cs typeface="Aptos"/>
              </a:defRPr>
            </a:pPr>
            <a:r>
              <a:rPr sz="1125" b="0">
                <a:solidFill>
                  <a:srgbClr val="172026"/>
                </a:solidFill>
                <a:latin typeface="Aptos"/>
                <a:ea typeface="Aptos"/>
                <a:cs typeface="Aptos"/>
              </a:rPr>
              <a:t>Ask which role would ask it.</a:t>
            </a:r>
          </a:p>
        </p:txBody>
      </p:sp>
      <p:sp>
        <p:nvSpPr>
          <p:cNvPr id="22" name="">
            <a:extLst xmlns:a="http://schemas.openxmlformats.org/drawingml/2006/main">
              <a:ext uri="{FF2B5EF4-FFF2-40B4-BE49-F238E27FC236}">
                <a16:creationId xmlns:a16="http://schemas.microsoft.com/office/drawing/2014/main" id="{06903531-1F1B-45D8-95FC-77CF7AF2EB12}"/>
              </a:ext>
            </a:extLst>
          </p:cNvPr>
          <p:cNvSpPr>
            <a:spLocks xmlns:a="http://schemas.openxmlformats.org/drawingml/2006/main" noGrp="1"/>
          </p:cNvSpPr>
          <p:nvPr/>
        </p:nvSpPr>
        <p:spPr>
          <a:xfrm xmlns:a="http://schemas.openxmlformats.org/drawingml/2006/main">
            <a:off x="609600" y="3829050"/>
            <a:ext cx="247650" cy="247650"/>
          </a:xfrm>
          <a:prstGeom xmlns:a="http://schemas.openxmlformats.org/drawingml/2006/main" prst="rect">
            <a:avLst/>
          </a:prstGeom>
          <a:solidFill xmlns:a="http://schemas.openxmlformats.org/drawingml/2006/main">
            <a:srgbClr val="DCE8E9"/>
          </a:solidFill>
          <a:ln xmlns:a="http://schemas.openxmlformats.org/drawingml/2006/main" w="9525">
            <a:solidFill>
              <a:srgbClr val="1D6072"/>
            </a:solidFill>
            <a:prstDash val="solid"/>
          </a:ln>
        </p:spPr>
      </p:sp>
      <p:sp>
        <p:nvSpPr>
          <p:cNvPr id="23" name="">
            <a:extLst xmlns:a="http://schemas.openxmlformats.org/drawingml/2006/main">
              <a:ext uri="{FF2B5EF4-FFF2-40B4-BE49-F238E27FC236}">
                <a16:creationId xmlns:a16="http://schemas.microsoft.com/office/drawing/2014/main" id="{6BEEEE5C-F683-43F7-ACF4-63207255C193}"/>
              </a:ext>
            </a:extLst>
          </p:cNvPr>
          <p:cNvSpPr>
            <a:spLocks xmlns:a="http://schemas.openxmlformats.org/drawingml/2006/main" noGrp="1"/>
          </p:cNvSpPr>
          <p:nvPr/>
        </p:nvSpPr>
        <p:spPr>
          <a:xfrm xmlns:a="http://schemas.openxmlformats.org/drawingml/2006/main">
            <a:off x="609600" y="3857625"/>
            <a:ext cx="2476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825" b="1">
                <a:solidFill>
                  <a:srgbClr val="1D6072"/>
                </a:solidFill>
                <a:latin typeface="Aptos"/>
                <a:ea typeface="Aptos"/>
                <a:cs typeface="Aptos"/>
              </a:defRPr>
            </a:pPr>
            <a:r>
              <a:rPr sz="825" b="1">
                <a:solidFill>
                  <a:srgbClr val="1D6072"/>
                </a:solidFill>
                <a:latin typeface="Aptos"/>
                <a:ea typeface="Aptos"/>
                <a:cs typeface="Aptos"/>
              </a:rPr>
              <a:t>3</a:t>
            </a:r>
          </a:p>
        </p:txBody>
      </p:sp>
      <p:sp>
        <p:nvSpPr>
          <p:cNvPr id="24" name="">
            <a:extLst xmlns:a="http://schemas.openxmlformats.org/drawingml/2006/main">
              <a:ext uri="{FF2B5EF4-FFF2-40B4-BE49-F238E27FC236}">
                <a16:creationId xmlns:a16="http://schemas.microsoft.com/office/drawing/2014/main" id="{8E1D474A-AB63-4E59-B921-A55287D20C61}"/>
              </a:ext>
            </a:extLst>
          </p:cNvPr>
          <p:cNvSpPr>
            <a:spLocks xmlns:a="http://schemas.openxmlformats.org/drawingml/2006/main" noGrp="1"/>
          </p:cNvSpPr>
          <p:nvPr/>
        </p:nvSpPr>
        <p:spPr>
          <a:xfrm xmlns:a="http://schemas.openxmlformats.org/drawingml/2006/main">
            <a:off x="1009650" y="3819525"/>
            <a:ext cx="4362450" cy="552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172026"/>
                </a:solidFill>
                <a:latin typeface="Aptos"/>
                <a:ea typeface="Aptos"/>
                <a:cs typeface="Aptos"/>
              </a:defRPr>
            </a:pPr>
            <a:r>
              <a:rPr sz="1125" b="0">
                <a:solidFill>
                  <a:srgbClr val="172026"/>
                </a:solidFill>
                <a:latin typeface="Aptos"/>
                <a:ea typeface="Aptos"/>
                <a:cs typeface="Aptos"/>
              </a:rPr>
              <a:t>Ask which demand state it belongs to.</a:t>
            </a:r>
          </a:p>
        </p:txBody>
      </p:sp>
      <p:sp>
        <p:nvSpPr>
          <p:cNvPr id="25" name="">
            <a:extLst xmlns:a="http://schemas.openxmlformats.org/drawingml/2006/main">
              <a:ext uri="{FF2B5EF4-FFF2-40B4-BE49-F238E27FC236}">
                <a16:creationId xmlns:a16="http://schemas.microsoft.com/office/drawing/2014/main" id="{28937173-1B5C-4A70-8349-EC74C975BCD9}"/>
              </a:ext>
            </a:extLst>
          </p:cNvPr>
          <p:cNvSpPr>
            <a:spLocks xmlns:a="http://schemas.openxmlformats.org/drawingml/2006/main" noGrp="1"/>
          </p:cNvSpPr>
          <p:nvPr/>
        </p:nvSpPr>
        <p:spPr>
          <a:xfrm xmlns:a="http://schemas.openxmlformats.org/drawingml/2006/main">
            <a:off x="6572250" y="2266950"/>
            <a:ext cx="266700" cy="1905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26" name="">
            <a:extLst xmlns:a="http://schemas.openxmlformats.org/drawingml/2006/main">
              <a:ext uri="{FF2B5EF4-FFF2-40B4-BE49-F238E27FC236}">
                <a16:creationId xmlns:a16="http://schemas.microsoft.com/office/drawing/2014/main" id="{04B62507-806F-4878-9A2C-591B03CA4944}"/>
              </a:ext>
            </a:extLst>
          </p:cNvPr>
          <p:cNvSpPr>
            <a:spLocks xmlns:a="http://schemas.openxmlformats.org/drawingml/2006/main" noGrp="1"/>
          </p:cNvSpPr>
          <p:nvPr/>
        </p:nvSpPr>
        <p:spPr>
          <a:xfrm xmlns:a="http://schemas.openxmlformats.org/drawingml/2006/main">
            <a:off x="6934200" y="2190750"/>
            <a:ext cx="2476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FORCE THE REPAIR</a:t>
            </a:r>
          </a:p>
        </p:txBody>
      </p:sp>
      <p:sp>
        <p:nvSpPr>
          <p:cNvPr id="27" name="">
            <a:extLst xmlns:a="http://schemas.openxmlformats.org/drawingml/2006/main">
              <a:ext uri="{FF2B5EF4-FFF2-40B4-BE49-F238E27FC236}">
                <a16:creationId xmlns:a16="http://schemas.microsoft.com/office/drawing/2014/main" id="{21C9382E-8775-42A3-8CA9-A573F292BEDC}"/>
              </a:ext>
            </a:extLst>
          </p:cNvPr>
          <p:cNvSpPr>
            <a:spLocks xmlns:a="http://schemas.openxmlformats.org/drawingml/2006/main" noGrp="1"/>
          </p:cNvSpPr>
          <p:nvPr/>
        </p:nvSpPr>
        <p:spPr>
          <a:xfrm xmlns:a="http://schemas.openxmlformats.org/drawingml/2006/main">
            <a:off x="6572250" y="2647950"/>
            <a:ext cx="247650" cy="247650"/>
          </a:xfrm>
          <a:prstGeom xmlns:a="http://schemas.openxmlformats.org/drawingml/2006/main" prst="rect">
            <a:avLst/>
          </a:prstGeom>
          <a:solidFill xmlns:a="http://schemas.openxmlformats.org/drawingml/2006/main">
            <a:srgbClr val="F0DFD5"/>
          </a:solidFill>
          <a:ln xmlns:a="http://schemas.openxmlformats.org/drawingml/2006/main" w="9525">
            <a:solidFill>
              <a:srgbClr val="A85D2A"/>
            </a:solidFill>
            <a:prstDash val="solid"/>
          </a:ln>
        </p:spPr>
      </p:sp>
      <p:sp>
        <p:nvSpPr>
          <p:cNvPr id="28" name="">
            <a:extLst xmlns:a="http://schemas.openxmlformats.org/drawingml/2006/main">
              <a:ext uri="{FF2B5EF4-FFF2-40B4-BE49-F238E27FC236}">
                <a16:creationId xmlns:a16="http://schemas.microsoft.com/office/drawing/2014/main" id="{354B1393-990C-42DA-A854-4EAF0BDF80F0}"/>
              </a:ext>
            </a:extLst>
          </p:cNvPr>
          <p:cNvSpPr>
            <a:spLocks xmlns:a="http://schemas.openxmlformats.org/drawingml/2006/main" noGrp="1"/>
          </p:cNvSpPr>
          <p:nvPr/>
        </p:nvSpPr>
        <p:spPr>
          <a:xfrm xmlns:a="http://schemas.openxmlformats.org/drawingml/2006/main">
            <a:off x="6572250" y="2676525"/>
            <a:ext cx="2476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825" b="1">
                <a:solidFill>
                  <a:srgbClr val="1D6072"/>
                </a:solidFill>
                <a:latin typeface="Aptos"/>
                <a:ea typeface="Aptos"/>
                <a:cs typeface="Aptos"/>
              </a:defRPr>
            </a:pPr>
            <a:r>
              <a:rPr sz="825" b="1">
                <a:solidFill>
                  <a:srgbClr val="1D6072"/>
                </a:solidFill>
                <a:latin typeface="Aptos"/>
                <a:ea typeface="Aptos"/>
                <a:cs typeface="Aptos"/>
              </a:rPr>
              <a:t>1</a:t>
            </a:r>
          </a:p>
        </p:txBody>
      </p:sp>
      <p:sp>
        <p:nvSpPr>
          <p:cNvPr id="29" name="">
            <a:extLst xmlns:a="http://schemas.openxmlformats.org/drawingml/2006/main">
              <a:ext uri="{FF2B5EF4-FFF2-40B4-BE49-F238E27FC236}">
                <a16:creationId xmlns:a16="http://schemas.microsoft.com/office/drawing/2014/main" id="{87E2B050-4330-40FB-9889-913CEDBB6979}"/>
              </a:ext>
            </a:extLst>
          </p:cNvPr>
          <p:cNvSpPr>
            <a:spLocks xmlns:a="http://schemas.openxmlformats.org/drawingml/2006/main" noGrp="1"/>
          </p:cNvSpPr>
          <p:nvPr/>
        </p:nvSpPr>
        <p:spPr>
          <a:xfrm xmlns:a="http://schemas.openxmlformats.org/drawingml/2006/main">
            <a:off x="6972300" y="2638425"/>
            <a:ext cx="4362450" cy="552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172026"/>
                </a:solidFill>
                <a:latin typeface="Aptos"/>
                <a:ea typeface="Aptos"/>
                <a:cs typeface="Aptos"/>
              </a:defRPr>
            </a:pPr>
            <a:r>
              <a:rPr sz="1125" b="0">
                <a:solidFill>
                  <a:srgbClr val="172026"/>
                </a:solidFill>
                <a:latin typeface="Aptos"/>
                <a:ea typeface="Aptos"/>
                <a:cs typeface="Aptos"/>
              </a:rPr>
              <a:t>Ask which decision risk it reduces.</a:t>
            </a:r>
          </a:p>
        </p:txBody>
      </p:sp>
      <p:sp>
        <p:nvSpPr>
          <p:cNvPr id="30" name="">
            <a:extLst xmlns:a="http://schemas.openxmlformats.org/drawingml/2006/main">
              <a:ext uri="{FF2B5EF4-FFF2-40B4-BE49-F238E27FC236}">
                <a16:creationId xmlns:a16="http://schemas.microsoft.com/office/drawing/2014/main" id="{2F1DD78D-7F62-4180-A1B5-A67EFE907896}"/>
              </a:ext>
            </a:extLst>
          </p:cNvPr>
          <p:cNvSpPr>
            <a:spLocks xmlns:a="http://schemas.openxmlformats.org/drawingml/2006/main" noGrp="1"/>
          </p:cNvSpPr>
          <p:nvPr/>
        </p:nvSpPr>
        <p:spPr>
          <a:xfrm xmlns:a="http://schemas.openxmlformats.org/drawingml/2006/main">
            <a:off x="6572250" y="3238500"/>
            <a:ext cx="247650" cy="247650"/>
          </a:xfrm>
          <a:prstGeom xmlns:a="http://schemas.openxmlformats.org/drawingml/2006/main" prst="rect">
            <a:avLst/>
          </a:prstGeom>
          <a:solidFill xmlns:a="http://schemas.openxmlformats.org/drawingml/2006/main">
            <a:srgbClr val="F0DFD5"/>
          </a:solidFill>
          <a:ln xmlns:a="http://schemas.openxmlformats.org/drawingml/2006/main" w="9525">
            <a:solidFill>
              <a:srgbClr val="A85D2A"/>
            </a:solidFill>
            <a:prstDash val="solid"/>
          </a:ln>
        </p:spPr>
      </p:sp>
      <p:sp>
        <p:nvSpPr>
          <p:cNvPr id="31" name="">
            <a:extLst xmlns:a="http://schemas.openxmlformats.org/drawingml/2006/main">
              <a:ext uri="{FF2B5EF4-FFF2-40B4-BE49-F238E27FC236}">
                <a16:creationId xmlns:a16="http://schemas.microsoft.com/office/drawing/2014/main" id="{0AB65B71-800F-429B-945A-052CCDA88B0A}"/>
              </a:ext>
            </a:extLst>
          </p:cNvPr>
          <p:cNvSpPr>
            <a:spLocks xmlns:a="http://schemas.openxmlformats.org/drawingml/2006/main" noGrp="1"/>
          </p:cNvSpPr>
          <p:nvPr/>
        </p:nvSpPr>
        <p:spPr>
          <a:xfrm xmlns:a="http://schemas.openxmlformats.org/drawingml/2006/main">
            <a:off x="6572250" y="3267075"/>
            <a:ext cx="2476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825" b="1">
                <a:solidFill>
                  <a:srgbClr val="1D6072"/>
                </a:solidFill>
                <a:latin typeface="Aptos"/>
                <a:ea typeface="Aptos"/>
                <a:cs typeface="Aptos"/>
              </a:defRPr>
            </a:pPr>
            <a:r>
              <a:rPr sz="825" b="1">
                <a:solidFill>
                  <a:srgbClr val="1D6072"/>
                </a:solidFill>
                <a:latin typeface="Aptos"/>
                <a:ea typeface="Aptos"/>
                <a:cs typeface="Aptos"/>
              </a:rPr>
              <a:t>2</a:t>
            </a:r>
          </a:p>
        </p:txBody>
      </p:sp>
      <p:sp>
        <p:nvSpPr>
          <p:cNvPr id="32" name="">
            <a:extLst xmlns:a="http://schemas.openxmlformats.org/drawingml/2006/main">
              <a:ext uri="{FF2B5EF4-FFF2-40B4-BE49-F238E27FC236}">
                <a16:creationId xmlns:a16="http://schemas.microsoft.com/office/drawing/2014/main" id="{A0F0833B-5B0B-46B5-8C9C-E5D0AA6E6FFF}"/>
              </a:ext>
            </a:extLst>
          </p:cNvPr>
          <p:cNvSpPr>
            <a:spLocks xmlns:a="http://schemas.openxmlformats.org/drawingml/2006/main" noGrp="1"/>
          </p:cNvSpPr>
          <p:nvPr/>
        </p:nvSpPr>
        <p:spPr>
          <a:xfrm xmlns:a="http://schemas.openxmlformats.org/drawingml/2006/main">
            <a:off x="6972300" y="3228975"/>
            <a:ext cx="4362450" cy="552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172026"/>
                </a:solidFill>
                <a:latin typeface="Aptos"/>
                <a:ea typeface="Aptos"/>
                <a:cs typeface="Aptos"/>
              </a:defRPr>
            </a:pPr>
            <a:r>
              <a:rPr sz="1125" b="0">
                <a:solidFill>
                  <a:srgbClr val="172026"/>
                </a:solidFill>
                <a:latin typeface="Aptos"/>
                <a:ea typeface="Aptos"/>
                <a:cs typeface="Aptos"/>
              </a:rPr>
              <a:t>Ask what proof makes the answer credible.</a:t>
            </a:r>
          </a:p>
        </p:txBody>
      </p:sp>
      <p:sp>
        <p:nvSpPr>
          <p:cNvPr id="33" name="">
            <a:extLst xmlns:a="http://schemas.openxmlformats.org/drawingml/2006/main">
              <a:ext uri="{FF2B5EF4-FFF2-40B4-BE49-F238E27FC236}">
                <a16:creationId xmlns:a16="http://schemas.microsoft.com/office/drawing/2014/main" id="{AE308593-45E3-4495-BB10-838C79EC2C20}"/>
              </a:ext>
            </a:extLst>
          </p:cNvPr>
          <p:cNvSpPr>
            <a:spLocks xmlns:a="http://schemas.openxmlformats.org/drawingml/2006/main" noGrp="1"/>
          </p:cNvSpPr>
          <p:nvPr/>
        </p:nvSpPr>
        <p:spPr>
          <a:xfrm xmlns:a="http://schemas.openxmlformats.org/drawingml/2006/main">
            <a:off x="6572250" y="3829050"/>
            <a:ext cx="247650" cy="247650"/>
          </a:xfrm>
          <a:prstGeom xmlns:a="http://schemas.openxmlformats.org/drawingml/2006/main" prst="rect">
            <a:avLst/>
          </a:prstGeom>
          <a:solidFill xmlns:a="http://schemas.openxmlformats.org/drawingml/2006/main">
            <a:srgbClr val="F0DFD5"/>
          </a:solidFill>
          <a:ln xmlns:a="http://schemas.openxmlformats.org/drawingml/2006/main" w="9525">
            <a:solidFill>
              <a:srgbClr val="A85D2A"/>
            </a:solidFill>
            <a:prstDash val="solid"/>
          </a:ln>
        </p:spPr>
      </p:sp>
      <p:sp>
        <p:nvSpPr>
          <p:cNvPr id="34" name="">
            <a:extLst xmlns:a="http://schemas.openxmlformats.org/drawingml/2006/main">
              <a:ext uri="{FF2B5EF4-FFF2-40B4-BE49-F238E27FC236}">
                <a16:creationId xmlns:a16="http://schemas.microsoft.com/office/drawing/2014/main" id="{0411D5BD-21D5-4E27-97CE-5EAA5DC9FB3F}"/>
              </a:ext>
            </a:extLst>
          </p:cNvPr>
          <p:cNvSpPr>
            <a:spLocks xmlns:a="http://schemas.openxmlformats.org/drawingml/2006/main" noGrp="1"/>
          </p:cNvSpPr>
          <p:nvPr/>
        </p:nvSpPr>
        <p:spPr>
          <a:xfrm xmlns:a="http://schemas.openxmlformats.org/drawingml/2006/main">
            <a:off x="6572250" y="3857625"/>
            <a:ext cx="2476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825" b="1">
                <a:solidFill>
                  <a:srgbClr val="1D6072"/>
                </a:solidFill>
                <a:latin typeface="Aptos"/>
                <a:ea typeface="Aptos"/>
                <a:cs typeface="Aptos"/>
              </a:defRPr>
            </a:pPr>
            <a:r>
              <a:rPr sz="825" b="1">
                <a:solidFill>
                  <a:srgbClr val="1D6072"/>
                </a:solidFill>
                <a:latin typeface="Aptos"/>
                <a:ea typeface="Aptos"/>
                <a:cs typeface="Aptos"/>
              </a:rPr>
              <a:t>3</a:t>
            </a:r>
          </a:p>
        </p:txBody>
      </p:sp>
      <p:sp>
        <p:nvSpPr>
          <p:cNvPr id="35" name="">
            <a:extLst xmlns:a="http://schemas.openxmlformats.org/drawingml/2006/main">
              <a:ext uri="{FF2B5EF4-FFF2-40B4-BE49-F238E27FC236}">
                <a16:creationId xmlns:a16="http://schemas.microsoft.com/office/drawing/2014/main" id="{E8780749-49FD-457D-8ADF-9E5226599E6A}"/>
              </a:ext>
            </a:extLst>
          </p:cNvPr>
          <p:cNvSpPr>
            <a:spLocks xmlns:a="http://schemas.openxmlformats.org/drawingml/2006/main" noGrp="1"/>
          </p:cNvSpPr>
          <p:nvPr/>
        </p:nvSpPr>
        <p:spPr>
          <a:xfrm xmlns:a="http://schemas.openxmlformats.org/drawingml/2006/main">
            <a:off x="6972300" y="3819525"/>
            <a:ext cx="4362450" cy="552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172026"/>
                </a:solidFill>
                <a:latin typeface="Aptos"/>
                <a:ea typeface="Aptos"/>
                <a:cs typeface="Aptos"/>
              </a:defRPr>
            </a:pPr>
            <a:r>
              <a:rPr sz="1125" b="0">
                <a:solidFill>
                  <a:srgbClr val="172026"/>
                </a:solidFill>
                <a:latin typeface="Aptos"/>
                <a:ea typeface="Aptos"/>
                <a:cs typeface="Aptos"/>
              </a:rPr>
              <a:t>Ask how sales would use the answer.</a:t>
            </a:r>
          </a:p>
        </p:txBody>
      </p:sp>
      <p:sp>
        <p:nvSpPr>
          <p:cNvPr id="36" name="">
            <a:extLst xmlns:a="http://schemas.openxmlformats.org/drawingml/2006/main">
              <a:ext uri="{FF2B5EF4-FFF2-40B4-BE49-F238E27FC236}">
                <a16:creationId xmlns:a16="http://schemas.microsoft.com/office/drawing/2014/main" id="{41B74123-AEEC-4E26-A3B3-4E1D3E412421}"/>
              </a:ext>
            </a:extLst>
          </p:cNvPr>
          <p:cNvSpPr>
            <a:spLocks xmlns:a="http://schemas.openxmlformats.org/drawingml/2006/main" noGrp="1"/>
          </p:cNvSpPr>
          <p:nvPr/>
        </p:nvSpPr>
        <p:spPr>
          <a:xfrm xmlns:a="http://schemas.openxmlformats.org/drawingml/2006/main">
            <a:off x="514350" y="6438900"/>
            <a:ext cx="1091565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37" name="">
            <a:extLst xmlns:a="http://schemas.openxmlformats.org/drawingml/2006/main">
              <a:ext uri="{FF2B5EF4-FFF2-40B4-BE49-F238E27FC236}">
                <a16:creationId xmlns:a16="http://schemas.microsoft.com/office/drawing/2014/main" id="{899F912E-9535-40A8-AD34-74C10410005E}"/>
              </a:ext>
            </a:extLst>
          </p:cNvPr>
          <p:cNvSpPr>
            <a:spLocks xmlns:a="http://schemas.openxmlformats.org/drawingml/2006/main" noGrp="1"/>
          </p:cNvSpPr>
          <p:nvPr/>
        </p:nvSpPr>
        <p:spPr>
          <a:xfrm xmlns:a="http://schemas.openxmlformats.org/drawingml/2006/main">
            <a:off x="514350" y="6553200"/>
            <a:ext cx="590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59646A"/>
                </a:solidFill>
                <a:latin typeface="Aptos"/>
                <a:ea typeface="Aptos"/>
                <a:cs typeface="Aptos"/>
              </a:defRPr>
            </a:pPr>
            <a:r>
              <a:rPr sz="675" b="0">
                <a:solidFill>
                  <a:srgbClr val="59646A"/>
                </a:solidFill>
                <a:latin typeface="Aptos"/>
                <a:ea typeface="Aptos"/>
                <a:cs typeface="Aptos"/>
              </a:rPr>
              <a:t>Lesson 04 - MOIN: Map Of Informational Needs</a:t>
            </a:r>
          </a:p>
        </p:txBody>
      </p:sp>
      <p:sp>
        <p:nvSpPr>
          <p:cNvPr id="38" name="">
            <a:extLst xmlns:a="http://schemas.openxmlformats.org/drawingml/2006/main">
              <a:ext uri="{FF2B5EF4-FFF2-40B4-BE49-F238E27FC236}">
                <a16:creationId xmlns:a16="http://schemas.microsoft.com/office/drawing/2014/main" id="{DEB64669-2317-4D75-946B-576E6EE8A9D0}"/>
              </a:ext>
            </a:extLst>
          </p:cNvPr>
          <p:cNvSpPr>
            <a:spLocks xmlns:a="http://schemas.openxmlformats.org/drawingml/2006/main" noGrp="1"/>
          </p:cNvSpPr>
          <p:nvPr/>
        </p:nvSpPr>
        <p:spPr>
          <a:xfrm xmlns:a="http://schemas.openxmlformats.org/drawingml/2006/main">
            <a:off x="5334000" y="6553200"/>
            <a:ext cx="4095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00" b="0">
                <a:solidFill>
                  <a:srgbClr val="59646A"/>
                </a:solidFill>
                <a:latin typeface="Aptos"/>
                <a:ea typeface="Aptos"/>
                <a:cs typeface="Aptos"/>
              </a:defRPr>
            </a:pPr>
            <a:r>
              <a:rPr sz="600" b="0">
                <a:solidFill>
                  <a:srgbClr val="59646A"/>
                </a:solidFill>
                <a:latin typeface="Aptos"/>
                <a:ea typeface="Aptos"/>
                <a:cs typeface="Aptos"/>
              </a:rPr>
              <a:t>Source: modules/module-01-industrial-demand-generation/lessons/04-moin-map-of-informational-needs.md @ 9e28222</a:t>
            </a:r>
          </a:p>
        </p:txBody>
      </p:sp>
      <p:sp>
        <p:nvSpPr>
          <p:cNvPr id="39" name="">
            <a:extLst xmlns:a="http://schemas.openxmlformats.org/drawingml/2006/main">
              <a:ext uri="{FF2B5EF4-FFF2-40B4-BE49-F238E27FC236}">
                <a16:creationId xmlns:a16="http://schemas.microsoft.com/office/drawing/2014/main" id="{F88F6AA7-A091-4D74-9041-EE71B08DDE16}"/>
              </a:ext>
            </a:extLst>
          </p:cNvPr>
          <p:cNvSpPr>
            <a:spLocks xmlns:a="http://schemas.openxmlformats.org/drawingml/2006/main" noGrp="1"/>
          </p:cNvSpPr>
          <p:nvPr/>
        </p:nvSpPr>
        <p:spPr>
          <a:xfrm xmlns:a="http://schemas.openxmlformats.org/drawingml/2006/main">
            <a:off x="10668000" y="6553200"/>
            <a:ext cx="762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75" b="0">
                <a:solidFill>
                  <a:srgbClr val="59646A"/>
                </a:solidFill>
                <a:latin typeface="Aptos"/>
                <a:ea typeface="Aptos"/>
                <a:cs typeface="Aptos"/>
              </a:defRPr>
            </a:pPr>
            <a:r>
              <a:rPr sz="675" b="0">
                <a:solidFill>
                  <a:srgbClr val="59646A"/>
                </a:solidFill>
                <a:latin typeface="Aptos"/>
                <a:ea typeface="Aptos"/>
                <a:cs typeface="Aptos"/>
              </a:rPr>
              <a:t>9/15</a:t>
            </a:r>
          </a:p>
        </p:txBody>
      </p:sp>
      <p:sp>
        <p:nvSpPr>
          <p:cNvPr id="40" name="">
            <a:extLst xmlns:a="http://schemas.openxmlformats.org/drawingml/2006/main">
              <a:ext uri="{FF2B5EF4-FFF2-40B4-BE49-F238E27FC236}">
                <a16:creationId xmlns:a16="http://schemas.microsoft.com/office/drawing/2014/main" id="{56394C31-2C4C-4A01-8496-F76044F4510E}"/>
              </a:ext>
            </a:extLst>
          </p:cNvPr>
          <p:cNvSpPr>
            <a:spLocks xmlns:a="http://schemas.openxmlformats.org/drawingml/2006/main" noGrp="1"/>
          </p:cNvSpPr>
          <p:nvPr/>
        </p:nvSpPr>
        <p:spPr>
          <a:xfrm xmlns:a="http://schemas.openxmlformats.org/drawingml/2006/main">
            <a:off x="0" y="0"/>
            <a:ext cx="12192000" cy="1809750"/>
          </a:xfrm>
          <a:prstGeom xmlns:a="http://schemas.openxmlformats.org/drawingml/2006/main" prst="rect">
            <a:avLst/>
          </a:prstGeom>
          <a:solidFill xmlns:a="http://schemas.openxmlformats.org/drawingml/2006/main">
            <a:srgbClr val="F5F6F2"/>
          </a:solidFill>
          <a:ln xmlns:a="http://schemas.openxmlformats.org/drawingml/2006/main" w="0">
            <a:solidFill>
              <a:srgbClr val="000000">
                <a:alpha val="0"/>
              </a:srgbClr>
            </a:solidFill>
            <a:prstDash val="solid"/>
          </a:ln>
        </p:spPr>
      </p:sp>
      <p:sp>
        <p:nvSpPr>
          <p:cNvPr id="41" name="">
            <a:extLst xmlns:a="http://schemas.openxmlformats.org/drawingml/2006/main">
              <a:ext uri="{FF2B5EF4-FFF2-40B4-BE49-F238E27FC236}">
                <a16:creationId xmlns:a16="http://schemas.microsoft.com/office/drawing/2014/main" id="{5D137907-BFA6-48C9-BF8B-5A28D5D7375F}"/>
              </a:ext>
            </a:extLst>
          </p:cNvPr>
          <p:cNvSpPr>
            <a:spLocks xmlns:a="http://schemas.openxmlformats.org/drawingml/2006/main" noGrp="1"/>
          </p:cNvSpPr>
          <p:nvPr/>
        </p:nvSpPr>
        <p:spPr>
          <a:xfrm xmlns:a="http://schemas.openxmlformats.org/drawingml/2006/main">
            <a:off x="0" y="0"/>
            <a:ext cx="171450" cy="1809750"/>
          </a:xfrm>
          <a:prstGeom xmlns:a="http://schemas.openxmlformats.org/drawingml/2006/main" prst="rect">
            <a:avLst/>
          </a:prstGeom>
          <a:solidFill xmlns:a="http://schemas.openxmlformats.org/drawingml/2006/main">
            <a:srgbClr val="12232B"/>
          </a:solidFill>
          <a:ln xmlns:a="http://schemas.openxmlformats.org/drawingml/2006/main" w="0">
            <a:solidFill>
              <a:srgbClr val="000000">
                <a:alpha val="0"/>
              </a:srgbClr>
            </a:solidFill>
            <a:prstDash val="solid"/>
          </a:ln>
        </p:spPr>
      </p:sp>
      <p:sp>
        <p:nvSpPr>
          <p:cNvPr id="42" name="">
            <a:extLst xmlns:a="http://schemas.openxmlformats.org/drawingml/2006/main">
              <a:ext uri="{FF2B5EF4-FFF2-40B4-BE49-F238E27FC236}">
                <a16:creationId xmlns:a16="http://schemas.microsoft.com/office/drawing/2014/main" id="{DD6FC0B7-9DDA-43A0-B784-6CB39A2898F1}"/>
              </a:ext>
            </a:extLst>
          </p:cNvPr>
          <p:cNvSpPr>
            <a:spLocks xmlns:a="http://schemas.openxmlformats.org/drawingml/2006/main" noGrp="1"/>
          </p:cNvSpPr>
          <p:nvPr/>
        </p:nvSpPr>
        <p:spPr>
          <a:xfrm xmlns:a="http://schemas.openxmlformats.org/drawingml/2006/main">
            <a:off x="171450" y="0"/>
            <a:ext cx="57150" cy="180975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43" name="kicker-04-marker">
            <a:extLst xmlns:a="http://schemas.openxmlformats.org/drawingml/2006/main">
              <a:ext uri="{FF2B5EF4-FFF2-40B4-BE49-F238E27FC236}">
                <a16:creationId xmlns:a16="http://schemas.microsoft.com/office/drawing/2014/main" id="{0F01E2F9-8418-4AF4-9B93-6B40D49CEF0A}"/>
              </a:ext>
            </a:extLst>
          </p:cNvPr>
          <p:cNvSpPr>
            <a:spLocks xmlns:a="http://schemas.openxmlformats.org/drawingml/2006/main" noGrp="1"/>
          </p:cNvSpPr>
          <p:nvPr/>
        </p:nvSpPr>
        <p:spPr>
          <a:xfrm xmlns:a="http://schemas.openxmlformats.org/drawingml/2006/main">
            <a:off x="514350" y="390525"/>
            <a:ext cx="76200" cy="762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44" name="kicker-04-label">
            <a:extLst xmlns:a="http://schemas.openxmlformats.org/drawingml/2006/main">
              <a:ext uri="{FF2B5EF4-FFF2-40B4-BE49-F238E27FC236}">
                <a16:creationId xmlns:a16="http://schemas.microsoft.com/office/drawing/2014/main" id="{B166748F-B271-4211-BB66-AF2718EDE302}"/>
              </a:ext>
            </a:extLst>
          </p:cNvPr>
          <p:cNvSpPr>
            <a:spLocks xmlns:a="http://schemas.openxmlformats.org/drawingml/2006/main" noGrp="1"/>
          </p:cNvSpPr>
          <p:nvPr/>
        </p:nvSpPr>
        <p:spPr>
          <a:xfrm xmlns:a="http://schemas.openxmlformats.org/drawingml/2006/main">
            <a:off x="685800" y="323850"/>
            <a:ext cx="75247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MODULE 1 / LESSON 04 / GROUP CRITIQUE</a:t>
            </a:r>
          </a:p>
        </p:txBody>
      </p:sp>
      <p:sp>
        <p:nvSpPr>
          <p:cNvPr id="45" name="">
            <a:extLst xmlns:a="http://schemas.openxmlformats.org/drawingml/2006/main">
              <a:ext uri="{FF2B5EF4-FFF2-40B4-BE49-F238E27FC236}">
                <a16:creationId xmlns:a16="http://schemas.microsoft.com/office/drawing/2014/main" id="{7E20DF26-9336-4CF8-BBE2-137D7FB37B2D}"/>
              </a:ext>
            </a:extLst>
          </p:cNvPr>
          <p:cNvSpPr>
            <a:spLocks xmlns:a="http://schemas.openxmlformats.org/drawingml/2006/main" noGrp="1"/>
          </p:cNvSpPr>
          <p:nvPr/>
        </p:nvSpPr>
        <p:spPr>
          <a:xfrm xmlns:a="http://schemas.openxmlformats.org/drawingml/2006/main">
            <a:off x="514350" y="704850"/>
            <a:ext cx="8096250" cy="666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250" b="1">
                <a:solidFill>
                  <a:srgbClr val="172026"/>
                </a:solidFill>
                <a:latin typeface="Aptos Display"/>
                <a:ea typeface="Aptos Display"/>
                <a:cs typeface="Aptos Display"/>
              </a:defRPr>
            </a:pPr>
            <a:r>
              <a:rPr sz="2250" b="1">
                <a:solidFill>
                  <a:srgbClr val="172026"/>
                </a:solidFill>
                <a:latin typeface="Aptos Display"/>
                <a:ea typeface="Aptos Display"/>
                <a:cs typeface="Aptos Display"/>
              </a:rPr>
              <a:t>Critique the operating decision, not the writing style.</a:t>
            </a:r>
          </a:p>
        </p:txBody>
      </p:sp>
      <p:sp>
        <p:nvSpPr>
          <p:cNvPr id="46" name="">
            <a:extLst xmlns:a="http://schemas.openxmlformats.org/drawingml/2006/main">
              <a:ext uri="{FF2B5EF4-FFF2-40B4-BE49-F238E27FC236}">
                <a16:creationId xmlns:a16="http://schemas.microsoft.com/office/drawing/2014/main" id="{B2658F3D-FB93-4892-9F2E-B8838CA9FCE9}"/>
              </a:ext>
            </a:extLst>
          </p:cNvPr>
          <p:cNvSpPr>
            <a:spLocks xmlns:a="http://schemas.openxmlformats.org/drawingml/2006/main" noGrp="1"/>
          </p:cNvSpPr>
          <p:nvPr/>
        </p:nvSpPr>
        <p:spPr>
          <a:xfrm xmlns:a="http://schemas.openxmlformats.org/drawingml/2006/main">
            <a:off x="514350" y="1314450"/>
            <a:ext cx="819150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59646A"/>
                </a:solidFill>
                <a:latin typeface="Aptos"/>
                <a:ea typeface="Aptos"/>
                <a:cs typeface="Aptos"/>
              </a:defRPr>
            </a:pPr>
            <a:r>
              <a:rPr sz="1125" b="0">
                <a:solidFill>
                  <a:srgbClr val="59646A"/>
                </a:solidFill>
                <a:latin typeface="Aptos"/>
                <a:ea typeface="Aptos"/>
                <a:cs typeface="Aptos"/>
              </a:rPr>
              <a:t>Peers should find one false assumption, missing proof need, or unclear owner.</a:t>
            </a:r>
          </a:p>
        </p:txBody>
      </p:sp>
      <p:sp>
        <p:nvSpPr>
          <p:cNvPr id="47" name="">
            <a:extLst xmlns:a="http://schemas.openxmlformats.org/drawingml/2006/main">
              <a:ext uri="{FF2B5EF4-FFF2-40B4-BE49-F238E27FC236}">
                <a16:creationId xmlns:a16="http://schemas.microsoft.com/office/drawing/2014/main" id="{FA314F3C-A538-4824-8B13-FDACB3D31313}"/>
              </a:ext>
            </a:extLst>
          </p:cNvPr>
          <p:cNvSpPr>
            <a:spLocks xmlns:a="http://schemas.openxmlformats.org/drawingml/2006/main" noGrp="1"/>
          </p:cNvSpPr>
          <p:nvPr/>
        </p:nvSpPr>
        <p:spPr>
          <a:xfrm xmlns:a="http://schemas.openxmlformats.org/drawingml/2006/main">
            <a:off x="0" y="6400800"/>
            <a:ext cx="12192000" cy="457200"/>
          </a:xfrm>
          <a:prstGeom xmlns:a="http://schemas.openxmlformats.org/drawingml/2006/main" prst="rect">
            <a:avLst/>
          </a:prstGeom>
          <a:solidFill xmlns:a="http://schemas.openxmlformats.org/drawingml/2006/main">
            <a:srgbClr val="F5F6F2"/>
          </a:solidFill>
          <a:ln xmlns:a="http://schemas.openxmlformats.org/drawingml/2006/main" w="0">
            <a:solidFill>
              <a:srgbClr val="000000">
                <a:alpha val="0"/>
              </a:srgbClr>
            </a:solidFill>
            <a:prstDash val="solid"/>
          </a:ln>
        </p:spPr>
      </p:sp>
      <p:sp>
        <p:nvSpPr>
          <p:cNvPr id="48" name="">
            <a:extLst xmlns:a="http://schemas.openxmlformats.org/drawingml/2006/main">
              <a:ext uri="{FF2B5EF4-FFF2-40B4-BE49-F238E27FC236}">
                <a16:creationId xmlns:a16="http://schemas.microsoft.com/office/drawing/2014/main" id="{B6B32EC5-EE3E-4D1A-9BD3-BC79E0E25B21}"/>
              </a:ext>
            </a:extLst>
          </p:cNvPr>
          <p:cNvSpPr>
            <a:spLocks xmlns:a="http://schemas.openxmlformats.org/drawingml/2006/main" noGrp="1"/>
          </p:cNvSpPr>
          <p:nvPr/>
        </p:nvSpPr>
        <p:spPr>
          <a:xfrm xmlns:a="http://schemas.openxmlformats.org/drawingml/2006/main">
            <a:off x="0" y="6400800"/>
            <a:ext cx="171450" cy="457200"/>
          </a:xfrm>
          <a:prstGeom xmlns:a="http://schemas.openxmlformats.org/drawingml/2006/main" prst="rect">
            <a:avLst/>
          </a:prstGeom>
          <a:solidFill xmlns:a="http://schemas.openxmlformats.org/drawingml/2006/main">
            <a:srgbClr val="12232B"/>
          </a:solidFill>
          <a:ln xmlns:a="http://schemas.openxmlformats.org/drawingml/2006/main" w="0">
            <a:solidFill>
              <a:srgbClr val="000000">
                <a:alpha val="0"/>
              </a:srgbClr>
            </a:solidFill>
            <a:prstDash val="solid"/>
          </a:ln>
        </p:spPr>
      </p:sp>
      <p:sp>
        <p:nvSpPr>
          <p:cNvPr id="49" name="">
            <a:extLst xmlns:a="http://schemas.openxmlformats.org/drawingml/2006/main">
              <a:ext uri="{FF2B5EF4-FFF2-40B4-BE49-F238E27FC236}">
                <a16:creationId xmlns:a16="http://schemas.microsoft.com/office/drawing/2014/main" id="{5390A979-0039-49AA-9488-69AB3211A7FB}"/>
              </a:ext>
            </a:extLst>
          </p:cNvPr>
          <p:cNvSpPr>
            <a:spLocks xmlns:a="http://schemas.openxmlformats.org/drawingml/2006/main" noGrp="1"/>
          </p:cNvSpPr>
          <p:nvPr/>
        </p:nvSpPr>
        <p:spPr>
          <a:xfrm xmlns:a="http://schemas.openxmlformats.org/drawingml/2006/main">
            <a:off x="171450" y="6400800"/>
            <a:ext cx="57150" cy="4572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50" name="">
            <a:extLst xmlns:a="http://schemas.openxmlformats.org/drawingml/2006/main">
              <a:ext uri="{FF2B5EF4-FFF2-40B4-BE49-F238E27FC236}">
                <a16:creationId xmlns:a16="http://schemas.microsoft.com/office/drawing/2014/main" id="{5A23DB0A-EE17-4913-8E1D-CDE8DD1B295F}"/>
              </a:ext>
            </a:extLst>
          </p:cNvPr>
          <p:cNvSpPr>
            <a:spLocks xmlns:a="http://schemas.openxmlformats.org/drawingml/2006/main" noGrp="1"/>
          </p:cNvSpPr>
          <p:nvPr/>
        </p:nvSpPr>
        <p:spPr>
          <a:xfrm xmlns:a="http://schemas.openxmlformats.org/drawingml/2006/main">
            <a:off x="514350" y="6438900"/>
            <a:ext cx="1091565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51" name="">
            <a:extLst xmlns:a="http://schemas.openxmlformats.org/drawingml/2006/main">
              <a:ext uri="{FF2B5EF4-FFF2-40B4-BE49-F238E27FC236}">
                <a16:creationId xmlns:a16="http://schemas.microsoft.com/office/drawing/2014/main" id="{62648D89-D97F-49B0-8FD7-89AC3FD7A6B1}"/>
              </a:ext>
            </a:extLst>
          </p:cNvPr>
          <p:cNvSpPr>
            <a:spLocks xmlns:a="http://schemas.openxmlformats.org/drawingml/2006/main" noGrp="1"/>
          </p:cNvSpPr>
          <p:nvPr/>
        </p:nvSpPr>
        <p:spPr>
          <a:xfrm xmlns:a="http://schemas.openxmlformats.org/drawingml/2006/main">
            <a:off x="514350" y="6553200"/>
            <a:ext cx="590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59646A"/>
                </a:solidFill>
                <a:latin typeface="Aptos"/>
                <a:ea typeface="Aptos"/>
                <a:cs typeface="Aptos"/>
              </a:defRPr>
            </a:pPr>
            <a:r>
              <a:rPr sz="675" b="0">
                <a:solidFill>
                  <a:srgbClr val="59646A"/>
                </a:solidFill>
                <a:latin typeface="Aptos"/>
                <a:ea typeface="Aptos"/>
                <a:cs typeface="Aptos"/>
              </a:rPr>
              <a:t>Lesson 04 - MOIN: Map Of Informational Needs</a:t>
            </a:r>
          </a:p>
        </p:txBody>
      </p:sp>
      <p:sp>
        <p:nvSpPr>
          <p:cNvPr id="52" name="">
            <a:extLst xmlns:a="http://schemas.openxmlformats.org/drawingml/2006/main">
              <a:ext uri="{FF2B5EF4-FFF2-40B4-BE49-F238E27FC236}">
                <a16:creationId xmlns:a16="http://schemas.microsoft.com/office/drawing/2014/main" id="{BCAC9DEE-9CCE-4F79-92DB-C7F312E4F07A}"/>
              </a:ext>
            </a:extLst>
          </p:cNvPr>
          <p:cNvSpPr>
            <a:spLocks xmlns:a="http://schemas.openxmlformats.org/drawingml/2006/main" noGrp="1"/>
          </p:cNvSpPr>
          <p:nvPr/>
        </p:nvSpPr>
        <p:spPr>
          <a:xfrm xmlns:a="http://schemas.openxmlformats.org/drawingml/2006/main">
            <a:off x="5334000" y="6553200"/>
            <a:ext cx="4095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00" b="0">
                <a:solidFill>
                  <a:srgbClr val="59646A"/>
                </a:solidFill>
                <a:latin typeface="Aptos"/>
                <a:ea typeface="Aptos"/>
                <a:cs typeface="Aptos"/>
              </a:defRPr>
            </a:pPr>
            <a:r>
              <a:rPr sz="600" b="0">
                <a:solidFill>
                  <a:srgbClr val="59646A"/>
                </a:solidFill>
                <a:latin typeface="Aptos"/>
                <a:ea typeface="Aptos"/>
                <a:cs typeface="Aptos"/>
              </a:rPr>
              <a:t>Source: modules/module-01-industrial-demand-generation/lessons/04-moin-map-of-informational-needs.md @ 9e28222</a:t>
            </a:r>
          </a:p>
        </p:txBody>
      </p:sp>
      <p:sp>
        <p:nvSpPr>
          <p:cNvPr id="53" name="">
            <a:extLst xmlns:a="http://schemas.openxmlformats.org/drawingml/2006/main">
              <a:ext uri="{FF2B5EF4-FFF2-40B4-BE49-F238E27FC236}">
                <a16:creationId xmlns:a16="http://schemas.microsoft.com/office/drawing/2014/main" id="{3958A2A7-FB15-427C-BE5D-FF8CFF203B1A}"/>
              </a:ext>
            </a:extLst>
          </p:cNvPr>
          <p:cNvSpPr>
            <a:spLocks xmlns:a="http://schemas.openxmlformats.org/drawingml/2006/main" noGrp="1"/>
          </p:cNvSpPr>
          <p:nvPr/>
        </p:nvSpPr>
        <p:spPr>
          <a:xfrm xmlns:a="http://schemas.openxmlformats.org/drawingml/2006/main">
            <a:off x="10668000" y="6553200"/>
            <a:ext cx="762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75" b="0">
                <a:solidFill>
                  <a:srgbClr val="59646A"/>
                </a:solidFill>
                <a:latin typeface="Aptos"/>
                <a:ea typeface="Aptos"/>
                <a:cs typeface="Aptos"/>
              </a:defRPr>
            </a:pPr>
            <a:r>
              <a:rPr sz="675" b="0">
                <a:solidFill>
                  <a:srgbClr val="59646A"/>
                </a:solidFill>
                <a:latin typeface="Aptos"/>
                <a:ea typeface="Aptos"/>
                <a:cs typeface="Aptos"/>
              </a:rPr>
              <a:t>9/15</a:t>
            </a:r>
          </a:p>
        </p:txBody>
      </p:sp>
    </p:spTree>
    <p:extLst>
      <p:ext uri="{BB962C8B-B14F-4D97-AF65-F5344CB8AC3E}">
        <p14:creationId xmlns:p14="http://schemas.microsoft.com/office/powerpoint/2010/main" val="688166367"/>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1F0C56D0-EEA3-4AF7-BFEC-2851BBB618AD}"/>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6F2"/>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A8C2D8D6-BC2D-4DF3-882F-B54E85DEAC31}"/>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12232B"/>
          </a:solidFill>
          <a:ln xmlns:a="http://schemas.openxmlformats.org/drawingml/2006/main" w="0">
            <a:solidFill>
              <a:srgbClr val="000000">
                <a:alpha val="0"/>
              </a:srgbClr>
            </a:solidFill>
            <a:prstDash val="solid"/>
          </a:ln>
        </p:spPr>
      </p:sp>
      <p:sp>
        <p:nvSpPr>
          <p:cNvPr id="3" name="">
            <a:extLst xmlns:a="http://schemas.openxmlformats.org/drawingml/2006/main">
              <a:ext uri="{FF2B5EF4-FFF2-40B4-BE49-F238E27FC236}">
                <a16:creationId xmlns:a16="http://schemas.microsoft.com/office/drawing/2014/main" id="{5CBE87BC-0CEF-4F7B-8A5C-F7156A1AB864}"/>
              </a:ext>
            </a:extLst>
          </p:cNvPr>
          <p:cNvSpPr>
            <a:spLocks xmlns:a="http://schemas.openxmlformats.org/drawingml/2006/main" noGrp="1"/>
          </p:cNvSpPr>
          <p:nvPr/>
        </p:nvSpPr>
        <p:spPr>
          <a:xfrm xmlns:a="http://schemas.openxmlformats.org/drawingml/2006/main">
            <a:off x="171450" y="0"/>
            <a:ext cx="57150" cy="68580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4" name="kicker-04-marker">
            <a:extLst xmlns:a="http://schemas.openxmlformats.org/drawingml/2006/main">
              <a:ext uri="{FF2B5EF4-FFF2-40B4-BE49-F238E27FC236}">
                <a16:creationId xmlns:a16="http://schemas.microsoft.com/office/drawing/2014/main" id="{B04A39DE-9D6A-4844-85E6-8322FFBAF68C}"/>
              </a:ext>
            </a:extLst>
          </p:cNvPr>
          <p:cNvSpPr>
            <a:spLocks xmlns:a="http://schemas.openxmlformats.org/drawingml/2006/main" noGrp="1"/>
          </p:cNvSpPr>
          <p:nvPr/>
        </p:nvSpPr>
        <p:spPr>
          <a:xfrm xmlns:a="http://schemas.openxmlformats.org/drawingml/2006/main">
            <a:off x="514350" y="390525"/>
            <a:ext cx="76200" cy="762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5" name="kicker-04-label">
            <a:extLst xmlns:a="http://schemas.openxmlformats.org/drawingml/2006/main">
              <a:ext uri="{FF2B5EF4-FFF2-40B4-BE49-F238E27FC236}">
                <a16:creationId xmlns:a16="http://schemas.microsoft.com/office/drawing/2014/main" id="{EE260C20-588A-4599-BFC0-611602A5B4A4}"/>
              </a:ext>
            </a:extLst>
          </p:cNvPr>
          <p:cNvSpPr>
            <a:spLocks xmlns:a="http://schemas.openxmlformats.org/drawingml/2006/main" noGrp="1"/>
          </p:cNvSpPr>
          <p:nvPr/>
        </p:nvSpPr>
        <p:spPr>
          <a:xfrm xmlns:a="http://schemas.openxmlformats.org/drawingml/2006/main">
            <a:off x="685800" y="323850"/>
            <a:ext cx="75247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MODULE 1 / LESSON 04 / AI-ASSISTED EXERCISE</a:t>
            </a:r>
          </a:p>
        </p:txBody>
      </p:sp>
      <p:sp>
        <p:nvSpPr>
          <p:cNvPr id="6" name="">
            <a:extLst xmlns:a="http://schemas.openxmlformats.org/drawingml/2006/main">
              <a:ext uri="{FF2B5EF4-FFF2-40B4-BE49-F238E27FC236}">
                <a16:creationId xmlns:a16="http://schemas.microsoft.com/office/drawing/2014/main" id="{F8153CA1-4922-43C6-BFFB-95A992A07539}"/>
              </a:ext>
            </a:extLst>
          </p:cNvPr>
          <p:cNvSpPr>
            <a:spLocks xmlns:a="http://schemas.openxmlformats.org/drawingml/2006/main" noGrp="1"/>
          </p:cNvSpPr>
          <p:nvPr/>
        </p:nvSpPr>
        <p:spPr>
          <a:xfrm xmlns:a="http://schemas.openxmlformats.org/drawingml/2006/main">
            <a:off x="514350" y="704850"/>
            <a:ext cx="8096250" cy="666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250" b="1">
                <a:solidFill>
                  <a:srgbClr val="172026"/>
                </a:solidFill>
                <a:latin typeface="Aptos Display"/>
                <a:ea typeface="Aptos Display"/>
                <a:cs typeface="Aptos Display"/>
              </a:defRPr>
            </a:pPr>
            <a:r>
              <a:rPr sz="2250" b="1">
                <a:solidFill>
                  <a:srgbClr val="172026"/>
                </a:solidFill>
                <a:latin typeface="Aptos Display"/>
                <a:ea typeface="Aptos Display"/>
                <a:cs typeface="Aptos Display"/>
              </a:rPr>
              <a:t>Use AI to structure the attempt, then make humans responsible for judgment.</a:t>
            </a:r>
          </a:p>
        </p:txBody>
      </p:sp>
      <p:sp>
        <p:nvSpPr>
          <p:cNvPr id="7" name="">
            <a:extLst xmlns:a="http://schemas.openxmlformats.org/drawingml/2006/main">
              <a:ext uri="{FF2B5EF4-FFF2-40B4-BE49-F238E27FC236}">
                <a16:creationId xmlns:a16="http://schemas.microsoft.com/office/drawing/2014/main" id="{8EE8822B-5A8B-4CDC-977A-2113F4FADEF8}"/>
              </a:ext>
            </a:extLst>
          </p:cNvPr>
          <p:cNvSpPr>
            <a:spLocks xmlns:a="http://schemas.openxmlformats.org/drawingml/2006/main" noGrp="1"/>
          </p:cNvSpPr>
          <p:nvPr/>
        </p:nvSpPr>
        <p:spPr>
          <a:xfrm xmlns:a="http://schemas.openxmlformats.org/drawingml/2006/main">
            <a:off x="514350" y="1314450"/>
            <a:ext cx="819150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59646A"/>
                </a:solidFill>
                <a:latin typeface="Aptos"/>
                <a:ea typeface="Aptos"/>
                <a:cs typeface="Aptos"/>
              </a:defRPr>
            </a:pPr>
            <a:r>
              <a:rPr sz="1125" b="0">
                <a:solidFill>
                  <a:srgbClr val="59646A"/>
                </a:solidFill>
                <a:latin typeface="Aptos"/>
                <a:ea typeface="Aptos"/>
                <a:cs typeface="Aptos"/>
              </a:rPr>
              <a:t>The prompt is constrained by source, assumptions, output standard, and human validation.</a:t>
            </a:r>
          </a:p>
        </p:txBody>
      </p:sp>
      <p:sp>
        <p:nvSpPr>
          <p:cNvPr id="8" name="">
            <a:extLst xmlns:a="http://schemas.openxmlformats.org/drawingml/2006/main">
              <a:ext uri="{FF2B5EF4-FFF2-40B4-BE49-F238E27FC236}">
                <a16:creationId xmlns:a16="http://schemas.microsoft.com/office/drawing/2014/main" id="{47532F3A-21D6-4395-B73E-B8D8382ADA98}"/>
              </a:ext>
            </a:extLst>
          </p:cNvPr>
          <p:cNvSpPr>
            <a:spLocks xmlns:a="http://schemas.openxmlformats.org/drawingml/2006/main" noGrp="1"/>
          </p:cNvSpPr>
          <p:nvPr/>
        </p:nvSpPr>
        <p:spPr>
          <a:xfrm xmlns:a="http://schemas.openxmlformats.org/drawingml/2006/main">
            <a:off x="514350" y="6438900"/>
            <a:ext cx="1091565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E36B01C8-77BF-41FD-A9F3-57C20859F951}"/>
              </a:ext>
            </a:extLst>
          </p:cNvPr>
          <p:cNvSpPr>
            <a:spLocks xmlns:a="http://schemas.openxmlformats.org/drawingml/2006/main" noGrp="1"/>
          </p:cNvSpPr>
          <p:nvPr/>
        </p:nvSpPr>
        <p:spPr>
          <a:xfrm xmlns:a="http://schemas.openxmlformats.org/drawingml/2006/main">
            <a:off x="514350" y="6553200"/>
            <a:ext cx="590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59646A"/>
                </a:solidFill>
                <a:latin typeface="Aptos"/>
                <a:ea typeface="Aptos"/>
                <a:cs typeface="Aptos"/>
              </a:defRPr>
            </a:pPr>
            <a:r>
              <a:rPr sz="675" b="0">
                <a:solidFill>
                  <a:srgbClr val="59646A"/>
                </a:solidFill>
                <a:latin typeface="Aptos"/>
                <a:ea typeface="Aptos"/>
                <a:cs typeface="Aptos"/>
              </a:rPr>
              <a:t>Lesson 04 - MOIN: Map Of Informational Needs</a:t>
            </a:r>
          </a:p>
        </p:txBody>
      </p:sp>
      <p:sp>
        <p:nvSpPr>
          <p:cNvPr id="10" name="">
            <a:extLst xmlns:a="http://schemas.openxmlformats.org/drawingml/2006/main">
              <a:ext uri="{FF2B5EF4-FFF2-40B4-BE49-F238E27FC236}">
                <a16:creationId xmlns:a16="http://schemas.microsoft.com/office/drawing/2014/main" id="{90B111F4-7683-4D56-8590-7BC585B33E55}"/>
              </a:ext>
            </a:extLst>
          </p:cNvPr>
          <p:cNvSpPr>
            <a:spLocks xmlns:a="http://schemas.openxmlformats.org/drawingml/2006/main" noGrp="1"/>
          </p:cNvSpPr>
          <p:nvPr/>
        </p:nvSpPr>
        <p:spPr>
          <a:xfrm xmlns:a="http://schemas.openxmlformats.org/drawingml/2006/main">
            <a:off x="5334000" y="6553200"/>
            <a:ext cx="4095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00" b="0">
                <a:solidFill>
                  <a:srgbClr val="59646A"/>
                </a:solidFill>
                <a:latin typeface="Aptos"/>
                <a:ea typeface="Aptos"/>
                <a:cs typeface="Aptos"/>
              </a:defRPr>
            </a:pPr>
            <a:r>
              <a:rPr sz="600" b="0">
                <a:solidFill>
                  <a:srgbClr val="59646A"/>
                </a:solidFill>
                <a:latin typeface="Aptos"/>
                <a:ea typeface="Aptos"/>
                <a:cs typeface="Aptos"/>
              </a:rPr>
              <a:t>Source: modules/module-01-industrial-demand-generation/lessons/04-moin-map-of-informational-needs.md @ 9e28222</a:t>
            </a:r>
          </a:p>
        </p:txBody>
      </p:sp>
      <p:sp>
        <p:nvSpPr>
          <p:cNvPr id="11" name="">
            <a:extLst xmlns:a="http://schemas.openxmlformats.org/drawingml/2006/main">
              <a:ext uri="{FF2B5EF4-FFF2-40B4-BE49-F238E27FC236}">
                <a16:creationId xmlns:a16="http://schemas.microsoft.com/office/drawing/2014/main" id="{78B7ECA5-6AFD-4130-A5AE-7240D078C963}"/>
              </a:ext>
            </a:extLst>
          </p:cNvPr>
          <p:cNvSpPr>
            <a:spLocks xmlns:a="http://schemas.openxmlformats.org/drawingml/2006/main" noGrp="1"/>
          </p:cNvSpPr>
          <p:nvPr/>
        </p:nvSpPr>
        <p:spPr>
          <a:xfrm xmlns:a="http://schemas.openxmlformats.org/drawingml/2006/main">
            <a:off x="10668000" y="6553200"/>
            <a:ext cx="762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75" b="0">
                <a:solidFill>
                  <a:srgbClr val="59646A"/>
                </a:solidFill>
                <a:latin typeface="Aptos"/>
                <a:ea typeface="Aptos"/>
                <a:cs typeface="Aptos"/>
              </a:defRPr>
            </a:pPr>
            <a:r>
              <a:rPr sz="675" b="0">
                <a:solidFill>
                  <a:srgbClr val="59646A"/>
                </a:solidFill>
                <a:latin typeface="Aptos"/>
                <a:ea typeface="Aptos"/>
                <a:cs typeface="Aptos"/>
              </a:rPr>
              <a:t>10/15</a:t>
            </a:r>
          </a:p>
        </p:txBody>
      </p:sp>
      <p:sp>
        <p:nvSpPr>
          <p:cNvPr id="12" name="">
            <a:extLst xmlns:a="http://schemas.openxmlformats.org/drawingml/2006/main">
              <a:ext uri="{FF2B5EF4-FFF2-40B4-BE49-F238E27FC236}">
                <a16:creationId xmlns:a16="http://schemas.microsoft.com/office/drawing/2014/main" id="{3716860E-9F98-469F-B02C-671AB1806ED6}"/>
              </a:ext>
            </a:extLst>
          </p:cNvPr>
          <p:cNvSpPr>
            <a:spLocks xmlns:a="http://schemas.openxmlformats.org/drawingml/2006/main" noGrp="1"/>
          </p:cNvSpPr>
          <p:nvPr/>
        </p:nvSpPr>
        <p:spPr>
          <a:xfrm xmlns:a="http://schemas.openxmlformats.org/drawingml/2006/main">
            <a:off x="228600" y="1809750"/>
            <a:ext cx="11963400" cy="4591050"/>
          </a:xfrm>
          <a:prstGeom xmlns:a="http://schemas.openxmlformats.org/drawingml/2006/main" prst="rect">
            <a:avLst/>
          </a:prstGeom>
          <a:solidFill xmlns:a="http://schemas.openxmlformats.org/drawingml/2006/main">
            <a:srgbClr val="F5F6F2"/>
          </a:solidFill>
          <a:ln xmlns:a="http://schemas.openxmlformats.org/drawingml/2006/main" w="0">
            <a:solidFill>
              <a:srgbClr val="000000">
                <a:alpha val="0"/>
              </a:srgbClr>
            </a:solidFill>
            <a:prstDash val="solid"/>
          </a:ln>
        </p:spPr>
      </p:sp>
      <p:sp>
        <p:nvSpPr>
          <p:cNvPr id="13" name="">
            <a:extLst xmlns:a="http://schemas.openxmlformats.org/drawingml/2006/main">
              <a:ext uri="{FF2B5EF4-FFF2-40B4-BE49-F238E27FC236}">
                <a16:creationId xmlns:a16="http://schemas.microsoft.com/office/drawing/2014/main" id="{F6F059C9-8DDE-4C06-AF63-9E9CFD02CB54}"/>
              </a:ext>
            </a:extLst>
          </p:cNvPr>
          <p:cNvSpPr>
            <a:spLocks xmlns:a="http://schemas.openxmlformats.org/drawingml/2006/main" noGrp="1"/>
          </p:cNvSpPr>
          <p:nvPr/>
        </p:nvSpPr>
        <p:spPr>
          <a:xfrm xmlns:a="http://schemas.openxmlformats.org/drawingml/2006/main">
            <a:off x="228600" y="1809750"/>
            <a:ext cx="6096000" cy="4591050"/>
          </a:xfrm>
          <a:prstGeom xmlns:a="http://schemas.openxmlformats.org/drawingml/2006/main" prst="rect">
            <a:avLst/>
          </a:prstGeom>
          <a:solidFill xmlns:a="http://schemas.openxmlformats.org/drawingml/2006/main">
            <a:srgbClr val="12232B"/>
          </a:solidFill>
          <a:ln xmlns:a="http://schemas.openxmlformats.org/drawingml/2006/main" w="9525">
            <a:solidFill>
              <a:srgbClr val="12232B"/>
            </a:solidFill>
            <a:prstDash val="solid"/>
          </a:ln>
        </p:spPr>
      </p:sp>
      <p:sp>
        <p:nvSpPr>
          <p:cNvPr id="14" name="">
            <a:extLst xmlns:a="http://schemas.openxmlformats.org/drawingml/2006/main">
              <a:ext uri="{FF2B5EF4-FFF2-40B4-BE49-F238E27FC236}">
                <a16:creationId xmlns:a16="http://schemas.microsoft.com/office/drawing/2014/main" id="{E76F2673-B903-4ACD-823A-3327B80B9A63}"/>
              </a:ext>
            </a:extLst>
          </p:cNvPr>
          <p:cNvSpPr>
            <a:spLocks xmlns:a="http://schemas.openxmlformats.org/drawingml/2006/main" noGrp="1"/>
          </p:cNvSpPr>
          <p:nvPr/>
        </p:nvSpPr>
        <p:spPr>
          <a:xfrm xmlns:a="http://schemas.openxmlformats.org/drawingml/2006/main">
            <a:off x="609600" y="2266950"/>
            <a:ext cx="266700" cy="19050"/>
          </a:xfrm>
          <a:prstGeom xmlns:a="http://schemas.openxmlformats.org/drawingml/2006/main" prst="rect">
            <a:avLst/>
          </a:prstGeom>
          <a:solidFill xmlns:a="http://schemas.openxmlformats.org/drawingml/2006/main">
            <a:srgbClr val="B7953B"/>
          </a:solidFill>
          <a:ln xmlns:a="http://schemas.openxmlformats.org/drawingml/2006/main" w="0">
            <a:solidFill>
              <a:srgbClr val="000000">
                <a:alpha val="0"/>
              </a:srgbClr>
            </a:solidFill>
            <a:prstDash val="solid"/>
          </a:ln>
        </p:spPr>
      </p:sp>
      <p:sp>
        <p:nvSpPr>
          <p:cNvPr id="15" name="">
            <a:extLst xmlns:a="http://schemas.openxmlformats.org/drawingml/2006/main">
              <a:ext uri="{FF2B5EF4-FFF2-40B4-BE49-F238E27FC236}">
                <a16:creationId xmlns:a16="http://schemas.microsoft.com/office/drawing/2014/main" id="{B91ADFE8-73F1-4E6E-AF04-065A0FB7C280}"/>
              </a:ext>
            </a:extLst>
          </p:cNvPr>
          <p:cNvSpPr>
            <a:spLocks xmlns:a="http://schemas.openxmlformats.org/drawingml/2006/main" noGrp="1"/>
          </p:cNvSpPr>
          <p:nvPr/>
        </p:nvSpPr>
        <p:spPr>
          <a:xfrm xmlns:a="http://schemas.openxmlformats.org/drawingml/2006/main">
            <a:off x="971550" y="2190750"/>
            <a:ext cx="2476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PROMPT TO GIVE AI</a:t>
            </a:r>
          </a:p>
        </p:txBody>
      </p:sp>
      <p:sp>
        <p:nvSpPr>
          <p:cNvPr id="16" name="">
            <a:extLst xmlns:a="http://schemas.openxmlformats.org/drawingml/2006/main">
              <a:ext uri="{FF2B5EF4-FFF2-40B4-BE49-F238E27FC236}">
                <a16:creationId xmlns:a16="http://schemas.microsoft.com/office/drawing/2014/main" id="{B649C641-CAA6-496C-A3F4-940A70DCEA91}"/>
              </a:ext>
            </a:extLst>
          </p:cNvPr>
          <p:cNvSpPr>
            <a:spLocks xmlns:a="http://schemas.openxmlformats.org/drawingml/2006/main" noGrp="1"/>
          </p:cNvSpPr>
          <p:nvPr/>
        </p:nvSpPr>
        <p:spPr>
          <a:xfrm xmlns:a="http://schemas.openxmlformats.org/drawingml/2006/main">
            <a:off x="609600" y="2647950"/>
            <a:ext cx="5048250" cy="2190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FFFFFF"/>
                </a:solidFill>
                <a:latin typeface="Aptos"/>
                <a:ea typeface="Aptos"/>
                <a:cs typeface="Aptos"/>
              </a:defRPr>
            </a:pPr>
            <a:r>
              <a:rPr sz="1125" b="0">
                <a:solidFill>
                  <a:srgbClr val="FFFFFF"/>
                </a:solidFill>
                <a:latin typeface="Aptos"/>
                <a:ea typeface="Aptos"/>
                <a:cs typeface="Aptos"/>
              </a:rPr>
              <a:t>Create or repair a MOIN grid for the selected ICP. Separate buyer questions by role and demand state. Recommend assets, sales use, RevOps signal meaning, assumptions, and human validation questions. Avoid generic content topics and vendor-demand claims before buyer belief exists.</a:t>
            </a:r>
          </a:p>
        </p:txBody>
      </p:sp>
      <p:sp>
        <p:nvSpPr>
          <p:cNvPr id="17" name="">
            <a:extLst xmlns:a="http://schemas.openxmlformats.org/drawingml/2006/main">
              <a:ext uri="{FF2B5EF4-FFF2-40B4-BE49-F238E27FC236}">
                <a16:creationId xmlns:a16="http://schemas.microsoft.com/office/drawing/2014/main" id="{A296E271-B4CA-4F6C-BCF7-4DAD49A40093}"/>
              </a:ext>
            </a:extLst>
          </p:cNvPr>
          <p:cNvSpPr>
            <a:spLocks xmlns:a="http://schemas.openxmlformats.org/drawingml/2006/main" noGrp="1"/>
          </p:cNvSpPr>
          <p:nvPr/>
        </p:nvSpPr>
        <p:spPr>
          <a:xfrm xmlns:a="http://schemas.openxmlformats.org/drawingml/2006/main">
            <a:off x="6324600" y="1809750"/>
            <a:ext cx="5867400" cy="4591050"/>
          </a:xfrm>
          <a:prstGeom xmlns:a="http://schemas.openxmlformats.org/drawingml/2006/main" prst="rect">
            <a:avLst/>
          </a:prstGeom>
          <a:solidFill xmlns:a="http://schemas.openxmlformats.org/drawingml/2006/main">
            <a:srgbClr val="FFFFFF"/>
          </a:solidFill>
          <a:ln xmlns:a="http://schemas.openxmlformats.org/drawingml/2006/main" w="9525">
            <a:solidFill>
              <a:srgbClr val="D9DDD6"/>
            </a:solidFill>
            <a:prstDash val="solid"/>
          </a:ln>
        </p:spPr>
      </p:sp>
      <p:sp>
        <p:nvSpPr>
          <p:cNvPr id="18" name="">
            <a:extLst xmlns:a="http://schemas.openxmlformats.org/drawingml/2006/main">
              <a:ext uri="{FF2B5EF4-FFF2-40B4-BE49-F238E27FC236}">
                <a16:creationId xmlns:a16="http://schemas.microsoft.com/office/drawing/2014/main" id="{3F632B92-4894-4D0A-A4FD-A4C5E7799ADB}"/>
              </a:ext>
            </a:extLst>
          </p:cNvPr>
          <p:cNvSpPr>
            <a:spLocks xmlns:a="http://schemas.openxmlformats.org/drawingml/2006/main" noGrp="1"/>
          </p:cNvSpPr>
          <p:nvPr/>
        </p:nvSpPr>
        <p:spPr>
          <a:xfrm xmlns:a="http://schemas.openxmlformats.org/drawingml/2006/main">
            <a:off x="6705600" y="2266950"/>
            <a:ext cx="266700" cy="19050"/>
          </a:xfrm>
          <a:prstGeom xmlns:a="http://schemas.openxmlformats.org/drawingml/2006/main" prst="rect">
            <a:avLst/>
          </a:prstGeom>
          <a:solidFill xmlns:a="http://schemas.openxmlformats.org/drawingml/2006/main">
            <a:srgbClr val="1D6072"/>
          </a:solidFill>
          <a:ln xmlns:a="http://schemas.openxmlformats.org/drawingml/2006/main" w="0">
            <a:solidFill>
              <a:srgbClr val="000000">
                <a:alpha val="0"/>
              </a:srgbClr>
            </a:solidFill>
            <a:prstDash val="solid"/>
          </a:ln>
        </p:spPr>
      </p:sp>
      <p:sp>
        <p:nvSpPr>
          <p:cNvPr id="19" name="">
            <a:extLst xmlns:a="http://schemas.openxmlformats.org/drawingml/2006/main">
              <a:ext uri="{FF2B5EF4-FFF2-40B4-BE49-F238E27FC236}">
                <a16:creationId xmlns:a16="http://schemas.microsoft.com/office/drawing/2014/main" id="{A6B66230-163C-4E0F-B8E5-EFF7AA5961FB}"/>
              </a:ext>
            </a:extLst>
          </p:cNvPr>
          <p:cNvSpPr>
            <a:spLocks xmlns:a="http://schemas.openxmlformats.org/drawingml/2006/main" noGrp="1"/>
          </p:cNvSpPr>
          <p:nvPr/>
        </p:nvSpPr>
        <p:spPr>
          <a:xfrm xmlns:a="http://schemas.openxmlformats.org/drawingml/2006/main">
            <a:off x="7067550" y="2190750"/>
            <a:ext cx="2476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REQUIRED OUTPUT STANDARD</a:t>
            </a:r>
          </a:p>
        </p:txBody>
      </p:sp>
      <p:sp>
        <p:nvSpPr>
          <p:cNvPr id="20" name="">
            <a:extLst xmlns:a="http://schemas.openxmlformats.org/drawingml/2006/main">
              <a:ext uri="{FF2B5EF4-FFF2-40B4-BE49-F238E27FC236}">
                <a16:creationId xmlns:a16="http://schemas.microsoft.com/office/drawing/2014/main" id="{6B778581-7A83-492C-A71A-DD76FD2DBB20}"/>
              </a:ext>
            </a:extLst>
          </p:cNvPr>
          <p:cNvSpPr>
            <a:spLocks xmlns:a="http://schemas.openxmlformats.org/drawingml/2006/main" noGrp="1"/>
          </p:cNvSpPr>
          <p:nvPr/>
        </p:nvSpPr>
        <p:spPr>
          <a:xfrm xmlns:a="http://schemas.openxmlformats.org/drawingml/2006/main">
            <a:off x="6705600" y="2714625"/>
            <a:ext cx="57150" cy="57150"/>
          </a:xfrm>
          <a:prstGeom xmlns:a="http://schemas.openxmlformats.org/drawingml/2006/main" prst="rect">
            <a:avLst/>
          </a:prstGeom>
          <a:solidFill xmlns:a="http://schemas.openxmlformats.org/drawingml/2006/main">
            <a:srgbClr val="1D6072"/>
          </a:solidFill>
          <a:ln xmlns:a="http://schemas.openxmlformats.org/drawingml/2006/main" w="0">
            <a:solidFill>
              <a:srgbClr val="000000">
                <a:alpha val="0"/>
              </a:srgbClr>
            </a:solidFill>
            <a:prstDash val="solid"/>
          </a:ln>
        </p:spPr>
      </p:sp>
      <p:sp>
        <p:nvSpPr>
          <p:cNvPr id="21" name="">
            <a:extLst xmlns:a="http://schemas.openxmlformats.org/drawingml/2006/main">
              <a:ext uri="{FF2B5EF4-FFF2-40B4-BE49-F238E27FC236}">
                <a16:creationId xmlns:a16="http://schemas.microsoft.com/office/drawing/2014/main" id="{751C32D7-AF09-4DED-A416-37AD7DAF995F}"/>
              </a:ext>
            </a:extLst>
          </p:cNvPr>
          <p:cNvSpPr>
            <a:spLocks xmlns:a="http://schemas.openxmlformats.org/drawingml/2006/main" noGrp="1"/>
          </p:cNvSpPr>
          <p:nvPr/>
        </p:nvSpPr>
        <p:spPr>
          <a:xfrm xmlns:a="http://schemas.openxmlformats.org/drawingml/2006/main">
            <a:off x="6877050" y="2647950"/>
            <a:ext cx="4210050" cy="4381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172026"/>
                </a:solidFill>
                <a:latin typeface="Aptos"/>
                <a:ea typeface="Aptos"/>
                <a:cs typeface="Aptos"/>
              </a:defRPr>
            </a:pPr>
            <a:r>
              <a:rPr sz="1125" b="0">
                <a:solidFill>
                  <a:srgbClr val="172026"/>
                </a:solidFill>
                <a:latin typeface="Aptos"/>
                <a:ea typeface="Aptos"/>
                <a:cs typeface="Aptos"/>
              </a:rPr>
              <a:t>Questions separated by role and demand state</a:t>
            </a:r>
          </a:p>
        </p:txBody>
      </p:sp>
      <p:sp>
        <p:nvSpPr>
          <p:cNvPr id="22" name="">
            <a:extLst xmlns:a="http://schemas.openxmlformats.org/drawingml/2006/main">
              <a:ext uri="{FF2B5EF4-FFF2-40B4-BE49-F238E27FC236}">
                <a16:creationId xmlns:a16="http://schemas.microsoft.com/office/drawing/2014/main" id="{46833DF5-F077-4EB9-A7B3-A69E52819143}"/>
              </a:ext>
            </a:extLst>
          </p:cNvPr>
          <p:cNvSpPr>
            <a:spLocks xmlns:a="http://schemas.openxmlformats.org/drawingml/2006/main" noGrp="1"/>
          </p:cNvSpPr>
          <p:nvPr/>
        </p:nvSpPr>
        <p:spPr>
          <a:xfrm xmlns:a="http://schemas.openxmlformats.org/drawingml/2006/main">
            <a:off x="6705600" y="3190875"/>
            <a:ext cx="57150" cy="57150"/>
          </a:xfrm>
          <a:prstGeom xmlns:a="http://schemas.openxmlformats.org/drawingml/2006/main" prst="rect">
            <a:avLst/>
          </a:prstGeom>
          <a:solidFill xmlns:a="http://schemas.openxmlformats.org/drawingml/2006/main">
            <a:srgbClr val="1D6072"/>
          </a:solidFill>
          <a:ln xmlns:a="http://schemas.openxmlformats.org/drawingml/2006/main" w="0">
            <a:solidFill>
              <a:srgbClr val="000000">
                <a:alpha val="0"/>
              </a:srgbClr>
            </a:solidFill>
            <a:prstDash val="solid"/>
          </a:ln>
        </p:spPr>
      </p:sp>
      <p:sp>
        <p:nvSpPr>
          <p:cNvPr id="23" name="">
            <a:extLst xmlns:a="http://schemas.openxmlformats.org/drawingml/2006/main">
              <a:ext uri="{FF2B5EF4-FFF2-40B4-BE49-F238E27FC236}">
                <a16:creationId xmlns:a16="http://schemas.microsoft.com/office/drawing/2014/main" id="{2A89DF31-21B5-4361-B8BE-B61ECAF119D1}"/>
              </a:ext>
            </a:extLst>
          </p:cNvPr>
          <p:cNvSpPr>
            <a:spLocks xmlns:a="http://schemas.openxmlformats.org/drawingml/2006/main" noGrp="1"/>
          </p:cNvSpPr>
          <p:nvPr/>
        </p:nvSpPr>
        <p:spPr>
          <a:xfrm xmlns:a="http://schemas.openxmlformats.org/drawingml/2006/main">
            <a:off x="6877050" y="3124200"/>
            <a:ext cx="4210050" cy="4381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172026"/>
                </a:solidFill>
                <a:latin typeface="Aptos"/>
                <a:ea typeface="Aptos"/>
                <a:cs typeface="Aptos"/>
              </a:defRPr>
            </a:pPr>
            <a:r>
              <a:rPr sz="1125" b="0">
                <a:solidFill>
                  <a:srgbClr val="172026"/>
                </a:solidFill>
                <a:latin typeface="Aptos"/>
                <a:ea typeface="Aptos"/>
                <a:cs typeface="Aptos"/>
              </a:rPr>
              <a:t>One asset per critical question or proof gap</a:t>
            </a:r>
          </a:p>
        </p:txBody>
      </p:sp>
      <p:sp>
        <p:nvSpPr>
          <p:cNvPr id="24" name="">
            <a:extLst xmlns:a="http://schemas.openxmlformats.org/drawingml/2006/main">
              <a:ext uri="{FF2B5EF4-FFF2-40B4-BE49-F238E27FC236}">
                <a16:creationId xmlns:a16="http://schemas.microsoft.com/office/drawing/2014/main" id="{8193C10D-1349-407C-ABAC-F3A1D55460F7}"/>
              </a:ext>
            </a:extLst>
          </p:cNvPr>
          <p:cNvSpPr>
            <a:spLocks xmlns:a="http://schemas.openxmlformats.org/drawingml/2006/main" noGrp="1"/>
          </p:cNvSpPr>
          <p:nvPr/>
        </p:nvSpPr>
        <p:spPr>
          <a:xfrm xmlns:a="http://schemas.openxmlformats.org/drawingml/2006/main">
            <a:off x="6705600" y="3667125"/>
            <a:ext cx="57150" cy="57150"/>
          </a:xfrm>
          <a:prstGeom xmlns:a="http://schemas.openxmlformats.org/drawingml/2006/main" prst="rect">
            <a:avLst/>
          </a:prstGeom>
          <a:solidFill xmlns:a="http://schemas.openxmlformats.org/drawingml/2006/main">
            <a:srgbClr val="1D6072"/>
          </a:solidFill>
          <a:ln xmlns:a="http://schemas.openxmlformats.org/drawingml/2006/main" w="0">
            <a:solidFill>
              <a:srgbClr val="000000">
                <a:alpha val="0"/>
              </a:srgbClr>
            </a:solidFill>
            <a:prstDash val="solid"/>
          </a:ln>
        </p:spPr>
      </p:sp>
      <p:sp>
        <p:nvSpPr>
          <p:cNvPr id="25" name="">
            <a:extLst xmlns:a="http://schemas.openxmlformats.org/drawingml/2006/main">
              <a:ext uri="{FF2B5EF4-FFF2-40B4-BE49-F238E27FC236}">
                <a16:creationId xmlns:a16="http://schemas.microsoft.com/office/drawing/2014/main" id="{5DEED09E-C159-4D91-B5CA-C34AA409DAA2}"/>
              </a:ext>
            </a:extLst>
          </p:cNvPr>
          <p:cNvSpPr>
            <a:spLocks xmlns:a="http://schemas.openxmlformats.org/drawingml/2006/main" noGrp="1"/>
          </p:cNvSpPr>
          <p:nvPr/>
        </p:nvSpPr>
        <p:spPr>
          <a:xfrm xmlns:a="http://schemas.openxmlformats.org/drawingml/2006/main">
            <a:off x="6877050" y="3600450"/>
            <a:ext cx="4210050" cy="4381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172026"/>
                </a:solidFill>
                <a:latin typeface="Aptos"/>
                <a:ea typeface="Aptos"/>
                <a:cs typeface="Aptos"/>
              </a:defRPr>
            </a:pPr>
            <a:r>
              <a:rPr sz="1125" b="0">
                <a:solidFill>
                  <a:srgbClr val="172026"/>
                </a:solidFill>
                <a:latin typeface="Aptos"/>
                <a:ea typeface="Aptos"/>
                <a:cs typeface="Aptos"/>
              </a:rPr>
              <a:t>Sales use without pitching too early</a:t>
            </a:r>
          </a:p>
        </p:txBody>
      </p:sp>
      <p:sp>
        <p:nvSpPr>
          <p:cNvPr id="26" name="">
            <a:extLst xmlns:a="http://schemas.openxmlformats.org/drawingml/2006/main">
              <a:ext uri="{FF2B5EF4-FFF2-40B4-BE49-F238E27FC236}">
                <a16:creationId xmlns:a16="http://schemas.microsoft.com/office/drawing/2014/main" id="{6F7A2C32-532F-40B3-ABCC-DCC28D1D364F}"/>
              </a:ext>
            </a:extLst>
          </p:cNvPr>
          <p:cNvSpPr>
            <a:spLocks xmlns:a="http://schemas.openxmlformats.org/drawingml/2006/main" noGrp="1"/>
          </p:cNvSpPr>
          <p:nvPr/>
        </p:nvSpPr>
        <p:spPr>
          <a:xfrm xmlns:a="http://schemas.openxmlformats.org/drawingml/2006/main">
            <a:off x="6705600" y="4143375"/>
            <a:ext cx="57150" cy="57150"/>
          </a:xfrm>
          <a:prstGeom xmlns:a="http://schemas.openxmlformats.org/drawingml/2006/main" prst="rect">
            <a:avLst/>
          </a:prstGeom>
          <a:solidFill xmlns:a="http://schemas.openxmlformats.org/drawingml/2006/main">
            <a:srgbClr val="1D6072"/>
          </a:solidFill>
          <a:ln xmlns:a="http://schemas.openxmlformats.org/drawingml/2006/main" w="0">
            <a:solidFill>
              <a:srgbClr val="000000">
                <a:alpha val="0"/>
              </a:srgbClr>
            </a:solidFill>
            <a:prstDash val="solid"/>
          </a:ln>
        </p:spPr>
      </p:sp>
      <p:sp>
        <p:nvSpPr>
          <p:cNvPr id="27" name="">
            <a:extLst xmlns:a="http://schemas.openxmlformats.org/drawingml/2006/main">
              <a:ext uri="{FF2B5EF4-FFF2-40B4-BE49-F238E27FC236}">
                <a16:creationId xmlns:a16="http://schemas.microsoft.com/office/drawing/2014/main" id="{1738BE6B-64C7-491B-9E4E-19604ED04A98}"/>
              </a:ext>
            </a:extLst>
          </p:cNvPr>
          <p:cNvSpPr>
            <a:spLocks xmlns:a="http://schemas.openxmlformats.org/drawingml/2006/main" noGrp="1"/>
          </p:cNvSpPr>
          <p:nvPr/>
        </p:nvSpPr>
        <p:spPr>
          <a:xfrm xmlns:a="http://schemas.openxmlformats.org/drawingml/2006/main">
            <a:off x="6877050" y="4076700"/>
            <a:ext cx="4210050" cy="4381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172026"/>
                </a:solidFill>
                <a:latin typeface="Aptos"/>
                <a:ea typeface="Aptos"/>
                <a:cs typeface="Aptos"/>
              </a:defRPr>
            </a:pPr>
            <a:r>
              <a:rPr sz="1125" b="0">
                <a:solidFill>
                  <a:srgbClr val="172026"/>
                </a:solidFill>
                <a:latin typeface="Aptos"/>
                <a:ea typeface="Aptos"/>
                <a:cs typeface="Aptos"/>
              </a:rPr>
              <a:t>Signal meaning and routing implication</a:t>
            </a:r>
          </a:p>
        </p:txBody>
      </p:sp>
      <p:sp>
        <p:nvSpPr>
          <p:cNvPr id="28" name="">
            <a:extLst xmlns:a="http://schemas.openxmlformats.org/drawingml/2006/main">
              <a:ext uri="{FF2B5EF4-FFF2-40B4-BE49-F238E27FC236}">
                <a16:creationId xmlns:a16="http://schemas.microsoft.com/office/drawing/2014/main" id="{59B3518B-DF67-4151-9A4F-11F274A0A7B1}"/>
              </a:ext>
            </a:extLst>
          </p:cNvPr>
          <p:cNvSpPr>
            <a:spLocks xmlns:a="http://schemas.openxmlformats.org/drawingml/2006/main" noGrp="1"/>
          </p:cNvSpPr>
          <p:nvPr/>
        </p:nvSpPr>
        <p:spPr>
          <a:xfrm xmlns:a="http://schemas.openxmlformats.org/drawingml/2006/main">
            <a:off x="6705600" y="4619625"/>
            <a:ext cx="57150" cy="57150"/>
          </a:xfrm>
          <a:prstGeom xmlns:a="http://schemas.openxmlformats.org/drawingml/2006/main" prst="rect">
            <a:avLst/>
          </a:prstGeom>
          <a:solidFill xmlns:a="http://schemas.openxmlformats.org/drawingml/2006/main">
            <a:srgbClr val="1D6072"/>
          </a:solidFill>
          <a:ln xmlns:a="http://schemas.openxmlformats.org/drawingml/2006/main" w="0">
            <a:solidFill>
              <a:srgbClr val="000000">
                <a:alpha val="0"/>
              </a:srgbClr>
            </a:solidFill>
            <a:prstDash val="solid"/>
          </a:ln>
        </p:spPr>
      </p:sp>
      <p:sp>
        <p:nvSpPr>
          <p:cNvPr id="29" name="">
            <a:extLst xmlns:a="http://schemas.openxmlformats.org/drawingml/2006/main">
              <a:ext uri="{FF2B5EF4-FFF2-40B4-BE49-F238E27FC236}">
                <a16:creationId xmlns:a16="http://schemas.microsoft.com/office/drawing/2014/main" id="{014B5C07-EECE-4762-A7A1-CF9BD789D01D}"/>
              </a:ext>
            </a:extLst>
          </p:cNvPr>
          <p:cNvSpPr>
            <a:spLocks xmlns:a="http://schemas.openxmlformats.org/drawingml/2006/main" noGrp="1"/>
          </p:cNvSpPr>
          <p:nvPr/>
        </p:nvSpPr>
        <p:spPr>
          <a:xfrm xmlns:a="http://schemas.openxmlformats.org/drawingml/2006/main">
            <a:off x="6877050" y="4552950"/>
            <a:ext cx="4210050" cy="4381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172026"/>
                </a:solidFill>
                <a:latin typeface="Aptos"/>
                <a:ea typeface="Aptos"/>
                <a:cs typeface="Aptos"/>
              </a:defRPr>
            </a:pPr>
            <a:r>
              <a:rPr sz="1125" b="0">
                <a:solidFill>
                  <a:srgbClr val="172026"/>
                </a:solidFill>
                <a:latin typeface="Aptos"/>
                <a:ea typeface="Aptos"/>
                <a:cs typeface="Aptos"/>
              </a:rPr>
              <a:t>Assumptions and human questions</a:t>
            </a:r>
          </a:p>
        </p:txBody>
      </p:sp>
      <p:sp>
        <p:nvSpPr>
          <p:cNvPr id="30" name="">
            <a:extLst xmlns:a="http://schemas.openxmlformats.org/drawingml/2006/main">
              <a:ext uri="{FF2B5EF4-FFF2-40B4-BE49-F238E27FC236}">
                <a16:creationId xmlns:a16="http://schemas.microsoft.com/office/drawing/2014/main" id="{78E675B5-2005-407E-9839-53439B9D9D41}"/>
              </a:ext>
            </a:extLst>
          </p:cNvPr>
          <p:cNvSpPr>
            <a:spLocks xmlns:a="http://schemas.openxmlformats.org/drawingml/2006/main" noGrp="1"/>
          </p:cNvSpPr>
          <p:nvPr/>
        </p:nvSpPr>
        <p:spPr>
          <a:xfrm xmlns:a="http://schemas.openxmlformats.org/drawingml/2006/main">
            <a:off x="514350" y="6438900"/>
            <a:ext cx="1091565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31" name="">
            <a:extLst xmlns:a="http://schemas.openxmlformats.org/drawingml/2006/main">
              <a:ext uri="{FF2B5EF4-FFF2-40B4-BE49-F238E27FC236}">
                <a16:creationId xmlns:a16="http://schemas.microsoft.com/office/drawing/2014/main" id="{FD1D6B88-4D43-4E4E-86E1-0CAE873852E1}"/>
              </a:ext>
            </a:extLst>
          </p:cNvPr>
          <p:cNvSpPr>
            <a:spLocks xmlns:a="http://schemas.openxmlformats.org/drawingml/2006/main" noGrp="1"/>
          </p:cNvSpPr>
          <p:nvPr/>
        </p:nvSpPr>
        <p:spPr>
          <a:xfrm xmlns:a="http://schemas.openxmlformats.org/drawingml/2006/main">
            <a:off x="514350" y="6553200"/>
            <a:ext cx="590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59646A"/>
                </a:solidFill>
                <a:latin typeface="Aptos"/>
                <a:ea typeface="Aptos"/>
                <a:cs typeface="Aptos"/>
              </a:defRPr>
            </a:pPr>
            <a:r>
              <a:rPr sz="675" b="0">
                <a:solidFill>
                  <a:srgbClr val="59646A"/>
                </a:solidFill>
                <a:latin typeface="Aptos"/>
                <a:ea typeface="Aptos"/>
                <a:cs typeface="Aptos"/>
              </a:rPr>
              <a:t>Lesson 04 - MOIN: Map Of Informational Needs</a:t>
            </a:r>
          </a:p>
        </p:txBody>
      </p:sp>
      <p:sp>
        <p:nvSpPr>
          <p:cNvPr id="32" name="">
            <a:extLst xmlns:a="http://schemas.openxmlformats.org/drawingml/2006/main">
              <a:ext uri="{FF2B5EF4-FFF2-40B4-BE49-F238E27FC236}">
                <a16:creationId xmlns:a16="http://schemas.microsoft.com/office/drawing/2014/main" id="{B3B55E76-06E4-4A61-9C9E-DACD065F41B3}"/>
              </a:ext>
            </a:extLst>
          </p:cNvPr>
          <p:cNvSpPr>
            <a:spLocks xmlns:a="http://schemas.openxmlformats.org/drawingml/2006/main" noGrp="1"/>
          </p:cNvSpPr>
          <p:nvPr/>
        </p:nvSpPr>
        <p:spPr>
          <a:xfrm xmlns:a="http://schemas.openxmlformats.org/drawingml/2006/main">
            <a:off x="5334000" y="6553200"/>
            <a:ext cx="4095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00" b="0">
                <a:solidFill>
                  <a:srgbClr val="59646A"/>
                </a:solidFill>
                <a:latin typeface="Aptos"/>
                <a:ea typeface="Aptos"/>
                <a:cs typeface="Aptos"/>
              </a:defRPr>
            </a:pPr>
            <a:r>
              <a:rPr sz="600" b="0">
                <a:solidFill>
                  <a:srgbClr val="59646A"/>
                </a:solidFill>
                <a:latin typeface="Aptos"/>
                <a:ea typeface="Aptos"/>
                <a:cs typeface="Aptos"/>
              </a:rPr>
              <a:t>Source: modules/module-01-industrial-demand-generation/lessons/04-moin-map-of-informational-needs.md @ 9e28222</a:t>
            </a:r>
          </a:p>
        </p:txBody>
      </p:sp>
      <p:sp>
        <p:nvSpPr>
          <p:cNvPr id="33" name="">
            <a:extLst xmlns:a="http://schemas.openxmlformats.org/drawingml/2006/main">
              <a:ext uri="{FF2B5EF4-FFF2-40B4-BE49-F238E27FC236}">
                <a16:creationId xmlns:a16="http://schemas.microsoft.com/office/drawing/2014/main" id="{462DCD65-49A9-48C1-A69A-D805DD5E0F5F}"/>
              </a:ext>
            </a:extLst>
          </p:cNvPr>
          <p:cNvSpPr>
            <a:spLocks xmlns:a="http://schemas.openxmlformats.org/drawingml/2006/main" noGrp="1"/>
          </p:cNvSpPr>
          <p:nvPr/>
        </p:nvSpPr>
        <p:spPr>
          <a:xfrm xmlns:a="http://schemas.openxmlformats.org/drawingml/2006/main">
            <a:off x="10668000" y="6553200"/>
            <a:ext cx="762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75" b="0">
                <a:solidFill>
                  <a:srgbClr val="59646A"/>
                </a:solidFill>
                <a:latin typeface="Aptos"/>
                <a:ea typeface="Aptos"/>
                <a:cs typeface="Aptos"/>
              </a:defRPr>
            </a:pPr>
            <a:r>
              <a:rPr sz="675" b="0">
                <a:solidFill>
                  <a:srgbClr val="59646A"/>
                </a:solidFill>
                <a:latin typeface="Aptos"/>
                <a:ea typeface="Aptos"/>
                <a:cs typeface="Aptos"/>
              </a:rPr>
              <a:t>10/15</a:t>
            </a:r>
          </a:p>
        </p:txBody>
      </p:sp>
      <p:sp>
        <p:nvSpPr>
          <p:cNvPr id="34" name="">
            <a:extLst xmlns:a="http://schemas.openxmlformats.org/drawingml/2006/main">
              <a:ext uri="{FF2B5EF4-FFF2-40B4-BE49-F238E27FC236}">
                <a16:creationId xmlns:a16="http://schemas.microsoft.com/office/drawing/2014/main" id="{FEFFA19D-9086-4171-87FF-F7DED6E16CA6}"/>
              </a:ext>
            </a:extLst>
          </p:cNvPr>
          <p:cNvSpPr>
            <a:spLocks xmlns:a="http://schemas.openxmlformats.org/drawingml/2006/main" noGrp="1"/>
          </p:cNvSpPr>
          <p:nvPr/>
        </p:nvSpPr>
        <p:spPr>
          <a:xfrm xmlns:a="http://schemas.openxmlformats.org/drawingml/2006/main">
            <a:off x="0" y="0"/>
            <a:ext cx="12192000" cy="1809750"/>
          </a:xfrm>
          <a:prstGeom xmlns:a="http://schemas.openxmlformats.org/drawingml/2006/main" prst="rect">
            <a:avLst/>
          </a:prstGeom>
          <a:solidFill xmlns:a="http://schemas.openxmlformats.org/drawingml/2006/main">
            <a:srgbClr val="F5F6F2"/>
          </a:solidFill>
          <a:ln xmlns:a="http://schemas.openxmlformats.org/drawingml/2006/main" w="0">
            <a:solidFill>
              <a:srgbClr val="000000">
                <a:alpha val="0"/>
              </a:srgbClr>
            </a:solidFill>
            <a:prstDash val="solid"/>
          </a:ln>
        </p:spPr>
      </p:sp>
      <p:sp>
        <p:nvSpPr>
          <p:cNvPr id="35" name="">
            <a:extLst xmlns:a="http://schemas.openxmlformats.org/drawingml/2006/main">
              <a:ext uri="{FF2B5EF4-FFF2-40B4-BE49-F238E27FC236}">
                <a16:creationId xmlns:a16="http://schemas.microsoft.com/office/drawing/2014/main" id="{7EAB74B5-889C-4247-9A8C-98C4BB82E7AC}"/>
              </a:ext>
            </a:extLst>
          </p:cNvPr>
          <p:cNvSpPr>
            <a:spLocks xmlns:a="http://schemas.openxmlformats.org/drawingml/2006/main" noGrp="1"/>
          </p:cNvSpPr>
          <p:nvPr/>
        </p:nvSpPr>
        <p:spPr>
          <a:xfrm xmlns:a="http://schemas.openxmlformats.org/drawingml/2006/main">
            <a:off x="0" y="0"/>
            <a:ext cx="171450" cy="1809750"/>
          </a:xfrm>
          <a:prstGeom xmlns:a="http://schemas.openxmlformats.org/drawingml/2006/main" prst="rect">
            <a:avLst/>
          </a:prstGeom>
          <a:solidFill xmlns:a="http://schemas.openxmlformats.org/drawingml/2006/main">
            <a:srgbClr val="12232B"/>
          </a:solidFill>
          <a:ln xmlns:a="http://schemas.openxmlformats.org/drawingml/2006/main" w="0">
            <a:solidFill>
              <a:srgbClr val="000000">
                <a:alpha val="0"/>
              </a:srgbClr>
            </a:solidFill>
            <a:prstDash val="solid"/>
          </a:ln>
        </p:spPr>
      </p:sp>
      <p:sp>
        <p:nvSpPr>
          <p:cNvPr id="36" name="">
            <a:extLst xmlns:a="http://schemas.openxmlformats.org/drawingml/2006/main">
              <a:ext uri="{FF2B5EF4-FFF2-40B4-BE49-F238E27FC236}">
                <a16:creationId xmlns:a16="http://schemas.microsoft.com/office/drawing/2014/main" id="{D5B1F364-E3DB-4134-8A4C-E29325C91D0C}"/>
              </a:ext>
            </a:extLst>
          </p:cNvPr>
          <p:cNvSpPr>
            <a:spLocks xmlns:a="http://schemas.openxmlformats.org/drawingml/2006/main" noGrp="1"/>
          </p:cNvSpPr>
          <p:nvPr/>
        </p:nvSpPr>
        <p:spPr>
          <a:xfrm xmlns:a="http://schemas.openxmlformats.org/drawingml/2006/main">
            <a:off x="171450" y="0"/>
            <a:ext cx="57150" cy="180975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37" name="kicker-04-marker">
            <a:extLst xmlns:a="http://schemas.openxmlformats.org/drawingml/2006/main">
              <a:ext uri="{FF2B5EF4-FFF2-40B4-BE49-F238E27FC236}">
                <a16:creationId xmlns:a16="http://schemas.microsoft.com/office/drawing/2014/main" id="{ACCD2D48-7971-4017-952C-D28E7F6BDC9A}"/>
              </a:ext>
            </a:extLst>
          </p:cNvPr>
          <p:cNvSpPr>
            <a:spLocks xmlns:a="http://schemas.openxmlformats.org/drawingml/2006/main" noGrp="1"/>
          </p:cNvSpPr>
          <p:nvPr/>
        </p:nvSpPr>
        <p:spPr>
          <a:xfrm xmlns:a="http://schemas.openxmlformats.org/drawingml/2006/main">
            <a:off x="514350" y="390525"/>
            <a:ext cx="76200" cy="762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38" name="kicker-04-label">
            <a:extLst xmlns:a="http://schemas.openxmlformats.org/drawingml/2006/main">
              <a:ext uri="{FF2B5EF4-FFF2-40B4-BE49-F238E27FC236}">
                <a16:creationId xmlns:a16="http://schemas.microsoft.com/office/drawing/2014/main" id="{DA802C0D-6B87-431F-995B-6F903323BE52}"/>
              </a:ext>
            </a:extLst>
          </p:cNvPr>
          <p:cNvSpPr>
            <a:spLocks xmlns:a="http://schemas.openxmlformats.org/drawingml/2006/main" noGrp="1"/>
          </p:cNvSpPr>
          <p:nvPr/>
        </p:nvSpPr>
        <p:spPr>
          <a:xfrm xmlns:a="http://schemas.openxmlformats.org/drawingml/2006/main">
            <a:off x="685800" y="323850"/>
            <a:ext cx="75247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MODULE 1 / LESSON 04 / AI-ASSISTED EXERCISE</a:t>
            </a:r>
          </a:p>
        </p:txBody>
      </p:sp>
      <p:sp>
        <p:nvSpPr>
          <p:cNvPr id="39" name="">
            <a:extLst xmlns:a="http://schemas.openxmlformats.org/drawingml/2006/main">
              <a:ext uri="{FF2B5EF4-FFF2-40B4-BE49-F238E27FC236}">
                <a16:creationId xmlns:a16="http://schemas.microsoft.com/office/drawing/2014/main" id="{2F5FD37D-82E5-45E6-9A69-A6C316CC42F8}"/>
              </a:ext>
            </a:extLst>
          </p:cNvPr>
          <p:cNvSpPr>
            <a:spLocks xmlns:a="http://schemas.openxmlformats.org/drawingml/2006/main" noGrp="1"/>
          </p:cNvSpPr>
          <p:nvPr/>
        </p:nvSpPr>
        <p:spPr>
          <a:xfrm xmlns:a="http://schemas.openxmlformats.org/drawingml/2006/main">
            <a:off x="514350" y="704850"/>
            <a:ext cx="8096250" cy="666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250" b="1">
                <a:solidFill>
                  <a:srgbClr val="172026"/>
                </a:solidFill>
                <a:latin typeface="Aptos Display"/>
                <a:ea typeface="Aptos Display"/>
                <a:cs typeface="Aptos Display"/>
              </a:defRPr>
            </a:pPr>
            <a:r>
              <a:rPr sz="2250" b="1">
                <a:solidFill>
                  <a:srgbClr val="172026"/>
                </a:solidFill>
                <a:latin typeface="Aptos Display"/>
                <a:ea typeface="Aptos Display"/>
                <a:cs typeface="Aptos Display"/>
              </a:rPr>
              <a:t>Use AI to structure the attempt, then make humans responsible for judgment.</a:t>
            </a:r>
          </a:p>
        </p:txBody>
      </p:sp>
      <p:sp>
        <p:nvSpPr>
          <p:cNvPr id="40" name="">
            <a:extLst xmlns:a="http://schemas.openxmlformats.org/drawingml/2006/main">
              <a:ext uri="{FF2B5EF4-FFF2-40B4-BE49-F238E27FC236}">
                <a16:creationId xmlns:a16="http://schemas.microsoft.com/office/drawing/2014/main" id="{91536122-16DE-4D92-A17F-0A12D69116DE}"/>
              </a:ext>
            </a:extLst>
          </p:cNvPr>
          <p:cNvSpPr>
            <a:spLocks xmlns:a="http://schemas.openxmlformats.org/drawingml/2006/main" noGrp="1"/>
          </p:cNvSpPr>
          <p:nvPr/>
        </p:nvSpPr>
        <p:spPr>
          <a:xfrm xmlns:a="http://schemas.openxmlformats.org/drawingml/2006/main">
            <a:off x="514350" y="1314450"/>
            <a:ext cx="819150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59646A"/>
                </a:solidFill>
                <a:latin typeface="Aptos"/>
                <a:ea typeface="Aptos"/>
                <a:cs typeface="Aptos"/>
              </a:defRPr>
            </a:pPr>
            <a:r>
              <a:rPr sz="1125" b="0">
                <a:solidFill>
                  <a:srgbClr val="59646A"/>
                </a:solidFill>
                <a:latin typeface="Aptos"/>
                <a:ea typeface="Aptos"/>
                <a:cs typeface="Aptos"/>
              </a:rPr>
              <a:t>The prompt is constrained by source, assumptions, output standard, and human validation.</a:t>
            </a:r>
          </a:p>
        </p:txBody>
      </p:sp>
      <p:sp>
        <p:nvSpPr>
          <p:cNvPr id="41" name="">
            <a:extLst xmlns:a="http://schemas.openxmlformats.org/drawingml/2006/main">
              <a:ext uri="{FF2B5EF4-FFF2-40B4-BE49-F238E27FC236}">
                <a16:creationId xmlns:a16="http://schemas.microsoft.com/office/drawing/2014/main" id="{A6BDE227-1283-4A46-810D-C0974B833D1A}"/>
              </a:ext>
            </a:extLst>
          </p:cNvPr>
          <p:cNvSpPr>
            <a:spLocks xmlns:a="http://schemas.openxmlformats.org/drawingml/2006/main" noGrp="1"/>
          </p:cNvSpPr>
          <p:nvPr/>
        </p:nvSpPr>
        <p:spPr>
          <a:xfrm xmlns:a="http://schemas.openxmlformats.org/drawingml/2006/main">
            <a:off x="0" y="6400800"/>
            <a:ext cx="12192000" cy="457200"/>
          </a:xfrm>
          <a:prstGeom xmlns:a="http://schemas.openxmlformats.org/drawingml/2006/main" prst="rect">
            <a:avLst/>
          </a:prstGeom>
          <a:solidFill xmlns:a="http://schemas.openxmlformats.org/drawingml/2006/main">
            <a:srgbClr val="F5F6F2"/>
          </a:solidFill>
          <a:ln xmlns:a="http://schemas.openxmlformats.org/drawingml/2006/main" w="0">
            <a:solidFill>
              <a:srgbClr val="000000">
                <a:alpha val="0"/>
              </a:srgbClr>
            </a:solidFill>
            <a:prstDash val="solid"/>
          </a:ln>
        </p:spPr>
      </p:sp>
      <p:sp>
        <p:nvSpPr>
          <p:cNvPr id="42" name="">
            <a:extLst xmlns:a="http://schemas.openxmlformats.org/drawingml/2006/main">
              <a:ext uri="{FF2B5EF4-FFF2-40B4-BE49-F238E27FC236}">
                <a16:creationId xmlns:a16="http://schemas.microsoft.com/office/drawing/2014/main" id="{70024472-35F4-4F24-AFF6-4E240B126802}"/>
              </a:ext>
            </a:extLst>
          </p:cNvPr>
          <p:cNvSpPr>
            <a:spLocks xmlns:a="http://schemas.openxmlformats.org/drawingml/2006/main" noGrp="1"/>
          </p:cNvSpPr>
          <p:nvPr/>
        </p:nvSpPr>
        <p:spPr>
          <a:xfrm xmlns:a="http://schemas.openxmlformats.org/drawingml/2006/main">
            <a:off x="0" y="6400800"/>
            <a:ext cx="171450" cy="457200"/>
          </a:xfrm>
          <a:prstGeom xmlns:a="http://schemas.openxmlformats.org/drawingml/2006/main" prst="rect">
            <a:avLst/>
          </a:prstGeom>
          <a:solidFill xmlns:a="http://schemas.openxmlformats.org/drawingml/2006/main">
            <a:srgbClr val="12232B"/>
          </a:solidFill>
          <a:ln xmlns:a="http://schemas.openxmlformats.org/drawingml/2006/main" w="0">
            <a:solidFill>
              <a:srgbClr val="000000">
                <a:alpha val="0"/>
              </a:srgbClr>
            </a:solidFill>
            <a:prstDash val="solid"/>
          </a:ln>
        </p:spPr>
      </p:sp>
      <p:sp>
        <p:nvSpPr>
          <p:cNvPr id="43" name="">
            <a:extLst xmlns:a="http://schemas.openxmlformats.org/drawingml/2006/main">
              <a:ext uri="{FF2B5EF4-FFF2-40B4-BE49-F238E27FC236}">
                <a16:creationId xmlns:a16="http://schemas.microsoft.com/office/drawing/2014/main" id="{421B8065-572A-4861-A6AF-80CB7252D10E}"/>
              </a:ext>
            </a:extLst>
          </p:cNvPr>
          <p:cNvSpPr>
            <a:spLocks xmlns:a="http://schemas.openxmlformats.org/drawingml/2006/main" noGrp="1"/>
          </p:cNvSpPr>
          <p:nvPr/>
        </p:nvSpPr>
        <p:spPr>
          <a:xfrm xmlns:a="http://schemas.openxmlformats.org/drawingml/2006/main">
            <a:off x="171450" y="6400800"/>
            <a:ext cx="57150" cy="4572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44" name="">
            <a:extLst xmlns:a="http://schemas.openxmlformats.org/drawingml/2006/main">
              <a:ext uri="{FF2B5EF4-FFF2-40B4-BE49-F238E27FC236}">
                <a16:creationId xmlns:a16="http://schemas.microsoft.com/office/drawing/2014/main" id="{C0F3ABD7-7412-43B5-8695-F43FBCB32EB7}"/>
              </a:ext>
            </a:extLst>
          </p:cNvPr>
          <p:cNvSpPr>
            <a:spLocks xmlns:a="http://schemas.openxmlformats.org/drawingml/2006/main" noGrp="1"/>
          </p:cNvSpPr>
          <p:nvPr/>
        </p:nvSpPr>
        <p:spPr>
          <a:xfrm xmlns:a="http://schemas.openxmlformats.org/drawingml/2006/main">
            <a:off x="514350" y="6438900"/>
            <a:ext cx="1091565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45" name="">
            <a:extLst xmlns:a="http://schemas.openxmlformats.org/drawingml/2006/main">
              <a:ext uri="{FF2B5EF4-FFF2-40B4-BE49-F238E27FC236}">
                <a16:creationId xmlns:a16="http://schemas.microsoft.com/office/drawing/2014/main" id="{8FD8F033-2EA1-4750-BBE2-498598DB1DAC}"/>
              </a:ext>
            </a:extLst>
          </p:cNvPr>
          <p:cNvSpPr>
            <a:spLocks xmlns:a="http://schemas.openxmlformats.org/drawingml/2006/main" noGrp="1"/>
          </p:cNvSpPr>
          <p:nvPr/>
        </p:nvSpPr>
        <p:spPr>
          <a:xfrm xmlns:a="http://schemas.openxmlformats.org/drawingml/2006/main">
            <a:off x="514350" y="6553200"/>
            <a:ext cx="590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59646A"/>
                </a:solidFill>
                <a:latin typeface="Aptos"/>
                <a:ea typeface="Aptos"/>
                <a:cs typeface="Aptos"/>
              </a:defRPr>
            </a:pPr>
            <a:r>
              <a:rPr sz="675" b="0">
                <a:solidFill>
                  <a:srgbClr val="59646A"/>
                </a:solidFill>
                <a:latin typeface="Aptos"/>
                <a:ea typeface="Aptos"/>
                <a:cs typeface="Aptos"/>
              </a:rPr>
              <a:t>Lesson 04 - MOIN: Map Of Informational Needs</a:t>
            </a:r>
          </a:p>
        </p:txBody>
      </p:sp>
      <p:sp>
        <p:nvSpPr>
          <p:cNvPr id="46" name="">
            <a:extLst xmlns:a="http://schemas.openxmlformats.org/drawingml/2006/main">
              <a:ext uri="{FF2B5EF4-FFF2-40B4-BE49-F238E27FC236}">
                <a16:creationId xmlns:a16="http://schemas.microsoft.com/office/drawing/2014/main" id="{AAC1AB91-5932-4FB6-802D-5B9309B7ABA1}"/>
              </a:ext>
            </a:extLst>
          </p:cNvPr>
          <p:cNvSpPr>
            <a:spLocks xmlns:a="http://schemas.openxmlformats.org/drawingml/2006/main" noGrp="1"/>
          </p:cNvSpPr>
          <p:nvPr/>
        </p:nvSpPr>
        <p:spPr>
          <a:xfrm xmlns:a="http://schemas.openxmlformats.org/drawingml/2006/main">
            <a:off x="5334000" y="6553200"/>
            <a:ext cx="4095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00" b="0">
                <a:solidFill>
                  <a:srgbClr val="59646A"/>
                </a:solidFill>
                <a:latin typeface="Aptos"/>
                <a:ea typeface="Aptos"/>
                <a:cs typeface="Aptos"/>
              </a:defRPr>
            </a:pPr>
            <a:r>
              <a:rPr sz="600" b="0">
                <a:solidFill>
                  <a:srgbClr val="59646A"/>
                </a:solidFill>
                <a:latin typeface="Aptos"/>
                <a:ea typeface="Aptos"/>
                <a:cs typeface="Aptos"/>
              </a:rPr>
              <a:t>Source: modules/module-01-industrial-demand-generation/lessons/04-moin-map-of-informational-needs.md @ 9e28222</a:t>
            </a:r>
          </a:p>
        </p:txBody>
      </p:sp>
      <p:sp>
        <p:nvSpPr>
          <p:cNvPr id="47" name="">
            <a:extLst xmlns:a="http://schemas.openxmlformats.org/drawingml/2006/main">
              <a:ext uri="{FF2B5EF4-FFF2-40B4-BE49-F238E27FC236}">
                <a16:creationId xmlns:a16="http://schemas.microsoft.com/office/drawing/2014/main" id="{97DDFE91-CDBD-48FA-84BE-E3C1B7B9AACE}"/>
              </a:ext>
            </a:extLst>
          </p:cNvPr>
          <p:cNvSpPr>
            <a:spLocks xmlns:a="http://schemas.openxmlformats.org/drawingml/2006/main" noGrp="1"/>
          </p:cNvSpPr>
          <p:nvPr/>
        </p:nvSpPr>
        <p:spPr>
          <a:xfrm xmlns:a="http://schemas.openxmlformats.org/drawingml/2006/main">
            <a:off x="10668000" y="6553200"/>
            <a:ext cx="762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75" b="0">
                <a:solidFill>
                  <a:srgbClr val="59646A"/>
                </a:solidFill>
                <a:latin typeface="Aptos"/>
                <a:ea typeface="Aptos"/>
                <a:cs typeface="Aptos"/>
              </a:defRPr>
            </a:pPr>
            <a:r>
              <a:rPr sz="675" b="0">
                <a:solidFill>
                  <a:srgbClr val="59646A"/>
                </a:solidFill>
                <a:latin typeface="Aptos"/>
                <a:ea typeface="Aptos"/>
                <a:cs typeface="Aptos"/>
              </a:rPr>
              <a:t>10/15</a:t>
            </a:r>
          </a:p>
        </p:txBody>
      </p:sp>
    </p:spTree>
    <p:extLst>
      <p:ext uri="{BB962C8B-B14F-4D97-AF65-F5344CB8AC3E}">
        <p14:creationId xmlns:p14="http://schemas.microsoft.com/office/powerpoint/2010/main" val="1892662831"/>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C2D43CD1-B641-460C-A504-61BA9BBCCD99}"/>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6F2"/>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02E3569F-2FB9-41FB-AFBA-1FC1C011C5BE}"/>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12232B"/>
          </a:solidFill>
          <a:ln xmlns:a="http://schemas.openxmlformats.org/drawingml/2006/main" w="0">
            <a:solidFill>
              <a:srgbClr val="000000">
                <a:alpha val="0"/>
              </a:srgbClr>
            </a:solidFill>
            <a:prstDash val="solid"/>
          </a:ln>
        </p:spPr>
      </p:sp>
      <p:sp>
        <p:nvSpPr>
          <p:cNvPr id="3" name="">
            <a:extLst xmlns:a="http://schemas.openxmlformats.org/drawingml/2006/main">
              <a:ext uri="{FF2B5EF4-FFF2-40B4-BE49-F238E27FC236}">
                <a16:creationId xmlns:a16="http://schemas.microsoft.com/office/drawing/2014/main" id="{D595CDF9-A37F-44DF-AD5F-B61C22B6FC0E}"/>
              </a:ext>
            </a:extLst>
          </p:cNvPr>
          <p:cNvSpPr>
            <a:spLocks xmlns:a="http://schemas.openxmlformats.org/drawingml/2006/main" noGrp="1"/>
          </p:cNvSpPr>
          <p:nvPr/>
        </p:nvSpPr>
        <p:spPr>
          <a:xfrm xmlns:a="http://schemas.openxmlformats.org/drawingml/2006/main">
            <a:off x="171450" y="0"/>
            <a:ext cx="57150" cy="68580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4" name="kicker-04-marker">
            <a:extLst xmlns:a="http://schemas.openxmlformats.org/drawingml/2006/main">
              <a:ext uri="{FF2B5EF4-FFF2-40B4-BE49-F238E27FC236}">
                <a16:creationId xmlns:a16="http://schemas.microsoft.com/office/drawing/2014/main" id="{6318C176-915D-4610-94D7-3B31E791E2E5}"/>
              </a:ext>
            </a:extLst>
          </p:cNvPr>
          <p:cNvSpPr>
            <a:spLocks xmlns:a="http://schemas.openxmlformats.org/drawingml/2006/main" noGrp="1"/>
          </p:cNvSpPr>
          <p:nvPr/>
        </p:nvSpPr>
        <p:spPr>
          <a:xfrm xmlns:a="http://schemas.openxmlformats.org/drawingml/2006/main">
            <a:off x="514350" y="390525"/>
            <a:ext cx="76200" cy="762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5" name="kicker-04-label">
            <a:extLst xmlns:a="http://schemas.openxmlformats.org/drawingml/2006/main">
              <a:ext uri="{FF2B5EF4-FFF2-40B4-BE49-F238E27FC236}">
                <a16:creationId xmlns:a16="http://schemas.microsoft.com/office/drawing/2014/main" id="{C9D02628-A259-4938-8C9D-1FBBFF28F5DD}"/>
              </a:ext>
            </a:extLst>
          </p:cNvPr>
          <p:cNvSpPr>
            <a:spLocks xmlns:a="http://schemas.openxmlformats.org/drawingml/2006/main" noGrp="1"/>
          </p:cNvSpPr>
          <p:nvPr/>
        </p:nvSpPr>
        <p:spPr>
          <a:xfrm xmlns:a="http://schemas.openxmlformats.org/drawingml/2006/main">
            <a:off x="685800" y="323850"/>
            <a:ext cx="75247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MODULE 1 / LESSON 04 / HUMAN CORRECTION</a:t>
            </a:r>
          </a:p>
        </p:txBody>
      </p:sp>
      <p:sp>
        <p:nvSpPr>
          <p:cNvPr id="6" name="">
            <a:extLst xmlns:a="http://schemas.openxmlformats.org/drawingml/2006/main">
              <a:ext uri="{FF2B5EF4-FFF2-40B4-BE49-F238E27FC236}">
                <a16:creationId xmlns:a16="http://schemas.microsoft.com/office/drawing/2014/main" id="{E5CD7F92-3DB2-40AA-8178-3281BD6212DA}"/>
              </a:ext>
            </a:extLst>
          </p:cNvPr>
          <p:cNvSpPr>
            <a:spLocks xmlns:a="http://schemas.openxmlformats.org/drawingml/2006/main" noGrp="1"/>
          </p:cNvSpPr>
          <p:nvPr/>
        </p:nvSpPr>
        <p:spPr>
          <a:xfrm xmlns:a="http://schemas.openxmlformats.org/drawingml/2006/main">
            <a:off x="514350" y="704850"/>
            <a:ext cx="8096250" cy="666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250" b="1">
                <a:solidFill>
                  <a:srgbClr val="172026"/>
                </a:solidFill>
                <a:latin typeface="Aptos Display"/>
                <a:ea typeface="Aptos Display"/>
                <a:cs typeface="Aptos Display"/>
              </a:defRPr>
            </a:pPr>
            <a:r>
              <a:rPr sz="2250" b="1">
                <a:solidFill>
                  <a:srgbClr val="172026"/>
                </a:solidFill>
                <a:latin typeface="Aptos Display"/>
                <a:ea typeface="Aptos Display"/>
                <a:cs typeface="Aptos Display"/>
              </a:rPr>
              <a:t>AI can draft structure. Humans must repair industrial reality.</a:t>
            </a:r>
          </a:p>
        </p:txBody>
      </p:sp>
      <p:sp>
        <p:nvSpPr>
          <p:cNvPr id="7" name="">
            <a:extLst xmlns:a="http://schemas.openxmlformats.org/drawingml/2006/main">
              <a:ext uri="{FF2B5EF4-FFF2-40B4-BE49-F238E27FC236}">
                <a16:creationId xmlns:a16="http://schemas.microsoft.com/office/drawing/2014/main" id="{B3BB176F-85B3-4A53-9D15-F763292AA506}"/>
              </a:ext>
            </a:extLst>
          </p:cNvPr>
          <p:cNvSpPr>
            <a:spLocks xmlns:a="http://schemas.openxmlformats.org/drawingml/2006/main" noGrp="1"/>
          </p:cNvSpPr>
          <p:nvPr/>
        </p:nvSpPr>
        <p:spPr>
          <a:xfrm xmlns:a="http://schemas.openxmlformats.org/drawingml/2006/main">
            <a:off x="514350" y="1314450"/>
            <a:ext cx="819150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59646A"/>
                </a:solidFill>
                <a:latin typeface="Aptos"/>
                <a:ea typeface="Aptos"/>
                <a:cs typeface="Aptos"/>
              </a:defRPr>
            </a:pPr>
            <a:r>
              <a:rPr sz="1125" b="0">
                <a:solidFill>
                  <a:srgbClr val="59646A"/>
                </a:solidFill>
                <a:latin typeface="Aptos"/>
                <a:ea typeface="Aptos"/>
                <a:cs typeface="Aptos"/>
              </a:rPr>
              <a:t>This slide gives the instructor a rejection standard.</a:t>
            </a:r>
          </a:p>
        </p:txBody>
      </p:sp>
      <p:sp>
        <p:nvSpPr>
          <p:cNvPr id="8" name="">
            <a:extLst xmlns:a="http://schemas.openxmlformats.org/drawingml/2006/main">
              <a:ext uri="{FF2B5EF4-FFF2-40B4-BE49-F238E27FC236}">
                <a16:creationId xmlns:a16="http://schemas.microsoft.com/office/drawing/2014/main" id="{780D8ED3-9919-473B-8230-4C1DF0CE923F}"/>
              </a:ext>
            </a:extLst>
          </p:cNvPr>
          <p:cNvSpPr>
            <a:spLocks xmlns:a="http://schemas.openxmlformats.org/drawingml/2006/main" noGrp="1"/>
          </p:cNvSpPr>
          <p:nvPr/>
        </p:nvSpPr>
        <p:spPr>
          <a:xfrm xmlns:a="http://schemas.openxmlformats.org/drawingml/2006/main">
            <a:off x="514350" y="6438900"/>
            <a:ext cx="1091565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08201C72-F0B4-4C5F-88BD-39033C15B533}"/>
              </a:ext>
            </a:extLst>
          </p:cNvPr>
          <p:cNvSpPr>
            <a:spLocks xmlns:a="http://schemas.openxmlformats.org/drawingml/2006/main" noGrp="1"/>
          </p:cNvSpPr>
          <p:nvPr/>
        </p:nvSpPr>
        <p:spPr>
          <a:xfrm xmlns:a="http://schemas.openxmlformats.org/drawingml/2006/main">
            <a:off x="514350" y="6553200"/>
            <a:ext cx="590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59646A"/>
                </a:solidFill>
                <a:latin typeface="Aptos"/>
                <a:ea typeface="Aptos"/>
                <a:cs typeface="Aptos"/>
              </a:defRPr>
            </a:pPr>
            <a:r>
              <a:rPr sz="675" b="0">
                <a:solidFill>
                  <a:srgbClr val="59646A"/>
                </a:solidFill>
                <a:latin typeface="Aptos"/>
                <a:ea typeface="Aptos"/>
                <a:cs typeface="Aptos"/>
              </a:rPr>
              <a:t>Lesson 04 - MOIN: Map Of Informational Needs</a:t>
            </a:r>
          </a:p>
        </p:txBody>
      </p:sp>
      <p:sp>
        <p:nvSpPr>
          <p:cNvPr id="10" name="">
            <a:extLst xmlns:a="http://schemas.openxmlformats.org/drawingml/2006/main">
              <a:ext uri="{FF2B5EF4-FFF2-40B4-BE49-F238E27FC236}">
                <a16:creationId xmlns:a16="http://schemas.microsoft.com/office/drawing/2014/main" id="{F858E3B7-74CE-4246-BEDA-5533A3BEF581}"/>
              </a:ext>
            </a:extLst>
          </p:cNvPr>
          <p:cNvSpPr>
            <a:spLocks xmlns:a="http://schemas.openxmlformats.org/drawingml/2006/main" noGrp="1"/>
          </p:cNvSpPr>
          <p:nvPr/>
        </p:nvSpPr>
        <p:spPr>
          <a:xfrm xmlns:a="http://schemas.openxmlformats.org/drawingml/2006/main">
            <a:off x="5334000" y="6553200"/>
            <a:ext cx="4095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00" b="0">
                <a:solidFill>
                  <a:srgbClr val="59646A"/>
                </a:solidFill>
                <a:latin typeface="Aptos"/>
                <a:ea typeface="Aptos"/>
                <a:cs typeface="Aptos"/>
              </a:defRPr>
            </a:pPr>
            <a:r>
              <a:rPr sz="600" b="0">
                <a:solidFill>
                  <a:srgbClr val="59646A"/>
                </a:solidFill>
                <a:latin typeface="Aptos"/>
                <a:ea typeface="Aptos"/>
                <a:cs typeface="Aptos"/>
              </a:rPr>
              <a:t>Source: modules/module-01-industrial-demand-generation/lessons/04-moin-map-of-informational-needs.md @ 9e28222</a:t>
            </a:r>
          </a:p>
        </p:txBody>
      </p:sp>
      <p:sp>
        <p:nvSpPr>
          <p:cNvPr id="11" name="">
            <a:extLst xmlns:a="http://schemas.openxmlformats.org/drawingml/2006/main">
              <a:ext uri="{FF2B5EF4-FFF2-40B4-BE49-F238E27FC236}">
                <a16:creationId xmlns:a16="http://schemas.microsoft.com/office/drawing/2014/main" id="{05AB5012-19A1-410B-BC27-078053B7C513}"/>
              </a:ext>
            </a:extLst>
          </p:cNvPr>
          <p:cNvSpPr>
            <a:spLocks xmlns:a="http://schemas.openxmlformats.org/drawingml/2006/main" noGrp="1"/>
          </p:cNvSpPr>
          <p:nvPr/>
        </p:nvSpPr>
        <p:spPr>
          <a:xfrm xmlns:a="http://schemas.openxmlformats.org/drawingml/2006/main">
            <a:off x="10668000" y="6553200"/>
            <a:ext cx="762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75" b="0">
                <a:solidFill>
                  <a:srgbClr val="59646A"/>
                </a:solidFill>
                <a:latin typeface="Aptos"/>
                <a:ea typeface="Aptos"/>
                <a:cs typeface="Aptos"/>
              </a:defRPr>
            </a:pPr>
            <a:r>
              <a:rPr sz="675" b="0">
                <a:solidFill>
                  <a:srgbClr val="59646A"/>
                </a:solidFill>
                <a:latin typeface="Aptos"/>
                <a:ea typeface="Aptos"/>
                <a:cs typeface="Aptos"/>
              </a:rPr>
              <a:t>11/15</a:t>
            </a:r>
          </a:p>
        </p:txBody>
      </p:sp>
      <p:sp>
        <p:nvSpPr>
          <p:cNvPr id="12" name="">
            <a:extLst xmlns:a="http://schemas.openxmlformats.org/drawingml/2006/main">
              <a:ext uri="{FF2B5EF4-FFF2-40B4-BE49-F238E27FC236}">
                <a16:creationId xmlns:a16="http://schemas.microsoft.com/office/drawing/2014/main" id="{10F86447-9361-45F0-AEAC-E01C6092D593}"/>
              </a:ext>
            </a:extLst>
          </p:cNvPr>
          <p:cNvSpPr>
            <a:spLocks xmlns:a="http://schemas.openxmlformats.org/drawingml/2006/main" noGrp="1"/>
          </p:cNvSpPr>
          <p:nvPr/>
        </p:nvSpPr>
        <p:spPr>
          <a:xfrm xmlns:a="http://schemas.openxmlformats.org/drawingml/2006/main">
            <a:off x="228600" y="1809750"/>
            <a:ext cx="11963400" cy="4591050"/>
          </a:xfrm>
          <a:prstGeom xmlns:a="http://schemas.openxmlformats.org/drawingml/2006/main" prst="rect">
            <a:avLst/>
          </a:prstGeom>
          <a:solidFill xmlns:a="http://schemas.openxmlformats.org/drawingml/2006/main">
            <a:srgbClr val="F5F6F2"/>
          </a:solidFill>
          <a:ln xmlns:a="http://schemas.openxmlformats.org/drawingml/2006/main" w="0">
            <a:solidFill>
              <a:srgbClr val="000000">
                <a:alpha val="0"/>
              </a:srgbClr>
            </a:solidFill>
            <a:prstDash val="solid"/>
          </a:ln>
        </p:spPr>
      </p:sp>
      <p:sp>
        <p:nvSpPr>
          <p:cNvPr id="13" name="">
            <a:extLst xmlns:a="http://schemas.openxmlformats.org/drawingml/2006/main">
              <a:ext uri="{FF2B5EF4-FFF2-40B4-BE49-F238E27FC236}">
                <a16:creationId xmlns:a16="http://schemas.microsoft.com/office/drawing/2014/main" id="{68EB16D6-99DE-4491-9433-8AA34AEFA4DA}"/>
              </a:ext>
            </a:extLst>
          </p:cNvPr>
          <p:cNvSpPr>
            <a:spLocks xmlns:a="http://schemas.openxmlformats.org/drawingml/2006/main" noGrp="1"/>
          </p:cNvSpPr>
          <p:nvPr/>
        </p:nvSpPr>
        <p:spPr>
          <a:xfrm xmlns:a="http://schemas.openxmlformats.org/drawingml/2006/main">
            <a:off x="228600" y="1809750"/>
            <a:ext cx="7677150" cy="4591050"/>
          </a:xfrm>
          <a:prstGeom xmlns:a="http://schemas.openxmlformats.org/drawingml/2006/main" prst="rect">
            <a:avLst/>
          </a:prstGeom>
          <a:solidFill xmlns:a="http://schemas.openxmlformats.org/drawingml/2006/main">
            <a:srgbClr val="FFFFFF"/>
          </a:solidFill>
          <a:ln xmlns:a="http://schemas.openxmlformats.org/drawingml/2006/main" w="9525">
            <a:solidFill>
              <a:srgbClr val="D9DDD6"/>
            </a:solidFill>
            <a:prstDash val="solid"/>
          </a:ln>
        </p:spPr>
      </p:sp>
      <p:sp>
        <p:nvSpPr>
          <p:cNvPr id="14" name="">
            <a:extLst xmlns:a="http://schemas.openxmlformats.org/drawingml/2006/main">
              <a:ext uri="{FF2B5EF4-FFF2-40B4-BE49-F238E27FC236}">
                <a16:creationId xmlns:a16="http://schemas.microsoft.com/office/drawing/2014/main" id="{88E1198B-16DF-4A6E-A8ED-2DEDF823C59A}"/>
              </a:ext>
            </a:extLst>
          </p:cNvPr>
          <p:cNvSpPr>
            <a:spLocks xmlns:a="http://schemas.openxmlformats.org/drawingml/2006/main" noGrp="1"/>
          </p:cNvSpPr>
          <p:nvPr/>
        </p:nvSpPr>
        <p:spPr>
          <a:xfrm xmlns:a="http://schemas.openxmlformats.org/drawingml/2006/main">
            <a:off x="609600" y="2266950"/>
            <a:ext cx="266700" cy="19050"/>
          </a:xfrm>
          <a:prstGeom xmlns:a="http://schemas.openxmlformats.org/drawingml/2006/main" prst="rect">
            <a:avLst/>
          </a:prstGeom>
          <a:solidFill xmlns:a="http://schemas.openxmlformats.org/drawingml/2006/main">
            <a:srgbClr val="A8493D"/>
          </a:solidFill>
          <a:ln xmlns:a="http://schemas.openxmlformats.org/drawingml/2006/main" w="0">
            <a:solidFill>
              <a:srgbClr val="000000">
                <a:alpha val="0"/>
              </a:srgbClr>
            </a:solidFill>
            <a:prstDash val="solid"/>
          </a:ln>
        </p:spPr>
      </p:sp>
      <p:sp>
        <p:nvSpPr>
          <p:cNvPr id="15" name="">
            <a:extLst xmlns:a="http://schemas.openxmlformats.org/drawingml/2006/main">
              <a:ext uri="{FF2B5EF4-FFF2-40B4-BE49-F238E27FC236}">
                <a16:creationId xmlns:a16="http://schemas.microsoft.com/office/drawing/2014/main" id="{9D0DE47F-EA92-4DAD-840D-E9A1142DB113}"/>
              </a:ext>
            </a:extLst>
          </p:cNvPr>
          <p:cNvSpPr>
            <a:spLocks xmlns:a="http://schemas.openxmlformats.org/drawingml/2006/main" noGrp="1"/>
          </p:cNvSpPr>
          <p:nvPr/>
        </p:nvSpPr>
        <p:spPr>
          <a:xfrm xmlns:a="http://schemas.openxmlformats.org/drawingml/2006/main">
            <a:off x="971550" y="2190750"/>
            <a:ext cx="2476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REJECT OR REPAIR WHEN AI OUTPUT...</a:t>
            </a:r>
          </a:p>
        </p:txBody>
      </p:sp>
      <p:sp>
        <p:nvSpPr>
          <p:cNvPr id="16" name="">
            <a:extLst xmlns:a="http://schemas.openxmlformats.org/drawingml/2006/main">
              <a:ext uri="{FF2B5EF4-FFF2-40B4-BE49-F238E27FC236}">
                <a16:creationId xmlns:a16="http://schemas.microsoft.com/office/drawing/2014/main" id="{C12EE1E1-4F03-4874-9F07-B702E0D2158A}"/>
              </a:ext>
            </a:extLst>
          </p:cNvPr>
          <p:cNvSpPr>
            <a:spLocks xmlns:a="http://schemas.openxmlformats.org/drawingml/2006/main" noGrp="1"/>
          </p:cNvSpPr>
          <p:nvPr/>
        </p:nvSpPr>
        <p:spPr>
          <a:xfrm xmlns:a="http://schemas.openxmlformats.org/drawingml/2006/main">
            <a:off x="609600" y="2714625"/>
            <a:ext cx="57150" cy="57150"/>
          </a:xfrm>
          <a:prstGeom xmlns:a="http://schemas.openxmlformats.org/drawingml/2006/main" prst="rect">
            <a:avLst/>
          </a:prstGeom>
          <a:solidFill xmlns:a="http://schemas.openxmlformats.org/drawingml/2006/main">
            <a:srgbClr val="A8493D"/>
          </a:solidFill>
          <a:ln xmlns:a="http://schemas.openxmlformats.org/drawingml/2006/main" w="0">
            <a:solidFill>
              <a:srgbClr val="000000">
                <a:alpha val="0"/>
              </a:srgbClr>
            </a:solidFill>
            <a:prstDash val="solid"/>
          </a:ln>
        </p:spPr>
      </p:sp>
      <p:sp>
        <p:nvSpPr>
          <p:cNvPr id="17" name="">
            <a:extLst xmlns:a="http://schemas.openxmlformats.org/drawingml/2006/main">
              <a:ext uri="{FF2B5EF4-FFF2-40B4-BE49-F238E27FC236}">
                <a16:creationId xmlns:a16="http://schemas.microsoft.com/office/drawing/2014/main" id="{B288D4EC-188A-40A3-9AC5-597869BE3161}"/>
              </a:ext>
            </a:extLst>
          </p:cNvPr>
          <p:cNvSpPr>
            <a:spLocks xmlns:a="http://schemas.openxmlformats.org/drawingml/2006/main" noGrp="1"/>
          </p:cNvSpPr>
          <p:nvPr/>
        </p:nvSpPr>
        <p:spPr>
          <a:xfrm xmlns:a="http://schemas.openxmlformats.org/drawingml/2006/main">
            <a:off x="781050" y="2647950"/>
            <a:ext cx="5924550" cy="419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72026"/>
                </a:solidFill>
                <a:latin typeface="Aptos"/>
                <a:ea typeface="Aptos"/>
                <a:cs typeface="Aptos"/>
              </a:defRPr>
            </a:pPr>
            <a:r>
              <a:rPr sz="1200" b="0">
                <a:solidFill>
                  <a:srgbClr val="172026"/>
                </a:solidFill>
                <a:latin typeface="Aptos"/>
                <a:ea typeface="Aptos"/>
                <a:cs typeface="Aptos"/>
              </a:rPr>
              <a:t>Reject generic topics and content pillars.</a:t>
            </a:r>
          </a:p>
        </p:txBody>
      </p:sp>
      <p:sp>
        <p:nvSpPr>
          <p:cNvPr id="18" name="">
            <a:extLst xmlns:a="http://schemas.openxmlformats.org/drawingml/2006/main">
              <a:ext uri="{FF2B5EF4-FFF2-40B4-BE49-F238E27FC236}">
                <a16:creationId xmlns:a16="http://schemas.microsoft.com/office/drawing/2014/main" id="{E84DBB6D-0D84-4308-B47C-C577519470B5}"/>
              </a:ext>
            </a:extLst>
          </p:cNvPr>
          <p:cNvSpPr>
            <a:spLocks xmlns:a="http://schemas.openxmlformats.org/drawingml/2006/main" noGrp="1"/>
          </p:cNvSpPr>
          <p:nvPr/>
        </p:nvSpPr>
        <p:spPr>
          <a:xfrm xmlns:a="http://schemas.openxmlformats.org/drawingml/2006/main">
            <a:off x="609600" y="3171825"/>
            <a:ext cx="57150" cy="57150"/>
          </a:xfrm>
          <a:prstGeom xmlns:a="http://schemas.openxmlformats.org/drawingml/2006/main" prst="rect">
            <a:avLst/>
          </a:prstGeom>
          <a:solidFill xmlns:a="http://schemas.openxmlformats.org/drawingml/2006/main">
            <a:srgbClr val="A8493D"/>
          </a:solidFill>
          <a:ln xmlns:a="http://schemas.openxmlformats.org/drawingml/2006/main" w="0">
            <a:solidFill>
              <a:srgbClr val="000000">
                <a:alpha val="0"/>
              </a:srgbClr>
            </a:solidFill>
            <a:prstDash val="solid"/>
          </a:ln>
        </p:spPr>
      </p:sp>
      <p:sp>
        <p:nvSpPr>
          <p:cNvPr id="19" name="">
            <a:extLst xmlns:a="http://schemas.openxmlformats.org/drawingml/2006/main">
              <a:ext uri="{FF2B5EF4-FFF2-40B4-BE49-F238E27FC236}">
                <a16:creationId xmlns:a16="http://schemas.microsoft.com/office/drawing/2014/main" id="{88FFB5A5-954F-46C4-8995-91BFF618AD1B}"/>
              </a:ext>
            </a:extLst>
          </p:cNvPr>
          <p:cNvSpPr>
            <a:spLocks xmlns:a="http://schemas.openxmlformats.org/drawingml/2006/main" noGrp="1"/>
          </p:cNvSpPr>
          <p:nvPr/>
        </p:nvSpPr>
        <p:spPr>
          <a:xfrm xmlns:a="http://schemas.openxmlformats.org/drawingml/2006/main">
            <a:off x="781050" y="3105150"/>
            <a:ext cx="5924550" cy="419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72026"/>
                </a:solidFill>
                <a:latin typeface="Aptos"/>
                <a:ea typeface="Aptos"/>
                <a:cs typeface="Aptos"/>
              </a:defRPr>
            </a:pPr>
            <a:r>
              <a:rPr sz="1200" b="0">
                <a:solidFill>
                  <a:srgbClr val="172026"/>
                </a:solidFill>
                <a:latin typeface="Aptos"/>
                <a:ea typeface="Aptos"/>
                <a:cs typeface="Aptos"/>
              </a:rPr>
              <a:t>Reject output that ignores committee roles.</a:t>
            </a:r>
          </a:p>
        </p:txBody>
      </p:sp>
      <p:sp>
        <p:nvSpPr>
          <p:cNvPr id="20" name="">
            <a:extLst xmlns:a="http://schemas.openxmlformats.org/drawingml/2006/main">
              <a:ext uri="{FF2B5EF4-FFF2-40B4-BE49-F238E27FC236}">
                <a16:creationId xmlns:a16="http://schemas.microsoft.com/office/drawing/2014/main" id="{E486F7DF-5C05-42E6-A430-2F67F81E521C}"/>
              </a:ext>
            </a:extLst>
          </p:cNvPr>
          <p:cNvSpPr>
            <a:spLocks xmlns:a="http://schemas.openxmlformats.org/drawingml/2006/main" noGrp="1"/>
          </p:cNvSpPr>
          <p:nvPr/>
        </p:nvSpPr>
        <p:spPr>
          <a:xfrm xmlns:a="http://schemas.openxmlformats.org/drawingml/2006/main">
            <a:off x="609600" y="3629025"/>
            <a:ext cx="57150" cy="57150"/>
          </a:xfrm>
          <a:prstGeom xmlns:a="http://schemas.openxmlformats.org/drawingml/2006/main" prst="rect">
            <a:avLst/>
          </a:prstGeom>
          <a:solidFill xmlns:a="http://schemas.openxmlformats.org/drawingml/2006/main">
            <a:srgbClr val="A8493D"/>
          </a:solidFill>
          <a:ln xmlns:a="http://schemas.openxmlformats.org/drawingml/2006/main" w="0">
            <a:solidFill>
              <a:srgbClr val="000000">
                <a:alpha val="0"/>
              </a:srgbClr>
            </a:solidFill>
            <a:prstDash val="solid"/>
          </a:ln>
        </p:spPr>
      </p:sp>
      <p:sp>
        <p:nvSpPr>
          <p:cNvPr id="21" name="">
            <a:extLst xmlns:a="http://schemas.openxmlformats.org/drawingml/2006/main">
              <a:ext uri="{FF2B5EF4-FFF2-40B4-BE49-F238E27FC236}">
                <a16:creationId xmlns:a16="http://schemas.microsoft.com/office/drawing/2014/main" id="{AE9E0AFC-5F83-4130-B6E7-AF6177C9F612}"/>
              </a:ext>
            </a:extLst>
          </p:cNvPr>
          <p:cNvSpPr>
            <a:spLocks xmlns:a="http://schemas.openxmlformats.org/drawingml/2006/main" noGrp="1"/>
          </p:cNvSpPr>
          <p:nvPr/>
        </p:nvSpPr>
        <p:spPr>
          <a:xfrm xmlns:a="http://schemas.openxmlformats.org/drawingml/2006/main">
            <a:off x="781050" y="3562350"/>
            <a:ext cx="5924550" cy="419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72026"/>
                </a:solidFill>
                <a:latin typeface="Aptos"/>
                <a:ea typeface="Aptos"/>
                <a:cs typeface="Aptos"/>
              </a:defRPr>
            </a:pPr>
            <a:r>
              <a:rPr sz="1200" b="0">
                <a:solidFill>
                  <a:srgbClr val="172026"/>
                </a:solidFill>
                <a:latin typeface="Aptos"/>
                <a:ea typeface="Aptos"/>
                <a:cs typeface="Aptos"/>
              </a:rPr>
              <a:t>Reject vendor-demand assets placed too early.</a:t>
            </a:r>
          </a:p>
        </p:txBody>
      </p:sp>
      <p:sp>
        <p:nvSpPr>
          <p:cNvPr id="22" name="">
            <a:extLst xmlns:a="http://schemas.openxmlformats.org/drawingml/2006/main">
              <a:ext uri="{FF2B5EF4-FFF2-40B4-BE49-F238E27FC236}">
                <a16:creationId xmlns:a16="http://schemas.microsoft.com/office/drawing/2014/main" id="{27204072-1513-44F6-BD05-A25E83DB223E}"/>
              </a:ext>
            </a:extLst>
          </p:cNvPr>
          <p:cNvSpPr>
            <a:spLocks xmlns:a="http://schemas.openxmlformats.org/drawingml/2006/main" noGrp="1"/>
          </p:cNvSpPr>
          <p:nvPr/>
        </p:nvSpPr>
        <p:spPr>
          <a:xfrm xmlns:a="http://schemas.openxmlformats.org/drawingml/2006/main">
            <a:off x="609600" y="4086225"/>
            <a:ext cx="57150" cy="57150"/>
          </a:xfrm>
          <a:prstGeom xmlns:a="http://schemas.openxmlformats.org/drawingml/2006/main" prst="rect">
            <a:avLst/>
          </a:prstGeom>
          <a:solidFill xmlns:a="http://schemas.openxmlformats.org/drawingml/2006/main">
            <a:srgbClr val="A8493D"/>
          </a:solidFill>
          <a:ln xmlns:a="http://schemas.openxmlformats.org/drawingml/2006/main" w="0">
            <a:solidFill>
              <a:srgbClr val="000000">
                <a:alpha val="0"/>
              </a:srgbClr>
            </a:solidFill>
            <a:prstDash val="solid"/>
          </a:ln>
        </p:spPr>
      </p:sp>
      <p:sp>
        <p:nvSpPr>
          <p:cNvPr id="23" name="">
            <a:extLst xmlns:a="http://schemas.openxmlformats.org/drawingml/2006/main">
              <a:ext uri="{FF2B5EF4-FFF2-40B4-BE49-F238E27FC236}">
                <a16:creationId xmlns:a16="http://schemas.microsoft.com/office/drawing/2014/main" id="{80A1F195-9BD3-4BD8-B658-9DFB9921FD59}"/>
              </a:ext>
            </a:extLst>
          </p:cNvPr>
          <p:cNvSpPr>
            <a:spLocks xmlns:a="http://schemas.openxmlformats.org/drawingml/2006/main" noGrp="1"/>
          </p:cNvSpPr>
          <p:nvPr/>
        </p:nvSpPr>
        <p:spPr>
          <a:xfrm xmlns:a="http://schemas.openxmlformats.org/drawingml/2006/main">
            <a:off x="781050" y="4019550"/>
            <a:ext cx="5924550" cy="419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72026"/>
                </a:solidFill>
                <a:latin typeface="Aptos"/>
                <a:ea typeface="Aptos"/>
                <a:cs typeface="Aptos"/>
              </a:defRPr>
            </a:pPr>
            <a:r>
              <a:rPr sz="1200" b="0">
                <a:solidFill>
                  <a:srgbClr val="172026"/>
                </a:solidFill>
                <a:latin typeface="Aptos"/>
                <a:ea typeface="Aptos"/>
                <a:cs typeface="Aptos"/>
              </a:rPr>
              <a:t>Reject missing compliance, procurement, implementation, or finance concerns.</a:t>
            </a:r>
          </a:p>
        </p:txBody>
      </p:sp>
      <p:sp>
        <p:nvSpPr>
          <p:cNvPr id="24" name="">
            <a:extLst xmlns:a="http://schemas.openxmlformats.org/drawingml/2006/main">
              <a:ext uri="{FF2B5EF4-FFF2-40B4-BE49-F238E27FC236}">
                <a16:creationId xmlns:a16="http://schemas.microsoft.com/office/drawing/2014/main" id="{31A0F293-9ECC-4700-96FC-435A2BFB2E4A}"/>
              </a:ext>
            </a:extLst>
          </p:cNvPr>
          <p:cNvSpPr>
            <a:spLocks xmlns:a="http://schemas.openxmlformats.org/drawingml/2006/main" noGrp="1"/>
          </p:cNvSpPr>
          <p:nvPr/>
        </p:nvSpPr>
        <p:spPr>
          <a:xfrm xmlns:a="http://schemas.openxmlformats.org/drawingml/2006/main">
            <a:off x="609600" y="4543425"/>
            <a:ext cx="57150" cy="57150"/>
          </a:xfrm>
          <a:prstGeom xmlns:a="http://schemas.openxmlformats.org/drawingml/2006/main" prst="rect">
            <a:avLst/>
          </a:prstGeom>
          <a:solidFill xmlns:a="http://schemas.openxmlformats.org/drawingml/2006/main">
            <a:srgbClr val="A8493D"/>
          </a:solidFill>
          <a:ln xmlns:a="http://schemas.openxmlformats.org/drawingml/2006/main" w="0">
            <a:solidFill>
              <a:srgbClr val="000000">
                <a:alpha val="0"/>
              </a:srgbClr>
            </a:solidFill>
            <a:prstDash val="solid"/>
          </a:ln>
        </p:spPr>
      </p:sp>
      <p:sp>
        <p:nvSpPr>
          <p:cNvPr id="25" name="">
            <a:extLst xmlns:a="http://schemas.openxmlformats.org/drawingml/2006/main">
              <a:ext uri="{FF2B5EF4-FFF2-40B4-BE49-F238E27FC236}">
                <a16:creationId xmlns:a16="http://schemas.microsoft.com/office/drawing/2014/main" id="{67335351-7A3E-4FF6-8C55-D9A8E73C2755}"/>
              </a:ext>
            </a:extLst>
          </p:cNvPr>
          <p:cNvSpPr>
            <a:spLocks xmlns:a="http://schemas.openxmlformats.org/drawingml/2006/main" noGrp="1"/>
          </p:cNvSpPr>
          <p:nvPr/>
        </p:nvSpPr>
        <p:spPr>
          <a:xfrm xmlns:a="http://schemas.openxmlformats.org/drawingml/2006/main">
            <a:off x="781050" y="4476750"/>
            <a:ext cx="5924550" cy="419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72026"/>
                </a:solidFill>
                <a:latin typeface="Aptos"/>
                <a:ea typeface="Aptos"/>
                <a:cs typeface="Aptos"/>
              </a:defRPr>
            </a:pPr>
            <a:r>
              <a:rPr sz="1200" b="0">
                <a:solidFill>
                  <a:srgbClr val="172026"/>
                </a:solidFill>
                <a:latin typeface="Aptos"/>
                <a:ea typeface="Aptos"/>
                <a:cs typeface="Aptos"/>
              </a:rPr>
              <a:t>Reject polished language with no industrial specificity.</a:t>
            </a:r>
          </a:p>
        </p:txBody>
      </p:sp>
      <p:sp>
        <p:nvSpPr>
          <p:cNvPr id="26" name="">
            <a:extLst xmlns:a="http://schemas.openxmlformats.org/drawingml/2006/main">
              <a:ext uri="{FF2B5EF4-FFF2-40B4-BE49-F238E27FC236}">
                <a16:creationId xmlns:a16="http://schemas.microsoft.com/office/drawing/2014/main" id="{C678E098-3664-42D6-A9E2-215B1FE01167}"/>
              </a:ext>
            </a:extLst>
          </p:cNvPr>
          <p:cNvSpPr>
            <a:spLocks xmlns:a="http://schemas.openxmlformats.org/drawingml/2006/main" noGrp="1"/>
          </p:cNvSpPr>
          <p:nvPr/>
        </p:nvSpPr>
        <p:spPr>
          <a:xfrm xmlns:a="http://schemas.openxmlformats.org/drawingml/2006/main">
            <a:off x="7905750" y="1809750"/>
            <a:ext cx="4286250" cy="4591050"/>
          </a:xfrm>
          <a:prstGeom xmlns:a="http://schemas.openxmlformats.org/drawingml/2006/main" prst="rect">
            <a:avLst/>
          </a:prstGeom>
          <a:solidFill xmlns:a="http://schemas.openxmlformats.org/drawingml/2006/main">
            <a:srgbClr val="F9FAF7"/>
          </a:solidFill>
          <a:ln xmlns:a="http://schemas.openxmlformats.org/drawingml/2006/main" w="9525">
            <a:solidFill>
              <a:srgbClr val="D9DDD6"/>
            </a:solidFill>
            <a:prstDash val="solid"/>
          </a:ln>
        </p:spPr>
      </p:sp>
      <p:sp>
        <p:nvSpPr>
          <p:cNvPr id="27" name="">
            <a:extLst xmlns:a="http://schemas.openxmlformats.org/drawingml/2006/main">
              <a:ext uri="{FF2B5EF4-FFF2-40B4-BE49-F238E27FC236}">
                <a16:creationId xmlns:a16="http://schemas.microsoft.com/office/drawing/2014/main" id="{99183D93-9836-4CBE-B3D9-09E1DECBCE44}"/>
              </a:ext>
            </a:extLst>
          </p:cNvPr>
          <p:cNvSpPr>
            <a:spLocks xmlns:a="http://schemas.openxmlformats.org/drawingml/2006/main" noGrp="1"/>
          </p:cNvSpPr>
          <p:nvPr/>
        </p:nvSpPr>
        <p:spPr>
          <a:xfrm xmlns:a="http://schemas.openxmlformats.org/drawingml/2006/main">
            <a:off x="8286750" y="2266950"/>
            <a:ext cx="266700" cy="19050"/>
          </a:xfrm>
          <a:prstGeom xmlns:a="http://schemas.openxmlformats.org/drawingml/2006/main" prst="rect">
            <a:avLst/>
          </a:prstGeom>
          <a:solidFill xmlns:a="http://schemas.openxmlformats.org/drawingml/2006/main">
            <a:srgbClr val="667A39"/>
          </a:solidFill>
          <a:ln xmlns:a="http://schemas.openxmlformats.org/drawingml/2006/main" w="0">
            <a:solidFill>
              <a:srgbClr val="000000">
                <a:alpha val="0"/>
              </a:srgbClr>
            </a:solidFill>
            <a:prstDash val="solid"/>
          </a:ln>
        </p:spPr>
      </p:sp>
      <p:sp>
        <p:nvSpPr>
          <p:cNvPr id="28" name="">
            <a:extLst xmlns:a="http://schemas.openxmlformats.org/drawingml/2006/main">
              <a:ext uri="{FF2B5EF4-FFF2-40B4-BE49-F238E27FC236}">
                <a16:creationId xmlns:a16="http://schemas.microsoft.com/office/drawing/2014/main" id="{0FA6FF4D-937D-49AB-BED8-24AA10C644FA}"/>
              </a:ext>
            </a:extLst>
          </p:cNvPr>
          <p:cNvSpPr>
            <a:spLocks xmlns:a="http://schemas.openxmlformats.org/drawingml/2006/main" noGrp="1"/>
          </p:cNvSpPr>
          <p:nvPr/>
        </p:nvSpPr>
        <p:spPr>
          <a:xfrm xmlns:a="http://schemas.openxmlformats.org/drawingml/2006/main">
            <a:off x="8648700" y="2190750"/>
            <a:ext cx="2476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QUALITY CONTROL</a:t>
            </a:r>
          </a:p>
        </p:txBody>
      </p:sp>
      <p:sp>
        <p:nvSpPr>
          <p:cNvPr id="29" name="">
            <a:extLst xmlns:a="http://schemas.openxmlformats.org/drawingml/2006/main">
              <a:ext uri="{FF2B5EF4-FFF2-40B4-BE49-F238E27FC236}">
                <a16:creationId xmlns:a16="http://schemas.microsoft.com/office/drawing/2014/main" id="{9D3CDEA5-6097-4132-8E7B-F8B67B4DBCB5}"/>
              </a:ext>
            </a:extLst>
          </p:cNvPr>
          <p:cNvSpPr>
            <a:spLocks xmlns:a="http://schemas.openxmlformats.org/drawingml/2006/main" noGrp="1"/>
          </p:cNvSpPr>
          <p:nvPr/>
        </p:nvSpPr>
        <p:spPr>
          <a:xfrm xmlns:a="http://schemas.openxmlformats.org/drawingml/2006/main">
            <a:off x="8286750" y="2647950"/>
            <a:ext cx="2857500" cy="1428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0">
                <a:solidFill>
                  <a:srgbClr val="172026"/>
                </a:solidFill>
                <a:latin typeface="Aptos"/>
                <a:ea typeface="Aptos"/>
                <a:cs typeface="Aptos"/>
              </a:defRPr>
            </a:pPr>
            <a:r>
              <a:rPr sz="1275" b="0">
                <a:solidFill>
                  <a:srgbClr val="172026"/>
                </a:solidFill>
                <a:latin typeface="Aptos"/>
                <a:ea typeface="Aptos"/>
                <a:cs typeface="Aptos"/>
              </a:rPr>
              <a:t>The correction standard is not nicer wording. It is better industrial judgment: category specificity, proof, owner, field, SLA, cadence, and disqualification where needed.</a:t>
            </a:r>
          </a:p>
        </p:txBody>
      </p:sp>
      <p:sp>
        <p:nvSpPr>
          <p:cNvPr id="30" name="">
            <a:extLst xmlns:a="http://schemas.openxmlformats.org/drawingml/2006/main">
              <a:ext uri="{FF2B5EF4-FFF2-40B4-BE49-F238E27FC236}">
                <a16:creationId xmlns:a16="http://schemas.microsoft.com/office/drawing/2014/main" id="{608C68AD-197B-4ED8-985F-06CB5FFC6C9C}"/>
              </a:ext>
            </a:extLst>
          </p:cNvPr>
          <p:cNvSpPr>
            <a:spLocks xmlns:a="http://schemas.openxmlformats.org/drawingml/2006/main" noGrp="1"/>
          </p:cNvSpPr>
          <p:nvPr/>
        </p:nvSpPr>
        <p:spPr>
          <a:xfrm xmlns:a="http://schemas.openxmlformats.org/drawingml/2006/main">
            <a:off x="8782050" y="5353050"/>
            <a:ext cx="2647950" cy="838200"/>
          </a:xfrm>
          <a:prstGeom xmlns:a="http://schemas.openxmlformats.org/drawingml/2006/main" prst="rect">
            <a:avLst/>
          </a:prstGeom>
          <a:solidFill xmlns:a="http://schemas.openxmlformats.org/drawingml/2006/main">
            <a:srgbClr val="12232B"/>
          </a:solidFill>
          <a:ln xmlns:a="http://schemas.openxmlformats.org/drawingml/2006/main" w="9525">
            <a:solidFill>
              <a:srgbClr val="12232B"/>
            </a:solidFill>
            <a:prstDash val="solid"/>
          </a:ln>
        </p:spPr>
      </p:sp>
      <p:sp>
        <p:nvSpPr>
          <p:cNvPr id="31" name="">
            <a:extLst xmlns:a="http://schemas.openxmlformats.org/drawingml/2006/main">
              <a:ext uri="{FF2B5EF4-FFF2-40B4-BE49-F238E27FC236}">
                <a16:creationId xmlns:a16="http://schemas.microsoft.com/office/drawing/2014/main" id="{933233BD-4BA7-4BCD-B168-7A231EA4B617}"/>
              </a:ext>
            </a:extLst>
          </p:cNvPr>
          <p:cNvSpPr>
            <a:spLocks xmlns:a="http://schemas.openxmlformats.org/drawingml/2006/main" noGrp="1"/>
          </p:cNvSpPr>
          <p:nvPr/>
        </p:nvSpPr>
        <p:spPr>
          <a:xfrm xmlns:a="http://schemas.openxmlformats.org/drawingml/2006/main">
            <a:off x="8972550" y="5505450"/>
            <a:ext cx="1428750" cy="152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1">
                <a:solidFill>
                  <a:srgbClr val="AFC3C8"/>
                </a:solidFill>
                <a:latin typeface="Aptos"/>
                <a:ea typeface="Aptos"/>
                <a:cs typeface="Aptos"/>
              </a:defRPr>
            </a:pPr>
            <a:r>
              <a:rPr sz="675" b="1">
                <a:solidFill>
                  <a:srgbClr val="AFC3C8"/>
                </a:solidFill>
                <a:latin typeface="Aptos"/>
                <a:ea typeface="Aptos"/>
                <a:cs typeface="Aptos"/>
              </a:rPr>
              <a:t>INSTRUCTOR CUE</a:t>
            </a:r>
          </a:p>
        </p:txBody>
      </p:sp>
      <p:sp>
        <p:nvSpPr>
          <p:cNvPr id="32" name="">
            <a:extLst xmlns:a="http://schemas.openxmlformats.org/drawingml/2006/main">
              <a:ext uri="{FF2B5EF4-FFF2-40B4-BE49-F238E27FC236}">
                <a16:creationId xmlns:a16="http://schemas.microsoft.com/office/drawing/2014/main" id="{22F314FB-4DFD-43FC-897E-DCD3B93CA25E}"/>
              </a:ext>
            </a:extLst>
          </p:cNvPr>
          <p:cNvSpPr>
            <a:spLocks xmlns:a="http://schemas.openxmlformats.org/drawingml/2006/main" noGrp="1"/>
          </p:cNvSpPr>
          <p:nvPr/>
        </p:nvSpPr>
        <p:spPr>
          <a:xfrm xmlns:a="http://schemas.openxmlformats.org/drawingml/2006/main">
            <a:off x="8972550" y="5676900"/>
            <a:ext cx="219075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0">
                <a:solidFill>
                  <a:srgbClr val="FFFFFF"/>
                </a:solidFill>
                <a:latin typeface="Aptos"/>
                <a:ea typeface="Aptos"/>
                <a:cs typeface="Aptos"/>
              </a:defRPr>
            </a:pPr>
            <a:r>
              <a:rPr sz="975" b="0">
                <a:solidFill>
                  <a:srgbClr val="FFFFFF"/>
                </a:solidFill>
                <a:latin typeface="Aptos"/>
                <a:ea typeface="Aptos"/>
                <a:cs typeface="Aptos"/>
              </a:rPr>
              <a:t>Ask what the AI is guessing.</a:t>
            </a:r>
          </a:p>
        </p:txBody>
      </p:sp>
      <p:sp>
        <p:nvSpPr>
          <p:cNvPr id="33" name="">
            <a:extLst xmlns:a="http://schemas.openxmlformats.org/drawingml/2006/main">
              <a:ext uri="{FF2B5EF4-FFF2-40B4-BE49-F238E27FC236}">
                <a16:creationId xmlns:a16="http://schemas.microsoft.com/office/drawing/2014/main" id="{8D4D41CC-E58B-41F1-BCD2-21691EFAFC18}"/>
              </a:ext>
            </a:extLst>
          </p:cNvPr>
          <p:cNvSpPr>
            <a:spLocks xmlns:a="http://schemas.openxmlformats.org/drawingml/2006/main" noGrp="1"/>
          </p:cNvSpPr>
          <p:nvPr/>
        </p:nvSpPr>
        <p:spPr>
          <a:xfrm xmlns:a="http://schemas.openxmlformats.org/drawingml/2006/main">
            <a:off x="514350" y="6438900"/>
            <a:ext cx="1091565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34" name="">
            <a:extLst xmlns:a="http://schemas.openxmlformats.org/drawingml/2006/main">
              <a:ext uri="{FF2B5EF4-FFF2-40B4-BE49-F238E27FC236}">
                <a16:creationId xmlns:a16="http://schemas.microsoft.com/office/drawing/2014/main" id="{A1AB3D10-4090-4719-ADE9-B5D8A46E589D}"/>
              </a:ext>
            </a:extLst>
          </p:cNvPr>
          <p:cNvSpPr>
            <a:spLocks xmlns:a="http://schemas.openxmlformats.org/drawingml/2006/main" noGrp="1"/>
          </p:cNvSpPr>
          <p:nvPr/>
        </p:nvSpPr>
        <p:spPr>
          <a:xfrm xmlns:a="http://schemas.openxmlformats.org/drawingml/2006/main">
            <a:off x="514350" y="6553200"/>
            <a:ext cx="590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59646A"/>
                </a:solidFill>
                <a:latin typeface="Aptos"/>
                <a:ea typeface="Aptos"/>
                <a:cs typeface="Aptos"/>
              </a:defRPr>
            </a:pPr>
            <a:r>
              <a:rPr sz="675" b="0">
                <a:solidFill>
                  <a:srgbClr val="59646A"/>
                </a:solidFill>
                <a:latin typeface="Aptos"/>
                <a:ea typeface="Aptos"/>
                <a:cs typeface="Aptos"/>
              </a:rPr>
              <a:t>Lesson 04 - MOIN: Map Of Informational Needs</a:t>
            </a:r>
          </a:p>
        </p:txBody>
      </p:sp>
      <p:sp>
        <p:nvSpPr>
          <p:cNvPr id="35" name="">
            <a:extLst xmlns:a="http://schemas.openxmlformats.org/drawingml/2006/main">
              <a:ext uri="{FF2B5EF4-FFF2-40B4-BE49-F238E27FC236}">
                <a16:creationId xmlns:a16="http://schemas.microsoft.com/office/drawing/2014/main" id="{490D90C9-67A9-43ED-AF34-D069DB9A7CA5}"/>
              </a:ext>
            </a:extLst>
          </p:cNvPr>
          <p:cNvSpPr>
            <a:spLocks xmlns:a="http://schemas.openxmlformats.org/drawingml/2006/main" noGrp="1"/>
          </p:cNvSpPr>
          <p:nvPr/>
        </p:nvSpPr>
        <p:spPr>
          <a:xfrm xmlns:a="http://schemas.openxmlformats.org/drawingml/2006/main">
            <a:off x="5334000" y="6553200"/>
            <a:ext cx="4095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00" b="0">
                <a:solidFill>
                  <a:srgbClr val="59646A"/>
                </a:solidFill>
                <a:latin typeface="Aptos"/>
                <a:ea typeface="Aptos"/>
                <a:cs typeface="Aptos"/>
              </a:defRPr>
            </a:pPr>
            <a:r>
              <a:rPr sz="600" b="0">
                <a:solidFill>
                  <a:srgbClr val="59646A"/>
                </a:solidFill>
                <a:latin typeface="Aptos"/>
                <a:ea typeface="Aptos"/>
                <a:cs typeface="Aptos"/>
              </a:rPr>
              <a:t>Source: modules/module-01-industrial-demand-generation/lessons/04-moin-map-of-informational-needs.md @ 9e28222</a:t>
            </a:r>
          </a:p>
        </p:txBody>
      </p:sp>
      <p:sp>
        <p:nvSpPr>
          <p:cNvPr id="36" name="">
            <a:extLst xmlns:a="http://schemas.openxmlformats.org/drawingml/2006/main">
              <a:ext uri="{FF2B5EF4-FFF2-40B4-BE49-F238E27FC236}">
                <a16:creationId xmlns:a16="http://schemas.microsoft.com/office/drawing/2014/main" id="{47E09D0E-3AE9-4A00-98AA-A0F4AAA91F60}"/>
              </a:ext>
            </a:extLst>
          </p:cNvPr>
          <p:cNvSpPr>
            <a:spLocks xmlns:a="http://schemas.openxmlformats.org/drawingml/2006/main" noGrp="1"/>
          </p:cNvSpPr>
          <p:nvPr/>
        </p:nvSpPr>
        <p:spPr>
          <a:xfrm xmlns:a="http://schemas.openxmlformats.org/drawingml/2006/main">
            <a:off x="10668000" y="6553200"/>
            <a:ext cx="762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75" b="0">
                <a:solidFill>
                  <a:srgbClr val="59646A"/>
                </a:solidFill>
                <a:latin typeface="Aptos"/>
                <a:ea typeface="Aptos"/>
                <a:cs typeface="Aptos"/>
              </a:defRPr>
            </a:pPr>
            <a:r>
              <a:rPr sz="675" b="0">
                <a:solidFill>
                  <a:srgbClr val="59646A"/>
                </a:solidFill>
                <a:latin typeface="Aptos"/>
                <a:ea typeface="Aptos"/>
                <a:cs typeface="Aptos"/>
              </a:rPr>
              <a:t>11/15</a:t>
            </a:r>
          </a:p>
        </p:txBody>
      </p:sp>
      <p:sp>
        <p:nvSpPr>
          <p:cNvPr id="37" name="">
            <a:extLst xmlns:a="http://schemas.openxmlformats.org/drawingml/2006/main">
              <a:ext uri="{FF2B5EF4-FFF2-40B4-BE49-F238E27FC236}">
                <a16:creationId xmlns:a16="http://schemas.microsoft.com/office/drawing/2014/main" id="{7EC59190-669E-4BD1-A9ED-2ACDAFAACA1B}"/>
              </a:ext>
            </a:extLst>
          </p:cNvPr>
          <p:cNvSpPr>
            <a:spLocks xmlns:a="http://schemas.openxmlformats.org/drawingml/2006/main" noGrp="1"/>
          </p:cNvSpPr>
          <p:nvPr/>
        </p:nvSpPr>
        <p:spPr>
          <a:xfrm xmlns:a="http://schemas.openxmlformats.org/drawingml/2006/main">
            <a:off x="0" y="0"/>
            <a:ext cx="12192000" cy="1809750"/>
          </a:xfrm>
          <a:prstGeom xmlns:a="http://schemas.openxmlformats.org/drawingml/2006/main" prst="rect">
            <a:avLst/>
          </a:prstGeom>
          <a:solidFill xmlns:a="http://schemas.openxmlformats.org/drawingml/2006/main">
            <a:srgbClr val="F5F6F2"/>
          </a:solidFill>
          <a:ln xmlns:a="http://schemas.openxmlformats.org/drawingml/2006/main" w="0">
            <a:solidFill>
              <a:srgbClr val="000000">
                <a:alpha val="0"/>
              </a:srgbClr>
            </a:solidFill>
            <a:prstDash val="solid"/>
          </a:ln>
        </p:spPr>
      </p:sp>
      <p:sp>
        <p:nvSpPr>
          <p:cNvPr id="38" name="">
            <a:extLst xmlns:a="http://schemas.openxmlformats.org/drawingml/2006/main">
              <a:ext uri="{FF2B5EF4-FFF2-40B4-BE49-F238E27FC236}">
                <a16:creationId xmlns:a16="http://schemas.microsoft.com/office/drawing/2014/main" id="{0BF20CAB-E096-4DA6-BE3B-464A2A6CEBAF}"/>
              </a:ext>
            </a:extLst>
          </p:cNvPr>
          <p:cNvSpPr>
            <a:spLocks xmlns:a="http://schemas.openxmlformats.org/drawingml/2006/main" noGrp="1"/>
          </p:cNvSpPr>
          <p:nvPr/>
        </p:nvSpPr>
        <p:spPr>
          <a:xfrm xmlns:a="http://schemas.openxmlformats.org/drawingml/2006/main">
            <a:off x="0" y="0"/>
            <a:ext cx="171450" cy="1809750"/>
          </a:xfrm>
          <a:prstGeom xmlns:a="http://schemas.openxmlformats.org/drawingml/2006/main" prst="rect">
            <a:avLst/>
          </a:prstGeom>
          <a:solidFill xmlns:a="http://schemas.openxmlformats.org/drawingml/2006/main">
            <a:srgbClr val="12232B"/>
          </a:solidFill>
          <a:ln xmlns:a="http://schemas.openxmlformats.org/drawingml/2006/main" w="0">
            <a:solidFill>
              <a:srgbClr val="000000">
                <a:alpha val="0"/>
              </a:srgbClr>
            </a:solidFill>
            <a:prstDash val="solid"/>
          </a:ln>
        </p:spPr>
      </p:sp>
      <p:sp>
        <p:nvSpPr>
          <p:cNvPr id="39" name="">
            <a:extLst xmlns:a="http://schemas.openxmlformats.org/drawingml/2006/main">
              <a:ext uri="{FF2B5EF4-FFF2-40B4-BE49-F238E27FC236}">
                <a16:creationId xmlns:a16="http://schemas.microsoft.com/office/drawing/2014/main" id="{BD51B174-0691-4AE7-9648-158345CC45F5}"/>
              </a:ext>
            </a:extLst>
          </p:cNvPr>
          <p:cNvSpPr>
            <a:spLocks xmlns:a="http://schemas.openxmlformats.org/drawingml/2006/main" noGrp="1"/>
          </p:cNvSpPr>
          <p:nvPr/>
        </p:nvSpPr>
        <p:spPr>
          <a:xfrm xmlns:a="http://schemas.openxmlformats.org/drawingml/2006/main">
            <a:off x="171450" y="0"/>
            <a:ext cx="57150" cy="180975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40" name="kicker-04-marker">
            <a:extLst xmlns:a="http://schemas.openxmlformats.org/drawingml/2006/main">
              <a:ext uri="{FF2B5EF4-FFF2-40B4-BE49-F238E27FC236}">
                <a16:creationId xmlns:a16="http://schemas.microsoft.com/office/drawing/2014/main" id="{23FEF619-5F72-4BA3-8BD5-8711253C9DEA}"/>
              </a:ext>
            </a:extLst>
          </p:cNvPr>
          <p:cNvSpPr>
            <a:spLocks xmlns:a="http://schemas.openxmlformats.org/drawingml/2006/main" noGrp="1"/>
          </p:cNvSpPr>
          <p:nvPr/>
        </p:nvSpPr>
        <p:spPr>
          <a:xfrm xmlns:a="http://schemas.openxmlformats.org/drawingml/2006/main">
            <a:off x="514350" y="390525"/>
            <a:ext cx="76200" cy="762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41" name="kicker-04-label">
            <a:extLst xmlns:a="http://schemas.openxmlformats.org/drawingml/2006/main">
              <a:ext uri="{FF2B5EF4-FFF2-40B4-BE49-F238E27FC236}">
                <a16:creationId xmlns:a16="http://schemas.microsoft.com/office/drawing/2014/main" id="{60778E5C-ED6E-4C57-8230-4F9D581171F2}"/>
              </a:ext>
            </a:extLst>
          </p:cNvPr>
          <p:cNvSpPr>
            <a:spLocks xmlns:a="http://schemas.openxmlformats.org/drawingml/2006/main" noGrp="1"/>
          </p:cNvSpPr>
          <p:nvPr/>
        </p:nvSpPr>
        <p:spPr>
          <a:xfrm xmlns:a="http://schemas.openxmlformats.org/drawingml/2006/main">
            <a:off x="685800" y="323850"/>
            <a:ext cx="75247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MODULE 1 / LESSON 04 / HUMAN CORRECTION</a:t>
            </a:r>
          </a:p>
        </p:txBody>
      </p:sp>
      <p:sp>
        <p:nvSpPr>
          <p:cNvPr id="42" name="">
            <a:extLst xmlns:a="http://schemas.openxmlformats.org/drawingml/2006/main">
              <a:ext uri="{FF2B5EF4-FFF2-40B4-BE49-F238E27FC236}">
                <a16:creationId xmlns:a16="http://schemas.microsoft.com/office/drawing/2014/main" id="{23814C04-D857-4B91-84D0-B49A6CDBAA12}"/>
              </a:ext>
            </a:extLst>
          </p:cNvPr>
          <p:cNvSpPr>
            <a:spLocks xmlns:a="http://schemas.openxmlformats.org/drawingml/2006/main" noGrp="1"/>
          </p:cNvSpPr>
          <p:nvPr/>
        </p:nvSpPr>
        <p:spPr>
          <a:xfrm xmlns:a="http://schemas.openxmlformats.org/drawingml/2006/main">
            <a:off x="514350" y="704850"/>
            <a:ext cx="8096250" cy="666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250" b="1">
                <a:solidFill>
                  <a:srgbClr val="172026"/>
                </a:solidFill>
                <a:latin typeface="Aptos Display"/>
                <a:ea typeface="Aptos Display"/>
                <a:cs typeface="Aptos Display"/>
              </a:defRPr>
            </a:pPr>
            <a:r>
              <a:rPr sz="2250" b="1">
                <a:solidFill>
                  <a:srgbClr val="172026"/>
                </a:solidFill>
                <a:latin typeface="Aptos Display"/>
                <a:ea typeface="Aptos Display"/>
                <a:cs typeface="Aptos Display"/>
              </a:rPr>
              <a:t>AI can draft structure. Humans must repair industrial reality.</a:t>
            </a:r>
          </a:p>
        </p:txBody>
      </p:sp>
      <p:sp>
        <p:nvSpPr>
          <p:cNvPr id="43" name="">
            <a:extLst xmlns:a="http://schemas.openxmlformats.org/drawingml/2006/main">
              <a:ext uri="{FF2B5EF4-FFF2-40B4-BE49-F238E27FC236}">
                <a16:creationId xmlns:a16="http://schemas.microsoft.com/office/drawing/2014/main" id="{45DFD863-01D4-41F2-9188-07FA09CC236D}"/>
              </a:ext>
            </a:extLst>
          </p:cNvPr>
          <p:cNvSpPr>
            <a:spLocks xmlns:a="http://schemas.openxmlformats.org/drawingml/2006/main" noGrp="1"/>
          </p:cNvSpPr>
          <p:nvPr/>
        </p:nvSpPr>
        <p:spPr>
          <a:xfrm xmlns:a="http://schemas.openxmlformats.org/drawingml/2006/main">
            <a:off x="514350" y="1314450"/>
            <a:ext cx="819150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59646A"/>
                </a:solidFill>
                <a:latin typeface="Aptos"/>
                <a:ea typeface="Aptos"/>
                <a:cs typeface="Aptos"/>
              </a:defRPr>
            </a:pPr>
            <a:r>
              <a:rPr sz="1125" b="0">
                <a:solidFill>
                  <a:srgbClr val="59646A"/>
                </a:solidFill>
                <a:latin typeface="Aptos"/>
                <a:ea typeface="Aptos"/>
                <a:cs typeface="Aptos"/>
              </a:rPr>
              <a:t>This slide gives the instructor a rejection standard.</a:t>
            </a:r>
          </a:p>
        </p:txBody>
      </p:sp>
      <p:sp>
        <p:nvSpPr>
          <p:cNvPr id="44" name="">
            <a:extLst xmlns:a="http://schemas.openxmlformats.org/drawingml/2006/main">
              <a:ext uri="{FF2B5EF4-FFF2-40B4-BE49-F238E27FC236}">
                <a16:creationId xmlns:a16="http://schemas.microsoft.com/office/drawing/2014/main" id="{713B7770-644F-4987-9BD4-90C683618162}"/>
              </a:ext>
            </a:extLst>
          </p:cNvPr>
          <p:cNvSpPr>
            <a:spLocks xmlns:a="http://schemas.openxmlformats.org/drawingml/2006/main" noGrp="1"/>
          </p:cNvSpPr>
          <p:nvPr/>
        </p:nvSpPr>
        <p:spPr>
          <a:xfrm xmlns:a="http://schemas.openxmlformats.org/drawingml/2006/main">
            <a:off x="0" y="6400800"/>
            <a:ext cx="12192000" cy="457200"/>
          </a:xfrm>
          <a:prstGeom xmlns:a="http://schemas.openxmlformats.org/drawingml/2006/main" prst="rect">
            <a:avLst/>
          </a:prstGeom>
          <a:solidFill xmlns:a="http://schemas.openxmlformats.org/drawingml/2006/main">
            <a:srgbClr val="F5F6F2"/>
          </a:solidFill>
          <a:ln xmlns:a="http://schemas.openxmlformats.org/drawingml/2006/main" w="0">
            <a:solidFill>
              <a:srgbClr val="000000">
                <a:alpha val="0"/>
              </a:srgbClr>
            </a:solidFill>
            <a:prstDash val="solid"/>
          </a:ln>
        </p:spPr>
      </p:sp>
      <p:sp>
        <p:nvSpPr>
          <p:cNvPr id="45" name="">
            <a:extLst xmlns:a="http://schemas.openxmlformats.org/drawingml/2006/main">
              <a:ext uri="{FF2B5EF4-FFF2-40B4-BE49-F238E27FC236}">
                <a16:creationId xmlns:a16="http://schemas.microsoft.com/office/drawing/2014/main" id="{35807779-E078-4A74-9C34-46B982B5BC46}"/>
              </a:ext>
            </a:extLst>
          </p:cNvPr>
          <p:cNvSpPr>
            <a:spLocks xmlns:a="http://schemas.openxmlformats.org/drawingml/2006/main" noGrp="1"/>
          </p:cNvSpPr>
          <p:nvPr/>
        </p:nvSpPr>
        <p:spPr>
          <a:xfrm xmlns:a="http://schemas.openxmlformats.org/drawingml/2006/main">
            <a:off x="0" y="6400800"/>
            <a:ext cx="171450" cy="457200"/>
          </a:xfrm>
          <a:prstGeom xmlns:a="http://schemas.openxmlformats.org/drawingml/2006/main" prst="rect">
            <a:avLst/>
          </a:prstGeom>
          <a:solidFill xmlns:a="http://schemas.openxmlformats.org/drawingml/2006/main">
            <a:srgbClr val="12232B"/>
          </a:solidFill>
          <a:ln xmlns:a="http://schemas.openxmlformats.org/drawingml/2006/main" w="0">
            <a:solidFill>
              <a:srgbClr val="000000">
                <a:alpha val="0"/>
              </a:srgbClr>
            </a:solidFill>
            <a:prstDash val="solid"/>
          </a:ln>
        </p:spPr>
      </p:sp>
      <p:sp>
        <p:nvSpPr>
          <p:cNvPr id="46" name="">
            <a:extLst xmlns:a="http://schemas.openxmlformats.org/drawingml/2006/main">
              <a:ext uri="{FF2B5EF4-FFF2-40B4-BE49-F238E27FC236}">
                <a16:creationId xmlns:a16="http://schemas.microsoft.com/office/drawing/2014/main" id="{B959B801-B493-45F4-938E-12068B5115CC}"/>
              </a:ext>
            </a:extLst>
          </p:cNvPr>
          <p:cNvSpPr>
            <a:spLocks xmlns:a="http://schemas.openxmlformats.org/drawingml/2006/main" noGrp="1"/>
          </p:cNvSpPr>
          <p:nvPr/>
        </p:nvSpPr>
        <p:spPr>
          <a:xfrm xmlns:a="http://schemas.openxmlformats.org/drawingml/2006/main">
            <a:off x="171450" y="6400800"/>
            <a:ext cx="57150" cy="4572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47" name="">
            <a:extLst xmlns:a="http://schemas.openxmlformats.org/drawingml/2006/main">
              <a:ext uri="{FF2B5EF4-FFF2-40B4-BE49-F238E27FC236}">
                <a16:creationId xmlns:a16="http://schemas.microsoft.com/office/drawing/2014/main" id="{62CDABFF-B261-4758-9B02-8F4CDEC1CAEA}"/>
              </a:ext>
            </a:extLst>
          </p:cNvPr>
          <p:cNvSpPr>
            <a:spLocks xmlns:a="http://schemas.openxmlformats.org/drawingml/2006/main" noGrp="1"/>
          </p:cNvSpPr>
          <p:nvPr/>
        </p:nvSpPr>
        <p:spPr>
          <a:xfrm xmlns:a="http://schemas.openxmlformats.org/drawingml/2006/main">
            <a:off x="514350" y="6438900"/>
            <a:ext cx="1091565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48" name="">
            <a:extLst xmlns:a="http://schemas.openxmlformats.org/drawingml/2006/main">
              <a:ext uri="{FF2B5EF4-FFF2-40B4-BE49-F238E27FC236}">
                <a16:creationId xmlns:a16="http://schemas.microsoft.com/office/drawing/2014/main" id="{4F50828D-31E3-414A-9267-1E98448BAF4E}"/>
              </a:ext>
            </a:extLst>
          </p:cNvPr>
          <p:cNvSpPr>
            <a:spLocks xmlns:a="http://schemas.openxmlformats.org/drawingml/2006/main" noGrp="1"/>
          </p:cNvSpPr>
          <p:nvPr/>
        </p:nvSpPr>
        <p:spPr>
          <a:xfrm xmlns:a="http://schemas.openxmlformats.org/drawingml/2006/main">
            <a:off x="514350" y="6553200"/>
            <a:ext cx="590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59646A"/>
                </a:solidFill>
                <a:latin typeface="Aptos"/>
                <a:ea typeface="Aptos"/>
                <a:cs typeface="Aptos"/>
              </a:defRPr>
            </a:pPr>
            <a:r>
              <a:rPr sz="675" b="0">
                <a:solidFill>
                  <a:srgbClr val="59646A"/>
                </a:solidFill>
                <a:latin typeface="Aptos"/>
                <a:ea typeface="Aptos"/>
                <a:cs typeface="Aptos"/>
              </a:rPr>
              <a:t>Lesson 04 - MOIN: Map Of Informational Needs</a:t>
            </a:r>
          </a:p>
        </p:txBody>
      </p:sp>
      <p:sp>
        <p:nvSpPr>
          <p:cNvPr id="49" name="">
            <a:extLst xmlns:a="http://schemas.openxmlformats.org/drawingml/2006/main">
              <a:ext uri="{FF2B5EF4-FFF2-40B4-BE49-F238E27FC236}">
                <a16:creationId xmlns:a16="http://schemas.microsoft.com/office/drawing/2014/main" id="{D4F77FD8-42BD-4FA9-89C9-CFA44E9CAE51}"/>
              </a:ext>
            </a:extLst>
          </p:cNvPr>
          <p:cNvSpPr>
            <a:spLocks xmlns:a="http://schemas.openxmlformats.org/drawingml/2006/main" noGrp="1"/>
          </p:cNvSpPr>
          <p:nvPr/>
        </p:nvSpPr>
        <p:spPr>
          <a:xfrm xmlns:a="http://schemas.openxmlformats.org/drawingml/2006/main">
            <a:off x="5334000" y="6553200"/>
            <a:ext cx="4095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00" b="0">
                <a:solidFill>
                  <a:srgbClr val="59646A"/>
                </a:solidFill>
                <a:latin typeface="Aptos"/>
                <a:ea typeface="Aptos"/>
                <a:cs typeface="Aptos"/>
              </a:defRPr>
            </a:pPr>
            <a:r>
              <a:rPr sz="600" b="0">
                <a:solidFill>
                  <a:srgbClr val="59646A"/>
                </a:solidFill>
                <a:latin typeface="Aptos"/>
                <a:ea typeface="Aptos"/>
                <a:cs typeface="Aptos"/>
              </a:rPr>
              <a:t>Source: modules/module-01-industrial-demand-generation/lessons/04-moin-map-of-informational-needs.md @ 9e28222</a:t>
            </a:r>
          </a:p>
        </p:txBody>
      </p:sp>
      <p:sp>
        <p:nvSpPr>
          <p:cNvPr id="50" name="">
            <a:extLst xmlns:a="http://schemas.openxmlformats.org/drawingml/2006/main">
              <a:ext uri="{FF2B5EF4-FFF2-40B4-BE49-F238E27FC236}">
                <a16:creationId xmlns:a16="http://schemas.microsoft.com/office/drawing/2014/main" id="{39279954-BBBD-4C81-9706-FFAA37F050E2}"/>
              </a:ext>
            </a:extLst>
          </p:cNvPr>
          <p:cNvSpPr>
            <a:spLocks xmlns:a="http://schemas.openxmlformats.org/drawingml/2006/main" noGrp="1"/>
          </p:cNvSpPr>
          <p:nvPr/>
        </p:nvSpPr>
        <p:spPr>
          <a:xfrm xmlns:a="http://schemas.openxmlformats.org/drawingml/2006/main">
            <a:off x="10668000" y="6553200"/>
            <a:ext cx="762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75" b="0">
                <a:solidFill>
                  <a:srgbClr val="59646A"/>
                </a:solidFill>
                <a:latin typeface="Aptos"/>
                <a:ea typeface="Aptos"/>
                <a:cs typeface="Aptos"/>
              </a:defRPr>
            </a:pPr>
            <a:r>
              <a:rPr sz="675" b="0">
                <a:solidFill>
                  <a:srgbClr val="59646A"/>
                </a:solidFill>
                <a:latin typeface="Aptos"/>
                <a:ea typeface="Aptos"/>
                <a:cs typeface="Aptos"/>
              </a:rPr>
              <a:t>11/15</a:t>
            </a:r>
          </a:p>
        </p:txBody>
      </p:sp>
    </p:spTree>
    <p:extLst>
      <p:ext uri="{BB962C8B-B14F-4D97-AF65-F5344CB8AC3E}">
        <p14:creationId xmlns:p14="http://schemas.microsoft.com/office/powerpoint/2010/main" val="1390718229"/>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8C716B68-42FB-48CD-A8A2-BB8815B7BCE5}"/>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6F2"/>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5BDC2509-64F7-4EDB-B4BB-6A3EA7A42DFE}"/>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12232B"/>
          </a:solidFill>
          <a:ln xmlns:a="http://schemas.openxmlformats.org/drawingml/2006/main" w="0">
            <a:solidFill>
              <a:srgbClr val="000000">
                <a:alpha val="0"/>
              </a:srgbClr>
            </a:solidFill>
            <a:prstDash val="solid"/>
          </a:ln>
        </p:spPr>
      </p:sp>
      <p:sp>
        <p:nvSpPr>
          <p:cNvPr id="3" name="">
            <a:extLst xmlns:a="http://schemas.openxmlformats.org/drawingml/2006/main">
              <a:ext uri="{FF2B5EF4-FFF2-40B4-BE49-F238E27FC236}">
                <a16:creationId xmlns:a16="http://schemas.microsoft.com/office/drawing/2014/main" id="{B9CDD4E5-E799-472A-BF41-15D27873CADE}"/>
              </a:ext>
            </a:extLst>
          </p:cNvPr>
          <p:cNvSpPr>
            <a:spLocks xmlns:a="http://schemas.openxmlformats.org/drawingml/2006/main" noGrp="1"/>
          </p:cNvSpPr>
          <p:nvPr/>
        </p:nvSpPr>
        <p:spPr>
          <a:xfrm xmlns:a="http://schemas.openxmlformats.org/drawingml/2006/main">
            <a:off x="171450" y="0"/>
            <a:ext cx="57150" cy="68580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4" name="kicker-04-marker">
            <a:extLst xmlns:a="http://schemas.openxmlformats.org/drawingml/2006/main">
              <a:ext uri="{FF2B5EF4-FFF2-40B4-BE49-F238E27FC236}">
                <a16:creationId xmlns:a16="http://schemas.microsoft.com/office/drawing/2014/main" id="{E7722A46-4BEF-4EC8-B7AE-29C49DABE63E}"/>
              </a:ext>
            </a:extLst>
          </p:cNvPr>
          <p:cNvSpPr>
            <a:spLocks xmlns:a="http://schemas.openxmlformats.org/drawingml/2006/main" noGrp="1"/>
          </p:cNvSpPr>
          <p:nvPr/>
        </p:nvSpPr>
        <p:spPr>
          <a:xfrm xmlns:a="http://schemas.openxmlformats.org/drawingml/2006/main">
            <a:off x="514350" y="390525"/>
            <a:ext cx="76200" cy="762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5" name="kicker-04-label">
            <a:extLst xmlns:a="http://schemas.openxmlformats.org/drawingml/2006/main">
              <a:ext uri="{FF2B5EF4-FFF2-40B4-BE49-F238E27FC236}">
                <a16:creationId xmlns:a16="http://schemas.microsoft.com/office/drawing/2014/main" id="{E61A2264-DE51-4868-9E3E-8E75E85587FB}"/>
              </a:ext>
            </a:extLst>
          </p:cNvPr>
          <p:cNvSpPr>
            <a:spLocks xmlns:a="http://schemas.openxmlformats.org/drawingml/2006/main" noGrp="1"/>
          </p:cNvSpPr>
          <p:nvPr/>
        </p:nvSpPr>
        <p:spPr>
          <a:xfrm xmlns:a="http://schemas.openxmlformats.org/drawingml/2006/main">
            <a:off x="685800" y="323850"/>
            <a:ext cx="75247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MODULE 1 / LESSON 04 / REVOPS TRANSLATION</a:t>
            </a:r>
          </a:p>
        </p:txBody>
      </p:sp>
      <p:sp>
        <p:nvSpPr>
          <p:cNvPr id="6" name="">
            <a:extLst xmlns:a="http://schemas.openxmlformats.org/drawingml/2006/main">
              <a:ext uri="{FF2B5EF4-FFF2-40B4-BE49-F238E27FC236}">
                <a16:creationId xmlns:a16="http://schemas.microsoft.com/office/drawing/2014/main" id="{85E2975B-4F68-46C1-8A0E-5354CA6BF62B}"/>
              </a:ext>
            </a:extLst>
          </p:cNvPr>
          <p:cNvSpPr>
            <a:spLocks xmlns:a="http://schemas.openxmlformats.org/drawingml/2006/main" noGrp="1"/>
          </p:cNvSpPr>
          <p:nvPr/>
        </p:nvSpPr>
        <p:spPr>
          <a:xfrm xmlns:a="http://schemas.openxmlformats.org/drawingml/2006/main">
            <a:off x="514350" y="704850"/>
            <a:ext cx="8096250" cy="666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250" b="1">
                <a:solidFill>
                  <a:srgbClr val="172026"/>
                </a:solidFill>
                <a:latin typeface="Aptos Display"/>
                <a:ea typeface="Aptos Display"/>
                <a:cs typeface="Aptos Display"/>
              </a:defRPr>
            </a:pPr>
            <a:r>
              <a:rPr sz="2250" b="1">
                <a:solidFill>
                  <a:srgbClr val="172026"/>
                </a:solidFill>
                <a:latin typeface="Aptos Display"/>
                <a:ea typeface="Aptos Display"/>
                <a:cs typeface="Aptos Display"/>
              </a:rPr>
              <a:t>MOIN creates content metadata and signal meaning.</a:t>
            </a:r>
          </a:p>
        </p:txBody>
      </p:sp>
      <p:sp>
        <p:nvSpPr>
          <p:cNvPr id="7" name="">
            <a:extLst xmlns:a="http://schemas.openxmlformats.org/drawingml/2006/main">
              <a:ext uri="{FF2B5EF4-FFF2-40B4-BE49-F238E27FC236}">
                <a16:creationId xmlns:a16="http://schemas.microsoft.com/office/drawing/2014/main" id="{AE33BC5B-A4EA-4A91-AC17-32178B470E54}"/>
              </a:ext>
            </a:extLst>
          </p:cNvPr>
          <p:cNvSpPr>
            <a:spLocks xmlns:a="http://schemas.openxmlformats.org/drawingml/2006/main" noGrp="1"/>
          </p:cNvSpPr>
          <p:nvPr/>
        </p:nvSpPr>
        <p:spPr>
          <a:xfrm xmlns:a="http://schemas.openxmlformats.org/drawingml/2006/main">
            <a:off x="514350" y="1314450"/>
            <a:ext cx="819150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59646A"/>
                </a:solidFill>
                <a:latin typeface="Aptos"/>
                <a:ea typeface="Aptos"/>
                <a:cs typeface="Aptos"/>
              </a:defRPr>
            </a:pPr>
            <a:r>
              <a:rPr sz="1125" b="0">
                <a:solidFill>
                  <a:srgbClr val="59646A"/>
                </a:solidFill>
                <a:latin typeface="Aptos"/>
                <a:ea typeface="Aptos"/>
                <a:cs typeface="Aptos"/>
              </a:rPr>
              <a:t>Every artifact must become inspectable in a field, board, owner model, or cadence.</a:t>
            </a:r>
          </a:p>
        </p:txBody>
      </p:sp>
      <p:sp>
        <p:nvSpPr>
          <p:cNvPr id="8" name="">
            <a:extLst xmlns:a="http://schemas.openxmlformats.org/drawingml/2006/main">
              <a:ext uri="{FF2B5EF4-FFF2-40B4-BE49-F238E27FC236}">
                <a16:creationId xmlns:a16="http://schemas.microsoft.com/office/drawing/2014/main" id="{55D602E5-BB87-44B1-B80A-336E7D4C30B3}"/>
              </a:ext>
            </a:extLst>
          </p:cNvPr>
          <p:cNvSpPr>
            <a:spLocks xmlns:a="http://schemas.openxmlformats.org/drawingml/2006/main" noGrp="1"/>
          </p:cNvSpPr>
          <p:nvPr/>
        </p:nvSpPr>
        <p:spPr>
          <a:xfrm xmlns:a="http://schemas.openxmlformats.org/drawingml/2006/main">
            <a:off x="514350" y="6438900"/>
            <a:ext cx="1091565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EA1112FC-1B62-453A-9997-FB35CD35254F}"/>
              </a:ext>
            </a:extLst>
          </p:cNvPr>
          <p:cNvSpPr>
            <a:spLocks xmlns:a="http://schemas.openxmlformats.org/drawingml/2006/main" noGrp="1"/>
          </p:cNvSpPr>
          <p:nvPr/>
        </p:nvSpPr>
        <p:spPr>
          <a:xfrm xmlns:a="http://schemas.openxmlformats.org/drawingml/2006/main">
            <a:off x="514350" y="6553200"/>
            <a:ext cx="590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59646A"/>
                </a:solidFill>
                <a:latin typeface="Aptos"/>
                <a:ea typeface="Aptos"/>
                <a:cs typeface="Aptos"/>
              </a:defRPr>
            </a:pPr>
            <a:r>
              <a:rPr sz="675" b="0">
                <a:solidFill>
                  <a:srgbClr val="59646A"/>
                </a:solidFill>
                <a:latin typeface="Aptos"/>
                <a:ea typeface="Aptos"/>
                <a:cs typeface="Aptos"/>
              </a:rPr>
              <a:t>Lesson 04 - MOIN: Map Of Informational Needs</a:t>
            </a:r>
          </a:p>
        </p:txBody>
      </p:sp>
      <p:sp>
        <p:nvSpPr>
          <p:cNvPr id="10" name="">
            <a:extLst xmlns:a="http://schemas.openxmlformats.org/drawingml/2006/main">
              <a:ext uri="{FF2B5EF4-FFF2-40B4-BE49-F238E27FC236}">
                <a16:creationId xmlns:a16="http://schemas.microsoft.com/office/drawing/2014/main" id="{35F09056-81D3-42AC-8EDA-99FC10C0ECA6}"/>
              </a:ext>
            </a:extLst>
          </p:cNvPr>
          <p:cNvSpPr>
            <a:spLocks xmlns:a="http://schemas.openxmlformats.org/drawingml/2006/main" noGrp="1"/>
          </p:cNvSpPr>
          <p:nvPr/>
        </p:nvSpPr>
        <p:spPr>
          <a:xfrm xmlns:a="http://schemas.openxmlformats.org/drawingml/2006/main">
            <a:off x="5334000" y="6553200"/>
            <a:ext cx="4095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00" b="0">
                <a:solidFill>
                  <a:srgbClr val="59646A"/>
                </a:solidFill>
                <a:latin typeface="Aptos"/>
                <a:ea typeface="Aptos"/>
                <a:cs typeface="Aptos"/>
              </a:defRPr>
            </a:pPr>
            <a:r>
              <a:rPr sz="600" b="0">
                <a:solidFill>
                  <a:srgbClr val="59646A"/>
                </a:solidFill>
                <a:latin typeface="Aptos"/>
                <a:ea typeface="Aptos"/>
                <a:cs typeface="Aptos"/>
              </a:rPr>
              <a:t>Source: modules/module-01-industrial-demand-generation/lessons/04-moin-map-of-informational-needs.md @ 9e28222</a:t>
            </a:r>
          </a:p>
        </p:txBody>
      </p:sp>
      <p:sp>
        <p:nvSpPr>
          <p:cNvPr id="11" name="">
            <a:extLst xmlns:a="http://schemas.openxmlformats.org/drawingml/2006/main">
              <a:ext uri="{FF2B5EF4-FFF2-40B4-BE49-F238E27FC236}">
                <a16:creationId xmlns:a16="http://schemas.microsoft.com/office/drawing/2014/main" id="{D1995114-4340-4E9A-9B30-10FAAFA092C6}"/>
              </a:ext>
            </a:extLst>
          </p:cNvPr>
          <p:cNvSpPr>
            <a:spLocks xmlns:a="http://schemas.openxmlformats.org/drawingml/2006/main" noGrp="1"/>
          </p:cNvSpPr>
          <p:nvPr/>
        </p:nvSpPr>
        <p:spPr>
          <a:xfrm xmlns:a="http://schemas.openxmlformats.org/drawingml/2006/main">
            <a:off x="10668000" y="6553200"/>
            <a:ext cx="762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75" b="0">
                <a:solidFill>
                  <a:srgbClr val="59646A"/>
                </a:solidFill>
                <a:latin typeface="Aptos"/>
                <a:ea typeface="Aptos"/>
                <a:cs typeface="Aptos"/>
              </a:defRPr>
            </a:pPr>
            <a:r>
              <a:rPr sz="675" b="0">
                <a:solidFill>
                  <a:srgbClr val="59646A"/>
                </a:solidFill>
                <a:latin typeface="Aptos"/>
                <a:ea typeface="Aptos"/>
                <a:cs typeface="Aptos"/>
              </a:rPr>
              <a:t>12/15</a:t>
            </a:r>
          </a:p>
        </p:txBody>
      </p:sp>
      <p:sp>
        <p:nvSpPr>
          <p:cNvPr id="12" name="">
            <a:extLst xmlns:a="http://schemas.openxmlformats.org/drawingml/2006/main">
              <a:ext uri="{FF2B5EF4-FFF2-40B4-BE49-F238E27FC236}">
                <a16:creationId xmlns:a16="http://schemas.microsoft.com/office/drawing/2014/main" id="{B4B131EF-CC23-45E0-8536-135569D13290}"/>
              </a:ext>
            </a:extLst>
          </p:cNvPr>
          <p:cNvSpPr>
            <a:spLocks xmlns:a="http://schemas.openxmlformats.org/drawingml/2006/main" noGrp="1"/>
          </p:cNvSpPr>
          <p:nvPr/>
        </p:nvSpPr>
        <p:spPr>
          <a:xfrm xmlns:a="http://schemas.openxmlformats.org/drawingml/2006/main">
            <a:off x="666750" y="2266950"/>
            <a:ext cx="333375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D9DDD6"/>
            </a:solidFill>
            <a:prstDash val="solid"/>
          </a:ln>
        </p:spPr>
      </p:sp>
      <p:sp>
        <p:nvSpPr>
          <p:cNvPr id="13" name="">
            <a:extLst xmlns:a="http://schemas.openxmlformats.org/drawingml/2006/main">
              <a:ext uri="{FF2B5EF4-FFF2-40B4-BE49-F238E27FC236}">
                <a16:creationId xmlns:a16="http://schemas.microsoft.com/office/drawing/2014/main" id="{88AB88E3-350B-49DA-85B6-C70B2EBC88B7}"/>
              </a:ext>
            </a:extLst>
          </p:cNvPr>
          <p:cNvSpPr>
            <a:spLocks xmlns:a="http://schemas.openxmlformats.org/drawingml/2006/main" noGrp="1"/>
          </p:cNvSpPr>
          <p:nvPr/>
        </p:nvSpPr>
        <p:spPr>
          <a:xfrm xmlns:a="http://schemas.openxmlformats.org/drawingml/2006/main">
            <a:off x="666750" y="2266950"/>
            <a:ext cx="57150" cy="704850"/>
          </a:xfrm>
          <a:prstGeom xmlns:a="http://schemas.openxmlformats.org/drawingml/2006/main" prst="rect">
            <a:avLst/>
          </a:prstGeom>
          <a:solidFill xmlns:a="http://schemas.openxmlformats.org/drawingml/2006/main">
            <a:srgbClr val="1D6072"/>
          </a:solidFill>
          <a:ln xmlns:a="http://schemas.openxmlformats.org/drawingml/2006/main" w="0">
            <a:solidFill>
              <a:srgbClr val="000000">
                <a:alpha val="0"/>
              </a:srgbClr>
            </a:solidFill>
            <a:prstDash val="solid"/>
          </a:ln>
        </p:spPr>
      </p:sp>
      <p:sp>
        <p:nvSpPr>
          <p:cNvPr id="14" name="">
            <a:extLst xmlns:a="http://schemas.openxmlformats.org/drawingml/2006/main">
              <a:ext uri="{FF2B5EF4-FFF2-40B4-BE49-F238E27FC236}">
                <a16:creationId xmlns:a16="http://schemas.microsoft.com/office/drawing/2014/main" id="{099DE8EB-DCDA-46FD-8A83-155E8EFC6B00}"/>
              </a:ext>
            </a:extLst>
          </p:cNvPr>
          <p:cNvSpPr>
            <a:spLocks xmlns:a="http://schemas.openxmlformats.org/drawingml/2006/main" noGrp="1"/>
          </p:cNvSpPr>
          <p:nvPr/>
        </p:nvSpPr>
        <p:spPr>
          <a:xfrm xmlns:a="http://schemas.openxmlformats.org/drawingml/2006/main">
            <a:off x="876300" y="2438400"/>
            <a:ext cx="293370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1200" b="1">
                <a:solidFill>
                  <a:srgbClr val="172026"/>
                </a:solidFill>
                <a:latin typeface="Aptos"/>
                <a:ea typeface="Aptos"/>
                <a:cs typeface="Aptos"/>
              </a:defRPr>
            </a:pPr>
            <a:r>
              <a:rPr sz="1200" b="1">
                <a:solidFill>
                  <a:srgbClr val="172026"/>
                </a:solidFill>
                <a:latin typeface="Aptos"/>
                <a:ea typeface="Aptos"/>
                <a:cs typeface="Aptos"/>
              </a:rPr>
              <a:t>Asset demand state</a:t>
            </a:r>
          </a:p>
        </p:txBody>
      </p:sp>
      <p:sp>
        <p:nvSpPr>
          <p:cNvPr id="15" name="">
            <a:extLst xmlns:a="http://schemas.openxmlformats.org/drawingml/2006/main">
              <a:ext uri="{FF2B5EF4-FFF2-40B4-BE49-F238E27FC236}">
                <a16:creationId xmlns:a16="http://schemas.microsoft.com/office/drawing/2014/main" id="{14622944-E8AD-4CC2-B96D-D72E12D272D7}"/>
              </a:ext>
            </a:extLst>
          </p:cNvPr>
          <p:cNvSpPr>
            <a:spLocks xmlns:a="http://schemas.openxmlformats.org/drawingml/2006/main" noGrp="1"/>
          </p:cNvSpPr>
          <p:nvPr/>
        </p:nvSpPr>
        <p:spPr>
          <a:xfrm xmlns:a="http://schemas.openxmlformats.org/drawingml/2006/main">
            <a:off x="4305300" y="2266950"/>
            <a:ext cx="333375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D9DDD6"/>
            </a:solidFill>
            <a:prstDash val="solid"/>
          </a:ln>
        </p:spPr>
      </p:sp>
      <p:sp>
        <p:nvSpPr>
          <p:cNvPr id="16" name="">
            <a:extLst xmlns:a="http://schemas.openxmlformats.org/drawingml/2006/main">
              <a:ext uri="{FF2B5EF4-FFF2-40B4-BE49-F238E27FC236}">
                <a16:creationId xmlns:a16="http://schemas.microsoft.com/office/drawing/2014/main" id="{E0DB323C-1BA9-4D14-B6BE-C2D4D0F2E4C3}"/>
              </a:ext>
            </a:extLst>
          </p:cNvPr>
          <p:cNvSpPr>
            <a:spLocks xmlns:a="http://schemas.openxmlformats.org/drawingml/2006/main" noGrp="1"/>
          </p:cNvSpPr>
          <p:nvPr/>
        </p:nvSpPr>
        <p:spPr>
          <a:xfrm xmlns:a="http://schemas.openxmlformats.org/drawingml/2006/main">
            <a:off x="4305300" y="2266950"/>
            <a:ext cx="57150" cy="70485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17" name="">
            <a:extLst xmlns:a="http://schemas.openxmlformats.org/drawingml/2006/main">
              <a:ext uri="{FF2B5EF4-FFF2-40B4-BE49-F238E27FC236}">
                <a16:creationId xmlns:a16="http://schemas.microsoft.com/office/drawing/2014/main" id="{A03F5DE7-988F-4E94-8C22-2A12570C9249}"/>
              </a:ext>
            </a:extLst>
          </p:cNvPr>
          <p:cNvSpPr>
            <a:spLocks xmlns:a="http://schemas.openxmlformats.org/drawingml/2006/main" noGrp="1"/>
          </p:cNvSpPr>
          <p:nvPr/>
        </p:nvSpPr>
        <p:spPr>
          <a:xfrm xmlns:a="http://schemas.openxmlformats.org/drawingml/2006/main">
            <a:off x="4514850" y="2438400"/>
            <a:ext cx="293370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1200" b="1">
                <a:solidFill>
                  <a:srgbClr val="172026"/>
                </a:solidFill>
                <a:latin typeface="Aptos"/>
                <a:ea typeface="Aptos"/>
                <a:cs typeface="Aptos"/>
              </a:defRPr>
            </a:pPr>
            <a:r>
              <a:rPr sz="1200" b="1">
                <a:solidFill>
                  <a:srgbClr val="172026"/>
                </a:solidFill>
                <a:latin typeface="Aptos"/>
                <a:ea typeface="Aptos"/>
                <a:cs typeface="Aptos"/>
              </a:rPr>
              <a:t>Buyer role served</a:t>
            </a:r>
          </a:p>
        </p:txBody>
      </p:sp>
      <p:sp>
        <p:nvSpPr>
          <p:cNvPr id="18" name="">
            <a:extLst xmlns:a="http://schemas.openxmlformats.org/drawingml/2006/main">
              <a:ext uri="{FF2B5EF4-FFF2-40B4-BE49-F238E27FC236}">
                <a16:creationId xmlns:a16="http://schemas.microsoft.com/office/drawing/2014/main" id="{125AC4B0-ABDC-48C4-BC05-437E1EABFDCC}"/>
              </a:ext>
            </a:extLst>
          </p:cNvPr>
          <p:cNvSpPr>
            <a:spLocks xmlns:a="http://schemas.openxmlformats.org/drawingml/2006/main" noGrp="1"/>
          </p:cNvSpPr>
          <p:nvPr/>
        </p:nvSpPr>
        <p:spPr>
          <a:xfrm xmlns:a="http://schemas.openxmlformats.org/drawingml/2006/main">
            <a:off x="7943850" y="2266950"/>
            <a:ext cx="333375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D9DDD6"/>
            </a:solidFill>
            <a:prstDash val="solid"/>
          </a:ln>
        </p:spPr>
      </p:sp>
      <p:sp>
        <p:nvSpPr>
          <p:cNvPr id="19" name="">
            <a:extLst xmlns:a="http://schemas.openxmlformats.org/drawingml/2006/main">
              <a:ext uri="{FF2B5EF4-FFF2-40B4-BE49-F238E27FC236}">
                <a16:creationId xmlns:a16="http://schemas.microsoft.com/office/drawing/2014/main" id="{4DB17BD3-561F-4C58-B76F-97F37649EE49}"/>
              </a:ext>
            </a:extLst>
          </p:cNvPr>
          <p:cNvSpPr>
            <a:spLocks xmlns:a="http://schemas.openxmlformats.org/drawingml/2006/main" noGrp="1"/>
          </p:cNvSpPr>
          <p:nvPr/>
        </p:nvSpPr>
        <p:spPr>
          <a:xfrm xmlns:a="http://schemas.openxmlformats.org/drawingml/2006/main">
            <a:off x="7943850" y="2266950"/>
            <a:ext cx="57150" cy="704850"/>
          </a:xfrm>
          <a:prstGeom xmlns:a="http://schemas.openxmlformats.org/drawingml/2006/main" prst="rect">
            <a:avLst/>
          </a:prstGeom>
          <a:solidFill xmlns:a="http://schemas.openxmlformats.org/drawingml/2006/main">
            <a:srgbClr val="667A39"/>
          </a:solidFill>
          <a:ln xmlns:a="http://schemas.openxmlformats.org/drawingml/2006/main" w="0">
            <a:solidFill>
              <a:srgbClr val="000000">
                <a:alpha val="0"/>
              </a:srgbClr>
            </a:solidFill>
            <a:prstDash val="solid"/>
          </a:ln>
        </p:spPr>
      </p:sp>
      <p:sp>
        <p:nvSpPr>
          <p:cNvPr id="20" name="">
            <a:extLst xmlns:a="http://schemas.openxmlformats.org/drawingml/2006/main">
              <a:ext uri="{FF2B5EF4-FFF2-40B4-BE49-F238E27FC236}">
                <a16:creationId xmlns:a16="http://schemas.microsoft.com/office/drawing/2014/main" id="{9461154F-C56F-41EC-BAD3-8D31789F036E}"/>
              </a:ext>
            </a:extLst>
          </p:cNvPr>
          <p:cNvSpPr>
            <a:spLocks xmlns:a="http://schemas.openxmlformats.org/drawingml/2006/main" noGrp="1"/>
          </p:cNvSpPr>
          <p:nvPr/>
        </p:nvSpPr>
        <p:spPr>
          <a:xfrm xmlns:a="http://schemas.openxmlformats.org/drawingml/2006/main">
            <a:off x="8153400" y="2438400"/>
            <a:ext cx="293370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1200" b="1">
                <a:solidFill>
                  <a:srgbClr val="172026"/>
                </a:solidFill>
                <a:latin typeface="Aptos"/>
                <a:ea typeface="Aptos"/>
                <a:cs typeface="Aptos"/>
              </a:defRPr>
            </a:pPr>
            <a:r>
              <a:rPr sz="1200" b="1">
                <a:solidFill>
                  <a:srgbClr val="172026"/>
                </a:solidFill>
                <a:latin typeface="Aptos"/>
                <a:ea typeface="Aptos"/>
                <a:cs typeface="Aptos"/>
              </a:rPr>
              <a:t>Account cluster</a:t>
            </a:r>
          </a:p>
        </p:txBody>
      </p:sp>
      <p:sp>
        <p:nvSpPr>
          <p:cNvPr id="21" name="">
            <a:extLst xmlns:a="http://schemas.openxmlformats.org/drawingml/2006/main">
              <a:ext uri="{FF2B5EF4-FFF2-40B4-BE49-F238E27FC236}">
                <a16:creationId xmlns:a16="http://schemas.microsoft.com/office/drawing/2014/main" id="{82175A10-56F3-4CE5-A56D-8D98150885DE}"/>
              </a:ext>
            </a:extLst>
          </p:cNvPr>
          <p:cNvSpPr>
            <a:spLocks xmlns:a="http://schemas.openxmlformats.org/drawingml/2006/main" noGrp="1"/>
          </p:cNvSpPr>
          <p:nvPr/>
        </p:nvSpPr>
        <p:spPr>
          <a:xfrm xmlns:a="http://schemas.openxmlformats.org/drawingml/2006/main">
            <a:off x="666750" y="3162300"/>
            <a:ext cx="333375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D9DDD6"/>
            </a:solidFill>
            <a:prstDash val="solid"/>
          </a:ln>
        </p:spPr>
      </p:sp>
      <p:sp>
        <p:nvSpPr>
          <p:cNvPr id="22" name="">
            <a:extLst xmlns:a="http://schemas.openxmlformats.org/drawingml/2006/main">
              <a:ext uri="{FF2B5EF4-FFF2-40B4-BE49-F238E27FC236}">
                <a16:creationId xmlns:a16="http://schemas.microsoft.com/office/drawing/2014/main" id="{7DFE704F-18DB-4B9C-A8A8-EC6D84FAFCE8}"/>
              </a:ext>
            </a:extLst>
          </p:cNvPr>
          <p:cNvSpPr>
            <a:spLocks xmlns:a="http://schemas.openxmlformats.org/drawingml/2006/main" noGrp="1"/>
          </p:cNvSpPr>
          <p:nvPr/>
        </p:nvSpPr>
        <p:spPr>
          <a:xfrm xmlns:a="http://schemas.openxmlformats.org/drawingml/2006/main">
            <a:off x="666750" y="3162300"/>
            <a:ext cx="57150" cy="704850"/>
          </a:xfrm>
          <a:prstGeom xmlns:a="http://schemas.openxmlformats.org/drawingml/2006/main" prst="rect">
            <a:avLst/>
          </a:prstGeom>
          <a:solidFill xmlns:a="http://schemas.openxmlformats.org/drawingml/2006/main">
            <a:srgbClr val="1D6072"/>
          </a:solidFill>
          <a:ln xmlns:a="http://schemas.openxmlformats.org/drawingml/2006/main" w="0">
            <a:solidFill>
              <a:srgbClr val="000000">
                <a:alpha val="0"/>
              </a:srgbClr>
            </a:solidFill>
            <a:prstDash val="solid"/>
          </a:ln>
        </p:spPr>
      </p:sp>
      <p:sp>
        <p:nvSpPr>
          <p:cNvPr id="23" name="">
            <a:extLst xmlns:a="http://schemas.openxmlformats.org/drawingml/2006/main">
              <a:ext uri="{FF2B5EF4-FFF2-40B4-BE49-F238E27FC236}">
                <a16:creationId xmlns:a16="http://schemas.microsoft.com/office/drawing/2014/main" id="{866672D2-2AC3-45AE-85BF-708E2947E76A}"/>
              </a:ext>
            </a:extLst>
          </p:cNvPr>
          <p:cNvSpPr>
            <a:spLocks xmlns:a="http://schemas.openxmlformats.org/drawingml/2006/main" noGrp="1"/>
          </p:cNvSpPr>
          <p:nvPr/>
        </p:nvSpPr>
        <p:spPr>
          <a:xfrm xmlns:a="http://schemas.openxmlformats.org/drawingml/2006/main">
            <a:off x="876300" y="3333750"/>
            <a:ext cx="293370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1200" b="1">
                <a:solidFill>
                  <a:srgbClr val="172026"/>
                </a:solidFill>
                <a:latin typeface="Aptos"/>
                <a:ea typeface="Aptos"/>
                <a:cs typeface="Aptos"/>
              </a:defRPr>
            </a:pPr>
            <a:r>
              <a:rPr sz="1200" b="1">
                <a:solidFill>
                  <a:srgbClr val="172026"/>
                </a:solidFill>
                <a:latin typeface="Aptos"/>
                <a:ea typeface="Aptos"/>
                <a:cs typeface="Aptos"/>
              </a:rPr>
              <a:t>Question answered</a:t>
            </a:r>
          </a:p>
        </p:txBody>
      </p:sp>
      <p:sp>
        <p:nvSpPr>
          <p:cNvPr id="24" name="">
            <a:extLst xmlns:a="http://schemas.openxmlformats.org/drawingml/2006/main">
              <a:ext uri="{FF2B5EF4-FFF2-40B4-BE49-F238E27FC236}">
                <a16:creationId xmlns:a16="http://schemas.microsoft.com/office/drawing/2014/main" id="{22F80FA2-1BD9-4B0C-8A72-75DD69FA70ED}"/>
              </a:ext>
            </a:extLst>
          </p:cNvPr>
          <p:cNvSpPr>
            <a:spLocks xmlns:a="http://schemas.openxmlformats.org/drawingml/2006/main" noGrp="1"/>
          </p:cNvSpPr>
          <p:nvPr/>
        </p:nvSpPr>
        <p:spPr>
          <a:xfrm xmlns:a="http://schemas.openxmlformats.org/drawingml/2006/main">
            <a:off x="4305300" y="3162300"/>
            <a:ext cx="333375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D9DDD6"/>
            </a:solidFill>
            <a:prstDash val="solid"/>
          </a:ln>
        </p:spPr>
      </p:sp>
      <p:sp>
        <p:nvSpPr>
          <p:cNvPr id="25" name="">
            <a:extLst xmlns:a="http://schemas.openxmlformats.org/drawingml/2006/main">
              <a:ext uri="{FF2B5EF4-FFF2-40B4-BE49-F238E27FC236}">
                <a16:creationId xmlns:a16="http://schemas.microsoft.com/office/drawing/2014/main" id="{8F7C128C-5A9C-497C-8247-D227D0143C26}"/>
              </a:ext>
            </a:extLst>
          </p:cNvPr>
          <p:cNvSpPr>
            <a:spLocks xmlns:a="http://schemas.openxmlformats.org/drawingml/2006/main" noGrp="1"/>
          </p:cNvSpPr>
          <p:nvPr/>
        </p:nvSpPr>
        <p:spPr>
          <a:xfrm xmlns:a="http://schemas.openxmlformats.org/drawingml/2006/main">
            <a:off x="4305300" y="3162300"/>
            <a:ext cx="57150" cy="70485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26" name="">
            <a:extLst xmlns:a="http://schemas.openxmlformats.org/drawingml/2006/main">
              <a:ext uri="{FF2B5EF4-FFF2-40B4-BE49-F238E27FC236}">
                <a16:creationId xmlns:a16="http://schemas.microsoft.com/office/drawing/2014/main" id="{873DEF9B-78DE-4995-A9B7-64244EE5BFF7}"/>
              </a:ext>
            </a:extLst>
          </p:cNvPr>
          <p:cNvSpPr>
            <a:spLocks xmlns:a="http://schemas.openxmlformats.org/drawingml/2006/main" noGrp="1"/>
          </p:cNvSpPr>
          <p:nvPr/>
        </p:nvSpPr>
        <p:spPr>
          <a:xfrm xmlns:a="http://schemas.openxmlformats.org/drawingml/2006/main">
            <a:off x="4514850" y="3333750"/>
            <a:ext cx="293370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1200" b="1">
                <a:solidFill>
                  <a:srgbClr val="172026"/>
                </a:solidFill>
                <a:latin typeface="Aptos"/>
                <a:ea typeface="Aptos"/>
                <a:cs typeface="Aptos"/>
              </a:defRPr>
            </a:pPr>
            <a:r>
              <a:rPr sz="1200" b="1">
                <a:solidFill>
                  <a:srgbClr val="172026"/>
                </a:solidFill>
                <a:latin typeface="Aptos"/>
                <a:ea typeface="Aptos"/>
                <a:cs typeface="Aptos"/>
              </a:rPr>
              <a:t>Sales use case</a:t>
            </a:r>
          </a:p>
        </p:txBody>
      </p:sp>
      <p:sp>
        <p:nvSpPr>
          <p:cNvPr id="27" name="">
            <a:extLst xmlns:a="http://schemas.openxmlformats.org/drawingml/2006/main">
              <a:ext uri="{FF2B5EF4-FFF2-40B4-BE49-F238E27FC236}">
                <a16:creationId xmlns:a16="http://schemas.microsoft.com/office/drawing/2014/main" id="{A0DA4531-D759-4E92-AB76-177112FD79F1}"/>
              </a:ext>
            </a:extLst>
          </p:cNvPr>
          <p:cNvSpPr>
            <a:spLocks xmlns:a="http://schemas.openxmlformats.org/drawingml/2006/main" noGrp="1"/>
          </p:cNvSpPr>
          <p:nvPr/>
        </p:nvSpPr>
        <p:spPr>
          <a:xfrm xmlns:a="http://schemas.openxmlformats.org/drawingml/2006/main">
            <a:off x="7943850" y="3162300"/>
            <a:ext cx="333375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D9DDD6"/>
            </a:solidFill>
            <a:prstDash val="solid"/>
          </a:ln>
        </p:spPr>
      </p:sp>
      <p:sp>
        <p:nvSpPr>
          <p:cNvPr id="28" name="">
            <a:extLst xmlns:a="http://schemas.openxmlformats.org/drawingml/2006/main">
              <a:ext uri="{FF2B5EF4-FFF2-40B4-BE49-F238E27FC236}">
                <a16:creationId xmlns:a16="http://schemas.microsoft.com/office/drawing/2014/main" id="{933B5300-735A-4E3D-89BF-F14E47EC602E}"/>
              </a:ext>
            </a:extLst>
          </p:cNvPr>
          <p:cNvSpPr>
            <a:spLocks xmlns:a="http://schemas.openxmlformats.org/drawingml/2006/main" noGrp="1"/>
          </p:cNvSpPr>
          <p:nvPr/>
        </p:nvSpPr>
        <p:spPr>
          <a:xfrm xmlns:a="http://schemas.openxmlformats.org/drawingml/2006/main">
            <a:off x="7943850" y="3162300"/>
            <a:ext cx="57150" cy="704850"/>
          </a:xfrm>
          <a:prstGeom xmlns:a="http://schemas.openxmlformats.org/drawingml/2006/main" prst="rect">
            <a:avLst/>
          </a:prstGeom>
          <a:solidFill xmlns:a="http://schemas.openxmlformats.org/drawingml/2006/main">
            <a:srgbClr val="667A39"/>
          </a:solidFill>
          <a:ln xmlns:a="http://schemas.openxmlformats.org/drawingml/2006/main" w="0">
            <a:solidFill>
              <a:srgbClr val="000000">
                <a:alpha val="0"/>
              </a:srgbClr>
            </a:solidFill>
            <a:prstDash val="solid"/>
          </a:ln>
        </p:spPr>
      </p:sp>
      <p:sp>
        <p:nvSpPr>
          <p:cNvPr id="29" name="">
            <a:extLst xmlns:a="http://schemas.openxmlformats.org/drawingml/2006/main">
              <a:ext uri="{FF2B5EF4-FFF2-40B4-BE49-F238E27FC236}">
                <a16:creationId xmlns:a16="http://schemas.microsoft.com/office/drawing/2014/main" id="{2525EAB9-4EB4-4CB5-9CCF-1BA9C649B6B4}"/>
              </a:ext>
            </a:extLst>
          </p:cNvPr>
          <p:cNvSpPr>
            <a:spLocks xmlns:a="http://schemas.openxmlformats.org/drawingml/2006/main" noGrp="1"/>
          </p:cNvSpPr>
          <p:nvPr/>
        </p:nvSpPr>
        <p:spPr>
          <a:xfrm xmlns:a="http://schemas.openxmlformats.org/drawingml/2006/main">
            <a:off x="8153400" y="3333750"/>
            <a:ext cx="293370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1200" b="1">
                <a:solidFill>
                  <a:srgbClr val="172026"/>
                </a:solidFill>
                <a:latin typeface="Aptos"/>
                <a:ea typeface="Aptos"/>
                <a:cs typeface="Aptos"/>
              </a:defRPr>
            </a:pPr>
            <a:r>
              <a:rPr sz="1200" b="1">
                <a:solidFill>
                  <a:srgbClr val="172026"/>
                </a:solidFill>
                <a:latin typeface="Aptos"/>
                <a:ea typeface="Aptos"/>
                <a:cs typeface="Aptos"/>
              </a:rPr>
              <a:t>Signal meaning</a:t>
            </a:r>
          </a:p>
        </p:txBody>
      </p:sp>
      <p:sp>
        <p:nvSpPr>
          <p:cNvPr id="30" name="">
            <a:extLst xmlns:a="http://schemas.openxmlformats.org/drawingml/2006/main">
              <a:ext uri="{FF2B5EF4-FFF2-40B4-BE49-F238E27FC236}">
                <a16:creationId xmlns:a16="http://schemas.microsoft.com/office/drawing/2014/main" id="{BC76E356-C5E7-4220-BDDC-E54E31A5C517}"/>
              </a:ext>
            </a:extLst>
          </p:cNvPr>
          <p:cNvSpPr>
            <a:spLocks xmlns:a="http://schemas.openxmlformats.org/drawingml/2006/main" noGrp="1"/>
          </p:cNvSpPr>
          <p:nvPr/>
        </p:nvSpPr>
        <p:spPr>
          <a:xfrm xmlns:a="http://schemas.openxmlformats.org/drawingml/2006/main">
            <a:off x="666750" y="4057650"/>
            <a:ext cx="333375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D9DDD6"/>
            </a:solidFill>
            <a:prstDash val="solid"/>
          </a:ln>
        </p:spPr>
      </p:sp>
      <p:sp>
        <p:nvSpPr>
          <p:cNvPr id="31" name="">
            <a:extLst xmlns:a="http://schemas.openxmlformats.org/drawingml/2006/main">
              <a:ext uri="{FF2B5EF4-FFF2-40B4-BE49-F238E27FC236}">
                <a16:creationId xmlns:a16="http://schemas.microsoft.com/office/drawing/2014/main" id="{EEFF4E62-3746-4CAF-B337-1864320D0B28}"/>
              </a:ext>
            </a:extLst>
          </p:cNvPr>
          <p:cNvSpPr>
            <a:spLocks xmlns:a="http://schemas.openxmlformats.org/drawingml/2006/main" noGrp="1"/>
          </p:cNvSpPr>
          <p:nvPr/>
        </p:nvSpPr>
        <p:spPr>
          <a:xfrm xmlns:a="http://schemas.openxmlformats.org/drawingml/2006/main">
            <a:off x="666750" y="4057650"/>
            <a:ext cx="57150" cy="704850"/>
          </a:xfrm>
          <a:prstGeom xmlns:a="http://schemas.openxmlformats.org/drawingml/2006/main" prst="rect">
            <a:avLst/>
          </a:prstGeom>
          <a:solidFill xmlns:a="http://schemas.openxmlformats.org/drawingml/2006/main">
            <a:srgbClr val="1D6072"/>
          </a:solidFill>
          <a:ln xmlns:a="http://schemas.openxmlformats.org/drawingml/2006/main" w="0">
            <a:solidFill>
              <a:srgbClr val="000000">
                <a:alpha val="0"/>
              </a:srgbClr>
            </a:solidFill>
            <a:prstDash val="solid"/>
          </a:ln>
        </p:spPr>
      </p:sp>
      <p:sp>
        <p:nvSpPr>
          <p:cNvPr id="32" name="">
            <a:extLst xmlns:a="http://schemas.openxmlformats.org/drawingml/2006/main">
              <a:ext uri="{FF2B5EF4-FFF2-40B4-BE49-F238E27FC236}">
                <a16:creationId xmlns:a16="http://schemas.microsoft.com/office/drawing/2014/main" id="{C7CF3C83-4B26-4DA5-85D2-D239918C36DD}"/>
              </a:ext>
            </a:extLst>
          </p:cNvPr>
          <p:cNvSpPr>
            <a:spLocks xmlns:a="http://schemas.openxmlformats.org/drawingml/2006/main" noGrp="1"/>
          </p:cNvSpPr>
          <p:nvPr/>
        </p:nvSpPr>
        <p:spPr>
          <a:xfrm xmlns:a="http://schemas.openxmlformats.org/drawingml/2006/main">
            <a:off x="876300" y="4229100"/>
            <a:ext cx="293370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1200" b="1">
                <a:solidFill>
                  <a:srgbClr val="172026"/>
                </a:solidFill>
                <a:latin typeface="Aptos"/>
                <a:ea typeface="Aptos"/>
                <a:cs typeface="Aptos"/>
              </a:defRPr>
            </a:pPr>
            <a:r>
              <a:rPr sz="1200" b="1">
                <a:solidFill>
                  <a:srgbClr val="172026"/>
                </a:solidFill>
                <a:latin typeface="Aptos"/>
                <a:ea typeface="Aptos"/>
                <a:cs typeface="Aptos"/>
              </a:rPr>
              <a:t>Next action</a:t>
            </a:r>
          </a:p>
        </p:txBody>
      </p:sp>
      <p:sp>
        <p:nvSpPr>
          <p:cNvPr id="33" name="">
            <a:extLst xmlns:a="http://schemas.openxmlformats.org/drawingml/2006/main">
              <a:ext uri="{FF2B5EF4-FFF2-40B4-BE49-F238E27FC236}">
                <a16:creationId xmlns:a16="http://schemas.microsoft.com/office/drawing/2014/main" id="{6743AE40-58D3-461E-8A20-8044BB79629D}"/>
              </a:ext>
            </a:extLst>
          </p:cNvPr>
          <p:cNvSpPr>
            <a:spLocks xmlns:a="http://schemas.openxmlformats.org/drawingml/2006/main" noGrp="1"/>
          </p:cNvSpPr>
          <p:nvPr/>
        </p:nvSpPr>
        <p:spPr>
          <a:xfrm xmlns:a="http://schemas.openxmlformats.org/drawingml/2006/main">
            <a:off x="8782050" y="5353050"/>
            <a:ext cx="2647950" cy="838200"/>
          </a:xfrm>
          <a:prstGeom xmlns:a="http://schemas.openxmlformats.org/drawingml/2006/main" prst="rect">
            <a:avLst/>
          </a:prstGeom>
          <a:solidFill xmlns:a="http://schemas.openxmlformats.org/drawingml/2006/main">
            <a:srgbClr val="12232B"/>
          </a:solidFill>
          <a:ln xmlns:a="http://schemas.openxmlformats.org/drawingml/2006/main" w="9525">
            <a:solidFill>
              <a:srgbClr val="12232B"/>
            </a:solidFill>
            <a:prstDash val="solid"/>
          </a:ln>
        </p:spPr>
      </p:sp>
      <p:sp>
        <p:nvSpPr>
          <p:cNvPr id="34" name="">
            <a:extLst xmlns:a="http://schemas.openxmlformats.org/drawingml/2006/main">
              <a:ext uri="{FF2B5EF4-FFF2-40B4-BE49-F238E27FC236}">
                <a16:creationId xmlns:a16="http://schemas.microsoft.com/office/drawing/2014/main" id="{25F861CD-22F0-47D2-98D6-7663ADE8C68E}"/>
              </a:ext>
            </a:extLst>
          </p:cNvPr>
          <p:cNvSpPr>
            <a:spLocks xmlns:a="http://schemas.openxmlformats.org/drawingml/2006/main" noGrp="1"/>
          </p:cNvSpPr>
          <p:nvPr/>
        </p:nvSpPr>
        <p:spPr>
          <a:xfrm xmlns:a="http://schemas.openxmlformats.org/drawingml/2006/main">
            <a:off x="8972550" y="5505450"/>
            <a:ext cx="1428750" cy="152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1">
                <a:solidFill>
                  <a:srgbClr val="AFC3C8"/>
                </a:solidFill>
                <a:latin typeface="Aptos"/>
                <a:ea typeface="Aptos"/>
                <a:cs typeface="Aptos"/>
              </a:defRPr>
            </a:pPr>
            <a:r>
              <a:rPr sz="675" b="1">
                <a:solidFill>
                  <a:srgbClr val="AFC3C8"/>
                </a:solidFill>
                <a:latin typeface="Aptos"/>
                <a:ea typeface="Aptos"/>
                <a:cs typeface="Aptos"/>
              </a:rPr>
              <a:t>INSTRUCTOR CUE</a:t>
            </a:r>
          </a:p>
        </p:txBody>
      </p:sp>
      <p:sp>
        <p:nvSpPr>
          <p:cNvPr id="35" name="">
            <a:extLst xmlns:a="http://schemas.openxmlformats.org/drawingml/2006/main">
              <a:ext uri="{FF2B5EF4-FFF2-40B4-BE49-F238E27FC236}">
                <a16:creationId xmlns:a16="http://schemas.microsoft.com/office/drawing/2014/main" id="{A65920A6-3BFB-4140-B6FC-D8DC5298776E}"/>
              </a:ext>
            </a:extLst>
          </p:cNvPr>
          <p:cNvSpPr>
            <a:spLocks xmlns:a="http://schemas.openxmlformats.org/drawingml/2006/main" noGrp="1"/>
          </p:cNvSpPr>
          <p:nvPr/>
        </p:nvSpPr>
        <p:spPr>
          <a:xfrm xmlns:a="http://schemas.openxmlformats.org/drawingml/2006/main">
            <a:off x="8972550" y="5676900"/>
            <a:ext cx="219075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0">
                <a:solidFill>
                  <a:srgbClr val="FFFFFF"/>
                </a:solidFill>
                <a:latin typeface="Aptos"/>
                <a:ea typeface="Aptos"/>
                <a:cs typeface="Aptos"/>
              </a:defRPr>
            </a:pPr>
            <a:r>
              <a:rPr sz="975" b="0">
                <a:solidFill>
                  <a:srgbClr val="FFFFFF"/>
                </a:solidFill>
                <a:latin typeface="Aptos"/>
                <a:ea typeface="Aptos"/>
                <a:cs typeface="Aptos"/>
              </a:rPr>
              <a:t>If it cannot be tracked, it is not operational yet.</a:t>
            </a:r>
          </a:p>
        </p:txBody>
      </p:sp>
      <p:sp>
        <p:nvSpPr>
          <p:cNvPr id="36" name="">
            <a:extLst xmlns:a="http://schemas.openxmlformats.org/drawingml/2006/main">
              <a:ext uri="{FF2B5EF4-FFF2-40B4-BE49-F238E27FC236}">
                <a16:creationId xmlns:a16="http://schemas.microsoft.com/office/drawing/2014/main" id="{5B7BA435-AA4B-4246-911F-DEBBD372B139}"/>
              </a:ext>
            </a:extLst>
          </p:cNvPr>
          <p:cNvSpPr>
            <a:spLocks xmlns:a="http://schemas.openxmlformats.org/drawingml/2006/main" noGrp="1"/>
          </p:cNvSpPr>
          <p:nvPr/>
        </p:nvSpPr>
        <p:spPr>
          <a:xfrm xmlns:a="http://schemas.openxmlformats.org/drawingml/2006/main">
            <a:off x="514350" y="6438900"/>
            <a:ext cx="1091565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37" name="">
            <a:extLst xmlns:a="http://schemas.openxmlformats.org/drawingml/2006/main">
              <a:ext uri="{FF2B5EF4-FFF2-40B4-BE49-F238E27FC236}">
                <a16:creationId xmlns:a16="http://schemas.microsoft.com/office/drawing/2014/main" id="{54E0F148-FDF9-43AE-90F1-17D2328F958C}"/>
              </a:ext>
            </a:extLst>
          </p:cNvPr>
          <p:cNvSpPr>
            <a:spLocks xmlns:a="http://schemas.openxmlformats.org/drawingml/2006/main" noGrp="1"/>
          </p:cNvSpPr>
          <p:nvPr/>
        </p:nvSpPr>
        <p:spPr>
          <a:xfrm xmlns:a="http://schemas.openxmlformats.org/drawingml/2006/main">
            <a:off x="514350" y="6553200"/>
            <a:ext cx="590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59646A"/>
                </a:solidFill>
                <a:latin typeface="Aptos"/>
                <a:ea typeface="Aptos"/>
                <a:cs typeface="Aptos"/>
              </a:defRPr>
            </a:pPr>
            <a:r>
              <a:rPr sz="675" b="0">
                <a:solidFill>
                  <a:srgbClr val="59646A"/>
                </a:solidFill>
                <a:latin typeface="Aptos"/>
                <a:ea typeface="Aptos"/>
                <a:cs typeface="Aptos"/>
              </a:rPr>
              <a:t>Lesson 04 - MOIN: Map Of Informational Needs</a:t>
            </a:r>
          </a:p>
        </p:txBody>
      </p:sp>
      <p:sp>
        <p:nvSpPr>
          <p:cNvPr id="38" name="">
            <a:extLst xmlns:a="http://schemas.openxmlformats.org/drawingml/2006/main">
              <a:ext uri="{FF2B5EF4-FFF2-40B4-BE49-F238E27FC236}">
                <a16:creationId xmlns:a16="http://schemas.microsoft.com/office/drawing/2014/main" id="{DBA05339-7AC4-4BE7-89BF-B0E867F7727E}"/>
              </a:ext>
            </a:extLst>
          </p:cNvPr>
          <p:cNvSpPr>
            <a:spLocks xmlns:a="http://schemas.openxmlformats.org/drawingml/2006/main" noGrp="1"/>
          </p:cNvSpPr>
          <p:nvPr/>
        </p:nvSpPr>
        <p:spPr>
          <a:xfrm xmlns:a="http://schemas.openxmlformats.org/drawingml/2006/main">
            <a:off x="5334000" y="6553200"/>
            <a:ext cx="4095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00" b="0">
                <a:solidFill>
                  <a:srgbClr val="59646A"/>
                </a:solidFill>
                <a:latin typeface="Aptos"/>
                <a:ea typeface="Aptos"/>
                <a:cs typeface="Aptos"/>
              </a:defRPr>
            </a:pPr>
            <a:r>
              <a:rPr sz="600" b="0">
                <a:solidFill>
                  <a:srgbClr val="59646A"/>
                </a:solidFill>
                <a:latin typeface="Aptos"/>
                <a:ea typeface="Aptos"/>
                <a:cs typeface="Aptos"/>
              </a:rPr>
              <a:t>Source: modules/module-01-industrial-demand-generation/lessons/04-moin-map-of-informational-needs.md @ 9e28222</a:t>
            </a:r>
          </a:p>
        </p:txBody>
      </p:sp>
      <p:sp>
        <p:nvSpPr>
          <p:cNvPr id="39" name="">
            <a:extLst xmlns:a="http://schemas.openxmlformats.org/drawingml/2006/main">
              <a:ext uri="{FF2B5EF4-FFF2-40B4-BE49-F238E27FC236}">
                <a16:creationId xmlns:a16="http://schemas.microsoft.com/office/drawing/2014/main" id="{F88CC8C1-52DE-4BB4-80D7-110BD4CA3E68}"/>
              </a:ext>
            </a:extLst>
          </p:cNvPr>
          <p:cNvSpPr>
            <a:spLocks xmlns:a="http://schemas.openxmlformats.org/drawingml/2006/main" noGrp="1"/>
          </p:cNvSpPr>
          <p:nvPr/>
        </p:nvSpPr>
        <p:spPr>
          <a:xfrm xmlns:a="http://schemas.openxmlformats.org/drawingml/2006/main">
            <a:off x="10668000" y="6553200"/>
            <a:ext cx="762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75" b="0">
                <a:solidFill>
                  <a:srgbClr val="59646A"/>
                </a:solidFill>
                <a:latin typeface="Aptos"/>
                <a:ea typeface="Aptos"/>
                <a:cs typeface="Aptos"/>
              </a:defRPr>
            </a:pPr>
            <a:r>
              <a:rPr sz="675" b="0">
                <a:solidFill>
                  <a:srgbClr val="59646A"/>
                </a:solidFill>
                <a:latin typeface="Aptos"/>
                <a:ea typeface="Aptos"/>
                <a:cs typeface="Aptos"/>
              </a:rPr>
              <a:t>12/15</a:t>
            </a:r>
          </a:p>
        </p:txBody>
      </p:sp>
    </p:spTree>
    <p:extLst>
      <p:ext uri="{BB962C8B-B14F-4D97-AF65-F5344CB8AC3E}">
        <p14:creationId xmlns:p14="http://schemas.microsoft.com/office/powerpoint/2010/main" val="121823050"/>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33F7AAE5-CB3A-4141-BB36-892A8761C00A}"/>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6F2"/>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7D22D7E5-FB44-41FC-9F55-1CBBFFFC9B07}"/>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12232B"/>
          </a:solidFill>
          <a:ln xmlns:a="http://schemas.openxmlformats.org/drawingml/2006/main" w="0">
            <a:solidFill>
              <a:srgbClr val="000000">
                <a:alpha val="0"/>
              </a:srgbClr>
            </a:solidFill>
            <a:prstDash val="solid"/>
          </a:ln>
        </p:spPr>
      </p:sp>
      <p:sp>
        <p:nvSpPr>
          <p:cNvPr id="3" name="">
            <a:extLst xmlns:a="http://schemas.openxmlformats.org/drawingml/2006/main">
              <a:ext uri="{FF2B5EF4-FFF2-40B4-BE49-F238E27FC236}">
                <a16:creationId xmlns:a16="http://schemas.microsoft.com/office/drawing/2014/main" id="{21037C63-B0EF-406D-AEDD-233DABE00CD8}"/>
              </a:ext>
            </a:extLst>
          </p:cNvPr>
          <p:cNvSpPr>
            <a:spLocks xmlns:a="http://schemas.openxmlformats.org/drawingml/2006/main" noGrp="1"/>
          </p:cNvSpPr>
          <p:nvPr/>
        </p:nvSpPr>
        <p:spPr>
          <a:xfrm xmlns:a="http://schemas.openxmlformats.org/drawingml/2006/main">
            <a:off x="171450" y="0"/>
            <a:ext cx="57150" cy="68580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4" name="kicker-04-marker">
            <a:extLst xmlns:a="http://schemas.openxmlformats.org/drawingml/2006/main">
              <a:ext uri="{FF2B5EF4-FFF2-40B4-BE49-F238E27FC236}">
                <a16:creationId xmlns:a16="http://schemas.microsoft.com/office/drawing/2014/main" id="{BAAC32A4-85BC-441F-851E-EEB732FED411}"/>
              </a:ext>
            </a:extLst>
          </p:cNvPr>
          <p:cNvSpPr>
            <a:spLocks xmlns:a="http://schemas.openxmlformats.org/drawingml/2006/main" noGrp="1"/>
          </p:cNvSpPr>
          <p:nvPr/>
        </p:nvSpPr>
        <p:spPr>
          <a:xfrm xmlns:a="http://schemas.openxmlformats.org/drawingml/2006/main">
            <a:off x="514350" y="390525"/>
            <a:ext cx="76200" cy="762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5" name="kicker-04-label">
            <a:extLst xmlns:a="http://schemas.openxmlformats.org/drawingml/2006/main">
              <a:ext uri="{FF2B5EF4-FFF2-40B4-BE49-F238E27FC236}">
                <a16:creationId xmlns:a16="http://schemas.microsoft.com/office/drawing/2014/main" id="{AE5FC194-B5B5-44FF-B79D-ACC923A69F71}"/>
              </a:ext>
            </a:extLst>
          </p:cNvPr>
          <p:cNvSpPr>
            <a:spLocks xmlns:a="http://schemas.openxmlformats.org/drawingml/2006/main" noGrp="1"/>
          </p:cNvSpPr>
          <p:nvPr/>
        </p:nvSpPr>
        <p:spPr>
          <a:xfrm xmlns:a="http://schemas.openxmlformats.org/drawingml/2006/main">
            <a:off x="685800" y="323850"/>
            <a:ext cx="75247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MODULE 1 / LESSON 04 / FAILURE MODES</a:t>
            </a:r>
          </a:p>
        </p:txBody>
      </p:sp>
      <p:sp>
        <p:nvSpPr>
          <p:cNvPr id="6" name="">
            <a:extLst xmlns:a="http://schemas.openxmlformats.org/drawingml/2006/main">
              <a:ext uri="{FF2B5EF4-FFF2-40B4-BE49-F238E27FC236}">
                <a16:creationId xmlns:a16="http://schemas.microsoft.com/office/drawing/2014/main" id="{2F69364D-5615-4AC2-A8B4-4538F154A4F1}"/>
              </a:ext>
            </a:extLst>
          </p:cNvPr>
          <p:cNvSpPr>
            <a:spLocks xmlns:a="http://schemas.openxmlformats.org/drawingml/2006/main" noGrp="1"/>
          </p:cNvSpPr>
          <p:nvPr/>
        </p:nvSpPr>
        <p:spPr>
          <a:xfrm xmlns:a="http://schemas.openxmlformats.org/drawingml/2006/main">
            <a:off x="514350" y="704850"/>
            <a:ext cx="8096250" cy="666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250" b="1">
                <a:solidFill>
                  <a:srgbClr val="172026"/>
                </a:solidFill>
                <a:latin typeface="Aptos Display"/>
                <a:ea typeface="Aptos Display"/>
                <a:cs typeface="Aptos Display"/>
              </a:defRPr>
            </a:pPr>
            <a:r>
              <a:rPr sz="2250" b="1">
                <a:solidFill>
                  <a:srgbClr val="172026"/>
                </a:solidFill>
                <a:latin typeface="Aptos Display"/>
                <a:ea typeface="Aptos Display"/>
                <a:cs typeface="Aptos Display"/>
              </a:rPr>
              <a:t>Name the anti-pattern before it becomes field behavior.</a:t>
            </a:r>
          </a:p>
        </p:txBody>
      </p:sp>
      <p:sp>
        <p:nvSpPr>
          <p:cNvPr id="7" name="">
            <a:extLst xmlns:a="http://schemas.openxmlformats.org/drawingml/2006/main">
              <a:ext uri="{FF2B5EF4-FFF2-40B4-BE49-F238E27FC236}">
                <a16:creationId xmlns:a16="http://schemas.microsoft.com/office/drawing/2014/main" id="{7ED9A96F-E1A1-4F93-89C3-1A39274ADCA3}"/>
              </a:ext>
            </a:extLst>
          </p:cNvPr>
          <p:cNvSpPr>
            <a:spLocks xmlns:a="http://schemas.openxmlformats.org/drawingml/2006/main" noGrp="1"/>
          </p:cNvSpPr>
          <p:nvPr/>
        </p:nvSpPr>
        <p:spPr>
          <a:xfrm xmlns:a="http://schemas.openxmlformats.org/drawingml/2006/main">
            <a:off x="514350" y="1314450"/>
            <a:ext cx="819150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59646A"/>
                </a:solidFill>
                <a:latin typeface="Aptos"/>
                <a:ea typeface="Aptos"/>
                <a:cs typeface="Aptos"/>
              </a:defRPr>
            </a:pPr>
            <a:r>
              <a:rPr sz="1125" b="0">
                <a:solidFill>
                  <a:srgbClr val="59646A"/>
                </a:solidFill>
                <a:latin typeface="Aptos"/>
                <a:ea typeface="Aptos"/>
                <a:cs typeface="Aptos"/>
              </a:rPr>
              <a:t>Use this slide to make weak work easier to reject in the moment.</a:t>
            </a:r>
          </a:p>
        </p:txBody>
      </p:sp>
      <p:sp>
        <p:nvSpPr>
          <p:cNvPr id="8" name="">
            <a:extLst xmlns:a="http://schemas.openxmlformats.org/drawingml/2006/main">
              <a:ext uri="{FF2B5EF4-FFF2-40B4-BE49-F238E27FC236}">
                <a16:creationId xmlns:a16="http://schemas.microsoft.com/office/drawing/2014/main" id="{4F1FED06-3F8C-41CC-817A-EEE0C80A45A3}"/>
              </a:ext>
            </a:extLst>
          </p:cNvPr>
          <p:cNvSpPr>
            <a:spLocks xmlns:a="http://schemas.openxmlformats.org/drawingml/2006/main" noGrp="1"/>
          </p:cNvSpPr>
          <p:nvPr/>
        </p:nvSpPr>
        <p:spPr>
          <a:xfrm xmlns:a="http://schemas.openxmlformats.org/drawingml/2006/main">
            <a:off x="514350" y="6438900"/>
            <a:ext cx="1091565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3143659A-C5BA-4340-8D15-8EE1D42B1640}"/>
              </a:ext>
            </a:extLst>
          </p:cNvPr>
          <p:cNvSpPr>
            <a:spLocks xmlns:a="http://schemas.openxmlformats.org/drawingml/2006/main" noGrp="1"/>
          </p:cNvSpPr>
          <p:nvPr/>
        </p:nvSpPr>
        <p:spPr>
          <a:xfrm xmlns:a="http://schemas.openxmlformats.org/drawingml/2006/main">
            <a:off x="514350" y="6553200"/>
            <a:ext cx="590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59646A"/>
                </a:solidFill>
                <a:latin typeface="Aptos"/>
                <a:ea typeface="Aptos"/>
                <a:cs typeface="Aptos"/>
              </a:defRPr>
            </a:pPr>
            <a:r>
              <a:rPr sz="675" b="0">
                <a:solidFill>
                  <a:srgbClr val="59646A"/>
                </a:solidFill>
                <a:latin typeface="Aptos"/>
                <a:ea typeface="Aptos"/>
                <a:cs typeface="Aptos"/>
              </a:rPr>
              <a:t>Lesson 04 - MOIN: Map Of Informational Needs</a:t>
            </a:r>
          </a:p>
        </p:txBody>
      </p:sp>
      <p:sp>
        <p:nvSpPr>
          <p:cNvPr id="10" name="">
            <a:extLst xmlns:a="http://schemas.openxmlformats.org/drawingml/2006/main">
              <a:ext uri="{FF2B5EF4-FFF2-40B4-BE49-F238E27FC236}">
                <a16:creationId xmlns:a16="http://schemas.microsoft.com/office/drawing/2014/main" id="{0ACB438C-F994-4D78-8F9D-F3F03E00ACB9}"/>
              </a:ext>
            </a:extLst>
          </p:cNvPr>
          <p:cNvSpPr>
            <a:spLocks xmlns:a="http://schemas.openxmlformats.org/drawingml/2006/main" noGrp="1"/>
          </p:cNvSpPr>
          <p:nvPr/>
        </p:nvSpPr>
        <p:spPr>
          <a:xfrm xmlns:a="http://schemas.openxmlformats.org/drawingml/2006/main">
            <a:off x="5334000" y="6553200"/>
            <a:ext cx="4095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00" b="0">
                <a:solidFill>
                  <a:srgbClr val="59646A"/>
                </a:solidFill>
                <a:latin typeface="Aptos"/>
                <a:ea typeface="Aptos"/>
                <a:cs typeface="Aptos"/>
              </a:defRPr>
            </a:pPr>
            <a:r>
              <a:rPr sz="600" b="0">
                <a:solidFill>
                  <a:srgbClr val="59646A"/>
                </a:solidFill>
                <a:latin typeface="Aptos"/>
                <a:ea typeface="Aptos"/>
                <a:cs typeface="Aptos"/>
              </a:rPr>
              <a:t>Source: modules/module-01-industrial-demand-generation/lessons/04-moin-map-of-informational-needs.md @ 9e28222</a:t>
            </a:r>
          </a:p>
        </p:txBody>
      </p:sp>
      <p:sp>
        <p:nvSpPr>
          <p:cNvPr id="11" name="">
            <a:extLst xmlns:a="http://schemas.openxmlformats.org/drawingml/2006/main">
              <a:ext uri="{FF2B5EF4-FFF2-40B4-BE49-F238E27FC236}">
                <a16:creationId xmlns:a16="http://schemas.microsoft.com/office/drawing/2014/main" id="{A30F1658-1FEA-40FF-AF27-20DD58353E0A}"/>
              </a:ext>
            </a:extLst>
          </p:cNvPr>
          <p:cNvSpPr>
            <a:spLocks xmlns:a="http://schemas.openxmlformats.org/drawingml/2006/main" noGrp="1"/>
          </p:cNvSpPr>
          <p:nvPr/>
        </p:nvSpPr>
        <p:spPr>
          <a:xfrm xmlns:a="http://schemas.openxmlformats.org/drawingml/2006/main">
            <a:off x="10668000" y="6553200"/>
            <a:ext cx="762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75" b="0">
                <a:solidFill>
                  <a:srgbClr val="59646A"/>
                </a:solidFill>
                <a:latin typeface="Aptos"/>
                <a:ea typeface="Aptos"/>
                <a:cs typeface="Aptos"/>
              </a:defRPr>
            </a:pPr>
            <a:r>
              <a:rPr sz="675" b="0">
                <a:solidFill>
                  <a:srgbClr val="59646A"/>
                </a:solidFill>
                <a:latin typeface="Aptos"/>
                <a:ea typeface="Aptos"/>
                <a:cs typeface="Aptos"/>
              </a:rPr>
              <a:t>13/15</a:t>
            </a:r>
          </a:p>
        </p:txBody>
      </p:sp>
      <p:sp>
        <p:nvSpPr>
          <p:cNvPr id="12" name="">
            <a:extLst xmlns:a="http://schemas.openxmlformats.org/drawingml/2006/main">
              <a:ext uri="{FF2B5EF4-FFF2-40B4-BE49-F238E27FC236}">
                <a16:creationId xmlns:a16="http://schemas.microsoft.com/office/drawing/2014/main" id="{4B91B9CA-D654-4948-A922-B5943191AEA9}"/>
              </a:ext>
            </a:extLst>
          </p:cNvPr>
          <p:cNvSpPr>
            <a:spLocks xmlns:a="http://schemas.openxmlformats.org/drawingml/2006/main" noGrp="1"/>
          </p:cNvSpPr>
          <p:nvPr/>
        </p:nvSpPr>
        <p:spPr>
          <a:xfrm xmlns:a="http://schemas.openxmlformats.org/drawingml/2006/main">
            <a:off x="228600" y="1809750"/>
            <a:ext cx="11963400" cy="4591050"/>
          </a:xfrm>
          <a:prstGeom xmlns:a="http://schemas.openxmlformats.org/drawingml/2006/main" prst="rect">
            <a:avLst/>
          </a:prstGeom>
          <a:solidFill xmlns:a="http://schemas.openxmlformats.org/drawingml/2006/main">
            <a:srgbClr val="F5F6F2"/>
          </a:solidFill>
          <a:ln xmlns:a="http://schemas.openxmlformats.org/drawingml/2006/main" w="0">
            <a:solidFill>
              <a:srgbClr val="000000">
                <a:alpha val="0"/>
              </a:srgbClr>
            </a:solidFill>
            <a:prstDash val="solid"/>
          </a:ln>
        </p:spPr>
      </p:sp>
      <p:sp>
        <p:nvSpPr>
          <p:cNvPr id="13" name="">
            <a:extLst xmlns:a="http://schemas.openxmlformats.org/drawingml/2006/main">
              <a:ext uri="{FF2B5EF4-FFF2-40B4-BE49-F238E27FC236}">
                <a16:creationId xmlns:a16="http://schemas.microsoft.com/office/drawing/2014/main" id="{5EBEF88A-7E0D-4202-B72B-CD894E951820}"/>
              </a:ext>
            </a:extLst>
          </p:cNvPr>
          <p:cNvSpPr>
            <a:spLocks xmlns:a="http://schemas.openxmlformats.org/drawingml/2006/main" noGrp="1"/>
          </p:cNvSpPr>
          <p:nvPr/>
        </p:nvSpPr>
        <p:spPr>
          <a:xfrm xmlns:a="http://schemas.openxmlformats.org/drawingml/2006/main">
            <a:off x="228600" y="1809750"/>
            <a:ext cx="11963400" cy="4591050"/>
          </a:xfrm>
          <a:prstGeom xmlns:a="http://schemas.openxmlformats.org/drawingml/2006/main" prst="rect">
            <a:avLst/>
          </a:prstGeom>
          <a:solidFill xmlns:a="http://schemas.openxmlformats.org/drawingml/2006/main">
            <a:srgbClr val="FFFFFF"/>
          </a:solidFill>
          <a:ln xmlns:a="http://schemas.openxmlformats.org/drawingml/2006/main" w="9525">
            <a:solidFill>
              <a:srgbClr val="D9DDD6"/>
            </a:solidFill>
            <a:prstDash val="solid"/>
          </a:ln>
        </p:spPr>
      </p:sp>
      <p:sp>
        <p:nvSpPr>
          <p:cNvPr id="14" name="">
            <a:extLst xmlns:a="http://schemas.openxmlformats.org/drawingml/2006/main">
              <a:ext uri="{FF2B5EF4-FFF2-40B4-BE49-F238E27FC236}">
                <a16:creationId xmlns:a16="http://schemas.microsoft.com/office/drawing/2014/main" id="{7C0DA3B4-45E1-4F64-9C37-94ED4F0CCF5E}"/>
              </a:ext>
            </a:extLst>
          </p:cNvPr>
          <p:cNvSpPr>
            <a:spLocks xmlns:a="http://schemas.openxmlformats.org/drawingml/2006/main" noGrp="1"/>
          </p:cNvSpPr>
          <p:nvPr/>
        </p:nvSpPr>
        <p:spPr>
          <a:xfrm xmlns:a="http://schemas.openxmlformats.org/drawingml/2006/main">
            <a:off x="228600" y="1809750"/>
            <a:ext cx="11963400" cy="400050"/>
          </a:xfrm>
          <a:prstGeom xmlns:a="http://schemas.openxmlformats.org/drawingml/2006/main" prst="rect">
            <a:avLst/>
          </a:prstGeom>
          <a:solidFill xmlns:a="http://schemas.openxmlformats.org/drawingml/2006/main">
            <a:srgbClr val="12232B"/>
          </a:solidFill>
          <a:ln xmlns:a="http://schemas.openxmlformats.org/drawingml/2006/main" w="9525">
            <a:solidFill>
              <a:srgbClr val="12232B"/>
            </a:solidFill>
            <a:prstDash val="solid"/>
          </a:ln>
        </p:spPr>
      </p:sp>
      <p:sp>
        <p:nvSpPr>
          <p:cNvPr id="15" name="">
            <a:extLst xmlns:a="http://schemas.openxmlformats.org/drawingml/2006/main">
              <a:ext uri="{FF2B5EF4-FFF2-40B4-BE49-F238E27FC236}">
                <a16:creationId xmlns:a16="http://schemas.microsoft.com/office/drawing/2014/main" id="{0FEE0949-AD92-4734-B852-3D49A68AD995}"/>
              </a:ext>
            </a:extLst>
          </p:cNvPr>
          <p:cNvSpPr>
            <a:spLocks xmlns:a="http://schemas.openxmlformats.org/drawingml/2006/main" noGrp="1"/>
          </p:cNvSpPr>
          <p:nvPr/>
        </p:nvSpPr>
        <p:spPr>
          <a:xfrm xmlns:a="http://schemas.openxmlformats.org/drawingml/2006/main">
            <a:off x="438150" y="1924050"/>
            <a:ext cx="23812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1">
                <a:solidFill>
                  <a:srgbClr val="FFFFFF"/>
                </a:solidFill>
                <a:latin typeface="Aptos"/>
                <a:ea typeface="Aptos"/>
                <a:cs typeface="Aptos"/>
              </a:defRPr>
            </a:pPr>
            <a:r>
              <a:rPr sz="825" b="1">
                <a:solidFill>
                  <a:srgbClr val="FFFFFF"/>
                </a:solidFill>
                <a:latin typeface="Aptos"/>
                <a:ea typeface="Aptos"/>
                <a:cs typeface="Aptos"/>
              </a:rPr>
              <a:t>Failure mode</a:t>
            </a:r>
          </a:p>
        </p:txBody>
      </p:sp>
      <p:sp>
        <p:nvSpPr>
          <p:cNvPr id="16" name="">
            <a:extLst xmlns:a="http://schemas.openxmlformats.org/drawingml/2006/main">
              <a:ext uri="{FF2B5EF4-FFF2-40B4-BE49-F238E27FC236}">
                <a16:creationId xmlns:a16="http://schemas.microsoft.com/office/drawing/2014/main" id="{695BA2B2-6729-4392-9248-E78EDACE2C5F}"/>
              </a:ext>
            </a:extLst>
          </p:cNvPr>
          <p:cNvSpPr>
            <a:spLocks xmlns:a="http://schemas.openxmlformats.org/drawingml/2006/main" noGrp="1"/>
          </p:cNvSpPr>
          <p:nvPr/>
        </p:nvSpPr>
        <p:spPr>
          <a:xfrm xmlns:a="http://schemas.openxmlformats.org/drawingml/2006/main">
            <a:off x="3371850" y="1924050"/>
            <a:ext cx="27622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1">
                <a:solidFill>
                  <a:srgbClr val="FFFFFF"/>
                </a:solidFill>
                <a:latin typeface="Aptos"/>
                <a:ea typeface="Aptos"/>
                <a:cs typeface="Aptos"/>
              </a:defRPr>
            </a:pPr>
            <a:r>
              <a:rPr sz="825" b="1">
                <a:solidFill>
                  <a:srgbClr val="FFFFFF"/>
                </a:solidFill>
                <a:latin typeface="Aptos"/>
                <a:ea typeface="Aptos"/>
                <a:cs typeface="Aptos"/>
              </a:rPr>
              <a:t>What it looks like</a:t>
            </a:r>
          </a:p>
        </p:txBody>
      </p:sp>
      <p:sp>
        <p:nvSpPr>
          <p:cNvPr id="17" name="">
            <a:extLst xmlns:a="http://schemas.openxmlformats.org/drawingml/2006/main">
              <a:ext uri="{FF2B5EF4-FFF2-40B4-BE49-F238E27FC236}">
                <a16:creationId xmlns:a16="http://schemas.microsoft.com/office/drawing/2014/main" id="{1428ADF1-EB02-4E8D-A7BE-1652BC841FCB}"/>
              </a:ext>
            </a:extLst>
          </p:cNvPr>
          <p:cNvSpPr>
            <a:spLocks xmlns:a="http://schemas.openxmlformats.org/drawingml/2006/main" noGrp="1"/>
          </p:cNvSpPr>
          <p:nvPr/>
        </p:nvSpPr>
        <p:spPr>
          <a:xfrm xmlns:a="http://schemas.openxmlformats.org/drawingml/2006/main">
            <a:off x="6896100" y="1924050"/>
            <a:ext cx="2857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1">
                <a:solidFill>
                  <a:srgbClr val="FFFFFF"/>
                </a:solidFill>
                <a:latin typeface="Aptos"/>
                <a:ea typeface="Aptos"/>
                <a:cs typeface="Aptos"/>
              </a:defRPr>
            </a:pPr>
            <a:r>
              <a:rPr sz="825" b="1">
                <a:solidFill>
                  <a:srgbClr val="FFFFFF"/>
                </a:solidFill>
                <a:latin typeface="Aptos"/>
                <a:ea typeface="Aptos"/>
                <a:cs typeface="Aptos"/>
              </a:rPr>
              <a:t>Correction</a:t>
            </a:r>
          </a:p>
        </p:txBody>
      </p:sp>
      <p:sp>
        <p:nvSpPr>
          <p:cNvPr id="18" name="">
            <a:extLst xmlns:a="http://schemas.openxmlformats.org/drawingml/2006/main">
              <a:ext uri="{FF2B5EF4-FFF2-40B4-BE49-F238E27FC236}">
                <a16:creationId xmlns:a16="http://schemas.microsoft.com/office/drawing/2014/main" id="{44A7E77F-94CE-47A0-9C4D-54D58FBAD45A}"/>
              </a:ext>
            </a:extLst>
          </p:cNvPr>
          <p:cNvSpPr>
            <a:spLocks xmlns:a="http://schemas.openxmlformats.org/drawingml/2006/main" noGrp="1"/>
          </p:cNvSpPr>
          <p:nvPr/>
        </p:nvSpPr>
        <p:spPr>
          <a:xfrm xmlns:a="http://schemas.openxmlformats.org/drawingml/2006/main">
            <a:off x="228600" y="2209800"/>
            <a:ext cx="1196340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19" name="">
            <a:extLst xmlns:a="http://schemas.openxmlformats.org/drawingml/2006/main">
              <a:ext uri="{FF2B5EF4-FFF2-40B4-BE49-F238E27FC236}">
                <a16:creationId xmlns:a16="http://schemas.microsoft.com/office/drawing/2014/main" id="{EED3FEC4-6FD8-447A-AAD8-A13EC44100EB}"/>
              </a:ext>
            </a:extLst>
          </p:cNvPr>
          <p:cNvSpPr>
            <a:spLocks xmlns:a="http://schemas.openxmlformats.org/drawingml/2006/main" noGrp="1"/>
          </p:cNvSpPr>
          <p:nvPr/>
        </p:nvSpPr>
        <p:spPr>
          <a:xfrm xmlns:a="http://schemas.openxmlformats.org/drawingml/2006/main">
            <a:off x="438150" y="2381250"/>
            <a:ext cx="24765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172026"/>
                </a:solidFill>
                <a:latin typeface="Aptos"/>
                <a:ea typeface="Aptos"/>
                <a:cs typeface="Aptos"/>
              </a:defRPr>
            </a:pPr>
            <a:r>
              <a:rPr sz="1125" b="1">
                <a:solidFill>
                  <a:srgbClr val="172026"/>
                </a:solidFill>
                <a:latin typeface="Aptos"/>
                <a:ea typeface="Aptos"/>
                <a:cs typeface="Aptos"/>
              </a:rPr>
              <a:t>Topic brainstorm</a:t>
            </a:r>
          </a:p>
        </p:txBody>
      </p:sp>
      <p:sp>
        <p:nvSpPr>
          <p:cNvPr id="20" name="">
            <a:extLst xmlns:a="http://schemas.openxmlformats.org/drawingml/2006/main">
              <a:ext uri="{FF2B5EF4-FFF2-40B4-BE49-F238E27FC236}">
                <a16:creationId xmlns:a16="http://schemas.microsoft.com/office/drawing/2014/main" id="{05698B82-368B-4771-8AFC-66DB21CB8420}"/>
              </a:ext>
            </a:extLst>
          </p:cNvPr>
          <p:cNvSpPr>
            <a:spLocks xmlns:a="http://schemas.openxmlformats.org/drawingml/2006/main" noGrp="1"/>
          </p:cNvSpPr>
          <p:nvPr/>
        </p:nvSpPr>
        <p:spPr>
          <a:xfrm xmlns:a="http://schemas.openxmlformats.org/drawingml/2006/main">
            <a:off x="3371850" y="2381250"/>
            <a:ext cx="285750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59646A"/>
                </a:solidFill>
                <a:latin typeface="Aptos"/>
                <a:ea typeface="Aptos"/>
                <a:cs typeface="Aptos"/>
              </a:defRPr>
            </a:pPr>
            <a:r>
              <a:rPr sz="1050" b="0">
                <a:solidFill>
                  <a:srgbClr val="59646A"/>
                </a:solidFill>
                <a:latin typeface="Aptos"/>
                <a:ea typeface="Aptos"/>
                <a:cs typeface="Aptos"/>
              </a:rPr>
              <a:t>Blog ideas with no role</a:t>
            </a:r>
          </a:p>
        </p:txBody>
      </p:sp>
      <p:sp>
        <p:nvSpPr>
          <p:cNvPr id="21" name="">
            <a:extLst xmlns:a="http://schemas.openxmlformats.org/drawingml/2006/main">
              <a:ext uri="{FF2B5EF4-FFF2-40B4-BE49-F238E27FC236}">
                <a16:creationId xmlns:a16="http://schemas.microsoft.com/office/drawing/2014/main" id="{4840F202-1524-4A11-8A7C-E3D1D5E8346F}"/>
              </a:ext>
            </a:extLst>
          </p:cNvPr>
          <p:cNvSpPr>
            <a:spLocks xmlns:a="http://schemas.openxmlformats.org/drawingml/2006/main" noGrp="1"/>
          </p:cNvSpPr>
          <p:nvPr/>
        </p:nvSpPr>
        <p:spPr>
          <a:xfrm xmlns:a="http://schemas.openxmlformats.org/drawingml/2006/main">
            <a:off x="6896100" y="2381250"/>
            <a:ext cx="342900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172026"/>
                </a:solidFill>
                <a:latin typeface="Aptos"/>
                <a:ea typeface="Aptos"/>
                <a:cs typeface="Aptos"/>
              </a:defRPr>
            </a:pPr>
            <a:r>
              <a:rPr sz="1050" b="0">
                <a:solidFill>
                  <a:srgbClr val="172026"/>
                </a:solidFill>
                <a:latin typeface="Aptos"/>
                <a:ea typeface="Aptos"/>
                <a:cs typeface="Aptos"/>
              </a:rPr>
              <a:t>Map role, question, demand state, and proof</a:t>
            </a:r>
          </a:p>
        </p:txBody>
      </p:sp>
      <p:sp>
        <p:nvSpPr>
          <p:cNvPr id="22" name="">
            <a:extLst xmlns:a="http://schemas.openxmlformats.org/drawingml/2006/main">
              <a:ext uri="{FF2B5EF4-FFF2-40B4-BE49-F238E27FC236}">
                <a16:creationId xmlns:a16="http://schemas.microsoft.com/office/drawing/2014/main" id="{BB959E1B-B938-4C4A-82F3-8356DC8C8353}"/>
              </a:ext>
            </a:extLst>
          </p:cNvPr>
          <p:cNvSpPr>
            <a:spLocks xmlns:a="http://schemas.openxmlformats.org/drawingml/2006/main" noGrp="1"/>
          </p:cNvSpPr>
          <p:nvPr/>
        </p:nvSpPr>
        <p:spPr>
          <a:xfrm xmlns:a="http://schemas.openxmlformats.org/drawingml/2006/main">
            <a:off x="228600" y="2933700"/>
            <a:ext cx="11963400" cy="723900"/>
          </a:xfrm>
          <a:prstGeom xmlns:a="http://schemas.openxmlformats.org/drawingml/2006/main" prst="rect">
            <a:avLst/>
          </a:prstGeom>
          <a:solidFill xmlns:a="http://schemas.openxmlformats.org/drawingml/2006/main">
            <a:srgbClr val="FAFBF8"/>
          </a:solidFill>
          <a:ln xmlns:a="http://schemas.openxmlformats.org/drawingml/2006/main" w="0">
            <a:solidFill>
              <a:srgbClr val="000000">
                <a:alpha val="0"/>
              </a:srgbClr>
            </a:solidFill>
            <a:prstDash val="solid"/>
          </a:ln>
        </p:spPr>
      </p:sp>
      <p:sp>
        <p:nvSpPr>
          <p:cNvPr id="23" name="">
            <a:extLst xmlns:a="http://schemas.openxmlformats.org/drawingml/2006/main">
              <a:ext uri="{FF2B5EF4-FFF2-40B4-BE49-F238E27FC236}">
                <a16:creationId xmlns:a16="http://schemas.microsoft.com/office/drawing/2014/main" id="{337ABA60-C23C-4015-928F-E51D2B0E771B}"/>
              </a:ext>
            </a:extLst>
          </p:cNvPr>
          <p:cNvSpPr>
            <a:spLocks xmlns:a="http://schemas.openxmlformats.org/drawingml/2006/main" noGrp="1"/>
          </p:cNvSpPr>
          <p:nvPr/>
        </p:nvSpPr>
        <p:spPr>
          <a:xfrm xmlns:a="http://schemas.openxmlformats.org/drawingml/2006/main">
            <a:off x="228600" y="2933700"/>
            <a:ext cx="1196340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24" name="">
            <a:extLst xmlns:a="http://schemas.openxmlformats.org/drawingml/2006/main">
              <a:ext uri="{FF2B5EF4-FFF2-40B4-BE49-F238E27FC236}">
                <a16:creationId xmlns:a16="http://schemas.microsoft.com/office/drawing/2014/main" id="{1C1034A1-0FD8-4651-995D-4DD64E31E480}"/>
              </a:ext>
            </a:extLst>
          </p:cNvPr>
          <p:cNvSpPr>
            <a:spLocks xmlns:a="http://schemas.openxmlformats.org/drawingml/2006/main" noGrp="1"/>
          </p:cNvSpPr>
          <p:nvPr/>
        </p:nvSpPr>
        <p:spPr>
          <a:xfrm xmlns:a="http://schemas.openxmlformats.org/drawingml/2006/main">
            <a:off x="438150" y="3105150"/>
            <a:ext cx="24765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172026"/>
                </a:solidFill>
                <a:latin typeface="Aptos"/>
                <a:ea typeface="Aptos"/>
                <a:cs typeface="Aptos"/>
              </a:defRPr>
            </a:pPr>
            <a:r>
              <a:rPr sz="1125" b="1">
                <a:solidFill>
                  <a:srgbClr val="172026"/>
                </a:solidFill>
                <a:latin typeface="Aptos"/>
                <a:ea typeface="Aptos"/>
                <a:cs typeface="Aptos"/>
              </a:rPr>
              <a:t>Product-first content</a:t>
            </a:r>
          </a:p>
        </p:txBody>
      </p:sp>
      <p:sp>
        <p:nvSpPr>
          <p:cNvPr id="25" name="">
            <a:extLst xmlns:a="http://schemas.openxmlformats.org/drawingml/2006/main">
              <a:ext uri="{FF2B5EF4-FFF2-40B4-BE49-F238E27FC236}">
                <a16:creationId xmlns:a16="http://schemas.microsoft.com/office/drawing/2014/main" id="{0529F1FD-BF01-43C4-8979-D117FACC9159}"/>
              </a:ext>
            </a:extLst>
          </p:cNvPr>
          <p:cNvSpPr>
            <a:spLocks xmlns:a="http://schemas.openxmlformats.org/drawingml/2006/main" noGrp="1"/>
          </p:cNvSpPr>
          <p:nvPr/>
        </p:nvSpPr>
        <p:spPr>
          <a:xfrm xmlns:a="http://schemas.openxmlformats.org/drawingml/2006/main">
            <a:off x="3371850" y="3105150"/>
            <a:ext cx="285750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59646A"/>
                </a:solidFill>
                <a:latin typeface="Aptos"/>
                <a:ea typeface="Aptos"/>
                <a:cs typeface="Aptos"/>
              </a:defRPr>
            </a:pPr>
            <a:r>
              <a:rPr sz="1050" b="0">
                <a:solidFill>
                  <a:srgbClr val="59646A"/>
                </a:solidFill>
                <a:latin typeface="Aptos"/>
                <a:ea typeface="Aptos"/>
                <a:cs typeface="Aptos"/>
              </a:rPr>
              <a:t>Assets start with supplier features</a:t>
            </a:r>
          </a:p>
        </p:txBody>
      </p:sp>
      <p:sp>
        <p:nvSpPr>
          <p:cNvPr id="26" name="">
            <a:extLst xmlns:a="http://schemas.openxmlformats.org/drawingml/2006/main">
              <a:ext uri="{FF2B5EF4-FFF2-40B4-BE49-F238E27FC236}">
                <a16:creationId xmlns:a16="http://schemas.microsoft.com/office/drawing/2014/main" id="{58246BE6-99A5-42F0-AC8B-3BDC41EB52CF}"/>
              </a:ext>
            </a:extLst>
          </p:cNvPr>
          <p:cNvSpPr>
            <a:spLocks xmlns:a="http://schemas.openxmlformats.org/drawingml/2006/main" noGrp="1"/>
          </p:cNvSpPr>
          <p:nvPr/>
        </p:nvSpPr>
        <p:spPr>
          <a:xfrm xmlns:a="http://schemas.openxmlformats.org/drawingml/2006/main">
            <a:off x="6896100" y="3105150"/>
            <a:ext cx="342900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172026"/>
                </a:solidFill>
                <a:latin typeface="Aptos"/>
                <a:ea typeface="Aptos"/>
                <a:cs typeface="Aptos"/>
              </a:defRPr>
            </a:pPr>
            <a:r>
              <a:rPr sz="1050" b="0">
                <a:solidFill>
                  <a:srgbClr val="172026"/>
                </a:solidFill>
                <a:latin typeface="Aptos"/>
                <a:ea typeface="Aptos"/>
                <a:cs typeface="Aptos"/>
              </a:rPr>
              <a:t>Start from buyer uncertainty</a:t>
            </a:r>
          </a:p>
        </p:txBody>
      </p:sp>
      <p:sp>
        <p:nvSpPr>
          <p:cNvPr id="27" name="">
            <a:extLst xmlns:a="http://schemas.openxmlformats.org/drawingml/2006/main">
              <a:ext uri="{FF2B5EF4-FFF2-40B4-BE49-F238E27FC236}">
                <a16:creationId xmlns:a16="http://schemas.microsoft.com/office/drawing/2014/main" id="{21187B9E-D393-46BD-83FA-CC715E23E0B8}"/>
              </a:ext>
            </a:extLst>
          </p:cNvPr>
          <p:cNvSpPr>
            <a:spLocks xmlns:a="http://schemas.openxmlformats.org/drawingml/2006/main" noGrp="1"/>
          </p:cNvSpPr>
          <p:nvPr/>
        </p:nvSpPr>
        <p:spPr>
          <a:xfrm xmlns:a="http://schemas.openxmlformats.org/drawingml/2006/main">
            <a:off x="228600" y="3657600"/>
            <a:ext cx="1196340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28" name="">
            <a:extLst xmlns:a="http://schemas.openxmlformats.org/drawingml/2006/main">
              <a:ext uri="{FF2B5EF4-FFF2-40B4-BE49-F238E27FC236}">
                <a16:creationId xmlns:a16="http://schemas.microsoft.com/office/drawing/2014/main" id="{FE2EDE59-02F6-46F1-83BD-984AE4AFF0C5}"/>
              </a:ext>
            </a:extLst>
          </p:cNvPr>
          <p:cNvSpPr>
            <a:spLocks xmlns:a="http://schemas.openxmlformats.org/drawingml/2006/main" noGrp="1"/>
          </p:cNvSpPr>
          <p:nvPr/>
        </p:nvSpPr>
        <p:spPr>
          <a:xfrm xmlns:a="http://schemas.openxmlformats.org/drawingml/2006/main">
            <a:off x="438150" y="3829050"/>
            <a:ext cx="24765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172026"/>
                </a:solidFill>
                <a:latin typeface="Aptos"/>
                <a:ea typeface="Aptos"/>
                <a:cs typeface="Aptos"/>
              </a:defRPr>
            </a:pPr>
            <a:r>
              <a:rPr sz="1125" b="1">
                <a:solidFill>
                  <a:srgbClr val="172026"/>
                </a:solidFill>
                <a:latin typeface="Aptos"/>
                <a:ea typeface="Aptos"/>
                <a:cs typeface="Aptos"/>
              </a:rPr>
              <a:t>Missing sales use</a:t>
            </a:r>
          </a:p>
        </p:txBody>
      </p:sp>
      <p:sp>
        <p:nvSpPr>
          <p:cNvPr id="29" name="">
            <a:extLst xmlns:a="http://schemas.openxmlformats.org/drawingml/2006/main">
              <a:ext uri="{FF2B5EF4-FFF2-40B4-BE49-F238E27FC236}">
                <a16:creationId xmlns:a16="http://schemas.microsoft.com/office/drawing/2014/main" id="{1285A466-23CE-4D4A-A6A2-8157C4814BF2}"/>
              </a:ext>
            </a:extLst>
          </p:cNvPr>
          <p:cNvSpPr>
            <a:spLocks xmlns:a="http://schemas.openxmlformats.org/drawingml/2006/main" noGrp="1"/>
          </p:cNvSpPr>
          <p:nvPr/>
        </p:nvSpPr>
        <p:spPr>
          <a:xfrm xmlns:a="http://schemas.openxmlformats.org/drawingml/2006/main">
            <a:off x="3371850" y="3829050"/>
            <a:ext cx="285750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59646A"/>
                </a:solidFill>
                <a:latin typeface="Aptos"/>
                <a:ea typeface="Aptos"/>
                <a:cs typeface="Aptos"/>
              </a:defRPr>
            </a:pPr>
            <a:r>
              <a:rPr sz="1050" b="0">
                <a:solidFill>
                  <a:srgbClr val="59646A"/>
                </a:solidFill>
                <a:latin typeface="Aptos"/>
                <a:ea typeface="Aptos"/>
                <a:cs typeface="Aptos"/>
              </a:rPr>
              <a:t>Assets are ignored by sales</a:t>
            </a:r>
          </a:p>
        </p:txBody>
      </p:sp>
      <p:sp>
        <p:nvSpPr>
          <p:cNvPr id="30" name="">
            <a:extLst xmlns:a="http://schemas.openxmlformats.org/drawingml/2006/main">
              <a:ext uri="{FF2B5EF4-FFF2-40B4-BE49-F238E27FC236}">
                <a16:creationId xmlns:a16="http://schemas.microsoft.com/office/drawing/2014/main" id="{4403665E-3D45-44B9-8CE9-A0F344CD8C79}"/>
              </a:ext>
            </a:extLst>
          </p:cNvPr>
          <p:cNvSpPr>
            <a:spLocks xmlns:a="http://schemas.openxmlformats.org/drawingml/2006/main" noGrp="1"/>
          </p:cNvSpPr>
          <p:nvPr/>
        </p:nvSpPr>
        <p:spPr>
          <a:xfrm xmlns:a="http://schemas.openxmlformats.org/drawingml/2006/main">
            <a:off x="6896100" y="3829050"/>
            <a:ext cx="342900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172026"/>
                </a:solidFill>
                <a:latin typeface="Aptos"/>
                <a:ea typeface="Aptos"/>
                <a:cs typeface="Aptos"/>
              </a:defRPr>
            </a:pPr>
            <a:r>
              <a:rPr sz="1050" b="0">
                <a:solidFill>
                  <a:srgbClr val="172026"/>
                </a:solidFill>
                <a:latin typeface="Aptos"/>
                <a:ea typeface="Aptos"/>
                <a:cs typeface="Aptos"/>
              </a:rPr>
              <a:t>Add sales context and use case</a:t>
            </a:r>
          </a:p>
        </p:txBody>
      </p:sp>
      <p:sp>
        <p:nvSpPr>
          <p:cNvPr id="31" name="">
            <a:extLst xmlns:a="http://schemas.openxmlformats.org/drawingml/2006/main">
              <a:ext uri="{FF2B5EF4-FFF2-40B4-BE49-F238E27FC236}">
                <a16:creationId xmlns:a16="http://schemas.microsoft.com/office/drawing/2014/main" id="{8C66D18A-9100-49B4-B8A8-77A3FCEFAE47}"/>
              </a:ext>
            </a:extLst>
          </p:cNvPr>
          <p:cNvSpPr>
            <a:spLocks xmlns:a="http://schemas.openxmlformats.org/drawingml/2006/main" noGrp="1"/>
          </p:cNvSpPr>
          <p:nvPr/>
        </p:nvSpPr>
        <p:spPr>
          <a:xfrm xmlns:a="http://schemas.openxmlformats.org/drawingml/2006/main">
            <a:off x="228600" y="4381500"/>
            <a:ext cx="11963400" cy="723900"/>
          </a:xfrm>
          <a:prstGeom xmlns:a="http://schemas.openxmlformats.org/drawingml/2006/main" prst="rect">
            <a:avLst/>
          </a:prstGeom>
          <a:solidFill xmlns:a="http://schemas.openxmlformats.org/drawingml/2006/main">
            <a:srgbClr val="FAFBF8"/>
          </a:solidFill>
          <a:ln xmlns:a="http://schemas.openxmlformats.org/drawingml/2006/main" w="0">
            <a:solidFill>
              <a:srgbClr val="000000">
                <a:alpha val="0"/>
              </a:srgbClr>
            </a:solidFill>
            <a:prstDash val="solid"/>
          </a:ln>
        </p:spPr>
      </p:sp>
      <p:sp>
        <p:nvSpPr>
          <p:cNvPr id="32" name="">
            <a:extLst xmlns:a="http://schemas.openxmlformats.org/drawingml/2006/main">
              <a:ext uri="{FF2B5EF4-FFF2-40B4-BE49-F238E27FC236}">
                <a16:creationId xmlns:a16="http://schemas.microsoft.com/office/drawing/2014/main" id="{2DD905BD-D4BC-4F42-874B-90A91AC382C7}"/>
              </a:ext>
            </a:extLst>
          </p:cNvPr>
          <p:cNvSpPr>
            <a:spLocks xmlns:a="http://schemas.openxmlformats.org/drawingml/2006/main" noGrp="1"/>
          </p:cNvSpPr>
          <p:nvPr/>
        </p:nvSpPr>
        <p:spPr>
          <a:xfrm xmlns:a="http://schemas.openxmlformats.org/drawingml/2006/main">
            <a:off x="228600" y="4381500"/>
            <a:ext cx="1196340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33" name="">
            <a:extLst xmlns:a="http://schemas.openxmlformats.org/drawingml/2006/main">
              <a:ext uri="{FF2B5EF4-FFF2-40B4-BE49-F238E27FC236}">
                <a16:creationId xmlns:a16="http://schemas.microsoft.com/office/drawing/2014/main" id="{C6245F18-F2D0-4967-98F4-9DEAC5539274}"/>
              </a:ext>
            </a:extLst>
          </p:cNvPr>
          <p:cNvSpPr>
            <a:spLocks xmlns:a="http://schemas.openxmlformats.org/drawingml/2006/main" noGrp="1"/>
          </p:cNvSpPr>
          <p:nvPr/>
        </p:nvSpPr>
        <p:spPr>
          <a:xfrm xmlns:a="http://schemas.openxmlformats.org/drawingml/2006/main">
            <a:off x="438150" y="4552950"/>
            <a:ext cx="24765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172026"/>
                </a:solidFill>
                <a:latin typeface="Aptos"/>
                <a:ea typeface="Aptos"/>
                <a:cs typeface="Aptos"/>
              </a:defRPr>
            </a:pPr>
            <a:r>
              <a:rPr sz="1125" b="1">
                <a:solidFill>
                  <a:srgbClr val="172026"/>
                </a:solidFill>
                <a:latin typeface="Aptos"/>
                <a:ea typeface="Aptos"/>
                <a:cs typeface="Aptos"/>
              </a:rPr>
              <a:t>No signal design</a:t>
            </a:r>
          </a:p>
        </p:txBody>
      </p:sp>
      <p:sp>
        <p:nvSpPr>
          <p:cNvPr id="34" name="">
            <a:extLst xmlns:a="http://schemas.openxmlformats.org/drawingml/2006/main">
              <a:ext uri="{FF2B5EF4-FFF2-40B4-BE49-F238E27FC236}">
                <a16:creationId xmlns:a16="http://schemas.microsoft.com/office/drawing/2014/main" id="{22EC4259-7744-40A2-833E-57FBF20C718C}"/>
              </a:ext>
            </a:extLst>
          </p:cNvPr>
          <p:cNvSpPr>
            <a:spLocks xmlns:a="http://schemas.openxmlformats.org/drawingml/2006/main" noGrp="1"/>
          </p:cNvSpPr>
          <p:nvPr/>
        </p:nvSpPr>
        <p:spPr>
          <a:xfrm xmlns:a="http://schemas.openxmlformats.org/drawingml/2006/main">
            <a:off x="3371850" y="4552950"/>
            <a:ext cx="285750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59646A"/>
                </a:solidFill>
                <a:latin typeface="Aptos"/>
                <a:ea typeface="Aptos"/>
                <a:cs typeface="Aptos"/>
              </a:defRPr>
            </a:pPr>
            <a:r>
              <a:rPr sz="1050" b="0">
                <a:solidFill>
                  <a:srgbClr val="59646A"/>
                </a:solidFill>
                <a:latin typeface="Aptos"/>
                <a:ea typeface="Aptos"/>
                <a:cs typeface="Aptos"/>
              </a:rPr>
              <a:t>Engagement changes no action</a:t>
            </a:r>
          </a:p>
        </p:txBody>
      </p:sp>
      <p:sp>
        <p:nvSpPr>
          <p:cNvPr id="35" name="">
            <a:extLst xmlns:a="http://schemas.openxmlformats.org/drawingml/2006/main">
              <a:ext uri="{FF2B5EF4-FFF2-40B4-BE49-F238E27FC236}">
                <a16:creationId xmlns:a16="http://schemas.microsoft.com/office/drawing/2014/main" id="{5A181E61-F61A-41E1-8463-E99475203527}"/>
              </a:ext>
            </a:extLst>
          </p:cNvPr>
          <p:cNvSpPr>
            <a:spLocks xmlns:a="http://schemas.openxmlformats.org/drawingml/2006/main" noGrp="1"/>
          </p:cNvSpPr>
          <p:nvPr/>
        </p:nvSpPr>
        <p:spPr>
          <a:xfrm xmlns:a="http://schemas.openxmlformats.org/drawingml/2006/main">
            <a:off x="6896100" y="4552950"/>
            <a:ext cx="342900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172026"/>
                </a:solidFill>
                <a:latin typeface="Aptos"/>
                <a:ea typeface="Aptos"/>
                <a:cs typeface="Aptos"/>
              </a:defRPr>
            </a:pPr>
            <a:r>
              <a:rPr sz="1050" b="0">
                <a:solidFill>
                  <a:srgbClr val="172026"/>
                </a:solidFill>
                <a:latin typeface="Aptos"/>
                <a:ea typeface="Aptos"/>
                <a:cs typeface="Aptos"/>
              </a:rPr>
              <a:t>Define signal strength and routing rule</a:t>
            </a:r>
          </a:p>
        </p:txBody>
      </p:sp>
      <p:sp>
        <p:nvSpPr>
          <p:cNvPr id="36" name="">
            <a:extLst xmlns:a="http://schemas.openxmlformats.org/drawingml/2006/main">
              <a:ext uri="{FF2B5EF4-FFF2-40B4-BE49-F238E27FC236}">
                <a16:creationId xmlns:a16="http://schemas.microsoft.com/office/drawing/2014/main" id="{DA2DB04E-DA91-4FCF-8B4B-D2404DABDDD4}"/>
              </a:ext>
            </a:extLst>
          </p:cNvPr>
          <p:cNvSpPr>
            <a:spLocks xmlns:a="http://schemas.openxmlformats.org/drawingml/2006/main" noGrp="1"/>
          </p:cNvSpPr>
          <p:nvPr/>
        </p:nvSpPr>
        <p:spPr>
          <a:xfrm xmlns:a="http://schemas.openxmlformats.org/drawingml/2006/main">
            <a:off x="514350" y="6438900"/>
            <a:ext cx="1091565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37" name="">
            <a:extLst xmlns:a="http://schemas.openxmlformats.org/drawingml/2006/main">
              <a:ext uri="{FF2B5EF4-FFF2-40B4-BE49-F238E27FC236}">
                <a16:creationId xmlns:a16="http://schemas.microsoft.com/office/drawing/2014/main" id="{0DC218F3-80ED-4131-8E7E-0D480BFA08CD}"/>
              </a:ext>
            </a:extLst>
          </p:cNvPr>
          <p:cNvSpPr>
            <a:spLocks xmlns:a="http://schemas.openxmlformats.org/drawingml/2006/main" noGrp="1"/>
          </p:cNvSpPr>
          <p:nvPr/>
        </p:nvSpPr>
        <p:spPr>
          <a:xfrm xmlns:a="http://schemas.openxmlformats.org/drawingml/2006/main">
            <a:off x="514350" y="6553200"/>
            <a:ext cx="590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59646A"/>
                </a:solidFill>
                <a:latin typeface="Aptos"/>
                <a:ea typeface="Aptos"/>
                <a:cs typeface="Aptos"/>
              </a:defRPr>
            </a:pPr>
            <a:r>
              <a:rPr sz="675" b="0">
                <a:solidFill>
                  <a:srgbClr val="59646A"/>
                </a:solidFill>
                <a:latin typeface="Aptos"/>
                <a:ea typeface="Aptos"/>
                <a:cs typeface="Aptos"/>
              </a:rPr>
              <a:t>Lesson 04 - MOIN: Map Of Informational Needs</a:t>
            </a:r>
          </a:p>
        </p:txBody>
      </p:sp>
      <p:sp>
        <p:nvSpPr>
          <p:cNvPr id="38" name="">
            <a:extLst xmlns:a="http://schemas.openxmlformats.org/drawingml/2006/main">
              <a:ext uri="{FF2B5EF4-FFF2-40B4-BE49-F238E27FC236}">
                <a16:creationId xmlns:a16="http://schemas.microsoft.com/office/drawing/2014/main" id="{F76723C5-494F-40AB-AF58-78F19F2F2B78}"/>
              </a:ext>
            </a:extLst>
          </p:cNvPr>
          <p:cNvSpPr>
            <a:spLocks xmlns:a="http://schemas.openxmlformats.org/drawingml/2006/main" noGrp="1"/>
          </p:cNvSpPr>
          <p:nvPr/>
        </p:nvSpPr>
        <p:spPr>
          <a:xfrm xmlns:a="http://schemas.openxmlformats.org/drawingml/2006/main">
            <a:off x="5334000" y="6553200"/>
            <a:ext cx="4095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00" b="0">
                <a:solidFill>
                  <a:srgbClr val="59646A"/>
                </a:solidFill>
                <a:latin typeface="Aptos"/>
                <a:ea typeface="Aptos"/>
                <a:cs typeface="Aptos"/>
              </a:defRPr>
            </a:pPr>
            <a:r>
              <a:rPr sz="600" b="0">
                <a:solidFill>
                  <a:srgbClr val="59646A"/>
                </a:solidFill>
                <a:latin typeface="Aptos"/>
                <a:ea typeface="Aptos"/>
                <a:cs typeface="Aptos"/>
              </a:rPr>
              <a:t>Source: modules/module-01-industrial-demand-generation/lessons/04-moin-map-of-informational-needs.md @ 9e28222</a:t>
            </a:r>
          </a:p>
        </p:txBody>
      </p:sp>
      <p:sp>
        <p:nvSpPr>
          <p:cNvPr id="39" name="">
            <a:extLst xmlns:a="http://schemas.openxmlformats.org/drawingml/2006/main">
              <a:ext uri="{FF2B5EF4-FFF2-40B4-BE49-F238E27FC236}">
                <a16:creationId xmlns:a16="http://schemas.microsoft.com/office/drawing/2014/main" id="{6E74AA8E-72E0-4CE5-A4A5-22E56C3DB519}"/>
              </a:ext>
            </a:extLst>
          </p:cNvPr>
          <p:cNvSpPr>
            <a:spLocks xmlns:a="http://schemas.openxmlformats.org/drawingml/2006/main" noGrp="1"/>
          </p:cNvSpPr>
          <p:nvPr/>
        </p:nvSpPr>
        <p:spPr>
          <a:xfrm xmlns:a="http://schemas.openxmlformats.org/drawingml/2006/main">
            <a:off x="10668000" y="6553200"/>
            <a:ext cx="762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75" b="0">
                <a:solidFill>
                  <a:srgbClr val="59646A"/>
                </a:solidFill>
                <a:latin typeface="Aptos"/>
                <a:ea typeface="Aptos"/>
                <a:cs typeface="Aptos"/>
              </a:defRPr>
            </a:pPr>
            <a:r>
              <a:rPr sz="675" b="0">
                <a:solidFill>
                  <a:srgbClr val="59646A"/>
                </a:solidFill>
                <a:latin typeface="Aptos"/>
                <a:ea typeface="Aptos"/>
                <a:cs typeface="Aptos"/>
              </a:rPr>
              <a:t>13/15</a:t>
            </a:r>
          </a:p>
        </p:txBody>
      </p:sp>
      <p:sp>
        <p:nvSpPr>
          <p:cNvPr id="40" name="">
            <a:extLst xmlns:a="http://schemas.openxmlformats.org/drawingml/2006/main">
              <a:ext uri="{FF2B5EF4-FFF2-40B4-BE49-F238E27FC236}">
                <a16:creationId xmlns:a16="http://schemas.microsoft.com/office/drawing/2014/main" id="{C18AEEB0-E648-47AE-8887-A7AEF942AF3F}"/>
              </a:ext>
            </a:extLst>
          </p:cNvPr>
          <p:cNvSpPr>
            <a:spLocks xmlns:a="http://schemas.openxmlformats.org/drawingml/2006/main" noGrp="1"/>
          </p:cNvSpPr>
          <p:nvPr/>
        </p:nvSpPr>
        <p:spPr>
          <a:xfrm xmlns:a="http://schemas.openxmlformats.org/drawingml/2006/main">
            <a:off x="0" y="0"/>
            <a:ext cx="12192000" cy="1809750"/>
          </a:xfrm>
          <a:prstGeom xmlns:a="http://schemas.openxmlformats.org/drawingml/2006/main" prst="rect">
            <a:avLst/>
          </a:prstGeom>
          <a:solidFill xmlns:a="http://schemas.openxmlformats.org/drawingml/2006/main">
            <a:srgbClr val="F5F6F2"/>
          </a:solidFill>
          <a:ln xmlns:a="http://schemas.openxmlformats.org/drawingml/2006/main" w="0">
            <a:solidFill>
              <a:srgbClr val="000000">
                <a:alpha val="0"/>
              </a:srgbClr>
            </a:solidFill>
            <a:prstDash val="solid"/>
          </a:ln>
        </p:spPr>
      </p:sp>
      <p:sp>
        <p:nvSpPr>
          <p:cNvPr id="41" name="">
            <a:extLst xmlns:a="http://schemas.openxmlformats.org/drawingml/2006/main">
              <a:ext uri="{FF2B5EF4-FFF2-40B4-BE49-F238E27FC236}">
                <a16:creationId xmlns:a16="http://schemas.microsoft.com/office/drawing/2014/main" id="{0D47AE05-75A8-4935-BFCF-5025CA38C966}"/>
              </a:ext>
            </a:extLst>
          </p:cNvPr>
          <p:cNvSpPr>
            <a:spLocks xmlns:a="http://schemas.openxmlformats.org/drawingml/2006/main" noGrp="1"/>
          </p:cNvSpPr>
          <p:nvPr/>
        </p:nvSpPr>
        <p:spPr>
          <a:xfrm xmlns:a="http://schemas.openxmlformats.org/drawingml/2006/main">
            <a:off x="0" y="0"/>
            <a:ext cx="171450" cy="1809750"/>
          </a:xfrm>
          <a:prstGeom xmlns:a="http://schemas.openxmlformats.org/drawingml/2006/main" prst="rect">
            <a:avLst/>
          </a:prstGeom>
          <a:solidFill xmlns:a="http://schemas.openxmlformats.org/drawingml/2006/main">
            <a:srgbClr val="12232B"/>
          </a:solidFill>
          <a:ln xmlns:a="http://schemas.openxmlformats.org/drawingml/2006/main" w="0">
            <a:solidFill>
              <a:srgbClr val="000000">
                <a:alpha val="0"/>
              </a:srgbClr>
            </a:solidFill>
            <a:prstDash val="solid"/>
          </a:ln>
        </p:spPr>
      </p:sp>
      <p:sp>
        <p:nvSpPr>
          <p:cNvPr id="42" name="">
            <a:extLst xmlns:a="http://schemas.openxmlformats.org/drawingml/2006/main">
              <a:ext uri="{FF2B5EF4-FFF2-40B4-BE49-F238E27FC236}">
                <a16:creationId xmlns:a16="http://schemas.microsoft.com/office/drawing/2014/main" id="{A3C36F46-8030-4E3F-9282-B524938B7EB4}"/>
              </a:ext>
            </a:extLst>
          </p:cNvPr>
          <p:cNvSpPr>
            <a:spLocks xmlns:a="http://schemas.openxmlformats.org/drawingml/2006/main" noGrp="1"/>
          </p:cNvSpPr>
          <p:nvPr/>
        </p:nvSpPr>
        <p:spPr>
          <a:xfrm xmlns:a="http://schemas.openxmlformats.org/drawingml/2006/main">
            <a:off x="171450" y="0"/>
            <a:ext cx="57150" cy="180975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43" name="kicker-04-marker">
            <a:extLst xmlns:a="http://schemas.openxmlformats.org/drawingml/2006/main">
              <a:ext uri="{FF2B5EF4-FFF2-40B4-BE49-F238E27FC236}">
                <a16:creationId xmlns:a16="http://schemas.microsoft.com/office/drawing/2014/main" id="{98E4D501-2C41-463B-A992-F2959F16DD78}"/>
              </a:ext>
            </a:extLst>
          </p:cNvPr>
          <p:cNvSpPr>
            <a:spLocks xmlns:a="http://schemas.openxmlformats.org/drawingml/2006/main" noGrp="1"/>
          </p:cNvSpPr>
          <p:nvPr/>
        </p:nvSpPr>
        <p:spPr>
          <a:xfrm xmlns:a="http://schemas.openxmlformats.org/drawingml/2006/main">
            <a:off x="514350" y="390525"/>
            <a:ext cx="76200" cy="762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44" name="kicker-04-label">
            <a:extLst xmlns:a="http://schemas.openxmlformats.org/drawingml/2006/main">
              <a:ext uri="{FF2B5EF4-FFF2-40B4-BE49-F238E27FC236}">
                <a16:creationId xmlns:a16="http://schemas.microsoft.com/office/drawing/2014/main" id="{C849B970-0F2B-445B-A09A-79CD85D47695}"/>
              </a:ext>
            </a:extLst>
          </p:cNvPr>
          <p:cNvSpPr>
            <a:spLocks xmlns:a="http://schemas.openxmlformats.org/drawingml/2006/main" noGrp="1"/>
          </p:cNvSpPr>
          <p:nvPr/>
        </p:nvSpPr>
        <p:spPr>
          <a:xfrm xmlns:a="http://schemas.openxmlformats.org/drawingml/2006/main">
            <a:off x="685800" y="323850"/>
            <a:ext cx="75247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MODULE 1 / LESSON 04 / FAILURE MODES</a:t>
            </a:r>
          </a:p>
        </p:txBody>
      </p:sp>
      <p:sp>
        <p:nvSpPr>
          <p:cNvPr id="45" name="">
            <a:extLst xmlns:a="http://schemas.openxmlformats.org/drawingml/2006/main">
              <a:ext uri="{FF2B5EF4-FFF2-40B4-BE49-F238E27FC236}">
                <a16:creationId xmlns:a16="http://schemas.microsoft.com/office/drawing/2014/main" id="{11F545CB-20E0-4D3A-8C6D-34EEAC23A3F2}"/>
              </a:ext>
            </a:extLst>
          </p:cNvPr>
          <p:cNvSpPr>
            <a:spLocks xmlns:a="http://schemas.openxmlformats.org/drawingml/2006/main" noGrp="1"/>
          </p:cNvSpPr>
          <p:nvPr/>
        </p:nvSpPr>
        <p:spPr>
          <a:xfrm xmlns:a="http://schemas.openxmlformats.org/drawingml/2006/main">
            <a:off x="514350" y="704850"/>
            <a:ext cx="8096250" cy="666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250" b="1">
                <a:solidFill>
                  <a:srgbClr val="172026"/>
                </a:solidFill>
                <a:latin typeface="Aptos Display"/>
                <a:ea typeface="Aptos Display"/>
                <a:cs typeface="Aptos Display"/>
              </a:defRPr>
            </a:pPr>
            <a:r>
              <a:rPr sz="2250" b="1">
                <a:solidFill>
                  <a:srgbClr val="172026"/>
                </a:solidFill>
                <a:latin typeface="Aptos Display"/>
                <a:ea typeface="Aptos Display"/>
                <a:cs typeface="Aptos Display"/>
              </a:rPr>
              <a:t>Name the anti-pattern before it becomes field behavior.</a:t>
            </a:r>
          </a:p>
        </p:txBody>
      </p:sp>
      <p:sp>
        <p:nvSpPr>
          <p:cNvPr id="46" name="">
            <a:extLst xmlns:a="http://schemas.openxmlformats.org/drawingml/2006/main">
              <a:ext uri="{FF2B5EF4-FFF2-40B4-BE49-F238E27FC236}">
                <a16:creationId xmlns:a16="http://schemas.microsoft.com/office/drawing/2014/main" id="{ABF0EF92-87D2-472B-AF32-002CE22C7D57}"/>
              </a:ext>
            </a:extLst>
          </p:cNvPr>
          <p:cNvSpPr>
            <a:spLocks xmlns:a="http://schemas.openxmlformats.org/drawingml/2006/main" noGrp="1"/>
          </p:cNvSpPr>
          <p:nvPr/>
        </p:nvSpPr>
        <p:spPr>
          <a:xfrm xmlns:a="http://schemas.openxmlformats.org/drawingml/2006/main">
            <a:off x="514350" y="1314450"/>
            <a:ext cx="819150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59646A"/>
                </a:solidFill>
                <a:latin typeface="Aptos"/>
                <a:ea typeface="Aptos"/>
                <a:cs typeface="Aptos"/>
              </a:defRPr>
            </a:pPr>
            <a:r>
              <a:rPr sz="1125" b="0">
                <a:solidFill>
                  <a:srgbClr val="59646A"/>
                </a:solidFill>
                <a:latin typeface="Aptos"/>
                <a:ea typeface="Aptos"/>
                <a:cs typeface="Aptos"/>
              </a:rPr>
              <a:t>Use this slide to make weak work easier to reject in the moment.</a:t>
            </a:r>
          </a:p>
        </p:txBody>
      </p:sp>
      <p:sp>
        <p:nvSpPr>
          <p:cNvPr id="47" name="">
            <a:extLst xmlns:a="http://schemas.openxmlformats.org/drawingml/2006/main">
              <a:ext uri="{FF2B5EF4-FFF2-40B4-BE49-F238E27FC236}">
                <a16:creationId xmlns:a16="http://schemas.microsoft.com/office/drawing/2014/main" id="{35B1F808-0260-478C-B8A1-6F1CC8844805}"/>
              </a:ext>
            </a:extLst>
          </p:cNvPr>
          <p:cNvSpPr>
            <a:spLocks xmlns:a="http://schemas.openxmlformats.org/drawingml/2006/main" noGrp="1"/>
          </p:cNvSpPr>
          <p:nvPr/>
        </p:nvSpPr>
        <p:spPr>
          <a:xfrm xmlns:a="http://schemas.openxmlformats.org/drawingml/2006/main">
            <a:off x="0" y="6400800"/>
            <a:ext cx="12192000" cy="457200"/>
          </a:xfrm>
          <a:prstGeom xmlns:a="http://schemas.openxmlformats.org/drawingml/2006/main" prst="rect">
            <a:avLst/>
          </a:prstGeom>
          <a:solidFill xmlns:a="http://schemas.openxmlformats.org/drawingml/2006/main">
            <a:srgbClr val="F5F6F2"/>
          </a:solidFill>
          <a:ln xmlns:a="http://schemas.openxmlformats.org/drawingml/2006/main" w="0">
            <a:solidFill>
              <a:srgbClr val="000000">
                <a:alpha val="0"/>
              </a:srgbClr>
            </a:solidFill>
            <a:prstDash val="solid"/>
          </a:ln>
        </p:spPr>
      </p:sp>
      <p:sp>
        <p:nvSpPr>
          <p:cNvPr id="48" name="">
            <a:extLst xmlns:a="http://schemas.openxmlformats.org/drawingml/2006/main">
              <a:ext uri="{FF2B5EF4-FFF2-40B4-BE49-F238E27FC236}">
                <a16:creationId xmlns:a16="http://schemas.microsoft.com/office/drawing/2014/main" id="{55163490-7A73-40E5-839C-3342F31ECCDA}"/>
              </a:ext>
            </a:extLst>
          </p:cNvPr>
          <p:cNvSpPr>
            <a:spLocks xmlns:a="http://schemas.openxmlformats.org/drawingml/2006/main" noGrp="1"/>
          </p:cNvSpPr>
          <p:nvPr/>
        </p:nvSpPr>
        <p:spPr>
          <a:xfrm xmlns:a="http://schemas.openxmlformats.org/drawingml/2006/main">
            <a:off x="0" y="6400800"/>
            <a:ext cx="171450" cy="457200"/>
          </a:xfrm>
          <a:prstGeom xmlns:a="http://schemas.openxmlformats.org/drawingml/2006/main" prst="rect">
            <a:avLst/>
          </a:prstGeom>
          <a:solidFill xmlns:a="http://schemas.openxmlformats.org/drawingml/2006/main">
            <a:srgbClr val="12232B"/>
          </a:solidFill>
          <a:ln xmlns:a="http://schemas.openxmlformats.org/drawingml/2006/main" w="0">
            <a:solidFill>
              <a:srgbClr val="000000">
                <a:alpha val="0"/>
              </a:srgbClr>
            </a:solidFill>
            <a:prstDash val="solid"/>
          </a:ln>
        </p:spPr>
      </p:sp>
      <p:sp>
        <p:nvSpPr>
          <p:cNvPr id="49" name="">
            <a:extLst xmlns:a="http://schemas.openxmlformats.org/drawingml/2006/main">
              <a:ext uri="{FF2B5EF4-FFF2-40B4-BE49-F238E27FC236}">
                <a16:creationId xmlns:a16="http://schemas.microsoft.com/office/drawing/2014/main" id="{98FC33E4-7764-42A5-B8B8-4E6D51A63D1A}"/>
              </a:ext>
            </a:extLst>
          </p:cNvPr>
          <p:cNvSpPr>
            <a:spLocks xmlns:a="http://schemas.openxmlformats.org/drawingml/2006/main" noGrp="1"/>
          </p:cNvSpPr>
          <p:nvPr/>
        </p:nvSpPr>
        <p:spPr>
          <a:xfrm xmlns:a="http://schemas.openxmlformats.org/drawingml/2006/main">
            <a:off x="171450" y="6400800"/>
            <a:ext cx="57150" cy="4572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50" name="">
            <a:extLst xmlns:a="http://schemas.openxmlformats.org/drawingml/2006/main">
              <a:ext uri="{FF2B5EF4-FFF2-40B4-BE49-F238E27FC236}">
                <a16:creationId xmlns:a16="http://schemas.microsoft.com/office/drawing/2014/main" id="{47E236B0-7FC7-4192-98F1-36FB83DC7A2D}"/>
              </a:ext>
            </a:extLst>
          </p:cNvPr>
          <p:cNvSpPr>
            <a:spLocks xmlns:a="http://schemas.openxmlformats.org/drawingml/2006/main" noGrp="1"/>
          </p:cNvSpPr>
          <p:nvPr/>
        </p:nvSpPr>
        <p:spPr>
          <a:xfrm xmlns:a="http://schemas.openxmlformats.org/drawingml/2006/main">
            <a:off x="514350" y="6438900"/>
            <a:ext cx="1091565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51" name="">
            <a:extLst xmlns:a="http://schemas.openxmlformats.org/drawingml/2006/main">
              <a:ext uri="{FF2B5EF4-FFF2-40B4-BE49-F238E27FC236}">
                <a16:creationId xmlns:a16="http://schemas.microsoft.com/office/drawing/2014/main" id="{87D8DF6B-DD33-46C6-BAC6-D859A1505ED7}"/>
              </a:ext>
            </a:extLst>
          </p:cNvPr>
          <p:cNvSpPr>
            <a:spLocks xmlns:a="http://schemas.openxmlformats.org/drawingml/2006/main" noGrp="1"/>
          </p:cNvSpPr>
          <p:nvPr/>
        </p:nvSpPr>
        <p:spPr>
          <a:xfrm xmlns:a="http://schemas.openxmlformats.org/drawingml/2006/main">
            <a:off x="514350" y="6553200"/>
            <a:ext cx="590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59646A"/>
                </a:solidFill>
                <a:latin typeface="Aptos"/>
                <a:ea typeface="Aptos"/>
                <a:cs typeface="Aptos"/>
              </a:defRPr>
            </a:pPr>
            <a:r>
              <a:rPr sz="675" b="0">
                <a:solidFill>
                  <a:srgbClr val="59646A"/>
                </a:solidFill>
                <a:latin typeface="Aptos"/>
                <a:ea typeface="Aptos"/>
                <a:cs typeface="Aptos"/>
              </a:rPr>
              <a:t>Lesson 04 - MOIN: Map Of Informational Needs</a:t>
            </a:r>
          </a:p>
        </p:txBody>
      </p:sp>
      <p:sp>
        <p:nvSpPr>
          <p:cNvPr id="52" name="">
            <a:extLst xmlns:a="http://schemas.openxmlformats.org/drawingml/2006/main">
              <a:ext uri="{FF2B5EF4-FFF2-40B4-BE49-F238E27FC236}">
                <a16:creationId xmlns:a16="http://schemas.microsoft.com/office/drawing/2014/main" id="{C376F962-6FD8-4FA2-94DD-59E25D2C923C}"/>
              </a:ext>
            </a:extLst>
          </p:cNvPr>
          <p:cNvSpPr>
            <a:spLocks xmlns:a="http://schemas.openxmlformats.org/drawingml/2006/main" noGrp="1"/>
          </p:cNvSpPr>
          <p:nvPr/>
        </p:nvSpPr>
        <p:spPr>
          <a:xfrm xmlns:a="http://schemas.openxmlformats.org/drawingml/2006/main">
            <a:off x="5334000" y="6553200"/>
            <a:ext cx="4095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00" b="0">
                <a:solidFill>
                  <a:srgbClr val="59646A"/>
                </a:solidFill>
                <a:latin typeface="Aptos"/>
                <a:ea typeface="Aptos"/>
                <a:cs typeface="Aptos"/>
              </a:defRPr>
            </a:pPr>
            <a:r>
              <a:rPr sz="600" b="0">
                <a:solidFill>
                  <a:srgbClr val="59646A"/>
                </a:solidFill>
                <a:latin typeface="Aptos"/>
                <a:ea typeface="Aptos"/>
                <a:cs typeface="Aptos"/>
              </a:rPr>
              <a:t>Source: modules/module-01-industrial-demand-generation/lessons/04-moin-map-of-informational-needs.md @ 9e28222</a:t>
            </a:r>
          </a:p>
        </p:txBody>
      </p:sp>
      <p:sp>
        <p:nvSpPr>
          <p:cNvPr id="53" name="">
            <a:extLst xmlns:a="http://schemas.openxmlformats.org/drawingml/2006/main">
              <a:ext uri="{FF2B5EF4-FFF2-40B4-BE49-F238E27FC236}">
                <a16:creationId xmlns:a16="http://schemas.microsoft.com/office/drawing/2014/main" id="{48611815-6AD1-4D6C-9D16-05422A0AEA25}"/>
              </a:ext>
            </a:extLst>
          </p:cNvPr>
          <p:cNvSpPr>
            <a:spLocks xmlns:a="http://schemas.openxmlformats.org/drawingml/2006/main" noGrp="1"/>
          </p:cNvSpPr>
          <p:nvPr/>
        </p:nvSpPr>
        <p:spPr>
          <a:xfrm xmlns:a="http://schemas.openxmlformats.org/drawingml/2006/main">
            <a:off x="10668000" y="6553200"/>
            <a:ext cx="762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75" b="0">
                <a:solidFill>
                  <a:srgbClr val="59646A"/>
                </a:solidFill>
                <a:latin typeface="Aptos"/>
                <a:ea typeface="Aptos"/>
                <a:cs typeface="Aptos"/>
              </a:defRPr>
            </a:pPr>
            <a:r>
              <a:rPr sz="675" b="0">
                <a:solidFill>
                  <a:srgbClr val="59646A"/>
                </a:solidFill>
                <a:latin typeface="Aptos"/>
                <a:ea typeface="Aptos"/>
                <a:cs typeface="Aptos"/>
              </a:rPr>
              <a:t>13/15</a:t>
            </a:r>
          </a:p>
        </p:txBody>
      </p:sp>
    </p:spTree>
    <p:extLst>
      <p:ext uri="{BB962C8B-B14F-4D97-AF65-F5344CB8AC3E}">
        <p14:creationId xmlns:p14="http://schemas.microsoft.com/office/powerpoint/2010/main" val="517912470"/>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DD509258-831B-4E47-A857-A7BFF2089077}"/>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6F2"/>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06F2797E-E089-44E0-814B-0CC03282FD5C}"/>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12232B"/>
          </a:solidFill>
          <a:ln xmlns:a="http://schemas.openxmlformats.org/drawingml/2006/main" w="0">
            <a:solidFill>
              <a:srgbClr val="000000">
                <a:alpha val="0"/>
              </a:srgbClr>
            </a:solidFill>
            <a:prstDash val="solid"/>
          </a:ln>
        </p:spPr>
      </p:sp>
      <p:sp>
        <p:nvSpPr>
          <p:cNvPr id="3" name="">
            <a:extLst xmlns:a="http://schemas.openxmlformats.org/drawingml/2006/main">
              <a:ext uri="{FF2B5EF4-FFF2-40B4-BE49-F238E27FC236}">
                <a16:creationId xmlns:a16="http://schemas.microsoft.com/office/drawing/2014/main" id="{1E39058C-183A-4D50-81DC-5C8688BDABAF}"/>
              </a:ext>
            </a:extLst>
          </p:cNvPr>
          <p:cNvSpPr>
            <a:spLocks xmlns:a="http://schemas.openxmlformats.org/drawingml/2006/main" noGrp="1"/>
          </p:cNvSpPr>
          <p:nvPr/>
        </p:nvSpPr>
        <p:spPr>
          <a:xfrm xmlns:a="http://schemas.openxmlformats.org/drawingml/2006/main">
            <a:off x="171450" y="0"/>
            <a:ext cx="57150" cy="68580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4" name="kicker-04-marker">
            <a:extLst xmlns:a="http://schemas.openxmlformats.org/drawingml/2006/main">
              <a:ext uri="{FF2B5EF4-FFF2-40B4-BE49-F238E27FC236}">
                <a16:creationId xmlns:a16="http://schemas.microsoft.com/office/drawing/2014/main" id="{4F28EDF9-5E9A-4057-B547-FC4C88B7F342}"/>
              </a:ext>
            </a:extLst>
          </p:cNvPr>
          <p:cNvSpPr>
            <a:spLocks xmlns:a="http://schemas.openxmlformats.org/drawingml/2006/main" noGrp="1"/>
          </p:cNvSpPr>
          <p:nvPr/>
        </p:nvSpPr>
        <p:spPr>
          <a:xfrm xmlns:a="http://schemas.openxmlformats.org/drawingml/2006/main">
            <a:off x="514350" y="390525"/>
            <a:ext cx="76200" cy="762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5" name="kicker-04-label">
            <a:extLst xmlns:a="http://schemas.openxmlformats.org/drawingml/2006/main">
              <a:ext uri="{FF2B5EF4-FFF2-40B4-BE49-F238E27FC236}">
                <a16:creationId xmlns:a16="http://schemas.microsoft.com/office/drawing/2014/main" id="{FC11D28B-5052-4BB6-91B5-348D008218EA}"/>
              </a:ext>
            </a:extLst>
          </p:cNvPr>
          <p:cNvSpPr>
            <a:spLocks xmlns:a="http://schemas.openxmlformats.org/drawingml/2006/main" noGrp="1"/>
          </p:cNvSpPr>
          <p:nvPr/>
        </p:nvSpPr>
        <p:spPr>
          <a:xfrm xmlns:a="http://schemas.openxmlformats.org/drawingml/2006/main">
            <a:off x="685800" y="323850"/>
            <a:ext cx="75247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MODULE 1 / LESSON 04 / FINAL ARTIFACT</a:t>
            </a:r>
          </a:p>
        </p:txBody>
      </p:sp>
      <p:sp>
        <p:nvSpPr>
          <p:cNvPr id="6" name="">
            <a:extLst xmlns:a="http://schemas.openxmlformats.org/drawingml/2006/main">
              <a:ext uri="{FF2B5EF4-FFF2-40B4-BE49-F238E27FC236}">
                <a16:creationId xmlns:a16="http://schemas.microsoft.com/office/drawing/2014/main" id="{9A95E5E3-DA2F-4B3E-9279-B6F809199120}"/>
              </a:ext>
            </a:extLst>
          </p:cNvPr>
          <p:cNvSpPr>
            <a:spLocks xmlns:a="http://schemas.openxmlformats.org/drawingml/2006/main" noGrp="1"/>
          </p:cNvSpPr>
          <p:nvPr/>
        </p:nvSpPr>
        <p:spPr>
          <a:xfrm xmlns:a="http://schemas.openxmlformats.org/drawingml/2006/main">
            <a:off x="514350" y="704850"/>
            <a:ext cx="8096250" cy="666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250" b="1">
                <a:solidFill>
                  <a:srgbClr val="172026"/>
                </a:solidFill>
                <a:latin typeface="Aptos Display"/>
                <a:ea typeface="Aptos Display"/>
                <a:cs typeface="Aptos Display"/>
              </a:defRPr>
            </a:pPr>
            <a:r>
              <a:rPr sz="2250" b="1">
                <a:solidFill>
                  <a:srgbClr val="172026"/>
                </a:solidFill>
                <a:latin typeface="Aptos Display"/>
                <a:ea typeface="Aptos Display"/>
                <a:cs typeface="Aptos Display"/>
              </a:rPr>
              <a:t>What learners must leave this lesson able to submit.</a:t>
            </a:r>
          </a:p>
        </p:txBody>
      </p:sp>
      <p:sp>
        <p:nvSpPr>
          <p:cNvPr id="7" name="">
            <a:extLst xmlns:a="http://schemas.openxmlformats.org/drawingml/2006/main">
              <a:ext uri="{FF2B5EF4-FFF2-40B4-BE49-F238E27FC236}">
                <a16:creationId xmlns:a16="http://schemas.microsoft.com/office/drawing/2014/main" id="{9772E578-DCEA-42A8-B277-0081E66D88CB}"/>
              </a:ext>
            </a:extLst>
          </p:cNvPr>
          <p:cNvSpPr>
            <a:spLocks xmlns:a="http://schemas.openxmlformats.org/drawingml/2006/main" noGrp="1"/>
          </p:cNvSpPr>
          <p:nvPr/>
        </p:nvSpPr>
        <p:spPr>
          <a:xfrm xmlns:a="http://schemas.openxmlformats.org/drawingml/2006/main">
            <a:off x="514350" y="1314450"/>
            <a:ext cx="819150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59646A"/>
                </a:solidFill>
                <a:latin typeface="Aptos"/>
                <a:ea typeface="Aptos"/>
                <a:cs typeface="Aptos"/>
              </a:defRPr>
            </a:pPr>
            <a:r>
              <a:rPr sz="1125" b="0">
                <a:solidFill>
                  <a:srgbClr val="59646A"/>
                </a:solidFill>
                <a:latin typeface="Aptos"/>
                <a:ea typeface="Aptos"/>
                <a:cs typeface="Aptos"/>
              </a:rPr>
              <a:t>Treat this as the exit gate before transitioning.</a:t>
            </a:r>
          </a:p>
        </p:txBody>
      </p:sp>
      <p:sp>
        <p:nvSpPr>
          <p:cNvPr id="8" name="">
            <a:extLst xmlns:a="http://schemas.openxmlformats.org/drawingml/2006/main">
              <a:ext uri="{FF2B5EF4-FFF2-40B4-BE49-F238E27FC236}">
                <a16:creationId xmlns:a16="http://schemas.microsoft.com/office/drawing/2014/main" id="{8B7498AA-C1BA-4416-861D-6FF56BF9948C}"/>
              </a:ext>
            </a:extLst>
          </p:cNvPr>
          <p:cNvSpPr>
            <a:spLocks xmlns:a="http://schemas.openxmlformats.org/drawingml/2006/main" noGrp="1"/>
          </p:cNvSpPr>
          <p:nvPr/>
        </p:nvSpPr>
        <p:spPr>
          <a:xfrm xmlns:a="http://schemas.openxmlformats.org/drawingml/2006/main">
            <a:off x="514350" y="6438900"/>
            <a:ext cx="1091565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6E956D61-2CD2-487B-B7F9-D282AC39523D}"/>
              </a:ext>
            </a:extLst>
          </p:cNvPr>
          <p:cNvSpPr>
            <a:spLocks xmlns:a="http://schemas.openxmlformats.org/drawingml/2006/main" noGrp="1"/>
          </p:cNvSpPr>
          <p:nvPr/>
        </p:nvSpPr>
        <p:spPr>
          <a:xfrm xmlns:a="http://schemas.openxmlformats.org/drawingml/2006/main">
            <a:off x="514350" y="6553200"/>
            <a:ext cx="590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59646A"/>
                </a:solidFill>
                <a:latin typeface="Aptos"/>
                <a:ea typeface="Aptos"/>
                <a:cs typeface="Aptos"/>
              </a:defRPr>
            </a:pPr>
            <a:r>
              <a:rPr sz="675" b="0">
                <a:solidFill>
                  <a:srgbClr val="59646A"/>
                </a:solidFill>
                <a:latin typeface="Aptos"/>
                <a:ea typeface="Aptos"/>
                <a:cs typeface="Aptos"/>
              </a:rPr>
              <a:t>Lesson 04 - MOIN: Map Of Informational Needs</a:t>
            </a:r>
          </a:p>
        </p:txBody>
      </p:sp>
      <p:sp>
        <p:nvSpPr>
          <p:cNvPr id="10" name="">
            <a:extLst xmlns:a="http://schemas.openxmlformats.org/drawingml/2006/main">
              <a:ext uri="{FF2B5EF4-FFF2-40B4-BE49-F238E27FC236}">
                <a16:creationId xmlns:a16="http://schemas.microsoft.com/office/drawing/2014/main" id="{9CC761EB-BEA6-4DBB-B4ED-8E7B1DCB6092}"/>
              </a:ext>
            </a:extLst>
          </p:cNvPr>
          <p:cNvSpPr>
            <a:spLocks xmlns:a="http://schemas.openxmlformats.org/drawingml/2006/main" noGrp="1"/>
          </p:cNvSpPr>
          <p:nvPr/>
        </p:nvSpPr>
        <p:spPr>
          <a:xfrm xmlns:a="http://schemas.openxmlformats.org/drawingml/2006/main">
            <a:off x="5334000" y="6553200"/>
            <a:ext cx="4095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00" b="0">
                <a:solidFill>
                  <a:srgbClr val="59646A"/>
                </a:solidFill>
                <a:latin typeface="Aptos"/>
                <a:ea typeface="Aptos"/>
                <a:cs typeface="Aptos"/>
              </a:defRPr>
            </a:pPr>
            <a:r>
              <a:rPr sz="600" b="0">
                <a:solidFill>
                  <a:srgbClr val="59646A"/>
                </a:solidFill>
                <a:latin typeface="Aptos"/>
                <a:ea typeface="Aptos"/>
                <a:cs typeface="Aptos"/>
              </a:rPr>
              <a:t>Source: modules/module-01-industrial-demand-generation/lessons/04-moin-map-of-informational-needs.md @ 9e28222</a:t>
            </a:r>
          </a:p>
        </p:txBody>
      </p:sp>
      <p:sp>
        <p:nvSpPr>
          <p:cNvPr id="11" name="">
            <a:extLst xmlns:a="http://schemas.openxmlformats.org/drawingml/2006/main">
              <a:ext uri="{FF2B5EF4-FFF2-40B4-BE49-F238E27FC236}">
                <a16:creationId xmlns:a16="http://schemas.microsoft.com/office/drawing/2014/main" id="{B85AA3AB-A79F-4A3E-A581-C87BF239976E}"/>
              </a:ext>
            </a:extLst>
          </p:cNvPr>
          <p:cNvSpPr>
            <a:spLocks xmlns:a="http://schemas.openxmlformats.org/drawingml/2006/main" noGrp="1"/>
          </p:cNvSpPr>
          <p:nvPr/>
        </p:nvSpPr>
        <p:spPr>
          <a:xfrm xmlns:a="http://schemas.openxmlformats.org/drawingml/2006/main">
            <a:off x="10668000" y="6553200"/>
            <a:ext cx="762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75" b="0">
                <a:solidFill>
                  <a:srgbClr val="59646A"/>
                </a:solidFill>
                <a:latin typeface="Aptos"/>
                <a:ea typeface="Aptos"/>
                <a:cs typeface="Aptos"/>
              </a:defRPr>
            </a:pPr>
            <a:r>
              <a:rPr sz="675" b="0">
                <a:solidFill>
                  <a:srgbClr val="59646A"/>
                </a:solidFill>
                <a:latin typeface="Aptos"/>
                <a:ea typeface="Aptos"/>
                <a:cs typeface="Aptos"/>
              </a:rPr>
              <a:t>14/15</a:t>
            </a:r>
          </a:p>
        </p:txBody>
      </p:sp>
      <p:sp>
        <p:nvSpPr>
          <p:cNvPr id="12" name="">
            <a:extLst xmlns:a="http://schemas.openxmlformats.org/drawingml/2006/main">
              <a:ext uri="{FF2B5EF4-FFF2-40B4-BE49-F238E27FC236}">
                <a16:creationId xmlns:a16="http://schemas.microsoft.com/office/drawing/2014/main" id="{275EAAC0-4C47-4F0E-AD58-176FAE426D78}"/>
              </a:ext>
            </a:extLst>
          </p:cNvPr>
          <p:cNvSpPr>
            <a:spLocks xmlns:a="http://schemas.openxmlformats.org/drawingml/2006/main" noGrp="1"/>
          </p:cNvSpPr>
          <p:nvPr/>
        </p:nvSpPr>
        <p:spPr>
          <a:xfrm xmlns:a="http://schemas.openxmlformats.org/drawingml/2006/main">
            <a:off x="228600" y="1809750"/>
            <a:ext cx="11963400" cy="4591050"/>
          </a:xfrm>
          <a:prstGeom xmlns:a="http://schemas.openxmlformats.org/drawingml/2006/main" prst="rect">
            <a:avLst/>
          </a:prstGeom>
          <a:solidFill xmlns:a="http://schemas.openxmlformats.org/drawingml/2006/main">
            <a:srgbClr val="F5F6F2"/>
          </a:solidFill>
          <a:ln xmlns:a="http://schemas.openxmlformats.org/drawingml/2006/main" w="0">
            <a:solidFill>
              <a:srgbClr val="000000">
                <a:alpha val="0"/>
              </a:srgbClr>
            </a:solidFill>
            <a:prstDash val="solid"/>
          </a:ln>
        </p:spPr>
      </p:sp>
      <p:sp>
        <p:nvSpPr>
          <p:cNvPr id="13" name="">
            <a:extLst xmlns:a="http://schemas.openxmlformats.org/drawingml/2006/main">
              <a:ext uri="{FF2B5EF4-FFF2-40B4-BE49-F238E27FC236}">
                <a16:creationId xmlns:a16="http://schemas.microsoft.com/office/drawing/2014/main" id="{6A7B82BE-FB84-4F27-BD1A-39E817B57799}"/>
              </a:ext>
            </a:extLst>
          </p:cNvPr>
          <p:cNvSpPr>
            <a:spLocks xmlns:a="http://schemas.openxmlformats.org/drawingml/2006/main" noGrp="1"/>
          </p:cNvSpPr>
          <p:nvPr/>
        </p:nvSpPr>
        <p:spPr>
          <a:xfrm xmlns:a="http://schemas.openxmlformats.org/drawingml/2006/main">
            <a:off x="228600" y="1809750"/>
            <a:ext cx="6819900" cy="4591050"/>
          </a:xfrm>
          <a:prstGeom xmlns:a="http://schemas.openxmlformats.org/drawingml/2006/main" prst="rect">
            <a:avLst/>
          </a:prstGeom>
          <a:solidFill xmlns:a="http://schemas.openxmlformats.org/drawingml/2006/main">
            <a:srgbClr val="FFFFFF"/>
          </a:solidFill>
          <a:ln xmlns:a="http://schemas.openxmlformats.org/drawingml/2006/main" w="9525">
            <a:solidFill>
              <a:srgbClr val="D9DDD6"/>
            </a:solidFill>
            <a:prstDash val="solid"/>
          </a:ln>
        </p:spPr>
      </p:sp>
      <p:sp>
        <p:nvSpPr>
          <p:cNvPr id="14" name="">
            <a:extLst xmlns:a="http://schemas.openxmlformats.org/drawingml/2006/main">
              <a:ext uri="{FF2B5EF4-FFF2-40B4-BE49-F238E27FC236}">
                <a16:creationId xmlns:a16="http://schemas.microsoft.com/office/drawing/2014/main" id="{6353305F-D4F4-400A-BAF5-CDD21E1F78D8}"/>
              </a:ext>
            </a:extLst>
          </p:cNvPr>
          <p:cNvSpPr>
            <a:spLocks xmlns:a="http://schemas.openxmlformats.org/drawingml/2006/main" noGrp="1"/>
          </p:cNvSpPr>
          <p:nvPr/>
        </p:nvSpPr>
        <p:spPr>
          <a:xfrm xmlns:a="http://schemas.openxmlformats.org/drawingml/2006/main">
            <a:off x="609600" y="2266950"/>
            <a:ext cx="266700" cy="19050"/>
          </a:xfrm>
          <a:prstGeom xmlns:a="http://schemas.openxmlformats.org/drawingml/2006/main" prst="rect">
            <a:avLst/>
          </a:prstGeom>
          <a:solidFill xmlns:a="http://schemas.openxmlformats.org/drawingml/2006/main">
            <a:srgbClr val="1D6072"/>
          </a:solidFill>
          <a:ln xmlns:a="http://schemas.openxmlformats.org/drawingml/2006/main" w="0">
            <a:solidFill>
              <a:srgbClr val="000000">
                <a:alpha val="0"/>
              </a:srgbClr>
            </a:solidFill>
            <a:prstDash val="solid"/>
          </a:ln>
        </p:spPr>
      </p:sp>
      <p:sp>
        <p:nvSpPr>
          <p:cNvPr id="15" name="">
            <a:extLst xmlns:a="http://schemas.openxmlformats.org/drawingml/2006/main">
              <a:ext uri="{FF2B5EF4-FFF2-40B4-BE49-F238E27FC236}">
                <a16:creationId xmlns:a16="http://schemas.microsoft.com/office/drawing/2014/main" id="{D04EA71D-C78C-4832-9950-F812A26EAF49}"/>
              </a:ext>
            </a:extLst>
          </p:cNvPr>
          <p:cNvSpPr>
            <a:spLocks xmlns:a="http://schemas.openxmlformats.org/drawingml/2006/main" noGrp="1"/>
          </p:cNvSpPr>
          <p:nvPr/>
        </p:nvSpPr>
        <p:spPr>
          <a:xfrm xmlns:a="http://schemas.openxmlformats.org/drawingml/2006/main">
            <a:off x="971550" y="2190750"/>
            <a:ext cx="2476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ARTIFACT CHECKLIST</a:t>
            </a:r>
          </a:p>
        </p:txBody>
      </p:sp>
      <p:sp>
        <p:nvSpPr>
          <p:cNvPr id="16" name="">
            <a:extLst xmlns:a="http://schemas.openxmlformats.org/drawingml/2006/main">
              <a:ext uri="{FF2B5EF4-FFF2-40B4-BE49-F238E27FC236}">
                <a16:creationId xmlns:a16="http://schemas.microsoft.com/office/drawing/2014/main" id="{3F5D5F82-7147-4BF3-AE25-05D9AFCEF4FE}"/>
              </a:ext>
            </a:extLst>
          </p:cNvPr>
          <p:cNvSpPr>
            <a:spLocks xmlns:a="http://schemas.openxmlformats.org/drawingml/2006/main" noGrp="1"/>
          </p:cNvSpPr>
          <p:nvPr/>
        </p:nvSpPr>
        <p:spPr>
          <a:xfrm xmlns:a="http://schemas.openxmlformats.org/drawingml/2006/main">
            <a:off x="609600" y="2714625"/>
            <a:ext cx="57150" cy="57150"/>
          </a:xfrm>
          <a:prstGeom xmlns:a="http://schemas.openxmlformats.org/drawingml/2006/main" prst="rect">
            <a:avLst/>
          </a:prstGeom>
          <a:solidFill xmlns:a="http://schemas.openxmlformats.org/drawingml/2006/main">
            <a:srgbClr val="1D6072"/>
          </a:solidFill>
          <a:ln xmlns:a="http://schemas.openxmlformats.org/drawingml/2006/main" w="0">
            <a:solidFill>
              <a:srgbClr val="000000">
                <a:alpha val="0"/>
              </a:srgbClr>
            </a:solidFill>
            <a:prstDash val="solid"/>
          </a:ln>
        </p:spPr>
      </p:sp>
      <p:sp>
        <p:nvSpPr>
          <p:cNvPr id="17" name="">
            <a:extLst xmlns:a="http://schemas.openxmlformats.org/drawingml/2006/main">
              <a:ext uri="{FF2B5EF4-FFF2-40B4-BE49-F238E27FC236}">
                <a16:creationId xmlns:a16="http://schemas.microsoft.com/office/drawing/2014/main" id="{1092F08E-77ED-4BB9-937D-89C3F783A0BA}"/>
              </a:ext>
            </a:extLst>
          </p:cNvPr>
          <p:cNvSpPr>
            <a:spLocks xmlns:a="http://schemas.openxmlformats.org/drawingml/2006/main" noGrp="1"/>
          </p:cNvSpPr>
          <p:nvPr/>
        </p:nvSpPr>
        <p:spPr>
          <a:xfrm xmlns:a="http://schemas.openxmlformats.org/drawingml/2006/main">
            <a:off x="781050" y="2647950"/>
            <a:ext cx="2495550" cy="419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172026"/>
                </a:solidFill>
                <a:latin typeface="Aptos"/>
                <a:ea typeface="Aptos"/>
                <a:cs typeface="Aptos"/>
              </a:defRPr>
            </a:pPr>
            <a:r>
              <a:rPr sz="1125" b="0">
                <a:solidFill>
                  <a:srgbClr val="172026"/>
                </a:solidFill>
                <a:latin typeface="Aptos"/>
                <a:ea typeface="Aptos"/>
                <a:cs typeface="Aptos"/>
              </a:rPr>
              <a:t>At least five committee roles</a:t>
            </a:r>
          </a:p>
        </p:txBody>
      </p:sp>
      <p:sp>
        <p:nvSpPr>
          <p:cNvPr id="18" name="">
            <a:extLst xmlns:a="http://schemas.openxmlformats.org/drawingml/2006/main">
              <a:ext uri="{FF2B5EF4-FFF2-40B4-BE49-F238E27FC236}">
                <a16:creationId xmlns:a16="http://schemas.microsoft.com/office/drawing/2014/main" id="{C725C77D-C25D-4B22-926F-4BC9C215017E}"/>
              </a:ext>
            </a:extLst>
          </p:cNvPr>
          <p:cNvSpPr>
            <a:spLocks xmlns:a="http://schemas.openxmlformats.org/drawingml/2006/main" noGrp="1"/>
          </p:cNvSpPr>
          <p:nvPr/>
        </p:nvSpPr>
        <p:spPr>
          <a:xfrm xmlns:a="http://schemas.openxmlformats.org/drawingml/2006/main">
            <a:off x="609600" y="3171825"/>
            <a:ext cx="57150" cy="57150"/>
          </a:xfrm>
          <a:prstGeom xmlns:a="http://schemas.openxmlformats.org/drawingml/2006/main" prst="rect">
            <a:avLst/>
          </a:prstGeom>
          <a:solidFill xmlns:a="http://schemas.openxmlformats.org/drawingml/2006/main">
            <a:srgbClr val="1D6072"/>
          </a:solidFill>
          <a:ln xmlns:a="http://schemas.openxmlformats.org/drawingml/2006/main" w="0">
            <a:solidFill>
              <a:srgbClr val="000000">
                <a:alpha val="0"/>
              </a:srgbClr>
            </a:solidFill>
            <a:prstDash val="solid"/>
          </a:ln>
        </p:spPr>
      </p:sp>
      <p:sp>
        <p:nvSpPr>
          <p:cNvPr id="19" name="">
            <a:extLst xmlns:a="http://schemas.openxmlformats.org/drawingml/2006/main">
              <a:ext uri="{FF2B5EF4-FFF2-40B4-BE49-F238E27FC236}">
                <a16:creationId xmlns:a16="http://schemas.microsoft.com/office/drawing/2014/main" id="{E04B3D81-4C34-4719-80E2-040688B518DF}"/>
              </a:ext>
            </a:extLst>
          </p:cNvPr>
          <p:cNvSpPr>
            <a:spLocks xmlns:a="http://schemas.openxmlformats.org/drawingml/2006/main" noGrp="1"/>
          </p:cNvSpPr>
          <p:nvPr/>
        </p:nvSpPr>
        <p:spPr>
          <a:xfrm xmlns:a="http://schemas.openxmlformats.org/drawingml/2006/main">
            <a:off x="781050" y="3105150"/>
            <a:ext cx="2495550" cy="419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172026"/>
                </a:solidFill>
                <a:latin typeface="Aptos"/>
                <a:ea typeface="Aptos"/>
                <a:cs typeface="Aptos"/>
              </a:defRPr>
            </a:pPr>
            <a:r>
              <a:rPr sz="1125" b="0">
                <a:solidFill>
                  <a:srgbClr val="172026"/>
                </a:solidFill>
                <a:latin typeface="Aptos"/>
                <a:ea typeface="Aptos"/>
                <a:cs typeface="Aptos"/>
              </a:rPr>
              <a:t>Questions across content, solution, and vendor demand</a:t>
            </a:r>
          </a:p>
        </p:txBody>
      </p:sp>
      <p:sp>
        <p:nvSpPr>
          <p:cNvPr id="20" name="">
            <a:extLst xmlns:a="http://schemas.openxmlformats.org/drawingml/2006/main">
              <a:ext uri="{FF2B5EF4-FFF2-40B4-BE49-F238E27FC236}">
                <a16:creationId xmlns:a16="http://schemas.microsoft.com/office/drawing/2014/main" id="{5138BE6D-8AD8-47D6-B6C0-186A71BDE32E}"/>
              </a:ext>
            </a:extLst>
          </p:cNvPr>
          <p:cNvSpPr>
            <a:spLocks xmlns:a="http://schemas.openxmlformats.org/drawingml/2006/main" noGrp="1"/>
          </p:cNvSpPr>
          <p:nvPr/>
        </p:nvSpPr>
        <p:spPr>
          <a:xfrm xmlns:a="http://schemas.openxmlformats.org/drawingml/2006/main">
            <a:off x="609600" y="3629025"/>
            <a:ext cx="57150" cy="57150"/>
          </a:xfrm>
          <a:prstGeom xmlns:a="http://schemas.openxmlformats.org/drawingml/2006/main" prst="rect">
            <a:avLst/>
          </a:prstGeom>
          <a:solidFill xmlns:a="http://schemas.openxmlformats.org/drawingml/2006/main">
            <a:srgbClr val="1D6072"/>
          </a:solidFill>
          <a:ln xmlns:a="http://schemas.openxmlformats.org/drawingml/2006/main" w="0">
            <a:solidFill>
              <a:srgbClr val="000000">
                <a:alpha val="0"/>
              </a:srgbClr>
            </a:solidFill>
            <a:prstDash val="solid"/>
          </a:ln>
        </p:spPr>
      </p:sp>
      <p:sp>
        <p:nvSpPr>
          <p:cNvPr id="21" name="">
            <a:extLst xmlns:a="http://schemas.openxmlformats.org/drawingml/2006/main">
              <a:ext uri="{FF2B5EF4-FFF2-40B4-BE49-F238E27FC236}">
                <a16:creationId xmlns:a16="http://schemas.microsoft.com/office/drawing/2014/main" id="{46FD7407-1B88-47D2-A37E-DC6DA92A29D9}"/>
              </a:ext>
            </a:extLst>
          </p:cNvPr>
          <p:cNvSpPr>
            <a:spLocks xmlns:a="http://schemas.openxmlformats.org/drawingml/2006/main" noGrp="1"/>
          </p:cNvSpPr>
          <p:nvPr/>
        </p:nvSpPr>
        <p:spPr>
          <a:xfrm xmlns:a="http://schemas.openxmlformats.org/drawingml/2006/main">
            <a:off x="781050" y="3562350"/>
            <a:ext cx="2495550" cy="419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172026"/>
                </a:solidFill>
                <a:latin typeface="Aptos"/>
                <a:ea typeface="Aptos"/>
                <a:cs typeface="Aptos"/>
              </a:defRPr>
            </a:pPr>
            <a:r>
              <a:rPr sz="1125" b="0">
                <a:solidFill>
                  <a:srgbClr val="172026"/>
                </a:solidFill>
                <a:latin typeface="Aptos"/>
                <a:ea typeface="Aptos"/>
                <a:cs typeface="Aptos"/>
              </a:rPr>
              <a:t>One required asset per critical role</a:t>
            </a:r>
          </a:p>
        </p:txBody>
      </p:sp>
      <p:sp>
        <p:nvSpPr>
          <p:cNvPr id="22" name="">
            <a:extLst xmlns:a="http://schemas.openxmlformats.org/drawingml/2006/main">
              <a:ext uri="{FF2B5EF4-FFF2-40B4-BE49-F238E27FC236}">
                <a16:creationId xmlns:a16="http://schemas.microsoft.com/office/drawing/2014/main" id="{FACC7C4C-74DA-4963-AF7F-42AFDCD5B4EE}"/>
              </a:ext>
            </a:extLst>
          </p:cNvPr>
          <p:cNvSpPr>
            <a:spLocks xmlns:a="http://schemas.openxmlformats.org/drawingml/2006/main" noGrp="1"/>
          </p:cNvSpPr>
          <p:nvPr/>
        </p:nvSpPr>
        <p:spPr>
          <a:xfrm xmlns:a="http://schemas.openxmlformats.org/drawingml/2006/main">
            <a:off x="3676650" y="2714625"/>
            <a:ext cx="57150" cy="5715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23" name="">
            <a:extLst xmlns:a="http://schemas.openxmlformats.org/drawingml/2006/main">
              <a:ext uri="{FF2B5EF4-FFF2-40B4-BE49-F238E27FC236}">
                <a16:creationId xmlns:a16="http://schemas.microsoft.com/office/drawing/2014/main" id="{2B8D1960-07C7-49D7-86BB-9166C0172040}"/>
              </a:ext>
            </a:extLst>
          </p:cNvPr>
          <p:cNvSpPr>
            <a:spLocks xmlns:a="http://schemas.openxmlformats.org/drawingml/2006/main" noGrp="1"/>
          </p:cNvSpPr>
          <p:nvPr/>
        </p:nvSpPr>
        <p:spPr>
          <a:xfrm xmlns:a="http://schemas.openxmlformats.org/drawingml/2006/main">
            <a:off x="3848100" y="2647950"/>
            <a:ext cx="2495550" cy="419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172026"/>
                </a:solidFill>
                <a:latin typeface="Aptos"/>
                <a:ea typeface="Aptos"/>
                <a:cs typeface="Aptos"/>
              </a:defRPr>
            </a:pPr>
            <a:r>
              <a:rPr sz="1125" b="0">
                <a:solidFill>
                  <a:srgbClr val="172026"/>
                </a:solidFill>
                <a:latin typeface="Aptos"/>
                <a:ea typeface="Aptos"/>
                <a:cs typeface="Aptos"/>
              </a:rPr>
              <a:t>Sales use for each asset</a:t>
            </a:r>
          </a:p>
        </p:txBody>
      </p:sp>
      <p:sp>
        <p:nvSpPr>
          <p:cNvPr id="24" name="">
            <a:extLst xmlns:a="http://schemas.openxmlformats.org/drawingml/2006/main">
              <a:ext uri="{FF2B5EF4-FFF2-40B4-BE49-F238E27FC236}">
                <a16:creationId xmlns:a16="http://schemas.microsoft.com/office/drawing/2014/main" id="{05CAAFBC-D04E-4D02-A9D8-4D28DC62348C}"/>
              </a:ext>
            </a:extLst>
          </p:cNvPr>
          <p:cNvSpPr>
            <a:spLocks xmlns:a="http://schemas.openxmlformats.org/drawingml/2006/main" noGrp="1"/>
          </p:cNvSpPr>
          <p:nvPr/>
        </p:nvSpPr>
        <p:spPr>
          <a:xfrm xmlns:a="http://schemas.openxmlformats.org/drawingml/2006/main">
            <a:off x="3676650" y="3171825"/>
            <a:ext cx="57150" cy="5715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25" name="">
            <a:extLst xmlns:a="http://schemas.openxmlformats.org/drawingml/2006/main">
              <a:ext uri="{FF2B5EF4-FFF2-40B4-BE49-F238E27FC236}">
                <a16:creationId xmlns:a16="http://schemas.microsoft.com/office/drawing/2014/main" id="{96404369-960A-4574-A3DA-D906FF003BDE}"/>
              </a:ext>
            </a:extLst>
          </p:cNvPr>
          <p:cNvSpPr>
            <a:spLocks xmlns:a="http://schemas.openxmlformats.org/drawingml/2006/main" noGrp="1"/>
          </p:cNvSpPr>
          <p:nvPr/>
        </p:nvSpPr>
        <p:spPr>
          <a:xfrm xmlns:a="http://schemas.openxmlformats.org/drawingml/2006/main">
            <a:off x="3848100" y="3105150"/>
            <a:ext cx="2495550" cy="419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172026"/>
                </a:solidFill>
                <a:latin typeface="Aptos"/>
                <a:ea typeface="Aptos"/>
                <a:cs typeface="Aptos"/>
              </a:defRPr>
            </a:pPr>
            <a:r>
              <a:rPr sz="1125" b="0">
                <a:solidFill>
                  <a:srgbClr val="172026"/>
                </a:solidFill>
                <a:latin typeface="Aptos"/>
                <a:ea typeface="Aptos"/>
                <a:cs typeface="Aptos"/>
              </a:rPr>
              <a:t>Signal created by engagement</a:t>
            </a:r>
          </a:p>
        </p:txBody>
      </p:sp>
      <p:sp>
        <p:nvSpPr>
          <p:cNvPr id="26" name="">
            <a:extLst xmlns:a="http://schemas.openxmlformats.org/drawingml/2006/main">
              <a:ext uri="{FF2B5EF4-FFF2-40B4-BE49-F238E27FC236}">
                <a16:creationId xmlns:a16="http://schemas.microsoft.com/office/drawing/2014/main" id="{69D2461A-8A44-4FBD-9FEB-254F22AD8D3F}"/>
              </a:ext>
            </a:extLst>
          </p:cNvPr>
          <p:cNvSpPr>
            <a:spLocks xmlns:a="http://schemas.openxmlformats.org/drawingml/2006/main" noGrp="1"/>
          </p:cNvSpPr>
          <p:nvPr/>
        </p:nvSpPr>
        <p:spPr>
          <a:xfrm xmlns:a="http://schemas.openxmlformats.org/drawingml/2006/main">
            <a:off x="3676650" y="3629025"/>
            <a:ext cx="57150" cy="5715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27" name="">
            <a:extLst xmlns:a="http://schemas.openxmlformats.org/drawingml/2006/main">
              <a:ext uri="{FF2B5EF4-FFF2-40B4-BE49-F238E27FC236}">
                <a16:creationId xmlns:a16="http://schemas.microsoft.com/office/drawing/2014/main" id="{A39E2385-6D58-4659-AD4E-25911B536033}"/>
              </a:ext>
            </a:extLst>
          </p:cNvPr>
          <p:cNvSpPr>
            <a:spLocks xmlns:a="http://schemas.openxmlformats.org/drawingml/2006/main" noGrp="1"/>
          </p:cNvSpPr>
          <p:nvPr/>
        </p:nvSpPr>
        <p:spPr>
          <a:xfrm xmlns:a="http://schemas.openxmlformats.org/drawingml/2006/main">
            <a:off x="3848100" y="3562350"/>
            <a:ext cx="2495550" cy="419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172026"/>
                </a:solidFill>
                <a:latin typeface="Aptos"/>
                <a:ea typeface="Aptos"/>
                <a:cs typeface="Aptos"/>
              </a:defRPr>
            </a:pPr>
            <a:r>
              <a:rPr sz="1125" b="0">
                <a:solidFill>
                  <a:srgbClr val="172026"/>
                </a:solidFill>
                <a:latin typeface="Aptos"/>
                <a:ea typeface="Aptos"/>
                <a:cs typeface="Aptos"/>
              </a:rPr>
              <a:t>Top five prioritized assets for the pilot</a:t>
            </a:r>
          </a:p>
        </p:txBody>
      </p:sp>
      <p:sp>
        <p:nvSpPr>
          <p:cNvPr id="28" name="">
            <a:extLst xmlns:a="http://schemas.openxmlformats.org/drawingml/2006/main">
              <a:ext uri="{FF2B5EF4-FFF2-40B4-BE49-F238E27FC236}">
                <a16:creationId xmlns:a16="http://schemas.microsoft.com/office/drawing/2014/main" id="{5407E2CA-5DC1-4301-86E9-C000CBAEDAA4}"/>
              </a:ext>
            </a:extLst>
          </p:cNvPr>
          <p:cNvSpPr>
            <a:spLocks xmlns:a="http://schemas.openxmlformats.org/drawingml/2006/main" noGrp="1"/>
          </p:cNvSpPr>
          <p:nvPr/>
        </p:nvSpPr>
        <p:spPr>
          <a:xfrm xmlns:a="http://schemas.openxmlformats.org/drawingml/2006/main">
            <a:off x="7048500" y="1809750"/>
            <a:ext cx="5143500" cy="4591050"/>
          </a:xfrm>
          <a:prstGeom xmlns:a="http://schemas.openxmlformats.org/drawingml/2006/main" prst="rect">
            <a:avLst/>
          </a:prstGeom>
          <a:solidFill xmlns:a="http://schemas.openxmlformats.org/drawingml/2006/main">
            <a:srgbClr val="12232B"/>
          </a:solidFill>
          <a:ln xmlns:a="http://schemas.openxmlformats.org/drawingml/2006/main" w="9525">
            <a:solidFill>
              <a:srgbClr val="12232B"/>
            </a:solidFill>
            <a:prstDash val="solid"/>
          </a:ln>
        </p:spPr>
      </p:sp>
      <p:sp>
        <p:nvSpPr>
          <p:cNvPr id="29" name="">
            <a:extLst xmlns:a="http://schemas.openxmlformats.org/drawingml/2006/main">
              <a:ext uri="{FF2B5EF4-FFF2-40B4-BE49-F238E27FC236}">
                <a16:creationId xmlns:a16="http://schemas.microsoft.com/office/drawing/2014/main" id="{B051287A-A1D7-4F7E-88D3-A0291D8DE7B4}"/>
              </a:ext>
            </a:extLst>
          </p:cNvPr>
          <p:cNvSpPr>
            <a:spLocks xmlns:a="http://schemas.openxmlformats.org/drawingml/2006/main" noGrp="1"/>
          </p:cNvSpPr>
          <p:nvPr/>
        </p:nvSpPr>
        <p:spPr>
          <a:xfrm xmlns:a="http://schemas.openxmlformats.org/drawingml/2006/main">
            <a:off x="7448550" y="2343150"/>
            <a:ext cx="266700" cy="19050"/>
          </a:xfrm>
          <a:prstGeom xmlns:a="http://schemas.openxmlformats.org/drawingml/2006/main" prst="rect">
            <a:avLst/>
          </a:prstGeom>
          <a:solidFill xmlns:a="http://schemas.openxmlformats.org/drawingml/2006/main">
            <a:srgbClr val="B7953B"/>
          </a:solidFill>
          <a:ln xmlns:a="http://schemas.openxmlformats.org/drawingml/2006/main" w="0">
            <a:solidFill>
              <a:srgbClr val="000000">
                <a:alpha val="0"/>
              </a:srgbClr>
            </a:solidFill>
            <a:prstDash val="solid"/>
          </a:ln>
        </p:spPr>
      </p:sp>
      <p:sp>
        <p:nvSpPr>
          <p:cNvPr id="30" name="">
            <a:extLst xmlns:a="http://schemas.openxmlformats.org/drawingml/2006/main">
              <a:ext uri="{FF2B5EF4-FFF2-40B4-BE49-F238E27FC236}">
                <a16:creationId xmlns:a16="http://schemas.microsoft.com/office/drawing/2014/main" id="{1131541B-D81E-4FF8-9680-8F4F281D9B54}"/>
              </a:ext>
            </a:extLst>
          </p:cNvPr>
          <p:cNvSpPr>
            <a:spLocks xmlns:a="http://schemas.openxmlformats.org/drawingml/2006/main" noGrp="1"/>
          </p:cNvSpPr>
          <p:nvPr/>
        </p:nvSpPr>
        <p:spPr>
          <a:xfrm xmlns:a="http://schemas.openxmlformats.org/drawingml/2006/main">
            <a:off x="7810500" y="2266950"/>
            <a:ext cx="2476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COMPLETION STANDARD</a:t>
            </a:r>
          </a:p>
        </p:txBody>
      </p:sp>
      <p:sp>
        <p:nvSpPr>
          <p:cNvPr id="31" name="">
            <a:extLst xmlns:a="http://schemas.openxmlformats.org/drawingml/2006/main">
              <a:ext uri="{FF2B5EF4-FFF2-40B4-BE49-F238E27FC236}">
                <a16:creationId xmlns:a16="http://schemas.microsoft.com/office/drawing/2014/main" id="{A69141AE-9600-4F06-94DF-3329D62CE207}"/>
              </a:ext>
            </a:extLst>
          </p:cNvPr>
          <p:cNvSpPr>
            <a:spLocks xmlns:a="http://schemas.openxmlformats.org/drawingml/2006/main" noGrp="1"/>
          </p:cNvSpPr>
          <p:nvPr/>
        </p:nvSpPr>
        <p:spPr>
          <a:xfrm xmlns:a="http://schemas.openxmlformats.org/drawingml/2006/main">
            <a:off x="7448550" y="2781300"/>
            <a:ext cx="3429000" cy="1333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575" b="1">
                <a:solidFill>
                  <a:srgbClr val="FFFFFF"/>
                </a:solidFill>
                <a:latin typeface="Aptos Display"/>
                <a:ea typeface="Aptos Display"/>
                <a:cs typeface="Aptos Display"/>
              </a:defRPr>
            </a:pPr>
            <a:r>
              <a:rPr sz="1575" b="1">
                <a:solidFill>
                  <a:srgbClr val="FFFFFF"/>
                </a:solidFill>
                <a:latin typeface="Aptos Display"/>
                <a:ea typeface="Aptos Display"/>
                <a:cs typeface="Aptos Display"/>
              </a:rPr>
              <a:t>The artifact passes only if sales, marketing, RevOps, leadership, and an AI agent could inspect it and know what to do next.</a:t>
            </a:r>
          </a:p>
        </p:txBody>
      </p:sp>
      <p:sp>
        <p:nvSpPr>
          <p:cNvPr id="32" name="">
            <a:extLst xmlns:a="http://schemas.openxmlformats.org/drawingml/2006/main">
              <a:ext uri="{FF2B5EF4-FFF2-40B4-BE49-F238E27FC236}">
                <a16:creationId xmlns:a16="http://schemas.microsoft.com/office/drawing/2014/main" id="{F331623B-8F9F-4B74-AB03-DAEFE5F137D5}"/>
              </a:ext>
            </a:extLst>
          </p:cNvPr>
          <p:cNvSpPr>
            <a:spLocks xmlns:a="http://schemas.openxmlformats.org/drawingml/2006/main" noGrp="1"/>
          </p:cNvSpPr>
          <p:nvPr/>
        </p:nvSpPr>
        <p:spPr>
          <a:xfrm xmlns:a="http://schemas.openxmlformats.org/drawingml/2006/main">
            <a:off x="7448550" y="4705350"/>
            <a:ext cx="3238500" cy="4953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D6E3E5"/>
                </a:solidFill>
                <a:latin typeface="Aptos"/>
                <a:ea typeface="Aptos"/>
                <a:cs typeface="Aptos"/>
              </a:defRPr>
            </a:pPr>
            <a:r>
              <a:rPr sz="1125" b="0">
                <a:solidFill>
                  <a:srgbClr val="D6E3E5"/>
                </a:solidFill>
                <a:latin typeface="Aptos"/>
                <a:ea typeface="Aptos"/>
                <a:cs typeface="Aptos"/>
              </a:rPr>
              <a:t>If it could be used unchanged by a generic SaaS company, it fails.</a:t>
            </a:r>
          </a:p>
        </p:txBody>
      </p:sp>
      <p:sp>
        <p:nvSpPr>
          <p:cNvPr id="33" name="">
            <a:extLst xmlns:a="http://schemas.openxmlformats.org/drawingml/2006/main">
              <a:ext uri="{FF2B5EF4-FFF2-40B4-BE49-F238E27FC236}">
                <a16:creationId xmlns:a16="http://schemas.microsoft.com/office/drawing/2014/main" id="{C06EDEEC-155E-4D61-9633-52ED6B359D86}"/>
              </a:ext>
            </a:extLst>
          </p:cNvPr>
          <p:cNvSpPr>
            <a:spLocks xmlns:a="http://schemas.openxmlformats.org/drawingml/2006/main" noGrp="1"/>
          </p:cNvSpPr>
          <p:nvPr/>
        </p:nvSpPr>
        <p:spPr>
          <a:xfrm xmlns:a="http://schemas.openxmlformats.org/drawingml/2006/main">
            <a:off x="514350" y="6438900"/>
            <a:ext cx="1091565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34" name="">
            <a:extLst xmlns:a="http://schemas.openxmlformats.org/drawingml/2006/main">
              <a:ext uri="{FF2B5EF4-FFF2-40B4-BE49-F238E27FC236}">
                <a16:creationId xmlns:a16="http://schemas.microsoft.com/office/drawing/2014/main" id="{4C628770-104E-4E9C-9A83-EB9FECD45794}"/>
              </a:ext>
            </a:extLst>
          </p:cNvPr>
          <p:cNvSpPr>
            <a:spLocks xmlns:a="http://schemas.openxmlformats.org/drawingml/2006/main" noGrp="1"/>
          </p:cNvSpPr>
          <p:nvPr/>
        </p:nvSpPr>
        <p:spPr>
          <a:xfrm xmlns:a="http://schemas.openxmlformats.org/drawingml/2006/main">
            <a:off x="514350" y="6553200"/>
            <a:ext cx="590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59646A"/>
                </a:solidFill>
                <a:latin typeface="Aptos"/>
                <a:ea typeface="Aptos"/>
                <a:cs typeface="Aptos"/>
              </a:defRPr>
            </a:pPr>
            <a:r>
              <a:rPr sz="675" b="0">
                <a:solidFill>
                  <a:srgbClr val="59646A"/>
                </a:solidFill>
                <a:latin typeface="Aptos"/>
                <a:ea typeface="Aptos"/>
                <a:cs typeface="Aptos"/>
              </a:rPr>
              <a:t>Lesson 04 - MOIN: Map Of Informational Needs</a:t>
            </a:r>
          </a:p>
        </p:txBody>
      </p:sp>
      <p:sp>
        <p:nvSpPr>
          <p:cNvPr id="35" name="">
            <a:extLst xmlns:a="http://schemas.openxmlformats.org/drawingml/2006/main">
              <a:ext uri="{FF2B5EF4-FFF2-40B4-BE49-F238E27FC236}">
                <a16:creationId xmlns:a16="http://schemas.microsoft.com/office/drawing/2014/main" id="{8C8D0923-0121-42D5-9C95-61235BF50D81}"/>
              </a:ext>
            </a:extLst>
          </p:cNvPr>
          <p:cNvSpPr>
            <a:spLocks xmlns:a="http://schemas.openxmlformats.org/drawingml/2006/main" noGrp="1"/>
          </p:cNvSpPr>
          <p:nvPr/>
        </p:nvSpPr>
        <p:spPr>
          <a:xfrm xmlns:a="http://schemas.openxmlformats.org/drawingml/2006/main">
            <a:off x="5334000" y="6553200"/>
            <a:ext cx="4095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00" b="0">
                <a:solidFill>
                  <a:srgbClr val="59646A"/>
                </a:solidFill>
                <a:latin typeface="Aptos"/>
                <a:ea typeface="Aptos"/>
                <a:cs typeface="Aptos"/>
              </a:defRPr>
            </a:pPr>
            <a:r>
              <a:rPr sz="600" b="0">
                <a:solidFill>
                  <a:srgbClr val="59646A"/>
                </a:solidFill>
                <a:latin typeface="Aptos"/>
                <a:ea typeface="Aptos"/>
                <a:cs typeface="Aptos"/>
              </a:rPr>
              <a:t>Source: modules/module-01-industrial-demand-generation/lessons/04-moin-map-of-informational-needs.md @ 9e28222</a:t>
            </a:r>
          </a:p>
        </p:txBody>
      </p:sp>
      <p:sp>
        <p:nvSpPr>
          <p:cNvPr id="36" name="">
            <a:extLst xmlns:a="http://schemas.openxmlformats.org/drawingml/2006/main">
              <a:ext uri="{FF2B5EF4-FFF2-40B4-BE49-F238E27FC236}">
                <a16:creationId xmlns:a16="http://schemas.microsoft.com/office/drawing/2014/main" id="{333E599F-CE4D-4C17-A3CD-0CD584A4282C}"/>
              </a:ext>
            </a:extLst>
          </p:cNvPr>
          <p:cNvSpPr>
            <a:spLocks xmlns:a="http://schemas.openxmlformats.org/drawingml/2006/main" noGrp="1"/>
          </p:cNvSpPr>
          <p:nvPr/>
        </p:nvSpPr>
        <p:spPr>
          <a:xfrm xmlns:a="http://schemas.openxmlformats.org/drawingml/2006/main">
            <a:off x="10668000" y="6553200"/>
            <a:ext cx="762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75" b="0">
                <a:solidFill>
                  <a:srgbClr val="59646A"/>
                </a:solidFill>
                <a:latin typeface="Aptos"/>
                <a:ea typeface="Aptos"/>
                <a:cs typeface="Aptos"/>
              </a:defRPr>
            </a:pPr>
            <a:r>
              <a:rPr sz="675" b="0">
                <a:solidFill>
                  <a:srgbClr val="59646A"/>
                </a:solidFill>
                <a:latin typeface="Aptos"/>
                <a:ea typeface="Aptos"/>
                <a:cs typeface="Aptos"/>
              </a:rPr>
              <a:t>14/15</a:t>
            </a:r>
          </a:p>
        </p:txBody>
      </p:sp>
      <p:sp>
        <p:nvSpPr>
          <p:cNvPr id="37" name="">
            <a:extLst xmlns:a="http://schemas.openxmlformats.org/drawingml/2006/main">
              <a:ext uri="{FF2B5EF4-FFF2-40B4-BE49-F238E27FC236}">
                <a16:creationId xmlns:a16="http://schemas.microsoft.com/office/drawing/2014/main" id="{270BF923-6441-4AB0-81CF-21781B120BFA}"/>
              </a:ext>
            </a:extLst>
          </p:cNvPr>
          <p:cNvSpPr>
            <a:spLocks xmlns:a="http://schemas.openxmlformats.org/drawingml/2006/main" noGrp="1"/>
          </p:cNvSpPr>
          <p:nvPr/>
        </p:nvSpPr>
        <p:spPr>
          <a:xfrm xmlns:a="http://schemas.openxmlformats.org/drawingml/2006/main">
            <a:off x="0" y="0"/>
            <a:ext cx="12192000" cy="1809750"/>
          </a:xfrm>
          <a:prstGeom xmlns:a="http://schemas.openxmlformats.org/drawingml/2006/main" prst="rect">
            <a:avLst/>
          </a:prstGeom>
          <a:solidFill xmlns:a="http://schemas.openxmlformats.org/drawingml/2006/main">
            <a:srgbClr val="F5F6F2"/>
          </a:solidFill>
          <a:ln xmlns:a="http://schemas.openxmlformats.org/drawingml/2006/main" w="0">
            <a:solidFill>
              <a:srgbClr val="000000">
                <a:alpha val="0"/>
              </a:srgbClr>
            </a:solidFill>
            <a:prstDash val="solid"/>
          </a:ln>
        </p:spPr>
      </p:sp>
      <p:sp>
        <p:nvSpPr>
          <p:cNvPr id="38" name="">
            <a:extLst xmlns:a="http://schemas.openxmlformats.org/drawingml/2006/main">
              <a:ext uri="{FF2B5EF4-FFF2-40B4-BE49-F238E27FC236}">
                <a16:creationId xmlns:a16="http://schemas.microsoft.com/office/drawing/2014/main" id="{DE490053-DA63-4A7E-AE1D-1BC7FD0B0074}"/>
              </a:ext>
            </a:extLst>
          </p:cNvPr>
          <p:cNvSpPr>
            <a:spLocks xmlns:a="http://schemas.openxmlformats.org/drawingml/2006/main" noGrp="1"/>
          </p:cNvSpPr>
          <p:nvPr/>
        </p:nvSpPr>
        <p:spPr>
          <a:xfrm xmlns:a="http://schemas.openxmlformats.org/drawingml/2006/main">
            <a:off x="0" y="0"/>
            <a:ext cx="171450" cy="1809750"/>
          </a:xfrm>
          <a:prstGeom xmlns:a="http://schemas.openxmlformats.org/drawingml/2006/main" prst="rect">
            <a:avLst/>
          </a:prstGeom>
          <a:solidFill xmlns:a="http://schemas.openxmlformats.org/drawingml/2006/main">
            <a:srgbClr val="12232B"/>
          </a:solidFill>
          <a:ln xmlns:a="http://schemas.openxmlformats.org/drawingml/2006/main" w="0">
            <a:solidFill>
              <a:srgbClr val="000000">
                <a:alpha val="0"/>
              </a:srgbClr>
            </a:solidFill>
            <a:prstDash val="solid"/>
          </a:ln>
        </p:spPr>
      </p:sp>
      <p:sp>
        <p:nvSpPr>
          <p:cNvPr id="39" name="">
            <a:extLst xmlns:a="http://schemas.openxmlformats.org/drawingml/2006/main">
              <a:ext uri="{FF2B5EF4-FFF2-40B4-BE49-F238E27FC236}">
                <a16:creationId xmlns:a16="http://schemas.microsoft.com/office/drawing/2014/main" id="{951451EA-DB08-4B57-BCCD-208D661746CD}"/>
              </a:ext>
            </a:extLst>
          </p:cNvPr>
          <p:cNvSpPr>
            <a:spLocks xmlns:a="http://schemas.openxmlformats.org/drawingml/2006/main" noGrp="1"/>
          </p:cNvSpPr>
          <p:nvPr/>
        </p:nvSpPr>
        <p:spPr>
          <a:xfrm xmlns:a="http://schemas.openxmlformats.org/drawingml/2006/main">
            <a:off x="171450" y="0"/>
            <a:ext cx="57150" cy="180975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40" name="kicker-04-marker">
            <a:extLst xmlns:a="http://schemas.openxmlformats.org/drawingml/2006/main">
              <a:ext uri="{FF2B5EF4-FFF2-40B4-BE49-F238E27FC236}">
                <a16:creationId xmlns:a16="http://schemas.microsoft.com/office/drawing/2014/main" id="{55C5433E-F04E-48A5-915D-D635AD898D19}"/>
              </a:ext>
            </a:extLst>
          </p:cNvPr>
          <p:cNvSpPr>
            <a:spLocks xmlns:a="http://schemas.openxmlformats.org/drawingml/2006/main" noGrp="1"/>
          </p:cNvSpPr>
          <p:nvPr/>
        </p:nvSpPr>
        <p:spPr>
          <a:xfrm xmlns:a="http://schemas.openxmlformats.org/drawingml/2006/main">
            <a:off x="514350" y="390525"/>
            <a:ext cx="76200" cy="762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41" name="kicker-04-label">
            <a:extLst xmlns:a="http://schemas.openxmlformats.org/drawingml/2006/main">
              <a:ext uri="{FF2B5EF4-FFF2-40B4-BE49-F238E27FC236}">
                <a16:creationId xmlns:a16="http://schemas.microsoft.com/office/drawing/2014/main" id="{3C6A1F78-5FAD-4831-A3B4-767BE490E9DC}"/>
              </a:ext>
            </a:extLst>
          </p:cNvPr>
          <p:cNvSpPr>
            <a:spLocks xmlns:a="http://schemas.openxmlformats.org/drawingml/2006/main" noGrp="1"/>
          </p:cNvSpPr>
          <p:nvPr/>
        </p:nvSpPr>
        <p:spPr>
          <a:xfrm xmlns:a="http://schemas.openxmlformats.org/drawingml/2006/main">
            <a:off x="685800" y="323850"/>
            <a:ext cx="75247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MODULE 1 / LESSON 04 / FINAL ARTIFACT</a:t>
            </a:r>
          </a:p>
        </p:txBody>
      </p:sp>
      <p:sp>
        <p:nvSpPr>
          <p:cNvPr id="42" name="">
            <a:extLst xmlns:a="http://schemas.openxmlformats.org/drawingml/2006/main">
              <a:ext uri="{FF2B5EF4-FFF2-40B4-BE49-F238E27FC236}">
                <a16:creationId xmlns:a16="http://schemas.microsoft.com/office/drawing/2014/main" id="{F9AC3059-091A-418C-BC8D-99FCF777A727}"/>
              </a:ext>
            </a:extLst>
          </p:cNvPr>
          <p:cNvSpPr>
            <a:spLocks xmlns:a="http://schemas.openxmlformats.org/drawingml/2006/main" noGrp="1"/>
          </p:cNvSpPr>
          <p:nvPr/>
        </p:nvSpPr>
        <p:spPr>
          <a:xfrm xmlns:a="http://schemas.openxmlformats.org/drawingml/2006/main">
            <a:off x="514350" y="704850"/>
            <a:ext cx="8096250" cy="666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250" b="1">
                <a:solidFill>
                  <a:srgbClr val="172026"/>
                </a:solidFill>
                <a:latin typeface="Aptos Display"/>
                <a:ea typeface="Aptos Display"/>
                <a:cs typeface="Aptos Display"/>
              </a:defRPr>
            </a:pPr>
            <a:r>
              <a:rPr sz="2250" b="1">
                <a:solidFill>
                  <a:srgbClr val="172026"/>
                </a:solidFill>
                <a:latin typeface="Aptos Display"/>
                <a:ea typeface="Aptos Display"/>
                <a:cs typeface="Aptos Display"/>
              </a:rPr>
              <a:t>What learners must leave this lesson able to submit.</a:t>
            </a:r>
          </a:p>
        </p:txBody>
      </p:sp>
      <p:sp>
        <p:nvSpPr>
          <p:cNvPr id="43" name="">
            <a:extLst xmlns:a="http://schemas.openxmlformats.org/drawingml/2006/main">
              <a:ext uri="{FF2B5EF4-FFF2-40B4-BE49-F238E27FC236}">
                <a16:creationId xmlns:a16="http://schemas.microsoft.com/office/drawing/2014/main" id="{3B066F67-F2D5-448F-BC2E-482E55DE2500}"/>
              </a:ext>
            </a:extLst>
          </p:cNvPr>
          <p:cNvSpPr>
            <a:spLocks xmlns:a="http://schemas.openxmlformats.org/drawingml/2006/main" noGrp="1"/>
          </p:cNvSpPr>
          <p:nvPr/>
        </p:nvSpPr>
        <p:spPr>
          <a:xfrm xmlns:a="http://schemas.openxmlformats.org/drawingml/2006/main">
            <a:off x="514350" y="1314450"/>
            <a:ext cx="819150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59646A"/>
                </a:solidFill>
                <a:latin typeface="Aptos"/>
                <a:ea typeface="Aptos"/>
                <a:cs typeface="Aptos"/>
              </a:defRPr>
            </a:pPr>
            <a:r>
              <a:rPr sz="1125" b="0">
                <a:solidFill>
                  <a:srgbClr val="59646A"/>
                </a:solidFill>
                <a:latin typeface="Aptos"/>
                <a:ea typeface="Aptos"/>
                <a:cs typeface="Aptos"/>
              </a:rPr>
              <a:t>Treat this as the exit gate before transitioning.</a:t>
            </a:r>
          </a:p>
        </p:txBody>
      </p:sp>
      <p:sp>
        <p:nvSpPr>
          <p:cNvPr id="44" name="">
            <a:extLst xmlns:a="http://schemas.openxmlformats.org/drawingml/2006/main">
              <a:ext uri="{FF2B5EF4-FFF2-40B4-BE49-F238E27FC236}">
                <a16:creationId xmlns:a16="http://schemas.microsoft.com/office/drawing/2014/main" id="{22E43048-164B-41D8-A0CD-3412ACB5D499}"/>
              </a:ext>
            </a:extLst>
          </p:cNvPr>
          <p:cNvSpPr>
            <a:spLocks xmlns:a="http://schemas.openxmlformats.org/drawingml/2006/main" noGrp="1"/>
          </p:cNvSpPr>
          <p:nvPr/>
        </p:nvSpPr>
        <p:spPr>
          <a:xfrm xmlns:a="http://schemas.openxmlformats.org/drawingml/2006/main">
            <a:off x="0" y="6400800"/>
            <a:ext cx="12192000" cy="457200"/>
          </a:xfrm>
          <a:prstGeom xmlns:a="http://schemas.openxmlformats.org/drawingml/2006/main" prst="rect">
            <a:avLst/>
          </a:prstGeom>
          <a:solidFill xmlns:a="http://schemas.openxmlformats.org/drawingml/2006/main">
            <a:srgbClr val="F5F6F2"/>
          </a:solidFill>
          <a:ln xmlns:a="http://schemas.openxmlformats.org/drawingml/2006/main" w="0">
            <a:solidFill>
              <a:srgbClr val="000000">
                <a:alpha val="0"/>
              </a:srgbClr>
            </a:solidFill>
            <a:prstDash val="solid"/>
          </a:ln>
        </p:spPr>
      </p:sp>
      <p:sp>
        <p:nvSpPr>
          <p:cNvPr id="45" name="">
            <a:extLst xmlns:a="http://schemas.openxmlformats.org/drawingml/2006/main">
              <a:ext uri="{FF2B5EF4-FFF2-40B4-BE49-F238E27FC236}">
                <a16:creationId xmlns:a16="http://schemas.microsoft.com/office/drawing/2014/main" id="{E52942F2-06CB-4A2F-A8B1-BCC2CD28FBB4}"/>
              </a:ext>
            </a:extLst>
          </p:cNvPr>
          <p:cNvSpPr>
            <a:spLocks xmlns:a="http://schemas.openxmlformats.org/drawingml/2006/main" noGrp="1"/>
          </p:cNvSpPr>
          <p:nvPr/>
        </p:nvSpPr>
        <p:spPr>
          <a:xfrm xmlns:a="http://schemas.openxmlformats.org/drawingml/2006/main">
            <a:off x="0" y="6400800"/>
            <a:ext cx="171450" cy="457200"/>
          </a:xfrm>
          <a:prstGeom xmlns:a="http://schemas.openxmlformats.org/drawingml/2006/main" prst="rect">
            <a:avLst/>
          </a:prstGeom>
          <a:solidFill xmlns:a="http://schemas.openxmlformats.org/drawingml/2006/main">
            <a:srgbClr val="12232B"/>
          </a:solidFill>
          <a:ln xmlns:a="http://schemas.openxmlformats.org/drawingml/2006/main" w="0">
            <a:solidFill>
              <a:srgbClr val="000000">
                <a:alpha val="0"/>
              </a:srgbClr>
            </a:solidFill>
            <a:prstDash val="solid"/>
          </a:ln>
        </p:spPr>
      </p:sp>
      <p:sp>
        <p:nvSpPr>
          <p:cNvPr id="46" name="">
            <a:extLst xmlns:a="http://schemas.openxmlformats.org/drawingml/2006/main">
              <a:ext uri="{FF2B5EF4-FFF2-40B4-BE49-F238E27FC236}">
                <a16:creationId xmlns:a16="http://schemas.microsoft.com/office/drawing/2014/main" id="{F85186B9-B864-4D3E-9636-2FEF5B72123C}"/>
              </a:ext>
            </a:extLst>
          </p:cNvPr>
          <p:cNvSpPr>
            <a:spLocks xmlns:a="http://schemas.openxmlformats.org/drawingml/2006/main" noGrp="1"/>
          </p:cNvSpPr>
          <p:nvPr/>
        </p:nvSpPr>
        <p:spPr>
          <a:xfrm xmlns:a="http://schemas.openxmlformats.org/drawingml/2006/main">
            <a:off x="171450" y="6400800"/>
            <a:ext cx="57150" cy="4572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47" name="">
            <a:extLst xmlns:a="http://schemas.openxmlformats.org/drawingml/2006/main">
              <a:ext uri="{FF2B5EF4-FFF2-40B4-BE49-F238E27FC236}">
                <a16:creationId xmlns:a16="http://schemas.microsoft.com/office/drawing/2014/main" id="{92CB5E64-71E9-461A-8CAC-E90E01566647}"/>
              </a:ext>
            </a:extLst>
          </p:cNvPr>
          <p:cNvSpPr>
            <a:spLocks xmlns:a="http://schemas.openxmlformats.org/drawingml/2006/main" noGrp="1"/>
          </p:cNvSpPr>
          <p:nvPr/>
        </p:nvSpPr>
        <p:spPr>
          <a:xfrm xmlns:a="http://schemas.openxmlformats.org/drawingml/2006/main">
            <a:off x="514350" y="6438900"/>
            <a:ext cx="1091565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48" name="">
            <a:extLst xmlns:a="http://schemas.openxmlformats.org/drawingml/2006/main">
              <a:ext uri="{FF2B5EF4-FFF2-40B4-BE49-F238E27FC236}">
                <a16:creationId xmlns:a16="http://schemas.microsoft.com/office/drawing/2014/main" id="{EC12C32C-2BEB-4B37-AA31-CB7C8C551A01}"/>
              </a:ext>
            </a:extLst>
          </p:cNvPr>
          <p:cNvSpPr>
            <a:spLocks xmlns:a="http://schemas.openxmlformats.org/drawingml/2006/main" noGrp="1"/>
          </p:cNvSpPr>
          <p:nvPr/>
        </p:nvSpPr>
        <p:spPr>
          <a:xfrm xmlns:a="http://schemas.openxmlformats.org/drawingml/2006/main">
            <a:off x="514350" y="6553200"/>
            <a:ext cx="590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59646A"/>
                </a:solidFill>
                <a:latin typeface="Aptos"/>
                <a:ea typeface="Aptos"/>
                <a:cs typeface="Aptos"/>
              </a:defRPr>
            </a:pPr>
            <a:r>
              <a:rPr sz="675" b="0">
                <a:solidFill>
                  <a:srgbClr val="59646A"/>
                </a:solidFill>
                <a:latin typeface="Aptos"/>
                <a:ea typeface="Aptos"/>
                <a:cs typeface="Aptos"/>
              </a:rPr>
              <a:t>Lesson 04 - MOIN: Map Of Informational Needs</a:t>
            </a:r>
          </a:p>
        </p:txBody>
      </p:sp>
      <p:sp>
        <p:nvSpPr>
          <p:cNvPr id="49" name="">
            <a:extLst xmlns:a="http://schemas.openxmlformats.org/drawingml/2006/main">
              <a:ext uri="{FF2B5EF4-FFF2-40B4-BE49-F238E27FC236}">
                <a16:creationId xmlns:a16="http://schemas.microsoft.com/office/drawing/2014/main" id="{A478D294-54FF-43A0-ACF3-4765A2994C67}"/>
              </a:ext>
            </a:extLst>
          </p:cNvPr>
          <p:cNvSpPr>
            <a:spLocks xmlns:a="http://schemas.openxmlformats.org/drawingml/2006/main" noGrp="1"/>
          </p:cNvSpPr>
          <p:nvPr/>
        </p:nvSpPr>
        <p:spPr>
          <a:xfrm xmlns:a="http://schemas.openxmlformats.org/drawingml/2006/main">
            <a:off x="5334000" y="6553200"/>
            <a:ext cx="4095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00" b="0">
                <a:solidFill>
                  <a:srgbClr val="59646A"/>
                </a:solidFill>
                <a:latin typeface="Aptos"/>
                <a:ea typeface="Aptos"/>
                <a:cs typeface="Aptos"/>
              </a:defRPr>
            </a:pPr>
            <a:r>
              <a:rPr sz="600" b="0">
                <a:solidFill>
                  <a:srgbClr val="59646A"/>
                </a:solidFill>
                <a:latin typeface="Aptos"/>
                <a:ea typeface="Aptos"/>
                <a:cs typeface="Aptos"/>
              </a:rPr>
              <a:t>Source: modules/module-01-industrial-demand-generation/lessons/04-moin-map-of-informational-needs.md @ 9e28222</a:t>
            </a:r>
          </a:p>
        </p:txBody>
      </p:sp>
      <p:sp>
        <p:nvSpPr>
          <p:cNvPr id="50" name="">
            <a:extLst xmlns:a="http://schemas.openxmlformats.org/drawingml/2006/main">
              <a:ext uri="{FF2B5EF4-FFF2-40B4-BE49-F238E27FC236}">
                <a16:creationId xmlns:a16="http://schemas.microsoft.com/office/drawing/2014/main" id="{75B3C10A-77B3-45D2-B1E3-A9E20ECC5A86}"/>
              </a:ext>
            </a:extLst>
          </p:cNvPr>
          <p:cNvSpPr>
            <a:spLocks xmlns:a="http://schemas.openxmlformats.org/drawingml/2006/main" noGrp="1"/>
          </p:cNvSpPr>
          <p:nvPr/>
        </p:nvSpPr>
        <p:spPr>
          <a:xfrm xmlns:a="http://schemas.openxmlformats.org/drawingml/2006/main">
            <a:off x="10668000" y="6553200"/>
            <a:ext cx="762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75" b="0">
                <a:solidFill>
                  <a:srgbClr val="59646A"/>
                </a:solidFill>
                <a:latin typeface="Aptos"/>
                <a:ea typeface="Aptos"/>
                <a:cs typeface="Aptos"/>
              </a:defRPr>
            </a:pPr>
            <a:r>
              <a:rPr sz="675" b="0">
                <a:solidFill>
                  <a:srgbClr val="59646A"/>
                </a:solidFill>
                <a:latin typeface="Aptos"/>
                <a:ea typeface="Aptos"/>
                <a:cs typeface="Aptos"/>
              </a:rPr>
              <a:t>14/15</a:t>
            </a:r>
          </a:p>
        </p:txBody>
      </p:sp>
    </p:spTree>
    <p:extLst>
      <p:ext uri="{BB962C8B-B14F-4D97-AF65-F5344CB8AC3E}">
        <p14:creationId xmlns:p14="http://schemas.microsoft.com/office/powerpoint/2010/main" val="1678231034"/>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5427E8FD-DDFD-491F-967B-65FA1B6D8FCE}"/>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6F2"/>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278A66B0-3AD1-4A77-86DA-04E24D4DD68F}"/>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12232B"/>
          </a:solidFill>
          <a:ln xmlns:a="http://schemas.openxmlformats.org/drawingml/2006/main" w="0">
            <a:solidFill>
              <a:srgbClr val="000000">
                <a:alpha val="0"/>
              </a:srgbClr>
            </a:solidFill>
            <a:prstDash val="solid"/>
          </a:ln>
        </p:spPr>
      </p:sp>
      <p:sp>
        <p:nvSpPr>
          <p:cNvPr id="3" name="">
            <a:extLst xmlns:a="http://schemas.openxmlformats.org/drawingml/2006/main">
              <a:ext uri="{FF2B5EF4-FFF2-40B4-BE49-F238E27FC236}">
                <a16:creationId xmlns:a16="http://schemas.microsoft.com/office/drawing/2014/main" id="{F238871C-C8E5-41A6-BBF3-2805AB964A16}"/>
              </a:ext>
            </a:extLst>
          </p:cNvPr>
          <p:cNvSpPr>
            <a:spLocks xmlns:a="http://schemas.openxmlformats.org/drawingml/2006/main" noGrp="1"/>
          </p:cNvSpPr>
          <p:nvPr/>
        </p:nvSpPr>
        <p:spPr>
          <a:xfrm xmlns:a="http://schemas.openxmlformats.org/drawingml/2006/main">
            <a:off x="171450" y="0"/>
            <a:ext cx="57150" cy="68580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4" name="kicker-04-marker">
            <a:extLst xmlns:a="http://schemas.openxmlformats.org/drawingml/2006/main">
              <a:ext uri="{FF2B5EF4-FFF2-40B4-BE49-F238E27FC236}">
                <a16:creationId xmlns:a16="http://schemas.microsoft.com/office/drawing/2014/main" id="{A631210C-D758-4A06-9E08-50A4E4B77CE4}"/>
              </a:ext>
            </a:extLst>
          </p:cNvPr>
          <p:cNvSpPr>
            <a:spLocks xmlns:a="http://schemas.openxmlformats.org/drawingml/2006/main" noGrp="1"/>
          </p:cNvSpPr>
          <p:nvPr/>
        </p:nvSpPr>
        <p:spPr>
          <a:xfrm xmlns:a="http://schemas.openxmlformats.org/drawingml/2006/main">
            <a:off x="514350" y="390525"/>
            <a:ext cx="76200" cy="762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5" name="kicker-04-label">
            <a:extLst xmlns:a="http://schemas.openxmlformats.org/drawingml/2006/main">
              <a:ext uri="{FF2B5EF4-FFF2-40B4-BE49-F238E27FC236}">
                <a16:creationId xmlns:a16="http://schemas.microsoft.com/office/drawing/2014/main" id="{F50B1EE7-964D-4E0D-B2FA-5B216E88C37E}"/>
              </a:ext>
            </a:extLst>
          </p:cNvPr>
          <p:cNvSpPr>
            <a:spLocks xmlns:a="http://schemas.openxmlformats.org/drawingml/2006/main" noGrp="1"/>
          </p:cNvSpPr>
          <p:nvPr/>
        </p:nvSpPr>
        <p:spPr>
          <a:xfrm xmlns:a="http://schemas.openxmlformats.org/drawingml/2006/main">
            <a:off x="685800" y="323850"/>
            <a:ext cx="75247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MODULE 1 / LESSON 04 / TRANSITION</a:t>
            </a:r>
          </a:p>
        </p:txBody>
      </p:sp>
      <p:sp>
        <p:nvSpPr>
          <p:cNvPr id="6" name="">
            <a:extLst xmlns:a="http://schemas.openxmlformats.org/drawingml/2006/main">
              <a:ext uri="{FF2B5EF4-FFF2-40B4-BE49-F238E27FC236}">
                <a16:creationId xmlns:a16="http://schemas.microsoft.com/office/drawing/2014/main" id="{42004599-CBC2-43FA-867C-B438507F6E5B}"/>
              </a:ext>
            </a:extLst>
          </p:cNvPr>
          <p:cNvSpPr>
            <a:spLocks xmlns:a="http://schemas.openxmlformats.org/drawingml/2006/main" noGrp="1"/>
          </p:cNvSpPr>
          <p:nvPr/>
        </p:nvSpPr>
        <p:spPr>
          <a:xfrm xmlns:a="http://schemas.openxmlformats.org/drawingml/2006/main">
            <a:off x="514350" y="1123950"/>
            <a:ext cx="8382000" cy="628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325" b="1">
                <a:solidFill>
                  <a:srgbClr val="172026"/>
                </a:solidFill>
                <a:latin typeface="Aptos Display"/>
                <a:ea typeface="Aptos Display"/>
                <a:cs typeface="Aptos Display"/>
              </a:defRPr>
            </a:pPr>
            <a:r>
              <a:rPr sz="2325" b="1">
                <a:solidFill>
                  <a:srgbClr val="172026"/>
                </a:solidFill>
                <a:latin typeface="Aptos Display"/>
                <a:ea typeface="Aptos Display"/>
                <a:cs typeface="Aptos Display"/>
              </a:rPr>
              <a:t>Carry forward: MOIN grid</a:t>
            </a:r>
          </a:p>
        </p:txBody>
      </p:sp>
      <p:sp>
        <p:nvSpPr>
          <p:cNvPr id="7" name="">
            <a:extLst xmlns:a="http://schemas.openxmlformats.org/drawingml/2006/main">
              <a:ext uri="{FF2B5EF4-FFF2-40B4-BE49-F238E27FC236}">
                <a16:creationId xmlns:a16="http://schemas.microsoft.com/office/drawing/2014/main" id="{C4A92EA9-8138-48E4-8C21-DE2F6D72B382}"/>
              </a:ext>
            </a:extLst>
          </p:cNvPr>
          <p:cNvSpPr>
            <a:spLocks xmlns:a="http://schemas.openxmlformats.org/drawingml/2006/main" noGrp="1"/>
          </p:cNvSpPr>
          <p:nvPr/>
        </p:nvSpPr>
        <p:spPr>
          <a:xfrm xmlns:a="http://schemas.openxmlformats.org/drawingml/2006/main">
            <a:off x="514350" y="2190750"/>
            <a:ext cx="7239000" cy="1809750"/>
          </a:xfrm>
          <a:prstGeom xmlns:a="http://schemas.openxmlformats.org/drawingml/2006/main" prst="rect">
            <a:avLst/>
          </a:prstGeom>
          <a:solidFill xmlns:a="http://schemas.openxmlformats.org/drawingml/2006/main">
            <a:srgbClr val="FFFFFF"/>
          </a:solidFill>
          <a:ln xmlns:a="http://schemas.openxmlformats.org/drawingml/2006/main" w="9525">
            <a:solidFill>
              <a:srgbClr val="D9DDD6"/>
            </a:solidFill>
            <a:prstDash val="solid"/>
          </a:ln>
        </p:spPr>
      </p:sp>
      <p:sp>
        <p:nvSpPr>
          <p:cNvPr id="8" name="">
            <a:extLst xmlns:a="http://schemas.openxmlformats.org/drawingml/2006/main">
              <a:ext uri="{FF2B5EF4-FFF2-40B4-BE49-F238E27FC236}">
                <a16:creationId xmlns:a16="http://schemas.microsoft.com/office/drawing/2014/main" id="{448F4BB7-B585-4053-9742-2F275484FC65}"/>
              </a:ext>
            </a:extLst>
          </p:cNvPr>
          <p:cNvSpPr>
            <a:spLocks xmlns:a="http://schemas.openxmlformats.org/drawingml/2006/main" noGrp="1"/>
          </p:cNvSpPr>
          <p:nvPr/>
        </p:nvSpPr>
        <p:spPr>
          <a:xfrm xmlns:a="http://schemas.openxmlformats.org/drawingml/2006/main">
            <a:off x="838200" y="2571750"/>
            <a:ext cx="266700" cy="19050"/>
          </a:xfrm>
          <a:prstGeom xmlns:a="http://schemas.openxmlformats.org/drawingml/2006/main" prst="rect">
            <a:avLst/>
          </a:prstGeom>
          <a:solidFill xmlns:a="http://schemas.openxmlformats.org/drawingml/2006/main">
            <a:srgbClr val="1D6072"/>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D7FEC779-1E76-45F3-B174-609AD0A945AE}"/>
              </a:ext>
            </a:extLst>
          </p:cNvPr>
          <p:cNvSpPr>
            <a:spLocks xmlns:a="http://schemas.openxmlformats.org/drawingml/2006/main" noGrp="1"/>
          </p:cNvSpPr>
          <p:nvPr/>
        </p:nvSpPr>
        <p:spPr>
          <a:xfrm xmlns:a="http://schemas.openxmlformats.org/drawingml/2006/main">
            <a:off x="1200150" y="2495550"/>
            <a:ext cx="2476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BRIDGE</a:t>
            </a:r>
          </a:p>
        </p:txBody>
      </p:sp>
      <p:sp>
        <p:nvSpPr>
          <p:cNvPr id="10" name="">
            <a:extLst xmlns:a="http://schemas.openxmlformats.org/drawingml/2006/main">
              <a:ext uri="{FF2B5EF4-FFF2-40B4-BE49-F238E27FC236}">
                <a16:creationId xmlns:a16="http://schemas.microsoft.com/office/drawing/2014/main" id="{E6E2AB88-91E0-4D2C-98A4-89AD440A3D69}"/>
              </a:ext>
            </a:extLst>
          </p:cNvPr>
          <p:cNvSpPr>
            <a:spLocks xmlns:a="http://schemas.openxmlformats.org/drawingml/2006/main" noGrp="1"/>
          </p:cNvSpPr>
          <p:nvPr/>
        </p:nvSpPr>
        <p:spPr>
          <a:xfrm xmlns:a="http://schemas.openxmlformats.org/drawingml/2006/main">
            <a:off x="838200" y="2857500"/>
            <a:ext cx="6096000" cy="781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650" b="0">
                <a:solidFill>
                  <a:srgbClr val="172026"/>
                </a:solidFill>
                <a:latin typeface="Aptos Display"/>
                <a:ea typeface="Aptos Display"/>
                <a:cs typeface="Aptos Display"/>
              </a:defRPr>
            </a:pPr>
            <a:r>
              <a:rPr sz="1650" b="0">
                <a:solidFill>
                  <a:srgbClr val="172026"/>
                </a:solidFill>
                <a:latin typeface="Aptos Display"/>
                <a:ea typeface="Aptos Display"/>
                <a:cs typeface="Aptos Display"/>
              </a:rPr>
              <a:t>MOIN tells us what buyers need to learn. The next lesson turns those questions into a content engine sales will actually use.</a:t>
            </a:r>
          </a:p>
        </p:txBody>
      </p:sp>
      <p:sp>
        <p:nvSpPr>
          <p:cNvPr id="11" name="">
            <a:extLst xmlns:a="http://schemas.openxmlformats.org/drawingml/2006/main">
              <a:ext uri="{FF2B5EF4-FFF2-40B4-BE49-F238E27FC236}">
                <a16:creationId xmlns:a16="http://schemas.microsoft.com/office/drawing/2014/main" id="{E27BEA96-530E-4752-9A09-9BFD449280F6}"/>
              </a:ext>
            </a:extLst>
          </p:cNvPr>
          <p:cNvSpPr>
            <a:spLocks xmlns:a="http://schemas.openxmlformats.org/drawingml/2006/main" noGrp="1"/>
          </p:cNvSpPr>
          <p:nvPr/>
        </p:nvSpPr>
        <p:spPr>
          <a:xfrm xmlns:a="http://schemas.openxmlformats.org/drawingml/2006/main">
            <a:off x="8172450" y="2190750"/>
            <a:ext cx="3257550" cy="1809750"/>
          </a:xfrm>
          <a:prstGeom xmlns:a="http://schemas.openxmlformats.org/drawingml/2006/main" prst="rect">
            <a:avLst/>
          </a:prstGeom>
          <a:solidFill xmlns:a="http://schemas.openxmlformats.org/drawingml/2006/main">
            <a:srgbClr val="12232B"/>
          </a:solidFill>
          <a:ln xmlns:a="http://schemas.openxmlformats.org/drawingml/2006/main" w="9525">
            <a:solidFill>
              <a:srgbClr val="12232B"/>
            </a:solidFill>
            <a:prstDash val="solid"/>
          </a:ln>
        </p:spPr>
      </p:sp>
      <p:sp>
        <p:nvSpPr>
          <p:cNvPr id="12" name="">
            <a:extLst xmlns:a="http://schemas.openxmlformats.org/drawingml/2006/main">
              <a:ext uri="{FF2B5EF4-FFF2-40B4-BE49-F238E27FC236}">
                <a16:creationId xmlns:a16="http://schemas.microsoft.com/office/drawing/2014/main" id="{5309F986-26FC-4FF5-82B9-C69C86717C80}"/>
              </a:ext>
            </a:extLst>
          </p:cNvPr>
          <p:cNvSpPr>
            <a:spLocks xmlns:a="http://schemas.openxmlformats.org/drawingml/2006/main" noGrp="1"/>
          </p:cNvSpPr>
          <p:nvPr/>
        </p:nvSpPr>
        <p:spPr>
          <a:xfrm xmlns:a="http://schemas.openxmlformats.org/drawingml/2006/main">
            <a:off x="8477250" y="2571750"/>
            <a:ext cx="266700" cy="19050"/>
          </a:xfrm>
          <a:prstGeom xmlns:a="http://schemas.openxmlformats.org/drawingml/2006/main" prst="rect">
            <a:avLst/>
          </a:prstGeom>
          <a:solidFill xmlns:a="http://schemas.openxmlformats.org/drawingml/2006/main">
            <a:srgbClr val="B7953B"/>
          </a:solidFill>
          <a:ln xmlns:a="http://schemas.openxmlformats.org/drawingml/2006/main" w="0">
            <a:solidFill>
              <a:srgbClr val="000000">
                <a:alpha val="0"/>
              </a:srgbClr>
            </a:solidFill>
            <a:prstDash val="solid"/>
          </a:ln>
        </p:spPr>
      </p:sp>
      <p:sp>
        <p:nvSpPr>
          <p:cNvPr id="13" name="">
            <a:extLst xmlns:a="http://schemas.openxmlformats.org/drawingml/2006/main">
              <a:ext uri="{FF2B5EF4-FFF2-40B4-BE49-F238E27FC236}">
                <a16:creationId xmlns:a16="http://schemas.microsoft.com/office/drawing/2014/main" id="{BCFF1C1E-84C5-46AF-A002-B13A1669AF8C}"/>
              </a:ext>
            </a:extLst>
          </p:cNvPr>
          <p:cNvSpPr>
            <a:spLocks xmlns:a="http://schemas.openxmlformats.org/drawingml/2006/main" noGrp="1"/>
          </p:cNvSpPr>
          <p:nvPr/>
        </p:nvSpPr>
        <p:spPr>
          <a:xfrm xmlns:a="http://schemas.openxmlformats.org/drawingml/2006/main">
            <a:off x="8839200" y="2495550"/>
            <a:ext cx="2476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NEXT</a:t>
            </a:r>
          </a:p>
        </p:txBody>
      </p:sp>
      <p:sp>
        <p:nvSpPr>
          <p:cNvPr id="14" name="">
            <a:extLst xmlns:a="http://schemas.openxmlformats.org/drawingml/2006/main">
              <a:ext uri="{FF2B5EF4-FFF2-40B4-BE49-F238E27FC236}">
                <a16:creationId xmlns:a16="http://schemas.microsoft.com/office/drawing/2014/main" id="{20C0FB9F-246B-4FDC-9BA1-3E8047D957C3}"/>
              </a:ext>
            </a:extLst>
          </p:cNvPr>
          <p:cNvSpPr>
            <a:spLocks xmlns:a="http://schemas.openxmlformats.org/drawingml/2006/main" noGrp="1"/>
          </p:cNvSpPr>
          <p:nvPr/>
        </p:nvSpPr>
        <p:spPr>
          <a:xfrm xmlns:a="http://schemas.openxmlformats.org/drawingml/2006/main">
            <a:off x="8477250" y="2876550"/>
            <a:ext cx="2381250" cy="666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650" b="1">
                <a:solidFill>
                  <a:srgbClr val="FFFFFF"/>
                </a:solidFill>
                <a:latin typeface="Aptos Display"/>
                <a:ea typeface="Aptos Display"/>
                <a:cs typeface="Aptos Display"/>
              </a:defRPr>
            </a:pPr>
            <a:r>
              <a:rPr sz="1650" b="1">
                <a:solidFill>
                  <a:srgbClr val="FFFFFF"/>
                </a:solidFill>
                <a:latin typeface="Aptos Display"/>
                <a:ea typeface="Aptos Display"/>
                <a:cs typeface="Aptos Display"/>
              </a:rPr>
              <a:t>Lesson 05 - Content Engine For Industrial Demand</a:t>
            </a:r>
          </a:p>
        </p:txBody>
      </p:sp>
      <p:sp>
        <p:nvSpPr>
          <p:cNvPr id="15" name="">
            <a:extLst xmlns:a="http://schemas.openxmlformats.org/drawingml/2006/main">
              <a:ext uri="{FF2B5EF4-FFF2-40B4-BE49-F238E27FC236}">
                <a16:creationId xmlns:a16="http://schemas.microsoft.com/office/drawing/2014/main" id="{80518280-840F-4D92-9A53-75557AED07C3}"/>
              </a:ext>
            </a:extLst>
          </p:cNvPr>
          <p:cNvSpPr>
            <a:spLocks xmlns:a="http://schemas.openxmlformats.org/drawingml/2006/main" noGrp="1"/>
          </p:cNvSpPr>
          <p:nvPr/>
        </p:nvSpPr>
        <p:spPr>
          <a:xfrm xmlns:a="http://schemas.openxmlformats.org/drawingml/2006/main">
            <a:off x="514350" y="4457700"/>
            <a:ext cx="10915650" cy="933450"/>
          </a:xfrm>
          <a:prstGeom xmlns:a="http://schemas.openxmlformats.org/drawingml/2006/main" prst="rect">
            <a:avLst/>
          </a:prstGeom>
          <a:solidFill xmlns:a="http://schemas.openxmlformats.org/drawingml/2006/main">
            <a:srgbClr val="F9FAF7"/>
          </a:solidFill>
          <a:ln xmlns:a="http://schemas.openxmlformats.org/drawingml/2006/main" w="9525">
            <a:solidFill>
              <a:srgbClr val="D9DDD6"/>
            </a:solidFill>
            <a:prstDash val="solid"/>
          </a:ln>
        </p:spPr>
      </p:sp>
      <p:sp>
        <p:nvSpPr>
          <p:cNvPr id="16" name="">
            <a:extLst xmlns:a="http://schemas.openxmlformats.org/drawingml/2006/main">
              <a:ext uri="{FF2B5EF4-FFF2-40B4-BE49-F238E27FC236}">
                <a16:creationId xmlns:a16="http://schemas.microsoft.com/office/drawing/2014/main" id="{9337E24C-F1BE-458A-8399-354FF5338333}"/>
              </a:ext>
            </a:extLst>
          </p:cNvPr>
          <p:cNvSpPr>
            <a:spLocks xmlns:a="http://schemas.openxmlformats.org/drawingml/2006/main" noGrp="1"/>
          </p:cNvSpPr>
          <p:nvPr/>
        </p:nvSpPr>
        <p:spPr>
          <a:xfrm xmlns:a="http://schemas.openxmlformats.org/drawingml/2006/main">
            <a:off x="819150" y="4762500"/>
            <a:ext cx="990600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1275" b="0">
                <a:solidFill>
                  <a:srgbClr val="59646A"/>
                </a:solidFill>
                <a:latin typeface="Aptos"/>
                <a:ea typeface="Aptos"/>
                <a:cs typeface="Aptos"/>
              </a:defRPr>
            </a:pPr>
            <a:r>
              <a:rPr sz="1275" b="0">
                <a:solidFill>
                  <a:srgbClr val="59646A"/>
                </a:solidFill>
                <a:latin typeface="Aptos"/>
                <a:ea typeface="Aptos"/>
                <a:cs typeface="Aptos"/>
              </a:rPr>
              <a:t>Recurring instructor check: sales impact / signal / RevOps field / buyer content / AI risk / industrial failure mode</a:t>
            </a:r>
          </a:p>
        </p:txBody>
      </p:sp>
      <p:sp>
        <p:nvSpPr>
          <p:cNvPr id="17" name="">
            <a:extLst xmlns:a="http://schemas.openxmlformats.org/drawingml/2006/main">
              <a:ext uri="{FF2B5EF4-FFF2-40B4-BE49-F238E27FC236}">
                <a16:creationId xmlns:a16="http://schemas.microsoft.com/office/drawing/2014/main" id="{E602A6C3-13AC-4B0A-B67A-38BDF4AC3F74}"/>
              </a:ext>
            </a:extLst>
          </p:cNvPr>
          <p:cNvSpPr>
            <a:spLocks xmlns:a="http://schemas.openxmlformats.org/drawingml/2006/main" noGrp="1"/>
          </p:cNvSpPr>
          <p:nvPr/>
        </p:nvSpPr>
        <p:spPr>
          <a:xfrm xmlns:a="http://schemas.openxmlformats.org/drawingml/2006/main">
            <a:off x="514350" y="6438900"/>
            <a:ext cx="1091565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18" name="">
            <a:extLst xmlns:a="http://schemas.openxmlformats.org/drawingml/2006/main">
              <a:ext uri="{FF2B5EF4-FFF2-40B4-BE49-F238E27FC236}">
                <a16:creationId xmlns:a16="http://schemas.microsoft.com/office/drawing/2014/main" id="{1113C085-3869-4080-9302-FD63546CF5B8}"/>
              </a:ext>
            </a:extLst>
          </p:cNvPr>
          <p:cNvSpPr>
            <a:spLocks xmlns:a="http://schemas.openxmlformats.org/drawingml/2006/main" noGrp="1"/>
          </p:cNvSpPr>
          <p:nvPr/>
        </p:nvSpPr>
        <p:spPr>
          <a:xfrm xmlns:a="http://schemas.openxmlformats.org/drawingml/2006/main">
            <a:off x="514350" y="6553200"/>
            <a:ext cx="590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59646A"/>
                </a:solidFill>
                <a:latin typeface="Aptos"/>
                <a:ea typeface="Aptos"/>
                <a:cs typeface="Aptos"/>
              </a:defRPr>
            </a:pPr>
            <a:r>
              <a:rPr sz="675" b="0">
                <a:solidFill>
                  <a:srgbClr val="59646A"/>
                </a:solidFill>
                <a:latin typeface="Aptos"/>
                <a:ea typeface="Aptos"/>
                <a:cs typeface="Aptos"/>
              </a:rPr>
              <a:t>Lesson 04 - MOIN: Map Of Informational Needs</a:t>
            </a:r>
          </a:p>
        </p:txBody>
      </p:sp>
      <p:sp>
        <p:nvSpPr>
          <p:cNvPr id="19" name="">
            <a:extLst xmlns:a="http://schemas.openxmlformats.org/drawingml/2006/main">
              <a:ext uri="{FF2B5EF4-FFF2-40B4-BE49-F238E27FC236}">
                <a16:creationId xmlns:a16="http://schemas.microsoft.com/office/drawing/2014/main" id="{A5E82D75-4EAD-402F-BF0B-27019F19D461}"/>
              </a:ext>
            </a:extLst>
          </p:cNvPr>
          <p:cNvSpPr>
            <a:spLocks xmlns:a="http://schemas.openxmlformats.org/drawingml/2006/main" noGrp="1"/>
          </p:cNvSpPr>
          <p:nvPr/>
        </p:nvSpPr>
        <p:spPr>
          <a:xfrm xmlns:a="http://schemas.openxmlformats.org/drawingml/2006/main">
            <a:off x="5334000" y="6553200"/>
            <a:ext cx="4095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00" b="0">
                <a:solidFill>
                  <a:srgbClr val="59646A"/>
                </a:solidFill>
                <a:latin typeface="Aptos"/>
                <a:ea typeface="Aptos"/>
                <a:cs typeface="Aptos"/>
              </a:defRPr>
            </a:pPr>
            <a:r>
              <a:rPr sz="600" b="0">
                <a:solidFill>
                  <a:srgbClr val="59646A"/>
                </a:solidFill>
                <a:latin typeface="Aptos"/>
                <a:ea typeface="Aptos"/>
                <a:cs typeface="Aptos"/>
              </a:rPr>
              <a:t>Source: modules/module-01-industrial-demand-generation/lessons/04-moin-map-of-informational-needs.md @ 9e28222</a:t>
            </a:r>
          </a:p>
        </p:txBody>
      </p:sp>
      <p:sp>
        <p:nvSpPr>
          <p:cNvPr id="20" name="">
            <a:extLst xmlns:a="http://schemas.openxmlformats.org/drawingml/2006/main">
              <a:ext uri="{FF2B5EF4-FFF2-40B4-BE49-F238E27FC236}">
                <a16:creationId xmlns:a16="http://schemas.microsoft.com/office/drawing/2014/main" id="{29CEB1A8-65BC-4710-ABBE-D4D0BB4C3CFA}"/>
              </a:ext>
            </a:extLst>
          </p:cNvPr>
          <p:cNvSpPr>
            <a:spLocks xmlns:a="http://schemas.openxmlformats.org/drawingml/2006/main" noGrp="1"/>
          </p:cNvSpPr>
          <p:nvPr/>
        </p:nvSpPr>
        <p:spPr>
          <a:xfrm xmlns:a="http://schemas.openxmlformats.org/drawingml/2006/main">
            <a:off x="10668000" y="6553200"/>
            <a:ext cx="762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75" b="0">
                <a:solidFill>
                  <a:srgbClr val="59646A"/>
                </a:solidFill>
                <a:latin typeface="Aptos"/>
                <a:ea typeface="Aptos"/>
                <a:cs typeface="Aptos"/>
              </a:defRPr>
            </a:pPr>
            <a:r>
              <a:rPr sz="675" b="0">
                <a:solidFill>
                  <a:srgbClr val="59646A"/>
                </a:solidFill>
                <a:latin typeface="Aptos"/>
                <a:ea typeface="Aptos"/>
                <a:cs typeface="Aptos"/>
              </a:rPr>
              <a:t>15/15</a:t>
            </a:r>
          </a:p>
        </p:txBody>
      </p:sp>
    </p:spTree>
    <p:extLst>
      <p:ext uri="{BB962C8B-B14F-4D97-AF65-F5344CB8AC3E}">
        <p14:creationId xmlns:p14="http://schemas.microsoft.com/office/powerpoint/2010/main" val="158223546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2026-05-16T17:00:41.7510000Z</dcterms:created>
  <dcterms:modified xsi:type="dcterms:W3CDTF">2026-05-16T17:00:41.7510000Z</dcterms:modified>
</coreProperties>
</file>