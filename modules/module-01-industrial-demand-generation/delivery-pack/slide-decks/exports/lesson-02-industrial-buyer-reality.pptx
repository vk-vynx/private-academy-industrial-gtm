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e99b14b5c8c492f" /><Relationship Type="http://schemas.openxmlformats.org/officeDocument/2006/relationships/extended-properties" Target="/docProps/app.xml" Id="Rfc19ce509ac64f03" /><Relationship Type="http://schemas.openxmlformats.org/officeDocument/2006/relationships/officeDocument" Target="/ppt/presentation.xml" Id="Rf7a2817df6c34db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28ced8ffcf44010"/>
  </p:sldMasterIdLst>
  <p:notesMasterIdLst>
    <p:notesMasterId xmlns:r="http://schemas.openxmlformats.org/officeDocument/2006/relationships" r:id="Rf26a3627785b4e89"/>
  </p:notesMasterIdLst>
  <p:sldIdLst>
    <p:sldId xmlns:r="http://schemas.openxmlformats.org/officeDocument/2006/relationships" id="256" r:id="R56131da6ad8f4dbc"/>
    <p:sldId xmlns:r="http://schemas.openxmlformats.org/officeDocument/2006/relationships" id="257" r:id="Rc015e1ab23be4592"/>
    <p:sldId xmlns:r="http://schemas.openxmlformats.org/officeDocument/2006/relationships" id="258" r:id="R1584996d17e945bd"/>
    <p:sldId xmlns:r="http://schemas.openxmlformats.org/officeDocument/2006/relationships" id="259" r:id="Rdf3d085dfce84b54"/>
    <p:sldId xmlns:r="http://schemas.openxmlformats.org/officeDocument/2006/relationships" id="260" r:id="Rba42163fb72d439c"/>
    <p:sldId xmlns:r="http://schemas.openxmlformats.org/officeDocument/2006/relationships" id="261" r:id="R4543c1a424314c1f"/>
    <p:sldId xmlns:r="http://schemas.openxmlformats.org/officeDocument/2006/relationships" id="262" r:id="R92f7ebbe39124eb3"/>
    <p:sldId xmlns:r="http://schemas.openxmlformats.org/officeDocument/2006/relationships" id="263" r:id="Ra59ee10d4e074e03"/>
    <p:sldId xmlns:r="http://schemas.openxmlformats.org/officeDocument/2006/relationships" id="264" r:id="R3ed32f8ed5c14f71"/>
    <p:sldId xmlns:r="http://schemas.openxmlformats.org/officeDocument/2006/relationships" id="265" r:id="Re24b3c15ac274ef4"/>
    <p:sldId xmlns:r="http://schemas.openxmlformats.org/officeDocument/2006/relationships" id="266" r:id="R22faff1260b246b5"/>
    <p:sldId xmlns:r="http://schemas.openxmlformats.org/officeDocument/2006/relationships" id="267" r:id="Rd9d1230910a4480e"/>
    <p:sldId xmlns:r="http://schemas.openxmlformats.org/officeDocument/2006/relationships" id="268" r:id="R7672d2205c764c51"/>
    <p:sldId xmlns:r="http://schemas.openxmlformats.org/officeDocument/2006/relationships" id="269" r:id="Reb090a5bb7d9416c"/>
    <p:sldId xmlns:r="http://schemas.openxmlformats.org/officeDocument/2006/relationships" id="270" r:id="R02f4f51a2c49407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8ced8ffcf44010" /><Relationship Type="http://schemas.openxmlformats.org/officeDocument/2006/relationships/theme" Target="/ppt/theme/theme1.xml" Id="R55bf60b4bcc84447" /><Relationship Type="http://schemas.openxmlformats.org/officeDocument/2006/relationships/notesMaster" Target="/ppt/notesMasters/notesMaster1.xml" Id="Rf26a3627785b4e89" /><Relationship Type="http://schemas.openxmlformats.org/officeDocument/2006/relationships/presProps" Target="/ppt/presProps.xml" Id="Rede4ba5a547843d5" /><Relationship Type="http://schemas.openxmlformats.org/officeDocument/2006/relationships/viewProps" Target="/ppt/viewProps.xml" Id="R69f4f426c316426d" /><Relationship Type="http://schemas.openxmlformats.org/officeDocument/2006/relationships/tableStyles" Target="/ppt/tableStyles.xml" Id="Rb88a532282c34ca6" /><Relationship Type="http://schemas.openxmlformats.org/officeDocument/2006/relationships/slide" Target="/ppt/slides/slide1.xml" Id="R56131da6ad8f4dbc" /><Relationship Type="http://schemas.openxmlformats.org/officeDocument/2006/relationships/slide" Target="/ppt/slides/slide2.xml" Id="Rc015e1ab23be4592" /><Relationship Type="http://schemas.openxmlformats.org/officeDocument/2006/relationships/slide" Target="/ppt/slides/slide3.xml" Id="R1584996d17e945bd" /><Relationship Type="http://schemas.openxmlformats.org/officeDocument/2006/relationships/slide" Target="/ppt/slides/slide4.xml" Id="Rdf3d085dfce84b54" /><Relationship Type="http://schemas.openxmlformats.org/officeDocument/2006/relationships/slide" Target="/ppt/slides/slide5.xml" Id="Rba42163fb72d439c" /><Relationship Type="http://schemas.openxmlformats.org/officeDocument/2006/relationships/slide" Target="/ppt/slides/slide6.xml" Id="R4543c1a424314c1f" /><Relationship Type="http://schemas.openxmlformats.org/officeDocument/2006/relationships/slide" Target="/ppt/slides/slide7.xml" Id="R92f7ebbe39124eb3" /><Relationship Type="http://schemas.openxmlformats.org/officeDocument/2006/relationships/slide" Target="/ppt/slides/slide8.xml" Id="Ra59ee10d4e074e03" /><Relationship Type="http://schemas.openxmlformats.org/officeDocument/2006/relationships/slide" Target="/ppt/slides/slide9.xml" Id="R3ed32f8ed5c14f71" /><Relationship Type="http://schemas.openxmlformats.org/officeDocument/2006/relationships/slide" Target="/ppt/slides/slide10.xml" Id="Re24b3c15ac274ef4" /><Relationship Type="http://schemas.openxmlformats.org/officeDocument/2006/relationships/slide" Target="/ppt/slides/slide11.xml" Id="R22faff1260b246b5" /><Relationship Type="http://schemas.openxmlformats.org/officeDocument/2006/relationships/slide" Target="/ppt/slides/slide12.xml" Id="Rd9d1230910a4480e" /><Relationship Type="http://schemas.openxmlformats.org/officeDocument/2006/relationships/slide" Target="/ppt/slides/slide13.xml" Id="R7672d2205c764c51" /><Relationship Type="http://schemas.openxmlformats.org/officeDocument/2006/relationships/slide" Target="/ppt/slides/slide14.xml" Id="Reb090a5bb7d9416c" /><Relationship Type="http://schemas.openxmlformats.org/officeDocument/2006/relationships/slide" Target="/ppt/slides/slide15.xml" Id="R02f4f51a2c49407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f3a1cada6b254ad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cc33f3c54ee4270" /><Relationship Type="http://schemas.openxmlformats.org/officeDocument/2006/relationships/notesMaster" Target="/ppt/notesMasters/notesMaster1.xml" Id="R11d3ffcaf18347e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527e77b32df4410" /><Relationship Type="http://schemas.openxmlformats.org/officeDocument/2006/relationships/notesMaster" Target="/ppt/notesMasters/notesMaster1.xml" Id="R0da3c9218c39439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e78f36fc84a454d" /><Relationship Type="http://schemas.openxmlformats.org/officeDocument/2006/relationships/notesMaster" Target="/ppt/notesMasters/notesMaster1.xml" Id="R8389fabb2aa8470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826137865474906" /><Relationship Type="http://schemas.openxmlformats.org/officeDocument/2006/relationships/notesMaster" Target="/ppt/notesMasters/notesMaster1.xml" Id="R5b3ac64e62b64b8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eb9d0c281bb4a98" /><Relationship Type="http://schemas.openxmlformats.org/officeDocument/2006/relationships/notesMaster" Target="/ppt/notesMasters/notesMaster1.xml" Id="R0c85fa993c1d4ca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15fe29bf8144261" /><Relationship Type="http://schemas.openxmlformats.org/officeDocument/2006/relationships/notesMaster" Target="/ppt/notesMasters/notesMaster1.xml" Id="R5ea4bc2e665746d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d0b6ced75ad4a56" /><Relationship Type="http://schemas.openxmlformats.org/officeDocument/2006/relationships/notesMaster" Target="/ppt/notesMasters/notesMaster1.xml" Id="R0cdc12f8d47541a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86e3f4660454b35" /><Relationship Type="http://schemas.openxmlformats.org/officeDocument/2006/relationships/notesMaster" Target="/ppt/notesMasters/notesMaster1.xml" Id="R187f336fbd92437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c4955b22f544e8a" /><Relationship Type="http://schemas.openxmlformats.org/officeDocument/2006/relationships/notesMaster" Target="/ppt/notesMasters/notesMaster1.xml" Id="R4b47c2636142449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5ed62a12b5741d9" /><Relationship Type="http://schemas.openxmlformats.org/officeDocument/2006/relationships/notesMaster" Target="/ppt/notesMasters/notesMaster1.xml" Id="R008878333282447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a313cec81c14cec" /><Relationship Type="http://schemas.openxmlformats.org/officeDocument/2006/relationships/notesMaster" Target="/ppt/notesMasters/notesMaster1.xml" Id="R2c4544da122b47e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2c656b0cdc24310" /><Relationship Type="http://schemas.openxmlformats.org/officeDocument/2006/relationships/notesMaster" Target="/ppt/notesMasters/notesMaster1.xml" Id="Rb3d3d98ce66043e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f4a30f0bb4a4fcc" /><Relationship Type="http://schemas.openxmlformats.org/officeDocument/2006/relationships/notesMaster" Target="/ppt/notesMasters/notesMaster1.xml" Id="R4af56d6edc3d40d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96f5fb002954a7b" /><Relationship Type="http://schemas.openxmlformats.org/officeDocument/2006/relationships/notesMaster" Target="/ppt/notesMasters/notesMaster1.xml" Id="Re860cdaaf8be4d0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995c58da5e04ada" /><Relationship Type="http://schemas.openxmlformats.org/officeDocument/2006/relationships/notesMaster" Target="/ppt/notesMasters/notesMaster1.xml" Id="Rfc702c0f50524bc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8ba679e913435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3a817403cba242b0" /><Relationship Type="http://schemas.openxmlformats.org/officeDocument/2006/relationships/slideLayout" Target="/ppt/slideLayouts/slideLayout2.xml" Id="Ra3b9bc1c3b16433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3b9bc1c3b16433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3a01b68693487a" /><Relationship Type="http://schemas.openxmlformats.org/officeDocument/2006/relationships/notesSlide" Target="/ppt/notesSlides/notesSlide1.xml" Id="R796881b4acfc48c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0aa2c8fa1734e8f" /><Relationship Type="http://schemas.openxmlformats.org/officeDocument/2006/relationships/notesSlide" Target="/ppt/notesSlides/notesSlide2.xml" Id="R64fe82eeca7f40d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c39304a2a14f57" /><Relationship Type="http://schemas.openxmlformats.org/officeDocument/2006/relationships/notesSlide" Target="/ppt/notesSlides/notesSlide3.xml" Id="R03f50697438e42a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54146520d34899" /><Relationship Type="http://schemas.openxmlformats.org/officeDocument/2006/relationships/notesSlide" Target="/ppt/notesSlides/notesSlide4.xml" Id="R0ff206c747ce4b9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9abfa82cbe649df" /><Relationship Type="http://schemas.openxmlformats.org/officeDocument/2006/relationships/notesSlide" Target="/ppt/notesSlides/notesSlide5.xml" Id="R12218841470d425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14ad63518924420" /><Relationship Type="http://schemas.openxmlformats.org/officeDocument/2006/relationships/notesSlide" Target="/ppt/notesSlides/notesSlide6.xml" Id="Rd05ce4c42a9a41a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9e5594b55674482" /><Relationship Type="http://schemas.openxmlformats.org/officeDocument/2006/relationships/notesSlide" Target="/ppt/notesSlides/notesSlide7.xml" Id="Rb19dcebb0aaf47f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a667d4d76244e0" /><Relationship Type="http://schemas.openxmlformats.org/officeDocument/2006/relationships/notesSlide" Target="/ppt/notesSlides/notesSlide8.xml" Id="Rdb867e7ad691431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d436f483a240f8" /><Relationship Type="http://schemas.openxmlformats.org/officeDocument/2006/relationships/notesSlide" Target="/ppt/notesSlides/notesSlide9.xml" Id="R77b958ba2f20454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bb59d60ca514c7b" /><Relationship Type="http://schemas.openxmlformats.org/officeDocument/2006/relationships/notesSlide" Target="/ppt/notesSlides/notesSlide10.xml" Id="Rd80a290e0f7944b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a7b3afd90448dc" /><Relationship Type="http://schemas.openxmlformats.org/officeDocument/2006/relationships/notesSlide" Target="/ppt/notesSlides/notesSlide11.xml" Id="R926664a7d5784d0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608821c7564438b" /><Relationship Type="http://schemas.openxmlformats.org/officeDocument/2006/relationships/notesSlide" Target="/ppt/notesSlides/notesSlide12.xml" Id="R230a4b9f05924b9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3e87e031101434f" /><Relationship Type="http://schemas.openxmlformats.org/officeDocument/2006/relationships/notesSlide" Target="/ppt/notesSlides/notesSlide13.xml" Id="R97718a277e284a4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048298e4cc491e" /><Relationship Type="http://schemas.openxmlformats.org/officeDocument/2006/relationships/notesSlide" Target="/ppt/notesSlides/notesSlide14.xml" Id="R6ef29fd095db41a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58252edb3db40de" /><Relationship Type="http://schemas.openxmlformats.org/officeDocument/2006/relationships/notesSlide" Target="/ppt/notesSlides/notesSlide15.xml" Id="R935c4212dd49412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2528F8-F165-47F4-BDB0-11958B6B0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67DEBA-A331-4C90-9575-F0B26E437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899C5E-CEC3-499C-8601-1E1AD4A32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64445FA4-8FAE-45C4-AB15-22224C8C6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90FA483F-DA4B-480F-A735-A8A9308BA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02 / INSTRUCTOR PROJECTION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F8F89F-E714-47DB-AD0D-3FB78BE18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72390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Industrial Buyer Reality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A6A792-1CD3-4332-9DC0-BAE42F89D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7048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Industrial Demand Generation / Live workshop projection system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5E0A1B-EC63-4C4C-A108-14C2DC10C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E9"/>
          </a:solidFill>
          <a:ln xmlns:a="http://schemas.openxmlformats.org/drawingml/2006/main" w="9525">
            <a:solidFill>
              <a:srgbClr val="DCE8E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806671-61E7-4037-A676-D294EEC33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95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20 min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9F08DB-42AC-4FD0-B690-21333B8B2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333750"/>
            <a:ext cx="1295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F0DFD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5D92E9-3D8A-48D3-9DBA-27EDECC0E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381375"/>
            <a:ext cx="1104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A85D2A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A85D2A"/>
                </a:solidFill>
                <a:latin typeface="Aptos"/>
                <a:ea typeface="Aptos"/>
                <a:cs typeface="Aptos"/>
              </a:rPr>
              <a:t>Instructor-led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37D4BB-52C8-4C86-8B07-8A8348D3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333750"/>
            <a:ext cx="1219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D8"/>
          </a:solidFill>
          <a:ln xmlns:a="http://schemas.openxmlformats.org/drawingml/2006/main" w="9525">
            <a:solidFill>
              <a:srgbClr val="E4E9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9CB521-B734-48E1-BB60-B1058A68A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381375"/>
            <a:ext cx="10287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667A39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667A39"/>
                </a:solidFill>
                <a:latin typeface="Aptos"/>
                <a:ea typeface="Aptos"/>
                <a:cs typeface="Aptos"/>
              </a:rPr>
              <a:t>Artifact-first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845110-3B0D-4946-8D2E-FD9C15F4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895350"/>
            <a:ext cx="3333750" cy="434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6F8664-4458-4177-A972-8887BBCD7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2763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75D1F2-2B55-4EC7-A5B4-D2F3314DF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2001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OUTPUT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683C53-279F-4B78-A9E0-818E73771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2724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Buyer reality and committee map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C6B983-ECFA-4ECB-944F-D861A4A21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647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F726EF-B780-47AF-A6E2-0AF14C3B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571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WORKSHOP RULE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26AE6C-1126-4277-96A0-CDDB62E3B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876550"/>
            <a:ext cx="2609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Teach the operating decision, run the diagnostic, then force a usable artifact. The slide is a prompt, not the handout.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A405A1-BEA5-4BED-A79F-19245146B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1529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E54D80-57FC-4FA7-8581-27FA3F13C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767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 COMMIT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B10ED8-ABDF-4D46-859D-E9620B162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38150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9e28222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E7ABD8-9E5E-4E3C-9B04-67A0C376C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21B6A-113D-4BF4-8BEA-151DB8827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60412A-95EF-4335-A216-F06705665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252E49-FB1D-4DF5-A056-4DC6F55B1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1/15</a:t>
            </a:r>
          </a:p>
        </p:txBody>
      </p:sp>
    </p:spTree>
    <p:extLst>
      <p:ext uri="{BB962C8B-B14F-4D97-AF65-F5344CB8AC3E}">
        <p14:creationId xmlns:p14="http://schemas.microsoft.com/office/powerpoint/2010/main" val="10507685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27BB541-10AD-4EF9-8D86-627B91803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9D11CA-7775-4036-ADAB-480569EFE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A4A5A1-5893-40D0-9302-DC9C222B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6774FC5D-0849-44D7-8C38-9EE829607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47EC3518-1572-4C1E-8B23-7A52D6AAF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02 / LESSON PROMISE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6A6456-81FC-4A65-A40C-4B5FE1C03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The promise is an operating capability, not a concept label.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787CF7-C13F-4430-8F9A-CF6BE0E1F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this slide to set the standard for the artifact learners must produce.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AB754B-2C56-4E32-811B-0145BC9EF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CF47C5-E0A6-496D-BF77-0028E4C97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2DF173-9072-461D-8BBA-4FB4379D6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A20261-357E-476D-86BD-9DF6CD611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2/15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591404-2CF1-4EB4-B8A1-A1A8E5530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619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87F91E-984F-4FDB-9B8B-336F17D40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24100"/>
            <a:ext cx="5619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Map the real industrial buying committee, identify what each role needs to believe, and define the proof assets needed to move the account.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C031E5-4EA5-40E0-B596-C53BD2DD7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76650"/>
            <a:ext cx="533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B8A5B4-C249-4326-905B-D359BFA27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05250"/>
            <a:ext cx="533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A committee map with concerns, blockers, proof needs, enablement assets, and owners.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174F6A-9A56-4856-90B7-E49A5799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038350"/>
            <a:ext cx="4248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0AEA75-85F0-42BF-B126-A1F703B4A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4003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525C1B-ABDA-411F-9891-FC194963C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24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INSTRUCTOR STANCE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AE8C66-0032-43E5-B94C-B408EF12E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7527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7C2222-2E11-4B56-A30B-D0C31C1C4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686050"/>
            <a:ext cx="3124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Ask for evidence before opinion.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947E6C-C171-4937-8DC7-F45E8A6C7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1527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86AB0A-F0A2-4896-B572-27CFC6570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086100"/>
            <a:ext cx="3124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Use the workbook for capture.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B43DC2-1B65-4978-9294-A9E3B417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5528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F80DAB-94C0-4195-AFB2-39F5FE56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486150"/>
            <a:ext cx="3124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Keep AI useful but subordinate to human correction.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C57D5E-4AFB-494F-B213-9D053B9CE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9528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18E3EF-B68E-418F-BBC7-F623401B2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886200"/>
            <a:ext cx="3124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Do not accept generic SaaS or lead-gen answers.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4A6E52-2CC9-4965-AD1A-37CAA6186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960975-237C-4310-AD5A-00D4CEBE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1CD6A7-9A82-4206-8BF1-0B4E83B56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2C0DE2-3621-448D-A2F7-0BFD2DD47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2/15</a:t>
            </a:r>
          </a:p>
        </p:txBody>
      </p:sp>
    </p:spTree>
    <p:extLst>
      <p:ext uri="{BB962C8B-B14F-4D97-AF65-F5344CB8AC3E}">
        <p14:creationId xmlns:p14="http://schemas.microsoft.com/office/powerpoint/2010/main" val="83123228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755484-1E0E-4112-B890-8A044309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686371-B5FE-439C-BC9E-50E538D05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56C5CD-4171-44DB-BE96-283CC54A8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0C8963CE-64A4-44D4-9FE6-4012EAB7F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05439AD7-7153-4820-8DD7-9747F11D0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02 / WHY IT MATTERS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B5DF92-8F49-490B-8479-69199693C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Industrial GTM punishes shallow assumptions.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9B7BEF-BF55-4816-93E0-E5982EB5E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The instructor should tie every point back to long-cycle risk, committee proof, and trusted circulation.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13D2FA-C1D4-4E7E-A521-7271DEDA8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75064B-6452-4326-BC65-369910403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D281E1-2920-45EB-90FE-6EDE44873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805E1B-ABFF-49E4-8E77-373D74147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3/15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7CC971-84BD-4FDD-B6F3-B7CD1BB9C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514350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A050D3-DEE2-4087-9372-56A4C9D34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812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FB2B36-66A9-4728-AA71-87174F1F9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INDUSTRIAL REALITY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F966EE-9F12-4C1E-95F5-6763D4924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527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0D2C4F-26A2-4AFF-A46C-A80936DE2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4171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Industrial buyers rarely buy alone.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39E250-8C65-4831-9487-75B4BF63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289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6CF1BF-CA84-4552-BAEB-2A3D65490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62300"/>
            <a:ext cx="4171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The visible contact may like the solution while quality, finance, procurement, maintenance, or leadership...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DF9E8A-994E-4A4A-A1B2-767EF4F9B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052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5B1C01-7A4D-456A-B18B-925A7D32D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38550"/>
            <a:ext cx="4171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Most deal stalls are missing internal proof, not missing follow-up.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DC7DC7-DED2-4AAF-8342-B668E9180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814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FE5B9F-D5AF-4F31-9DD5-B60C36404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14800"/>
            <a:ext cx="4171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Buyer enablement matters because the champion sells internally when the supplier is absent.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A659C7-9A79-4EC3-B74A-604C00FB0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19300"/>
            <a:ext cx="533400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7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D7CF0A-5C67-4FC1-B3CE-45B3473D2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812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02A223-2B17-4968-99F9-6EC15DA9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050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INSTRUCTOR CORRECTION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A79423-E379-4E51-B4BB-293DE5FB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241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D340E5-8B3A-42F6-9558-AC39A148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527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35CEE4-B861-4310-BD83-8B0CF1F5A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714625"/>
            <a:ext cx="4019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Move from activity to account movement.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162A65-59E2-4B34-B54C-19BA1AC00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623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8FA83A0-40DC-4B68-8CF9-EB18C1676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908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0A25B6-E25B-43AB-B00E-7BAB7D8FE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152775"/>
            <a:ext cx="4019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Move from one persona to committee risk.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E2D099-F3D1-41C2-9603-4178B5555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004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50C173A-54C8-43E0-8547-3FACAAED1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290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8E1F535-FFD8-4477-AED1-87001153F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590925"/>
            <a:ext cx="4019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Move from content volume to buyer uncertainty.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84F121A-4BCD-4937-B6D1-A49EBCEA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386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4023E19-ACDD-4CCC-B867-055CC1B88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671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5CF069B-09EE-40A9-97FC-0F9637733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29075"/>
            <a:ext cx="4019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Move from engagement scoring to signal interpretation.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29E5860-2EF8-48C5-A0B7-FFF0C4FED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767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3EA2F4E-21CA-4116-9326-E817727B9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053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01D379F-73F0-48B9-B13F-2A0DA4EB9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467225"/>
            <a:ext cx="4019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Move from reporting to weekly operating decisions.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C9A2FA5-0196-4D66-9B9F-908D36468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83BEEC6-3789-4FEC-A7D6-8A927B75B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AD8B769-B4B6-45BD-B291-130F5682C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6C0E4B2-30DE-494E-B0EB-F07FDCF36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3/15</a:t>
            </a:r>
          </a:p>
        </p:txBody>
      </p:sp>
    </p:spTree>
    <p:extLst>
      <p:ext uri="{BB962C8B-B14F-4D97-AF65-F5344CB8AC3E}">
        <p14:creationId xmlns:p14="http://schemas.microsoft.com/office/powerpoint/2010/main" val="102068046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71A1BD-4418-455B-9028-23EE54769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C335DC-985F-4C07-AAED-352C050CD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268B41-F9DD-4753-883C-D4DA3E73E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1A225C06-F28B-4CC6-945E-A690E86F5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930E3002-B284-4CC1-982F-A1F4CCB2D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02 / CORE FRAMEWORK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8148CC-4F98-41D7-92A0-68941104F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Buyer enablement asks what the account must believe.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CCFD26-F5B4-4BC4-A072-B47B34B40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the diagram as the visual anchor; the visible path is the teachable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E4F011-FDCE-43DB-9E47-83EB36B1B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A99791-4A22-40B7-8356-E12A05932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567E5E-ED3E-4F48-B131-86357D069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DEC608-6C91-4742-83FD-61DDF9E6E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4/15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8D5F65-BD9E-4F89-A0E0-46F16BE02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CD7962-81E9-4103-93D0-BFEDDB8AC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B4D78C-EF98-4EC1-8FAE-539980477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145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07F421-39E7-4DE2-9EDC-26A7E3EC9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NATIVE OPERATING DIAGRAM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5D865B-A591-4F39-BC48-CF19A206A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8605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6FE64E-CEF5-4C98-B146-EE280D440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8605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DF8615-24C4-4CEF-A8E1-B15A681E1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61C7DB-F472-4DB6-A988-0A54FB6C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38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Visible champion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C9535C-A758-426A-9CF7-9D6F25638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4325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BB6F89-521B-44A8-93D4-0054A8999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68605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69E43F-16E4-49A8-B0C9-912190DE4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68605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074159-6EA1-44E0-A8AD-60F8AC1C2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85750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A85D2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5D2A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F31FB6-C690-4BB7-A6EB-B51830E22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38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Decision maker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0BBB40-17D3-405F-830B-A0523E087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14325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C57181-E475-42C9-8FB6-4CD732983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8605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C02EAE-B8C9-4ABC-83D4-495853B61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8605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E74F66-A13C-4339-8748-AF805074B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5750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67A3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A39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42BB54-AE43-47E8-A66E-25415D2D7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38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Technical evaluator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AA5D2A-2C15-4ADD-BA53-332BACB32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14325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AEBCE56-D384-4207-BB19-E73B920F8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8605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BA6923D-7E71-4CC2-8D31-C126B142C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8605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51A524F-5B78-4075-8E1D-879041DB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85750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7953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7953B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82C9A6A-FF49-4948-A708-F0499100B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838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Production or operations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89D2D66-6D32-4E51-B8A6-7D05F83EA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7670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BA3AC5D-D76F-492F-A38E-ADC819325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7670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C1962F7-A506-4A52-84EC-6355F7F2D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7605559-A640-4B07-B68B-77D21845E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2910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Quality, validation, or compliance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7B98FDC-22C7-41E0-9A81-EE3BBBF1B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53390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A9B83BC-83D6-487A-A80D-82A47971C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07670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2D49343-7DC8-4179-8976-CA209E91B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07670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F8DE23E-9CE3-4A50-8C3D-DAE793887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2481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A85D2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5D2A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0AB7E48-4F10-4FA4-96B0-279B6F20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2910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Maintenance and service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59218E4-A2CE-423D-8C3A-B83876E81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53390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9875884-A608-4C9E-A1EE-1CF971053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7670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FC1D94E-324D-4AF2-9DBC-C222CA312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7670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E3E84A9-2F21-4728-BC73-90226385D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2481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67A3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A39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B4FAABE-145D-4694-AA30-DC210363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2910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Procurement, finance, leadership, consultants,...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3DA9265-6E9E-4D57-842E-13A92A1E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72150"/>
            <a:ext cx="11430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B70F1C5-E3ED-4261-8BEC-217BA614A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76925"/>
            <a:ext cx="1104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6E3E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D6E3E5"/>
                </a:solidFill>
                <a:latin typeface="Aptos"/>
                <a:ea typeface="Aptos"/>
                <a:cs typeface="Aptos"/>
              </a:rPr>
              <a:t>Flowchart companion: assets/flowcharts/03-industrial-buyer-committee-map.svg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094D844-33B2-4620-892C-9A29F6678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74390F4-B16A-417B-9785-A47FE44ED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902A7C1-ED89-4EB4-A686-A4176E24D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F93E373-C5E1-4A98-B5BD-6D9A949A3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4/15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7D60611-A2C6-4412-B931-8219BC785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B5380D4-FF09-4529-BDC5-CD6047A06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2372635-02ED-4884-9694-6A2F7C9C7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D110CD8C-4CAD-492D-8FE6-FA31923F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988FF8D3-3594-4D31-8D12-053F58572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02 / CORE FRAMEWORK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EAD93E6-BE7C-42A7-A2B7-C620179C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Buyer enablement asks what the account must believe.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88B7E2E-46CD-4B0C-8AEC-AE2085ED6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the diagram as the visual anchor; the visible path is the teachable sequence.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115750E-B2F8-4411-8544-0C26F5137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C47B332-7562-448E-9550-0ABFDAB64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DBDFDD1-832C-472E-9E78-2DC2B5A82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19B9F9C-62C3-45A5-8FBF-EBF102C09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3C9648D-4616-4125-9FED-D999D394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983ED43-D510-4DD2-8FB0-9BDFFFCF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92EEA3F-B97E-41DD-B325-44A9DA2BA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4/15</a:t>
            </a:r>
          </a:p>
        </p:txBody>
      </p:sp>
    </p:spTree>
    <p:extLst>
      <p:ext uri="{BB962C8B-B14F-4D97-AF65-F5344CB8AC3E}">
        <p14:creationId xmlns:p14="http://schemas.microsoft.com/office/powerpoint/2010/main" val="195104510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3D7C09B-9E44-4146-B7DD-3455C26EB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03655C-29B5-4EF1-91D6-AB390398D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72575B-CDD9-4455-B05E-EE736A61E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918A1424-B202-4DD9-9941-B8E40B734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A13E3F44-9D98-45A2-AAC8-BAAD08CFB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02 / MENTAL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8140E6-F50C-4C8F-89E1-DB6611312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Sales enablement and buyer enablement are different jobs.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99E602-98AB-4369-8734-3892D1021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Keep this slide conversational: make learners say what would change in their current system.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EC47AC-E526-4F36-94AE-F82EB36BB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3300E3-8558-4391-89A1-740123A7F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6CD5C6-60B7-4A46-B6DC-628182EF8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97B313-BC23-4638-B934-F9334F53D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5/15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1EC6E3-4835-4281-AF34-E5FD7B43A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66950"/>
            <a:ext cx="2557463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6F5F73-D821-491D-B177-63F10E7AA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66950"/>
            <a:ext cx="2557463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6E8DDF-FF4A-48BB-9553-30567636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2138363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6072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D6072"/>
                </a:solidFill>
                <a:latin typeface="Aptos Display"/>
                <a:ea typeface="Aptos Display"/>
                <a:cs typeface="Aptos Display"/>
              </a:rPr>
              <a:t>Seller focus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E4B085-32E8-48A8-A508-BA3CCEF1C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2138363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What should sales say in the meeting?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929AE0-4FA4-46E2-8639-ABE905DA5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413" y="2266950"/>
            <a:ext cx="2557463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57ECA8-43FD-43F5-87C9-50896617D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413" y="2266950"/>
            <a:ext cx="2557463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F25A24-426F-4DFB-A7D7-75BF6E0A8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9963" y="2590800"/>
            <a:ext cx="2138363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A85D2A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A85D2A"/>
                </a:solidFill>
                <a:latin typeface="Aptos Display"/>
                <a:ea typeface="Aptos Display"/>
                <a:cs typeface="Aptos Display"/>
              </a:rPr>
              <a:t>Buyer focus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9E85E9-16B5-42DE-96F2-6A271946E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9963" y="3257550"/>
            <a:ext cx="2138363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What must the champion repeat internally?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8B828A-81F4-434B-A645-269EF38C5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266950"/>
            <a:ext cx="2557463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EC94B4-B1BA-4E57-B1D5-4608429D3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266950"/>
            <a:ext cx="2557463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A86467-30E8-4988-AE78-43E79ECF5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590800"/>
            <a:ext cx="2138363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67A3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67A39"/>
                </a:solidFill>
                <a:latin typeface="Aptos Display"/>
                <a:ea typeface="Aptos Display"/>
                <a:cs typeface="Aptos Display"/>
              </a:rPr>
              <a:t>Seller asset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7C8EFE-7DA0-4120-9488-1630B999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257550"/>
            <a:ext cx="2138363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A better pitch deck.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ABF5F8-0085-404E-AFE6-125CB352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2538" y="2266950"/>
            <a:ext cx="2557463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69A4E0-9D79-4AD8-941C-F4ECA2C0A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2538" y="2266950"/>
            <a:ext cx="2557463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33A922-EBA2-40B7-AC0A-359D63D27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2088" y="2590800"/>
            <a:ext cx="2138363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7953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B7953B"/>
                </a:solidFill>
                <a:latin typeface="Aptos Display"/>
                <a:ea typeface="Aptos Display"/>
                <a:cs typeface="Aptos Display"/>
              </a:rPr>
              <a:t>Buyer asset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B1D68C-EAF0-4358-A5FA-2342CC4DE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2088" y="3257550"/>
            <a:ext cx="2138363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Role-specific proof, risk reduction, and internal case logic.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0DCBCF-F1CD-41C1-BE09-D4A6B7A19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353050"/>
            <a:ext cx="26479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A1CC56-CC3C-4C72-911D-400FC968C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505450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AFC3C8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AFC3C8"/>
                </a:solidFill>
                <a:latin typeface="Aptos"/>
                <a:ea typeface="Aptos"/>
                <a:cs typeface="Aptos"/>
              </a:rPr>
              <a:t>INSTRUCTOR CUE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6FF8DE-F400-49A1-A683-D9BD3D065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67690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Ask: which box is weakest in your current category?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6658065-55E3-4AC7-9D37-63CA01426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89BDF78-5A73-4F35-8461-06590F387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E722D98-C7D6-4CB7-B915-403113881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0787CCD-5C31-4E4A-B0BF-91B81E89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5/15</a:t>
            </a:r>
          </a:p>
        </p:txBody>
      </p:sp>
    </p:spTree>
    <p:extLst>
      <p:ext uri="{BB962C8B-B14F-4D97-AF65-F5344CB8AC3E}">
        <p14:creationId xmlns:p14="http://schemas.microsoft.com/office/powerpoint/2010/main" val="118299215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5918CD-57BD-4CAA-BDA9-38064B7F5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7F9A04-56B2-46D1-8614-0709C5FCD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5594AB-2527-439B-B8EA-907CE7BAE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3E52FB52-01AD-43C8-8399-71AE6A194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B27ADE39-E44B-4691-82CB-25EB40FD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02 / COMPOSITE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E43F53-AAD6-411E-8E14-370B230F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Composite regulated packaging machinery supplier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0C3437-4329-4F85-B8BD-B9996D39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as an anonymized industrial pattern, not a named-company case study.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D31D39-DAF7-4ABD-968D-EBBF7F7C0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6DBE32-5BE1-433D-B0C4-8A98802C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98A296-56BB-41BD-993D-FF3906C1F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EFE5E1-CAD5-4F0D-A445-9711C84C0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6/15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0CC092-274A-4BFD-B0FC-30FB90FE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B0FCB5-C70D-4D78-B6FC-4EE36044D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B740BD-2FE8-4DE4-B377-FE1DA3A94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8E27B4-DC29-4E95-95B6-8355FF33A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PATTERN AND REPAIR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2F924A-78B3-479B-898A-C909A745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E682E6-BA69-463A-93F5-1E6606678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10115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A production head at a pharma packaging plant wants line efficiency and faster changeover.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782C4F-66EE-410F-A691-5D9CBAC2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C54928-1427-4FEC-ADEA-D7A357ADE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10115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Sales sends a proposal and follows up. The deal stalls.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4266A7-DE12-4364-A92B-897F21073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95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D795AD-DB94-4D20-BEF3-E8B9BCE4C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52850"/>
            <a:ext cx="10115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Hidden concerns remain across quality, engineering, finance, procurement, and leadership.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EBF26E-FF3B-4EC8-8575-DD295FD7D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719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94AF7A-B23A-4031-9BAB-9A4266966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05300"/>
            <a:ext cx="10115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The repair is validation proof, implementation roadmap, lifecycle cost logic, vendor comparison, and cost-of-delay case.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C83C42-A8DC-4F5C-B412-99C659CCF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C2E8A1-1A7F-46F6-8756-16553155E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BC8CDA-4A6C-459D-B74F-089877AEC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2BD8F13-6439-45A1-A831-B3E14903D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6/15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17362D-26DA-4BA9-9CEC-2F3AB4FF5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64A5D60-1083-49D6-8322-475FFC06F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8277DB-FCC4-44F1-BB4B-9EF206956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BDAE5436-6E2A-4823-98A1-B147F5118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3643889B-5FC6-4ECA-AF1B-014EAEA11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02 / COMPOSITE EXAMPLE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5D8690-75E6-441A-9119-EB2CBFABC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Composite regulated packaging machinery supplier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0D71DC2-18D1-4FAA-8CC3-FC84F7A77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as an anonymized industrial pattern, not a named-company case study.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385B976-3949-439C-82DB-5C8BEFBB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13F7888-6AFD-41BA-9D48-F5BDEF765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735AE2D-0612-4379-AAC4-825B7D487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5C1E3E3-B0AD-4DC7-9652-BCD1D10D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51AE64C-F8C9-4506-ACAE-B46659A33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E84653B-2089-4A4F-B62A-C65BAA4D7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E14C7F2-3304-4C18-8BF6-9D534F743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6/15</a:t>
            </a:r>
          </a:p>
        </p:txBody>
      </p:sp>
    </p:spTree>
    <p:extLst>
      <p:ext uri="{BB962C8B-B14F-4D97-AF65-F5344CB8AC3E}">
        <p14:creationId xmlns:p14="http://schemas.microsoft.com/office/powerpoint/2010/main" val="46368801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D93913-0860-4367-B3ED-AD50C5E3C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789EC1-1465-4617-B4FD-3DCBF3002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8D0789-EE09-44AE-A78B-67BC5295F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16167FD2-C9B1-409E-BAE8-E5DA04497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53878D58-DEBD-40C9-81BD-962430FE9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02 / DIAGNOSTIC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1D4667-D73C-44E9-852C-5B2768C21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Run the room on one hard operating question.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2E7ACE-785D-4050-9535-784E6305C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This slide is the short live diagnostic before the exercise.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011C56-270D-4706-9605-732F02232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E22C57-79ED-4E98-9A18-0C0E4DDB7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14BD31-55EF-4489-9862-E645E4981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2908AB-E19F-43C3-9C88-8D050A0AD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7/15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2DB2FC-9956-4126-A530-DC73CB11D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62150"/>
            <a:ext cx="109156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04BE89-22BF-44B2-BEE3-99CBFF3CA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0"/>
            <a:ext cx="10058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Who must believe what before this account can move?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27E8DB-1291-4B55-9045-372DCB3F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147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3AF6AF-0E04-4F7B-A8C2-DB7129EAC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385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PROMPT STACK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6DBBF0-02C0-4CF0-9429-F80671E8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052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3DC2DA-1E05-407F-8E9B-39BB89BD5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38600"/>
            <a:ext cx="4210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Who is the visible champion?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EEA82A-2BAA-40AD-BC9F-713F0FD80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005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C1950A-FF8F-4BD6-8D82-232F434DD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33900"/>
            <a:ext cx="4210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Which roles can block the decision?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DC1175-E8B7-45A6-8479-46F8AE49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958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64B221-24DD-43DF-B229-643B1FB50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29200"/>
            <a:ext cx="4210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Which roles are invisible today?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3E0CD2-F06B-4388-B547-E182170A8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052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CC051E-B0E9-4765-B25B-4B7041E2C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38600"/>
            <a:ext cx="4210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What does each role fear?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BBC6A8-CC8A-433D-B346-C45A8832F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005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F37F63-E2FC-4522-84A9-986C90184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533900"/>
            <a:ext cx="4210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What proof can the champion circulate internally?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2E7D3F-A76D-4480-A83F-0A1BC1492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958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C9A564-EDB0-4810-AC82-D44A1EA72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029200"/>
            <a:ext cx="4210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What committee coverage should RevOps inspect?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3C46AD-B1AB-4565-8361-160D26D34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DA5A64-F331-4838-AC53-9C9049FB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5E49D94-910B-40B1-85B4-23FCFBC8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C149583-648F-490D-976B-D92E47077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7/15</a:t>
            </a:r>
          </a:p>
        </p:txBody>
      </p:sp>
    </p:spTree>
    <p:extLst>
      <p:ext uri="{BB962C8B-B14F-4D97-AF65-F5344CB8AC3E}">
        <p14:creationId xmlns:p14="http://schemas.microsoft.com/office/powerpoint/2010/main" val="31442166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A9ED96-DF91-4CB2-9E76-2F9A6FC54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85284F-7B95-4364-A6DE-1013D4AD7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A036DF-FD7C-48DE-89AC-E2546FB3C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E2351BC2-F0CC-4C99-9F00-63427B765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04E9EEC0-69D2-4BF7-B881-5D944FD40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02 / EXERCISE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54AE26-6069-4830-BD27-E9489DF7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Buying committee map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E72872-7535-45D7-BFD1-F406F13E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The exercise produces a working artifact, not class discussion notes.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F8F654-BBC8-423A-A758-86DAA35D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BA82F5-1A6A-4CC0-8BEC-61BCAD4E1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F891B7-4269-44B1-8C21-6AFBD33F4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154057-17DE-4461-9C5C-CEF77A68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8/15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50C034-CAC2-4B4C-9EEC-7E718069C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31432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FF7ECF-2509-454A-AD08-3DE4F121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84C377-F2AA-46C9-AC4C-DF1E8115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431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TIMEBOX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1D46C4-0291-4523-A42B-93C66356D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05100"/>
            <a:ext cx="2266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6 min map, 4 min proof-gap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D89CC5-15CF-4FD6-9ADB-6F73853C9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338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3AC03A-65BB-4DB6-B802-D4F1CDB77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576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E536B6-AAF1-49EE-B56E-19B215BF7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Buyer reality and committee map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854A8D-5A55-4E9C-BC21-F73F617B5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38350"/>
            <a:ext cx="73342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7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3503B8-783C-4137-96A7-D480148D5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193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A4E6EB-6ECB-4369-8AB6-FEA9D7240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431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LEARNER ACTIONS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29CE9C-EE90-4B4A-8BB4-58A4B6366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813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D8"/>
          </a:solidFill>
          <a:ln xmlns:a="http://schemas.openxmlformats.org/drawingml/2006/main" w="9525">
            <a:solidFill>
              <a:srgbClr val="667A3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B53FC6-BFE4-4B7E-A7D8-B8B3EA5F9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098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A41226-89C0-455A-87B8-E54785F6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771775"/>
            <a:ext cx="56959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List at least five roles for the selected category.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27136F-EAED-46B2-8BED-4D2EC89D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290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D8"/>
          </a:solidFill>
          <a:ln xmlns:a="http://schemas.openxmlformats.org/drawingml/2006/main" w="9525">
            <a:solidFill>
              <a:srgbClr val="667A3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31E908-F34E-4EF3-B191-F9F54D682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575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364494-D478-4EA1-B63A-358AB747D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419475"/>
            <a:ext cx="56959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For each role, write current belief, required belief, proof needed, asset, and owner.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58F296-7A4F-486F-82AC-DF027C3C4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767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D8"/>
          </a:solidFill>
          <a:ln xmlns:a="http://schemas.openxmlformats.org/drawingml/2006/main" w="9525">
            <a:solidFill>
              <a:srgbClr val="667A3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2FE1E0-277D-4408-A9DC-FC1986299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1052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7A2FE91-0FAD-4868-B3BD-274245C68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067175"/>
            <a:ext cx="56959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Mark which roles are mapped, engaged, enabled, missing, or blockers.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41ECD00-6283-4F6E-9CAF-23F0ABC4A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00E54E8-EEAB-40F0-8A53-C019F34D7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45273C-34C8-4543-818A-81260A4FE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9836CBB-87C1-455D-A5E7-4EF2D4872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8/15</a:t>
            </a:r>
          </a:p>
        </p:txBody>
      </p:sp>
    </p:spTree>
    <p:extLst>
      <p:ext uri="{BB962C8B-B14F-4D97-AF65-F5344CB8AC3E}">
        <p14:creationId xmlns:p14="http://schemas.microsoft.com/office/powerpoint/2010/main" val="85220978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241D847-6325-482D-944F-0B2C578F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9A785D-E956-4E59-B9D1-B676B6DF8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9F8D15-8B88-41BC-A3C3-E3C56CE13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EA2707ED-76B3-4D45-A932-A3AE87B38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F9C85165-80C0-427E-9681-3F54ED4FD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02 / GROUP CRITIQUE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247C13-51DD-40CE-ACE8-068C26E0B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Critique the operating decision, not the writing style.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AA6726-498A-4C5C-AEB2-EF69976D5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Peers should find one false assumption, missing proof need, or unclear owner.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072BAD-C09E-4B92-8182-DAE7E41C0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EB7C8B-8E12-4541-962C-B97FA1408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9266EC-F52F-413A-BE7A-FBB7F5AC1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560255-EFCD-4D2C-8502-5F4FE7F9F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9/15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AE2C09-6439-42EF-93DD-E4FDE6903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13A48F-77E7-4625-8FF1-AFD57E954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1EE60A-3338-40AA-ACF4-C390E3D5F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DD7807-2CE9-4718-84C3-1ED8D6D25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TEST THE ARTIFACT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0FA68E-67FE-4A39-8F9D-A6349B1A4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E9"/>
          </a:solidFill>
          <a:ln xmlns:a="http://schemas.openxmlformats.org/drawingml/2006/main" w="9525">
            <a:solidFill>
              <a:srgbClr val="1D607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EC4ECF-869A-48F1-8913-A786508F4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17FF00-EA17-4AC2-81C8-E8718092D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38425"/>
            <a:ext cx="436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Does the map separate roles instead of compressing them into one persona?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4B8E1E-0518-44C2-A6CF-27A365B4D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E9"/>
          </a:solidFill>
          <a:ln xmlns:a="http://schemas.openxmlformats.org/drawingml/2006/main" w="9525">
            <a:solidFill>
              <a:srgbClr val="1D607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E07FD1-5D63-4614-9208-19B79C50C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DD7435-7819-4B1C-8FBB-CFDE5E19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28975"/>
            <a:ext cx="436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Does it include blockers, not only supporters?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CA514D-0C34-4F77-B9A5-1A0340313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E9"/>
          </a:solidFill>
          <a:ln xmlns:a="http://schemas.openxmlformats.org/drawingml/2006/main" w="9525">
            <a:solidFill>
              <a:srgbClr val="1D607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0D9EF6-CE7E-4E89-9E56-93A90FEC1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E638C9-BAAA-4B19-B8DA-696B99AEB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819525"/>
            <a:ext cx="436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Does each critical role have a circulatable proof asset?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775D01-B7C2-4E42-B9D3-4594C2ED5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412982-7679-41EE-995F-A8FB02ED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FORCE THE REPAIR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964465-F67A-4087-A95F-AA2BBB617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D3C3B54-D743-4EC8-B998-5C7010926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765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82483C-338D-4C97-A0FB-25855C954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638425"/>
            <a:ext cx="436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Does it include procurement and finance before late-stage negotiation?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BD20AD6-32D2-4D1A-A934-BF54E348F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385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850523A-7B97-4296-BC31-4B303E171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670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E1652C0-D573-48EC-A51E-F0B546B94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228975"/>
            <a:ext cx="436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Does it account for consultants, distributors, or project advisors where relevant?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6AAD03B-52B2-41CC-8AA3-C7DB0AE71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1B1AC1C-102C-46CD-B8F3-02DDAD7B1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1A2AF2D-B68D-4562-AB94-DAA52D54F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EC40AFC-394A-432F-9E53-C05CB74E0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9/15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C1BD9D5-D3A2-4D85-8DEE-63D909CB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D86DD23-8B19-4F12-978B-972F234B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C0A5502-8909-4CF7-90C1-B1A39FE41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105CE1E0-DCCF-4C42-9525-C03640BC8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55FBAB1D-0E3D-4979-9528-94881031F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02 / GROUP CRITIQUE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1D303CD-5A83-40B5-B453-085FFB761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Critique the operating decision, not the writing style.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5A427EB-F40E-408E-928F-596BD6865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Peers should find one false assumption, missing proof need, or unclear owner.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414CCF6-7077-4E55-BED6-74461CAFD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E371545-773F-46D3-A09B-7F2E6AD31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18B1D8F-0484-4455-AAA4-7ABE250C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70D3ACB-31C9-4D56-A8AA-954856FE2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425ABA1-0A1C-40A1-BD61-3CF9D8353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76588E9-006F-46D9-8BA5-644CC66F8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5764496-9284-4939-B3E0-1825C956B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9/15</a:t>
            </a:r>
          </a:p>
        </p:txBody>
      </p:sp>
    </p:spTree>
    <p:extLst>
      <p:ext uri="{BB962C8B-B14F-4D97-AF65-F5344CB8AC3E}">
        <p14:creationId xmlns:p14="http://schemas.microsoft.com/office/powerpoint/2010/main" val="38065290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7B79C31-7881-46D2-B96B-2E413F85D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C46934-97B4-4248-B7F6-4AF89E7F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0B9846-CD8E-459C-9777-FC141AD94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D7BB8E04-CA20-481F-814E-835550B2C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7C0BCA78-C7E7-4A0D-9731-64D4BC13D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02 / AI-ASSISTED EXERCISE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17D4B7-1AC2-4543-A4CE-4C8253E39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Use AI to structure the attempt, then make humans responsible for judgment.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07BBFB-F3C3-4983-A6DC-29ACAA85A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The prompt is constrained by source, assumptions, output standard, and human validation.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044C4E-8966-433E-B47F-C47A27B35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9156FE-BBD7-412B-AE6A-9A720C93A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3556DE-4899-4379-B335-68B1FF461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C0BC47-2FDB-431E-9E01-ED939B31B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10/15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5D2340-4AF0-4751-BC3C-C39BB42A7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9DDC39-0000-4039-BBC7-5D06B8CF8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60960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C2EF2A-64F7-43F6-9E46-8334E556D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4041F4-D65A-49AF-9CBF-82E406EC7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PROMPT TO GIVE AI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ABF419-6E2D-46D2-8B0F-A98529275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5048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For the selected industrial category, generate buying committee roles, role concerns, proof needs, likely blocker hypotheses, buyer-circulatable enablement assets, and unknowns that require sales or SME validation. Do not invent a named-company case.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6B8051-32B3-480A-B990-32F32EB30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809750"/>
            <a:ext cx="5867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D0F13B-4162-47B7-9E9E-47BB64BA8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E351AC-00ED-4092-8240-42924ECE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REQUIRED OUTPUT STANDARD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33CDC7-D1DB-496A-8F10-730A6FF98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146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B460EE-62CC-43C5-B5B7-2A228C5E6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647950"/>
            <a:ext cx="4210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Includes operational, technical, commercial, quality, finance, procurement, leadership, and ecosystem roles...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5A0A8C-F9DD-440E-A5CB-9066722F4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908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344702-C9FB-4D74-B28B-C79C77AF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124200"/>
            <a:ext cx="4210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States real decision risk, not generic persona pain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841B05-8844-46BF-853E-D73A0ADA2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671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E2B931-6C82-4576-94EE-001EEFE13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600450"/>
            <a:ext cx="4210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Names specific proof or evidence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DA2151-97F8-4766-A9C3-F47C5DF33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1433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1227F9-7031-40AC-AE4B-AD228412E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076700"/>
            <a:ext cx="4210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Separates fact, assumption, and unknown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306525-862A-4A29-A674-4C215B982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20D30DA-47BF-4EAD-9798-4FB2619FF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C7C010-4814-47AE-A9DD-8536AFED7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66EFCA8-63F8-4ED6-9EC0-F8C5B6E7F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10/15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3946269-A397-47B9-A6E5-34BDF2F7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2091A66-4DD4-4623-8659-74FE6C322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5FD0FB-75C7-4D91-9982-59351964B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58DB5E2B-B0BC-4768-8405-8B8FD1493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40C5C5DF-E4E9-4B6F-A157-BDE3E3E1E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02 / AI-ASSISTED EXERCISE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5C28F68-A782-4511-9694-1233B6908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Use AI to structure the attempt, then make humans responsible for judgment.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1856B6C-F1B1-4CD7-B4A6-5380985E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The prompt is constrained by source, assumptions, output standard, and human validation.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6AB0116-6F18-41F2-A850-4823ED23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5115A4E-6F00-4B30-9C96-244BF8667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551ED7E-5D27-44D5-B1D5-35BF0AE91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4A48FD4-6CAD-4DA5-8BF8-85113CC4E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151EC13-72D9-45EE-88C2-08EB71245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6D7263D-43F1-422F-B05A-79599F837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295F729-CCD7-4CE8-AD28-BDFAD8027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10/15</a:t>
            </a:r>
          </a:p>
        </p:txBody>
      </p:sp>
    </p:spTree>
    <p:extLst>
      <p:ext uri="{BB962C8B-B14F-4D97-AF65-F5344CB8AC3E}">
        <p14:creationId xmlns:p14="http://schemas.microsoft.com/office/powerpoint/2010/main" val="184029352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964826-0200-4FE4-B948-E26130F2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D69EC4-8C21-4988-8E4A-7C2A0A1D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16CA11-4D3C-4B6A-9B67-BAF794BEF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03A5BC1F-3633-4296-9692-5801C26BC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37BB6CD0-7550-492D-88EF-87C5B5096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02 / HUMAN CORRECTION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F353F1-CE71-4F1F-A3F2-2984C0624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AI can draft structure. Humans must repair industrial reality.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781A87-1BCE-4400-BF2B-65584B397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This slide gives the instructor a rejection standard.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9B1356-2D70-4F77-9028-5EA2DD70D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19993C-FD63-47C1-A63A-17A9DB4CC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B1543D-9CEE-4CE2-9D1F-1D0AC099E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A7744C-3EC1-4FE3-9D56-E9AFA046C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11/15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561EDD-F9EF-4994-ACD7-064FA3B05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1B3E44-1350-4CAB-976F-89220A1A9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767715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52FE4E-6ECC-41F0-A4AE-34425C87C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F27AAD-84A6-4D08-8A8B-91F8B998C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REJECT OR REPAIR WHEN AI OUTPUT...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08DF35-C756-4843-B504-1C800DC33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1CA098-9212-4037-979E-2102B10A5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592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Reject neat personas that do not match the category.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A0DA59-80FD-4A64-B0AE-E5E16DF08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56E55F-C38E-48C8-874B-0BBC814ED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592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Reject maps that ignore quality, maintenance, procurement, finance, or leadership.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6140A7-840F-49D6-BAB7-646C9C27A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290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0D0257-3D6B-495F-A2B4-D9BC8EBC0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62350"/>
            <a:ext cx="592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Reject generic concerns like cost without the underlying risk.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DDBBF2-3A56-44A0-A048-8E62E1B85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D83838-3A55-4B98-9F48-0DB610C81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19550"/>
            <a:ext cx="592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Reject sales decks when the buyer needs role-specific proof.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252C71-A24C-4412-B9FA-0BE2A2CA5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DC9C9E-9AF3-4A99-8A42-9497CB5CA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76750"/>
            <a:ext cx="592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Reject named-company examples presented as evidence.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F48E80-2902-4FF9-BD6A-2308274BB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809750"/>
            <a:ext cx="428625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7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C3B36F-31F2-45C9-8C94-880195D8B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2FEAE0E-8850-42A3-9F5E-04074965F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QUALITY CONTROL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3AF85F-2C9F-4BF4-940D-CC41F7485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479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The correction standard is not nicer wording. It is better industrial judgment: category specificity, proof, owner, field, SLA, cadence, and disqualification where needed.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230EEC-0A7D-49F1-B2F8-5683EB080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353050"/>
            <a:ext cx="26479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F7AC027-6B75-4EF1-A89C-26DFB780C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505450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AFC3C8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AFC3C8"/>
                </a:solidFill>
                <a:latin typeface="Aptos"/>
                <a:ea typeface="Aptos"/>
                <a:cs typeface="Aptos"/>
              </a:rPr>
              <a:t>INSTRUCTOR CUE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4ECEF22-89F8-4C65-BCC2-248724294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67690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Ask what the AI is guessing.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AFD47BD-C910-42DD-9FB4-8B6EE0289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A38DBD-A83F-44E4-8C88-94E616B19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8332D78-E52C-4D48-A0E5-44754823E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9B066C4-A75E-4DFD-9AC3-B934873D4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11/15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BC47456-6E1B-4742-83D2-6D023ECB0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7E79395-CD05-4AFB-8261-44797E75F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71EF2BD-68EE-48C9-A09C-F4DB37C5C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F1ABF871-6789-449D-9CC0-71B68AB01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37A6206F-FA1A-4B8E-8449-FFE4C489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02 / HUMAN CORRECTION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4C53493-AD98-46D0-862B-4716EE89A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AI can draft structure. Humans must repair industrial reality.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D2377FD-BEA2-481E-BFC6-214BA801E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This slide gives the instructor a rejection standard.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65FFEA7-203D-4F97-8E0F-70B1F2C52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C88EA5A-7504-427B-AFA9-0C3EDEAF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0C41368-04E8-4F8E-BBB8-3594228ED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FF77AB1-78F9-4BA6-A3B6-3DE24771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7597285-991E-4F2F-A218-483663187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2345E46-87CA-4969-A83F-50ACF07BE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E273B4A-81D5-484E-9A91-95A8910F9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11/15</a:t>
            </a:r>
          </a:p>
        </p:txBody>
      </p:sp>
    </p:spTree>
    <p:extLst>
      <p:ext uri="{BB962C8B-B14F-4D97-AF65-F5344CB8AC3E}">
        <p14:creationId xmlns:p14="http://schemas.microsoft.com/office/powerpoint/2010/main" val="4556773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B1439F9-8C07-4F3A-86E0-7C32B378B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50460C-BD97-4BB3-AAFF-7600C7E77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94788D-2B62-49F1-9D50-09C881E74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24D39F26-DAE7-465C-BC73-39A5F158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7AB3D748-9F1D-47AF-BAEF-7823F9792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02 / REVOPS TRANSLATION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97251B-AFEE-4540-A86A-65E935EB3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Committee coverage must be visible account by account.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06BE31-B537-4C31-9E95-94EFC1B73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Every artifact must become inspectable in a field, board, owner model, or cadence.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937BDE-6A42-4EA4-890C-C401B4417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5C2854-5819-46BE-BD6E-5EDBA2C56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9AD6C7-D15D-4FC1-A4B2-B2411D5BD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5E7FD4-1BF9-4238-816D-FC50EAE5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12/15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C09A7B-2347-4680-9838-9E5A0940A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A2E527-B87D-4CEE-A66B-F30622378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806BE3-F155-4875-A68B-4161D38CB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Known buying role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73816C-F71D-47D9-AD88-3A4EB0A01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6695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78CD32-0FF4-413A-893C-53ED24544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6695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AE8C47-490A-4C69-9DF3-4F6E5426E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3840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Role coverage status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61F720-DA5A-4A86-BE5A-552CC319D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26695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637E1B-0D16-43ED-9D04-0AD8561D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26695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E11D91-3675-4987-9141-ECCAF5D6C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43840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Proof asset shared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5C7ED1-15BD-400C-B4E7-06EE90B51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6230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233105-1964-4461-A3AF-7AA6C0BA5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6230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15524A-C628-4213-8703-FE0DF26A7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Committee gap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E9A3DE-4544-44AF-BDDC-63813F75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6230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5441C9-06AB-4D61-861F-DA03E8856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6230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E39627-41A9-4F38-9073-716DFAA5A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3375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Champion strength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89331B-A0A0-4DC9-803C-95BE12E5D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16230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5DA885-3F2C-4A77-B9C7-602519AE6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16230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A4CDBD-42B3-4A0B-8AD7-52A5F8565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33375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Blocker risk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B32599A-F958-4DF1-B567-34DA5026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5765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C13E580-F1EF-4217-96EC-41A849AB5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5765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1C87CC-A646-4E33-80A0-99A5C5532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2910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Next committee action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7F20F0-3474-4CB0-8DD9-B419617FA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353050"/>
            <a:ext cx="26479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FFDE88-FF3B-4F24-8959-B4B1D6386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505450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AFC3C8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AFC3C8"/>
                </a:solidFill>
                <a:latin typeface="Aptos"/>
                <a:ea typeface="Aptos"/>
                <a:cs typeface="Aptos"/>
              </a:rPr>
              <a:t>INSTRUCTOR CUE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8960403-0C1B-4AF6-A482-D774309B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67690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If it cannot be tracked, it is not operational yet.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ABEFC01-3689-4B76-8FE3-199E2338B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2B8AD6B-676B-41AC-B7D3-943EE0EB6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7DB36C5-ED2E-4E86-895B-604F6219C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7AD818A-1EA9-435C-8F87-91892B3AC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12/15</a:t>
            </a:r>
          </a:p>
        </p:txBody>
      </p:sp>
    </p:spTree>
    <p:extLst>
      <p:ext uri="{BB962C8B-B14F-4D97-AF65-F5344CB8AC3E}">
        <p14:creationId xmlns:p14="http://schemas.microsoft.com/office/powerpoint/2010/main" val="35759717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58D19E-78AF-4197-86AF-FE4E0C194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4D9829-C961-4DE2-8303-DF7B69E3F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8B836B-6B94-4104-A521-0645D414A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45D59097-9E58-4685-9CFE-09B1DD97F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4F5D649F-F9C4-43F4-8020-24999B233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02 / FAILURE MODES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B6B847-9F97-4D67-BAAE-A226B1652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Name the anti-pattern before it becomes field behavior.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7175C9-5A1C-4A9A-92DC-32BC57A9F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this slide to make weak work easier to reject in the moment.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07FE6A-EC95-4866-805E-6EA668F14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000A9B-0BF6-4A22-995F-9F5107773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D8BE13-EB11-4DEE-BB65-C32E486CA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19B21F-1C44-4880-8D3E-97CC1C1E0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13/15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65D822-B6C2-4682-B1A3-5943D0195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5A327A-69E0-4427-90A6-E41E61D12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5B359D-77C8-43F0-BC50-3B6EC7A3C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3694EE-18E7-4D49-AB48-6D0963FF1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9240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Failure mode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30BAF4-51A4-4F82-A68A-AB29F876F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924050"/>
            <a:ext cx="2762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it looks like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86777C-BCEB-453B-988E-B5BD32762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924050"/>
            <a:ext cx="285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Correction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561B79-8841-4195-94A4-90516012C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209800"/>
            <a:ext cx="1196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D6FAA2-685F-4385-9099-D923ED143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3812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One-person persona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E641C6-6ACD-49C7-82D5-C75C60AC7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3812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All content targets the decision maker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250F52-5986-4E05-967B-8D66E0316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3812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Map real roles and proof needs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44CACF-9FA5-4ACE-8476-8AAE348AD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933700"/>
            <a:ext cx="119634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ED7831-07A6-41BE-969A-E3EC76A80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933700"/>
            <a:ext cx="1196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169DDA-A585-4D00-BF54-064006DDD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105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Late procurement surprise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4D5A74-8CFE-465B-B76F-0095353C7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1051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Procurement appears only at quote stage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FE50E8-71AC-4CC5-B856-8C5600307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051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Create vendor comparison logic earlier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F4804E-2F9F-44CA-83CD-0D9BAA2A5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3657600"/>
            <a:ext cx="1196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FF1FDA-D4EC-401D-965A-1117BF51F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290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Technical proof gap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C263964-4DBA-4496-A59B-4F63712B1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8290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Interest stalls after demo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D5CF601-F8AF-42C9-9C69-13830859E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8290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Build application, validation, integration, or test proof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273E4A-941D-416D-A40F-A00EDD68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4381500"/>
            <a:ext cx="119634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7FB7D25-99E8-4D44-AFD7-BC0870966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4381500"/>
            <a:ext cx="1196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3CD257C-15D3-4F9F-9DF3-863DB9EFF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529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Champion unsupported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EB600A6-B80C-415E-B57A-2F4A4D47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5529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Main contact cannot sell internally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B82B062-4D8F-4FF3-B1AF-14957E3B2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5529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Give internal case and objection handler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8F00B23-515D-4DE3-A996-8B2A48819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ED4E734-C9E9-4CFE-A1C4-486143D6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BFA9F3E-0EC0-4C6A-8E2D-62DF1C656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59C816D-0248-4574-8DDB-862C14D02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13/15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65EF09D-07B6-4904-9454-AE928D9F3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C1D9355-8946-4765-BC72-9EF39AE14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3E75B2B-E39D-44CE-84A9-2E4D01B3D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BC8BD787-B1FD-4695-BBCE-BB17B53A7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2DF0225A-745B-43CA-A2D2-B29E83851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02 / FAILURE MODES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1204478-EE4C-4A2B-9A03-6C2DA56FB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Name the anti-pattern before it becomes field behavior.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55A2184-89B0-4167-8AA9-116AF3FB0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this slide to make weak work easier to reject in the moment.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FC06139-A959-4C52-B356-92E476415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FDC998D-DE41-4E12-8122-30E9A1665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079A14C-F24B-48AE-B2EE-68EB139FF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6EE5116-2115-415A-840F-A38CC33FE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3A28050-F01B-4AD0-9C26-194130FD3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A70128A-C213-4867-960B-3160D7609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66F132A-BE7F-4CE8-9E3C-37D63E0B5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13/15</a:t>
            </a:r>
          </a:p>
        </p:txBody>
      </p:sp>
    </p:spTree>
    <p:extLst>
      <p:ext uri="{BB962C8B-B14F-4D97-AF65-F5344CB8AC3E}">
        <p14:creationId xmlns:p14="http://schemas.microsoft.com/office/powerpoint/2010/main" val="1907945931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C0DB29-10B1-4D54-BE50-68B5812EB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0954CD-0937-4CE2-968F-1C12C28B2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5A7C11-9AEE-4739-BDDE-386BECEE1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930489AC-EC69-40D1-A021-85F407FD9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B2CBBB08-276F-4489-A5DB-8D4146F4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02 / FINAL ARTIFACT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5E058F-8DF4-4247-A55E-378AE5A7E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What learners must leave this lesson able to submit.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8E5F36-DF1F-44A3-A47B-B39AE9CD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Treat this as the exit gate before transitioning.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2E7F96-5146-426F-A0DB-E865B3E8B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0ACA76-CAAA-47D6-B32B-3C88993FC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A0B671-0D60-4C8F-B899-162737C7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431627-D5F9-4C7B-A57B-83D35629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14/15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3CD487-8C17-4547-9532-5110913FE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E14853-C7AC-4A0F-98D7-28CCA4D70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68199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230448-74EE-420B-96A9-0700B6C6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69AF97-87F4-4AE5-BB90-DF2023BCA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ARTIFACT CHECKLIST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180083-3435-41AD-8C98-D4E4D7A30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AF625C-4B1B-4777-BECF-4E422462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At least five committee roles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BE7609-4F62-4579-84BF-90FE7CA43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CC7031-BC99-4687-AB57-9665CC232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Current and required belief for each role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65B278-0718-431C-91D9-3DE499093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290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28B0E2-5979-4985-8CEB-5BF2622A3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623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One proof need per critical role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38F7FF-5DE2-4A74-A1A2-FC4B97B92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7146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6B6E31-268C-4517-9C84-EAD6543F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479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One enablement asset per blocker or missing role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9F8943-E20D-4A6E-B15C-7811C4FE5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1718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B6BBEC-A915-4F8B-9B6A-353F97C15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1051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Owner for each asset or delivery action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7F6CC2-A3E9-480C-956F-8C46DF8D4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6290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DF7C5B-FB8C-4BF3-A088-E6E26C79A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5623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Committee coverage gaps for RevOps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B54F63-1C08-4C65-8221-C62F335BD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809750"/>
            <a:ext cx="51435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22BA94-8362-4F34-95EC-2C8B6372F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431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511E26-811E-465C-9332-DFE2BE71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669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COMPLETION STANDARD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6526625-5402-424A-9308-6AB1CD4C3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81300"/>
            <a:ext cx="34290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artifact passes only if sales, marketing, RevOps, leadership, and an AI agent could inspect it and know what to do next.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18B1B7C-86E7-4FBC-865C-7A9AEDB75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705350"/>
            <a:ext cx="3238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6E3E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6E3E5"/>
                </a:solidFill>
                <a:latin typeface="Aptos"/>
                <a:ea typeface="Aptos"/>
                <a:cs typeface="Aptos"/>
              </a:rPr>
              <a:t>If it could be used unchanged by a generic SaaS company, it fails.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F8B30C-8881-4665-8591-D152D02F0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2E388AD-C132-4DEB-85AF-01B52BAE1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E5760A0-77DC-43EA-A4B8-A158760A5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88019AF-7FEB-4D3B-9171-4AD2EC988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14/15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305FBAE-3F81-41BA-B6FF-AC7D98185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D6F068B-D49A-481C-87AA-F088D80FF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A1570F8-2679-43F6-A598-3E88F0F08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3E80C6C8-16FB-41A1-BB36-B91DE03EF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3E0A801F-A88F-493B-A61A-BD3846C6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02 / FINAL ARTIFACT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202FDA4-468B-442F-9564-CABF42153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What learners must leave this lesson able to submit.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26310D3-BE68-4366-9347-C23E0CBC8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Treat this as the exit gate before transitioning.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A48503A-F502-4286-A9EA-D348E4112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D290CF8-7065-4197-823A-51E1DD78C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5F68399-328C-4453-8BAD-D185C2643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92A9C56-B3A1-413D-B5B1-65295CC9B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24163C9-5C1D-4BE6-9875-7CDCADDE1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FDCFD86-41BF-48E7-A21A-25EA39E2C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825403F-500A-4ADF-B6CA-63749266B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14/15</a:t>
            </a:r>
          </a:p>
        </p:txBody>
      </p:sp>
    </p:spTree>
    <p:extLst>
      <p:ext uri="{BB962C8B-B14F-4D97-AF65-F5344CB8AC3E}">
        <p14:creationId xmlns:p14="http://schemas.microsoft.com/office/powerpoint/2010/main" val="109853831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E775C1-9623-4AE2-BA1B-723F68945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00BA08-B651-4236-A17A-2D37DCEF9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106F44-F27A-4895-A435-2694A5152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557C5FA5-3DC2-489B-8C6A-55451D567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340943F9-D551-4F38-A441-57FBAC782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02 / TRANSITION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013677-A320-4467-A045-495DAFFB4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838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Carry forward: Buyer reality and committee map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C8228D-B68B-466D-BBE8-EE881147C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7239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DFD9C7-1A22-4D15-B460-4700382C4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2EBE9D-965E-4F78-853D-B02CEC9A9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4955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BRIDGE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394395-5489-4103-8337-B67DA8276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6096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0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The committee map exposes whose belief must change. The next lesson decides which accounts deserve that much operating effort.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F49193-91D9-468A-B0F6-574D8119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90750"/>
            <a:ext cx="32575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4771D0-9E9B-456A-A377-79F8CBE5F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5717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EEF4F1-9233-4823-B73C-8639A62CC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4955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NEXT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5D9ED3-9A1D-4203-A2C5-893E48B05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76550"/>
            <a:ext cx="2381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Lesson 03 - ICP, Segments, And Demand Focus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9AD469-C8FB-4BAA-9D32-3548EA1E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57700"/>
            <a:ext cx="109156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7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73BBD9-54F3-46F7-B4B9-F300C00D9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990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Recurring instructor check: sales impact / signal / RevOps field / buyer content / AI risk / industrial failure mode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B37199-1A61-450F-AC67-B7E7FE253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7DF3A6-1F07-4E6D-BA54-21918DC4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02 - Industrial Buyer Reality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68F1EF-D615-439F-9420-FF9D2E441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modules/module-01-industrial-demand-generation/lessons/02-industrial-buyer-reality.md @ 9e28222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D41C3C-DE78-435A-B135-1F1E8FB2A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15/15</a:t>
            </a:r>
          </a:p>
        </p:txBody>
      </p:sp>
    </p:spTree>
    <p:extLst>
      <p:ext uri="{BB962C8B-B14F-4D97-AF65-F5344CB8AC3E}">
        <p14:creationId xmlns:p14="http://schemas.microsoft.com/office/powerpoint/2010/main" val="16054622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2026-05-16T17:00:37.4020000Z</dcterms:created>
  <dcterms:modified xsi:type="dcterms:W3CDTF">2026-05-16T17:00:37.4020000Z</dcterms:modified>
</coreProperties>
</file>