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7a1860a9b64727" /><Relationship Type="http://schemas.openxmlformats.org/officeDocument/2006/relationships/extended-properties" Target="/docProps/app.xml" Id="R7c1881d0b6aa4158" /><Relationship Type="http://schemas.openxmlformats.org/officeDocument/2006/relationships/officeDocument" Target="/ppt/presentation.xml" Id="R171e55aa3b5a4629" /></Relationships>
</file>

<file path=ppt/presentation.xml><?xml version="1.0" encoding="utf-8"?>
<p:presentation xmlns:p="http://schemas.openxmlformats.org/presentationml/2006/main">
  <p:sldMasterIdLst>
    <p:sldMasterId xmlns:r="http://schemas.openxmlformats.org/officeDocument/2006/relationships" id="2147483648" r:id="Rdfe1a359f3b4485b"/>
  </p:sldMasterIdLst>
  <p:notesMasterIdLst>
    <p:notesMasterId xmlns:r="http://schemas.openxmlformats.org/officeDocument/2006/relationships" r:id="Rbdde7f55384a45c8"/>
  </p:notesMasterIdLst>
  <p:sldIdLst>
    <p:sldId xmlns:r="http://schemas.openxmlformats.org/officeDocument/2006/relationships" id="256" r:id="R3bca7832cd414444"/>
    <p:sldId xmlns:r="http://schemas.openxmlformats.org/officeDocument/2006/relationships" id="257" r:id="Rea305b65f0a145a4"/>
    <p:sldId xmlns:r="http://schemas.openxmlformats.org/officeDocument/2006/relationships" id="258" r:id="R2fec4689e5c745cb"/>
    <p:sldId xmlns:r="http://schemas.openxmlformats.org/officeDocument/2006/relationships" id="259" r:id="Ref91e01cc82e4064"/>
    <p:sldId xmlns:r="http://schemas.openxmlformats.org/officeDocument/2006/relationships" id="260" r:id="R66e7e25836954e66"/>
    <p:sldId xmlns:r="http://schemas.openxmlformats.org/officeDocument/2006/relationships" id="261" r:id="Rc652d076bb2747e3"/>
    <p:sldId xmlns:r="http://schemas.openxmlformats.org/officeDocument/2006/relationships" id="262" r:id="R35b8fc49b5f94398"/>
    <p:sldId xmlns:r="http://schemas.openxmlformats.org/officeDocument/2006/relationships" id="263" r:id="Rf91ad936d3a743cf"/>
    <p:sldId xmlns:r="http://schemas.openxmlformats.org/officeDocument/2006/relationships" id="264" r:id="R967345feb2ca450e"/>
    <p:sldId xmlns:r="http://schemas.openxmlformats.org/officeDocument/2006/relationships" id="265" r:id="Ra01f4688547c437c"/>
    <p:sldId xmlns:r="http://schemas.openxmlformats.org/officeDocument/2006/relationships" id="266" r:id="Rf8e9593302404bf1"/>
    <p:sldId xmlns:r="http://schemas.openxmlformats.org/officeDocument/2006/relationships" id="267" r:id="R6150d1ce98894df4"/>
    <p:sldId xmlns:r="http://schemas.openxmlformats.org/officeDocument/2006/relationships" id="268" r:id="R533d548bf1d241ec"/>
    <p:sldId xmlns:r="http://schemas.openxmlformats.org/officeDocument/2006/relationships" id="269" r:id="Rbc4a987b845b425b"/>
    <p:sldId xmlns:r="http://schemas.openxmlformats.org/officeDocument/2006/relationships" id="270" r:id="Ra5e260242b154b6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dfe1a359f3b4485b" /><Relationship Type="http://schemas.openxmlformats.org/officeDocument/2006/relationships/theme" Target="/ppt/theme/theme1.xml" Id="R1b5b92be6e814513" /><Relationship Type="http://schemas.openxmlformats.org/officeDocument/2006/relationships/notesMaster" Target="/ppt/notesMasters/notesMaster1.xml" Id="Rbdde7f55384a45c8" /><Relationship Type="http://schemas.openxmlformats.org/officeDocument/2006/relationships/presProps" Target="/ppt/presProps.xml" Id="R71a2f03a2c2f4f03" /><Relationship Type="http://schemas.openxmlformats.org/officeDocument/2006/relationships/viewProps" Target="/ppt/viewProps.xml" Id="R526b49a4150b428b" /><Relationship Type="http://schemas.openxmlformats.org/officeDocument/2006/relationships/tableStyles" Target="/ppt/tableStyles.xml" Id="R005e12bd5f964606" /><Relationship Type="http://schemas.openxmlformats.org/officeDocument/2006/relationships/slide" Target="/ppt/slides/slide1.xml" Id="R3bca7832cd414444" /><Relationship Type="http://schemas.openxmlformats.org/officeDocument/2006/relationships/slide" Target="/ppt/slides/slide2.xml" Id="Rea305b65f0a145a4" /><Relationship Type="http://schemas.openxmlformats.org/officeDocument/2006/relationships/slide" Target="/ppt/slides/slide3.xml" Id="R2fec4689e5c745cb" /><Relationship Type="http://schemas.openxmlformats.org/officeDocument/2006/relationships/slide" Target="/ppt/slides/slide4.xml" Id="Ref91e01cc82e4064" /><Relationship Type="http://schemas.openxmlformats.org/officeDocument/2006/relationships/slide" Target="/ppt/slides/slide5.xml" Id="R66e7e25836954e66" /><Relationship Type="http://schemas.openxmlformats.org/officeDocument/2006/relationships/slide" Target="/ppt/slides/slide6.xml" Id="Rc652d076bb2747e3" /><Relationship Type="http://schemas.openxmlformats.org/officeDocument/2006/relationships/slide" Target="/ppt/slides/slide7.xml" Id="R35b8fc49b5f94398" /><Relationship Type="http://schemas.openxmlformats.org/officeDocument/2006/relationships/slide" Target="/ppt/slides/slide8.xml" Id="Rf91ad936d3a743cf" /><Relationship Type="http://schemas.openxmlformats.org/officeDocument/2006/relationships/slide" Target="/ppt/slides/slide9.xml" Id="R967345feb2ca450e" /><Relationship Type="http://schemas.openxmlformats.org/officeDocument/2006/relationships/slide" Target="/ppt/slides/slide10.xml" Id="Ra01f4688547c437c" /><Relationship Type="http://schemas.openxmlformats.org/officeDocument/2006/relationships/slide" Target="/ppt/slides/slide11.xml" Id="Rf8e9593302404bf1" /><Relationship Type="http://schemas.openxmlformats.org/officeDocument/2006/relationships/slide" Target="/ppt/slides/slide12.xml" Id="R6150d1ce98894df4" /><Relationship Type="http://schemas.openxmlformats.org/officeDocument/2006/relationships/slide" Target="/ppt/slides/slide13.xml" Id="R533d548bf1d241ec" /><Relationship Type="http://schemas.openxmlformats.org/officeDocument/2006/relationships/slide" Target="/ppt/slides/slide14.xml" Id="Rbc4a987b845b425b" /><Relationship Type="http://schemas.openxmlformats.org/officeDocument/2006/relationships/slide" Target="/ppt/slides/slide15.xml" Id="Ra5e260242b154b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7d364b8c59c4e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1e8723c4aa4183" /><Relationship Type="http://schemas.openxmlformats.org/officeDocument/2006/relationships/notesMaster" Target="/ppt/notesMasters/notesMaster1.xml" Id="R1f984ec030f244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9e1c1d21624789" /><Relationship Type="http://schemas.openxmlformats.org/officeDocument/2006/relationships/notesMaster" Target="/ppt/notesMasters/notesMaster1.xml" Id="R6095f57dcd0648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cfea4959dc45af" /><Relationship Type="http://schemas.openxmlformats.org/officeDocument/2006/relationships/notesMaster" Target="/ppt/notesMasters/notesMaster1.xml" Id="R3b8932155c8441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0aee42b2854d7a" /><Relationship Type="http://schemas.openxmlformats.org/officeDocument/2006/relationships/notesMaster" Target="/ppt/notesMasters/notesMaster1.xml" Id="Rcc838226e1524b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61798b24ae4d4d" /><Relationship Type="http://schemas.openxmlformats.org/officeDocument/2006/relationships/notesMaster" Target="/ppt/notesMasters/notesMaster1.xml" Id="Racd5cc27f2be48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da6ff231514508" /><Relationship Type="http://schemas.openxmlformats.org/officeDocument/2006/relationships/notesMaster" Target="/ppt/notesMasters/notesMaster1.xml" Id="R7b10599c94214e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83bbf1f2aa46b7" /><Relationship Type="http://schemas.openxmlformats.org/officeDocument/2006/relationships/notesMaster" Target="/ppt/notesMasters/notesMaster1.xml" Id="Rb281e82bffce43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76bb33de514ce8" /><Relationship Type="http://schemas.openxmlformats.org/officeDocument/2006/relationships/notesMaster" Target="/ppt/notesMasters/notesMaster1.xml" Id="R3c155069270b4c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e6b8bcf448495b" /><Relationship Type="http://schemas.openxmlformats.org/officeDocument/2006/relationships/notesMaster" Target="/ppt/notesMasters/notesMaster1.xml" Id="R661068fc760f4d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14f9449b32426a" /><Relationship Type="http://schemas.openxmlformats.org/officeDocument/2006/relationships/notesMaster" Target="/ppt/notesMasters/notesMaster1.xml" Id="Rb4568062160d44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3103d6a9774274" /><Relationship Type="http://schemas.openxmlformats.org/officeDocument/2006/relationships/notesMaster" Target="/ppt/notesMasters/notesMaster1.xml" Id="R3b495f37c4dd47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0a6a02893c54bbb" /><Relationship Type="http://schemas.openxmlformats.org/officeDocument/2006/relationships/notesMaster" Target="/ppt/notesMasters/notesMaster1.xml" Id="R2ecb7209b58d4f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6d885041364729" /><Relationship Type="http://schemas.openxmlformats.org/officeDocument/2006/relationships/notesMaster" Target="/ppt/notesMasters/notesMaster1.xml" Id="R6a7f90ac295b44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5aa4665ffb41a6" /><Relationship Type="http://schemas.openxmlformats.org/officeDocument/2006/relationships/notesMaster" Target="/ppt/notesMasters/notesMaster1.xml" Id="R4d206586ac274a0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306ff6195f4476" /><Relationship Type="http://schemas.openxmlformats.org/officeDocument/2006/relationships/notesMaster" Target="/ppt/notesMasters/notesMaster1.xml" Id="R7ff1f5c217d34d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d373feafc4414c"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7b4eda5b3a664efa" /><Relationship Type="http://schemas.openxmlformats.org/officeDocument/2006/relationships/slideLayout" Target="/ppt/slideLayouts/slideLayout2.xml" Id="Rfbd828a5fe6743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d828a5fe6743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ddcf5ea5c05a4a92" /><Relationship Type="http://schemas.openxmlformats.org/officeDocument/2006/relationships/notesSlide" Target="/ppt/notesSlides/notesSlide1.xml" Id="R6e79875d94cb46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5ca2861a6ef42fb" /><Relationship Type="http://schemas.openxmlformats.org/officeDocument/2006/relationships/notesSlide" Target="/ppt/notesSlides/notesSlide2.xml" Id="Rfee8f87982e441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e7d08d05cb94871" /><Relationship Type="http://schemas.openxmlformats.org/officeDocument/2006/relationships/notesSlide" Target="/ppt/notesSlides/notesSlide3.xml" Id="Rbcf52176b4304e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9aeb20896144060" /><Relationship Type="http://schemas.openxmlformats.org/officeDocument/2006/relationships/notesSlide" Target="/ppt/notesSlides/notesSlide4.xml" Id="R9db14345a2dd40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83fde79f9324845" /><Relationship Type="http://schemas.openxmlformats.org/officeDocument/2006/relationships/notesSlide" Target="/ppt/notesSlides/notesSlide5.xml" Id="R4fe5702fccc245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57845bc50d1446d" /><Relationship Type="http://schemas.openxmlformats.org/officeDocument/2006/relationships/notesSlide" Target="/ppt/notesSlides/notesSlide6.xml" Id="Raff97ef7782b4f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d6124477377432d" /><Relationship Type="http://schemas.openxmlformats.org/officeDocument/2006/relationships/notesSlide" Target="/ppt/notesSlides/notesSlide7.xml" Id="R93bbd0ba42c144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0ff8df220fa492b" /><Relationship Type="http://schemas.openxmlformats.org/officeDocument/2006/relationships/notesSlide" Target="/ppt/notesSlides/notesSlide8.xml" Id="Ra12c79a0ee7347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4285b2910a44626" /><Relationship Type="http://schemas.openxmlformats.org/officeDocument/2006/relationships/notesSlide" Target="/ppt/notesSlides/notesSlide9.xml" Id="R9388295358cd4e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f394d6d41904d3f" /><Relationship Type="http://schemas.openxmlformats.org/officeDocument/2006/relationships/notesSlide" Target="/ppt/notesSlides/notesSlide10.xml" Id="R909e943d26554d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cd4f7d3e0f224706" /><Relationship Type="http://schemas.openxmlformats.org/officeDocument/2006/relationships/notesSlide" Target="/ppt/notesSlides/notesSlide11.xml" Id="R5a73038347e840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56864a02b07e48eb" /><Relationship Type="http://schemas.openxmlformats.org/officeDocument/2006/relationships/notesSlide" Target="/ppt/notesSlides/notesSlide12.xml" Id="Rf55bddbe3f0641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eb5091b4baf4e37" /><Relationship Type="http://schemas.openxmlformats.org/officeDocument/2006/relationships/notesSlide" Target="/ppt/notesSlides/notesSlide13.xml" Id="Rbe25bf7c58564ca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920c387cdc4f423c" /><Relationship Type="http://schemas.openxmlformats.org/officeDocument/2006/relationships/notesSlide" Target="/ppt/notesSlides/notesSlide14.xml" Id="Rcd25eb7d85fa47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f335076e6c884814" /><Relationship Type="http://schemas.openxmlformats.org/officeDocument/2006/relationships/notesSlide" Target="/ppt/notesSlides/notesSlide15.xml" Id="R5c7d7968eef446f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376D487-2734-4D3D-BDE0-A1344944264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FB22765-7BA8-43F5-95A1-BC8D9750C31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85FDBAC-1D21-40D3-980D-53531BC164FF}"/>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1-marker">
            <a:extLst xmlns:a="http://schemas.openxmlformats.org/drawingml/2006/main">
              <a:ext uri="{FF2B5EF4-FFF2-40B4-BE49-F238E27FC236}">
                <a16:creationId xmlns:a16="http://schemas.microsoft.com/office/drawing/2014/main" id="{A855DD6A-D72F-444C-81A3-74BCA0D512B8}"/>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1-label">
            <a:extLst xmlns:a="http://schemas.openxmlformats.org/drawingml/2006/main">
              <a:ext uri="{FF2B5EF4-FFF2-40B4-BE49-F238E27FC236}">
                <a16:creationId xmlns:a16="http://schemas.microsoft.com/office/drawing/2014/main" id="{A347D9DB-F146-4C72-81E6-1AE66C14F1A4}"/>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INSTRUCTOR PROJECTION DECK</a:t>
            </a:r>
          </a:p>
        </p:txBody>
      </p:sp>
      <p:sp>
        <p:nvSpPr>
          <p:cNvPr id="6" name="">
            <a:extLst xmlns:a="http://schemas.openxmlformats.org/drawingml/2006/main">
              <a:ext uri="{FF2B5EF4-FFF2-40B4-BE49-F238E27FC236}">
                <a16:creationId xmlns:a16="http://schemas.microsoft.com/office/drawing/2014/main" id="{3712D241-BCC9-4C7C-9F11-6375E8D1A3EA}"/>
              </a:ext>
            </a:extLst>
          </p:cNvPr>
          <p:cNvSpPr>
            <a:spLocks xmlns:a="http://schemas.openxmlformats.org/drawingml/2006/main" noGrp="1"/>
          </p:cNvSpPr>
          <p:nvPr/>
        </p:nvSpPr>
        <p:spPr>
          <a:xfrm xmlns:a="http://schemas.openxmlformats.org/drawingml/2006/main">
            <a:off x="514350" y="1066800"/>
            <a:ext cx="72390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172026"/>
                </a:solidFill>
                <a:latin typeface="Aptos Display"/>
                <a:ea typeface="Aptos Display"/>
                <a:cs typeface="Aptos Display"/>
              </a:defRPr>
            </a:pPr>
            <a:r>
              <a:rPr sz="3150" b="1">
                <a:solidFill>
                  <a:srgbClr val="172026"/>
                </a:solidFill>
                <a:latin typeface="Aptos Display"/>
                <a:ea typeface="Aptos Display"/>
                <a:cs typeface="Aptos Display"/>
              </a:rPr>
              <a:t>Industrial Demand Generation Foundations</a:t>
            </a:r>
          </a:p>
        </p:txBody>
      </p:sp>
      <p:sp>
        <p:nvSpPr>
          <p:cNvPr id="7" name="">
            <a:extLst xmlns:a="http://schemas.openxmlformats.org/drawingml/2006/main">
              <a:ext uri="{FF2B5EF4-FFF2-40B4-BE49-F238E27FC236}">
                <a16:creationId xmlns:a16="http://schemas.microsoft.com/office/drawing/2014/main" id="{BC815B8A-E365-49F3-B09F-B8B0EFD909BC}"/>
              </a:ext>
            </a:extLst>
          </p:cNvPr>
          <p:cNvSpPr>
            <a:spLocks xmlns:a="http://schemas.openxmlformats.org/drawingml/2006/main" noGrp="1"/>
          </p:cNvSpPr>
          <p:nvPr/>
        </p:nvSpPr>
        <p:spPr>
          <a:xfrm xmlns:a="http://schemas.openxmlformats.org/drawingml/2006/main">
            <a:off x="514350" y="2457450"/>
            <a:ext cx="70485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9646A"/>
                </a:solidFill>
                <a:latin typeface="Aptos"/>
                <a:ea typeface="Aptos"/>
                <a:cs typeface="Aptos"/>
              </a:defRPr>
            </a:pPr>
            <a:r>
              <a:rPr sz="1350" b="0">
                <a:solidFill>
                  <a:srgbClr val="59646A"/>
                </a:solidFill>
                <a:latin typeface="Aptos"/>
                <a:ea typeface="Aptos"/>
                <a:cs typeface="Aptos"/>
              </a:rPr>
              <a:t>Industrial Demand Generation / Live workshop projection system</a:t>
            </a:r>
          </a:p>
        </p:txBody>
      </p:sp>
      <p:sp>
        <p:nvSpPr>
          <p:cNvPr id="8" name="">
            <a:extLst xmlns:a="http://schemas.openxmlformats.org/drawingml/2006/main">
              <a:ext uri="{FF2B5EF4-FFF2-40B4-BE49-F238E27FC236}">
                <a16:creationId xmlns:a16="http://schemas.microsoft.com/office/drawing/2014/main" id="{7B408C97-9C28-49CA-97F6-499080AE3688}"/>
              </a:ext>
            </a:extLst>
          </p:cNvPr>
          <p:cNvSpPr>
            <a:spLocks xmlns:a="http://schemas.openxmlformats.org/drawingml/2006/main" noGrp="1"/>
          </p:cNvSpPr>
          <p:nvPr/>
        </p:nvSpPr>
        <p:spPr>
          <a:xfrm xmlns:a="http://schemas.openxmlformats.org/drawingml/2006/main">
            <a:off x="514350" y="3333750"/>
            <a:ext cx="1143000" cy="266700"/>
          </a:xfrm>
          <a:prstGeom xmlns:a="http://schemas.openxmlformats.org/drawingml/2006/main" prst="rect">
            <a:avLst/>
          </a:prstGeom>
          <a:solidFill xmlns:a="http://schemas.openxmlformats.org/drawingml/2006/main">
            <a:srgbClr val="DCE8E9"/>
          </a:solidFill>
          <a:ln xmlns:a="http://schemas.openxmlformats.org/drawingml/2006/main" w="9525">
            <a:solidFill>
              <a:srgbClr val="DCE8E9"/>
            </a:solidFill>
            <a:prstDash val="solid"/>
          </a:ln>
        </p:spPr>
      </p:sp>
      <p:sp>
        <p:nvSpPr>
          <p:cNvPr id="9" name="">
            <a:extLst xmlns:a="http://schemas.openxmlformats.org/drawingml/2006/main">
              <a:ext uri="{FF2B5EF4-FFF2-40B4-BE49-F238E27FC236}">
                <a16:creationId xmlns:a16="http://schemas.microsoft.com/office/drawing/2014/main" id="{8A9E5075-966F-4165-B72D-A21A38E3733E}"/>
              </a:ext>
            </a:extLst>
          </p:cNvPr>
          <p:cNvSpPr>
            <a:spLocks xmlns:a="http://schemas.openxmlformats.org/drawingml/2006/main" noGrp="1"/>
          </p:cNvSpPr>
          <p:nvPr/>
        </p:nvSpPr>
        <p:spPr>
          <a:xfrm xmlns:a="http://schemas.openxmlformats.org/drawingml/2006/main">
            <a:off x="609600" y="3381375"/>
            <a:ext cx="95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1D6072"/>
                </a:solidFill>
                <a:latin typeface="Aptos"/>
                <a:ea typeface="Aptos"/>
                <a:cs typeface="Aptos"/>
              </a:defRPr>
            </a:pPr>
            <a:r>
              <a:rPr sz="675" b="1">
                <a:solidFill>
                  <a:srgbClr val="1D6072"/>
                </a:solidFill>
                <a:latin typeface="Aptos"/>
                <a:ea typeface="Aptos"/>
                <a:cs typeface="Aptos"/>
              </a:rPr>
              <a:t>20 min</a:t>
            </a:r>
          </a:p>
        </p:txBody>
      </p:sp>
      <p:sp>
        <p:nvSpPr>
          <p:cNvPr id="10" name="">
            <a:extLst xmlns:a="http://schemas.openxmlformats.org/drawingml/2006/main">
              <a:ext uri="{FF2B5EF4-FFF2-40B4-BE49-F238E27FC236}">
                <a16:creationId xmlns:a16="http://schemas.microsoft.com/office/drawing/2014/main" id="{7B2EE9B2-3244-469A-8758-D78A0F4FE5CB}"/>
              </a:ext>
            </a:extLst>
          </p:cNvPr>
          <p:cNvSpPr>
            <a:spLocks xmlns:a="http://schemas.openxmlformats.org/drawingml/2006/main" noGrp="1"/>
          </p:cNvSpPr>
          <p:nvPr/>
        </p:nvSpPr>
        <p:spPr>
          <a:xfrm xmlns:a="http://schemas.openxmlformats.org/drawingml/2006/main">
            <a:off x="1790700" y="3333750"/>
            <a:ext cx="1295400" cy="266700"/>
          </a:xfrm>
          <a:prstGeom xmlns:a="http://schemas.openxmlformats.org/drawingml/2006/main" prst="rect">
            <a:avLst/>
          </a:prstGeom>
          <a:solidFill xmlns:a="http://schemas.openxmlformats.org/drawingml/2006/main">
            <a:srgbClr val="F0DFD5"/>
          </a:solidFill>
          <a:ln xmlns:a="http://schemas.openxmlformats.org/drawingml/2006/main" w="9525">
            <a:solidFill>
              <a:srgbClr val="F0DFD5"/>
            </a:solidFill>
            <a:prstDash val="solid"/>
          </a:ln>
        </p:spPr>
      </p:sp>
      <p:sp>
        <p:nvSpPr>
          <p:cNvPr id="11" name="">
            <a:extLst xmlns:a="http://schemas.openxmlformats.org/drawingml/2006/main">
              <a:ext uri="{FF2B5EF4-FFF2-40B4-BE49-F238E27FC236}">
                <a16:creationId xmlns:a16="http://schemas.microsoft.com/office/drawing/2014/main" id="{2A9B3BC5-B947-4AF4-B219-599994631033}"/>
              </a:ext>
            </a:extLst>
          </p:cNvPr>
          <p:cNvSpPr>
            <a:spLocks xmlns:a="http://schemas.openxmlformats.org/drawingml/2006/main" noGrp="1"/>
          </p:cNvSpPr>
          <p:nvPr/>
        </p:nvSpPr>
        <p:spPr>
          <a:xfrm xmlns:a="http://schemas.openxmlformats.org/drawingml/2006/main">
            <a:off x="1885950" y="3381375"/>
            <a:ext cx="11049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A85D2A"/>
                </a:solidFill>
                <a:latin typeface="Aptos"/>
                <a:ea typeface="Aptos"/>
                <a:cs typeface="Aptos"/>
              </a:defRPr>
            </a:pPr>
            <a:r>
              <a:rPr sz="675" b="1">
                <a:solidFill>
                  <a:srgbClr val="A85D2A"/>
                </a:solidFill>
                <a:latin typeface="Aptos"/>
                <a:ea typeface="Aptos"/>
                <a:cs typeface="Aptos"/>
              </a:rPr>
              <a:t>Instructor-led</a:t>
            </a:r>
          </a:p>
        </p:txBody>
      </p:sp>
      <p:sp>
        <p:nvSpPr>
          <p:cNvPr id="12" name="">
            <a:extLst xmlns:a="http://schemas.openxmlformats.org/drawingml/2006/main">
              <a:ext uri="{FF2B5EF4-FFF2-40B4-BE49-F238E27FC236}">
                <a16:creationId xmlns:a16="http://schemas.microsoft.com/office/drawing/2014/main" id="{9CB09A72-CA6C-43EA-8498-135363B5C4A2}"/>
              </a:ext>
            </a:extLst>
          </p:cNvPr>
          <p:cNvSpPr>
            <a:spLocks xmlns:a="http://schemas.openxmlformats.org/drawingml/2006/main" noGrp="1"/>
          </p:cNvSpPr>
          <p:nvPr/>
        </p:nvSpPr>
        <p:spPr>
          <a:xfrm xmlns:a="http://schemas.openxmlformats.org/drawingml/2006/main">
            <a:off x="3219450" y="3333750"/>
            <a:ext cx="1219200" cy="266700"/>
          </a:xfrm>
          <a:prstGeom xmlns:a="http://schemas.openxmlformats.org/drawingml/2006/main" prst="rect">
            <a:avLst/>
          </a:prstGeom>
          <a:solidFill xmlns:a="http://schemas.openxmlformats.org/drawingml/2006/main">
            <a:srgbClr val="E4E9D8"/>
          </a:solidFill>
          <a:ln xmlns:a="http://schemas.openxmlformats.org/drawingml/2006/main" w="9525">
            <a:solidFill>
              <a:srgbClr val="E4E9D8"/>
            </a:solidFill>
            <a:prstDash val="solid"/>
          </a:ln>
        </p:spPr>
      </p:sp>
      <p:sp>
        <p:nvSpPr>
          <p:cNvPr id="13" name="">
            <a:extLst xmlns:a="http://schemas.openxmlformats.org/drawingml/2006/main">
              <a:ext uri="{FF2B5EF4-FFF2-40B4-BE49-F238E27FC236}">
                <a16:creationId xmlns:a16="http://schemas.microsoft.com/office/drawing/2014/main" id="{B6E3FA44-E229-41C1-A127-A0667D2DA59B}"/>
              </a:ext>
            </a:extLst>
          </p:cNvPr>
          <p:cNvSpPr>
            <a:spLocks xmlns:a="http://schemas.openxmlformats.org/drawingml/2006/main" noGrp="1"/>
          </p:cNvSpPr>
          <p:nvPr/>
        </p:nvSpPr>
        <p:spPr>
          <a:xfrm xmlns:a="http://schemas.openxmlformats.org/drawingml/2006/main">
            <a:off x="3314700" y="3381375"/>
            <a:ext cx="1028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675" b="1">
                <a:solidFill>
                  <a:srgbClr val="667A39"/>
                </a:solidFill>
                <a:latin typeface="Aptos"/>
                <a:ea typeface="Aptos"/>
                <a:cs typeface="Aptos"/>
              </a:defRPr>
            </a:pPr>
            <a:r>
              <a:rPr sz="675" b="1">
                <a:solidFill>
                  <a:srgbClr val="667A39"/>
                </a:solidFill>
                <a:latin typeface="Aptos"/>
                <a:ea typeface="Aptos"/>
                <a:cs typeface="Aptos"/>
              </a:rPr>
              <a:t>Artifact-first</a:t>
            </a:r>
          </a:p>
        </p:txBody>
      </p:sp>
      <p:sp>
        <p:nvSpPr>
          <p:cNvPr id="14" name="">
            <a:extLst xmlns:a="http://schemas.openxmlformats.org/drawingml/2006/main">
              <a:ext uri="{FF2B5EF4-FFF2-40B4-BE49-F238E27FC236}">
                <a16:creationId xmlns:a16="http://schemas.microsoft.com/office/drawing/2014/main" id="{2267C7D1-B037-4BFB-A739-7A2F56377C46}"/>
              </a:ext>
            </a:extLst>
          </p:cNvPr>
          <p:cNvSpPr>
            <a:spLocks xmlns:a="http://schemas.openxmlformats.org/drawingml/2006/main" noGrp="1"/>
          </p:cNvSpPr>
          <p:nvPr/>
        </p:nvSpPr>
        <p:spPr>
          <a:xfrm xmlns:a="http://schemas.openxmlformats.org/drawingml/2006/main">
            <a:off x="8096250" y="895350"/>
            <a:ext cx="3333750" cy="4343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5" name="">
            <a:extLst xmlns:a="http://schemas.openxmlformats.org/drawingml/2006/main">
              <a:ext uri="{FF2B5EF4-FFF2-40B4-BE49-F238E27FC236}">
                <a16:creationId xmlns:a16="http://schemas.microsoft.com/office/drawing/2014/main" id="{466C46C1-DC3A-44E3-8CB7-790A55F9F646}"/>
              </a:ext>
            </a:extLst>
          </p:cNvPr>
          <p:cNvSpPr>
            <a:spLocks xmlns:a="http://schemas.openxmlformats.org/drawingml/2006/main" noGrp="1"/>
          </p:cNvSpPr>
          <p:nvPr/>
        </p:nvSpPr>
        <p:spPr>
          <a:xfrm xmlns:a="http://schemas.openxmlformats.org/drawingml/2006/main">
            <a:off x="8362950" y="1276350"/>
            <a:ext cx="266700" cy="190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3DB79B3-182C-4F6B-ABFB-85D4ADD89EA6}"/>
              </a:ext>
            </a:extLst>
          </p:cNvPr>
          <p:cNvSpPr>
            <a:spLocks xmlns:a="http://schemas.openxmlformats.org/drawingml/2006/main" noGrp="1"/>
          </p:cNvSpPr>
          <p:nvPr/>
        </p:nvSpPr>
        <p:spPr>
          <a:xfrm xmlns:a="http://schemas.openxmlformats.org/drawingml/2006/main">
            <a:off x="8724900" y="12001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LESSON OUTPUT</a:t>
            </a:r>
          </a:p>
        </p:txBody>
      </p:sp>
      <p:sp>
        <p:nvSpPr>
          <p:cNvPr id="17" name="">
            <a:extLst xmlns:a="http://schemas.openxmlformats.org/drawingml/2006/main">
              <a:ext uri="{FF2B5EF4-FFF2-40B4-BE49-F238E27FC236}">
                <a16:creationId xmlns:a16="http://schemas.microsoft.com/office/drawing/2014/main" id="{426F09F3-5737-4508-8C45-613DF2F1D650}"/>
              </a:ext>
            </a:extLst>
          </p:cNvPr>
          <p:cNvSpPr>
            <a:spLocks xmlns:a="http://schemas.openxmlformats.org/drawingml/2006/main" noGrp="1"/>
          </p:cNvSpPr>
          <p:nvPr/>
        </p:nvSpPr>
        <p:spPr>
          <a:xfrm xmlns:a="http://schemas.openxmlformats.org/drawingml/2006/main">
            <a:off x="8362950" y="1504950"/>
            <a:ext cx="27241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72026"/>
                </a:solidFill>
                <a:latin typeface="Aptos Display"/>
                <a:ea typeface="Aptos Display"/>
                <a:cs typeface="Aptos Display"/>
              </a:defRPr>
            </a:pPr>
            <a:r>
              <a:rPr sz="1650" b="1">
                <a:solidFill>
                  <a:srgbClr val="172026"/>
                </a:solidFill>
                <a:latin typeface="Aptos Display"/>
                <a:ea typeface="Aptos Display"/>
                <a:cs typeface="Aptos Display"/>
              </a:rPr>
              <a:t>Demand system diagnostic with three priority repairs</a:t>
            </a:r>
          </a:p>
        </p:txBody>
      </p:sp>
      <p:sp>
        <p:nvSpPr>
          <p:cNvPr id="18" name="">
            <a:extLst xmlns:a="http://schemas.openxmlformats.org/drawingml/2006/main">
              <a:ext uri="{FF2B5EF4-FFF2-40B4-BE49-F238E27FC236}">
                <a16:creationId xmlns:a16="http://schemas.microsoft.com/office/drawing/2014/main" id="{F4E8269C-AF82-4315-B2AB-57CBDA346AF7}"/>
              </a:ext>
            </a:extLst>
          </p:cNvPr>
          <p:cNvSpPr>
            <a:spLocks xmlns:a="http://schemas.openxmlformats.org/drawingml/2006/main" noGrp="1"/>
          </p:cNvSpPr>
          <p:nvPr/>
        </p:nvSpPr>
        <p:spPr>
          <a:xfrm xmlns:a="http://schemas.openxmlformats.org/drawingml/2006/main">
            <a:off x="8362950" y="26479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775BA811-2A15-4535-B80A-80371E79E57E}"/>
              </a:ext>
            </a:extLst>
          </p:cNvPr>
          <p:cNvSpPr>
            <a:spLocks xmlns:a="http://schemas.openxmlformats.org/drawingml/2006/main" noGrp="1"/>
          </p:cNvSpPr>
          <p:nvPr/>
        </p:nvSpPr>
        <p:spPr>
          <a:xfrm xmlns:a="http://schemas.openxmlformats.org/drawingml/2006/main">
            <a:off x="8724900" y="2571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WORKSHOP RULE</a:t>
            </a:r>
          </a:p>
        </p:txBody>
      </p:sp>
      <p:sp>
        <p:nvSpPr>
          <p:cNvPr id="20" name="">
            <a:extLst xmlns:a="http://schemas.openxmlformats.org/drawingml/2006/main">
              <a:ext uri="{FF2B5EF4-FFF2-40B4-BE49-F238E27FC236}">
                <a16:creationId xmlns:a16="http://schemas.microsoft.com/office/drawing/2014/main" id="{7B686F34-E217-4AF6-9754-D4A412BA4164}"/>
              </a:ext>
            </a:extLst>
          </p:cNvPr>
          <p:cNvSpPr>
            <a:spLocks xmlns:a="http://schemas.openxmlformats.org/drawingml/2006/main" noGrp="1"/>
          </p:cNvSpPr>
          <p:nvPr/>
        </p:nvSpPr>
        <p:spPr>
          <a:xfrm xmlns:a="http://schemas.openxmlformats.org/drawingml/2006/main">
            <a:off x="8362950" y="2876550"/>
            <a:ext cx="26098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Teach the operating decision, run the diagnostic, then force a usable artifact. The slide is a prompt, not the handout.</a:t>
            </a:r>
          </a:p>
        </p:txBody>
      </p:sp>
      <p:sp>
        <p:nvSpPr>
          <p:cNvPr id="21" name="">
            <a:extLst xmlns:a="http://schemas.openxmlformats.org/drawingml/2006/main">
              <a:ext uri="{FF2B5EF4-FFF2-40B4-BE49-F238E27FC236}">
                <a16:creationId xmlns:a16="http://schemas.microsoft.com/office/drawing/2014/main" id="{F4CB7588-5861-4E81-9413-8DCF9E2B7C0A}"/>
              </a:ext>
            </a:extLst>
          </p:cNvPr>
          <p:cNvSpPr>
            <a:spLocks xmlns:a="http://schemas.openxmlformats.org/drawingml/2006/main" noGrp="1"/>
          </p:cNvSpPr>
          <p:nvPr/>
        </p:nvSpPr>
        <p:spPr>
          <a:xfrm xmlns:a="http://schemas.openxmlformats.org/drawingml/2006/main">
            <a:off x="8362950" y="4152900"/>
            <a:ext cx="266700" cy="19050"/>
          </a:xfrm>
          <a:prstGeom xmlns:a="http://schemas.openxmlformats.org/drawingml/2006/main" prst="rect">
            <a:avLst/>
          </a:prstGeom>
          <a:solidFill xmlns:a="http://schemas.openxmlformats.org/drawingml/2006/main">
            <a:srgbClr val="667A39"/>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4D909A1E-CBC3-4B7B-8469-5CBCEBBCFE46}"/>
              </a:ext>
            </a:extLst>
          </p:cNvPr>
          <p:cNvSpPr>
            <a:spLocks xmlns:a="http://schemas.openxmlformats.org/drawingml/2006/main" noGrp="1"/>
          </p:cNvSpPr>
          <p:nvPr/>
        </p:nvSpPr>
        <p:spPr>
          <a:xfrm xmlns:a="http://schemas.openxmlformats.org/drawingml/2006/main">
            <a:off x="8724900" y="40767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SOURCE COMMIT</a:t>
            </a:r>
          </a:p>
        </p:txBody>
      </p:sp>
      <p:sp>
        <p:nvSpPr>
          <p:cNvPr id="23" name="">
            <a:extLst xmlns:a="http://schemas.openxmlformats.org/drawingml/2006/main">
              <a:ext uri="{FF2B5EF4-FFF2-40B4-BE49-F238E27FC236}">
                <a16:creationId xmlns:a16="http://schemas.microsoft.com/office/drawing/2014/main" id="{662FA923-EB3D-465E-8400-B62EEF99B3D9}"/>
              </a:ext>
            </a:extLst>
          </p:cNvPr>
          <p:cNvSpPr>
            <a:spLocks xmlns:a="http://schemas.openxmlformats.org/drawingml/2006/main" noGrp="1"/>
          </p:cNvSpPr>
          <p:nvPr/>
        </p:nvSpPr>
        <p:spPr>
          <a:xfrm xmlns:a="http://schemas.openxmlformats.org/drawingml/2006/main">
            <a:off x="8362950" y="43815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72026"/>
                </a:solidFill>
                <a:latin typeface="Aptos"/>
                <a:ea typeface="Aptos"/>
                <a:cs typeface="Aptos"/>
              </a:defRPr>
            </a:pPr>
            <a:r>
              <a:rPr sz="1200" b="1">
                <a:solidFill>
                  <a:srgbClr val="172026"/>
                </a:solidFill>
                <a:latin typeface="Aptos"/>
                <a:ea typeface="Aptos"/>
                <a:cs typeface="Aptos"/>
              </a:rPr>
              <a:t>9e28222</a:t>
            </a:r>
          </a:p>
        </p:txBody>
      </p:sp>
      <p:sp>
        <p:nvSpPr>
          <p:cNvPr id="24" name="">
            <a:extLst xmlns:a="http://schemas.openxmlformats.org/drawingml/2006/main">
              <a:ext uri="{FF2B5EF4-FFF2-40B4-BE49-F238E27FC236}">
                <a16:creationId xmlns:a16="http://schemas.microsoft.com/office/drawing/2014/main" id="{6BCB3D8D-0BCC-4662-828C-896052A8A0EC}"/>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9C94E035-03BC-4133-B312-CEB8104DB970}"/>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26" name="">
            <a:extLst xmlns:a="http://schemas.openxmlformats.org/drawingml/2006/main">
              <a:ext uri="{FF2B5EF4-FFF2-40B4-BE49-F238E27FC236}">
                <a16:creationId xmlns:a16="http://schemas.microsoft.com/office/drawing/2014/main" id="{9699E245-5904-49D2-B008-427D8310488C}"/>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27" name="">
            <a:extLst xmlns:a="http://schemas.openxmlformats.org/drawingml/2006/main">
              <a:ext uri="{FF2B5EF4-FFF2-40B4-BE49-F238E27FC236}">
                <a16:creationId xmlns:a16="http://schemas.microsoft.com/office/drawing/2014/main" id="{EFD9662B-D2BC-498D-B98D-70B7FDD16234}"/>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1/15</a:t>
            </a:r>
          </a:p>
        </p:txBody>
      </p:sp>
    </p:spTree>
    <p:extLst>
      <p:ext uri="{BB962C8B-B14F-4D97-AF65-F5344CB8AC3E}">
        <p14:creationId xmlns:p14="http://schemas.microsoft.com/office/powerpoint/2010/main" val="59202870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369F0DA-0B27-4E76-8A54-8C6022E941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59C23AD-4D86-4B85-963B-7C52964BE10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D635637-3CF1-4875-ACE8-C156CC8364D4}"/>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1-marker">
            <a:extLst xmlns:a="http://schemas.openxmlformats.org/drawingml/2006/main">
              <a:ext uri="{FF2B5EF4-FFF2-40B4-BE49-F238E27FC236}">
                <a16:creationId xmlns:a16="http://schemas.microsoft.com/office/drawing/2014/main" id="{7BBBBB48-8A42-488A-B8A5-7632E4EAA8CA}"/>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1-label">
            <a:extLst xmlns:a="http://schemas.openxmlformats.org/drawingml/2006/main">
              <a:ext uri="{FF2B5EF4-FFF2-40B4-BE49-F238E27FC236}">
                <a16:creationId xmlns:a16="http://schemas.microsoft.com/office/drawing/2014/main" id="{F561DB76-778E-4ED4-A075-9C290B192B0B}"/>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LESSON PROMISE</a:t>
            </a:r>
          </a:p>
        </p:txBody>
      </p:sp>
      <p:sp>
        <p:nvSpPr>
          <p:cNvPr id="6" name="">
            <a:extLst xmlns:a="http://schemas.openxmlformats.org/drawingml/2006/main">
              <a:ext uri="{FF2B5EF4-FFF2-40B4-BE49-F238E27FC236}">
                <a16:creationId xmlns:a16="http://schemas.microsoft.com/office/drawing/2014/main" id="{44310260-C6DD-421B-939D-9065E81D74B0}"/>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The promise is an operating capability, not a concept label.</a:t>
            </a:r>
          </a:p>
        </p:txBody>
      </p:sp>
      <p:sp>
        <p:nvSpPr>
          <p:cNvPr id="7" name="">
            <a:extLst xmlns:a="http://schemas.openxmlformats.org/drawingml/2006/main">
              <a:ext uri="{FF2B5EF4-FFF2-40B4-BE49-F238E27FC236}">
                <a16:creationId xmlns:a16="http://schemas.microsoft.com/office/drawing/2014/main" id="{33BC5589-5F4D-4507-AE87-987EBF588E76}"/>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Use this slide to set the standard for the artifact learners must produce.</a:t>
            </a:r>
          </a:p>
        </p:txBody>
      </p:sp>
      <p:sp>
        <p:nvSpPr>
          <p:cNvPr id="8" name="">
            <a:extLst xmlns:a="http://schemas.openxmlformats.org/drawingml/2006/main">
              <a:ext uri="{FF2B5EF4-FFF2-40B4-BE49-F238E27FC236}">
                <a16:creationId xmlns:a16="http://schemas.microsoft.com/office/drawing/2014/main" id="{C6F1C73C-99F9-46D6-B59A-5BA2E2B81388}"/>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E1C4A85-1ED2-461F-B8DE-18BF95E5D1FA}"/>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10" name="">
            <a:extLst xmlns:a="http://schemas.openxmlformats.org/drawingml/2006/main">
              <a:ext uri="{FF2B5EF4-FFF2-40B4-BE49-F238E27FC236}">
                <a16:creationId xmlns:a16="http://schemas.microsoft.com/office/drawing/2014/main" id="{022EA821-FC0D-46B8-A67B-266CE3D362D4}"/>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11" name="">
            <a:extLst xmlns:a="http://schemas.openxmlformats.org/drawingml/2006/main">
              <a:ext uri="{FF2B5EF4-FFF2-40B4-BE49-F238E27FC236}">
                <a16:creationId xmlns:a16="http://schemas.microsoft.com/office/drawing/2014/main" id="{BD5A4803-DD19-4088-BCB1-188D30129D43}"/>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2/15</a:t>
            </a:r>
          </a:p>
        </p:txBody>
      </p:sp>
      <p:sp>
        <p:nvSpPr>
          <p:cNvPr id="12" name="">
            <a:extLst xmlns:a="http://schemas.openxmlformats.org/drawingml/2006/main">
              <a:ext uri="{FF2B5EF4-FFF2-40B4-BE49-F238E27FC236}">
                <a16:creationId xmlns:a16="http://schemas.microsoft.com/office/drawing/2014/main" id="{BA996D80-23EA-445D-B148-F8EA1775A8F3}"/>
              </a:ext>
            </a:extLst>
          </p:cNvPr>
          <p:cNvSpPr>
            <a:spLocks xmlns:a="http://schemas.openxmlformats.org/drawingml/2006/main" noGrp="1"/>
          </p:cNvSpPr>
          <p:nvPr/>
        </p:nvSpPr>
        <p:spPr>
          <a:xfrm xmlns:a="http://schemas.openxmlformats.org/drawingml/2006/main">
            <a:off x="514350" y="2038350"/>
            <a:ext cx="619125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3" name="">
            <a:extLst xmlns:a="http://schemas.openxmlformats.org/drawingml/2006/main">
              <a:ext uri="{FF2B5EF4-FFF2-40B4-BE49-F238E27FC236}">
                <a16:creationId xmlns:a16="http://schemas.microsoft.com/office/drawing/2014/main" id="{FB976744-ACC7-42AE-8D13-1B8772711DE1}"/>
              </a:ext>
            </a:extLst>
          </p:cNvPr>
          <p:cNvSpPr>
            <a:spLocks xmlns:a="http://schemas.openxmlformats.org/drawingml/2006/main" noGrp="1"/>
          </p:cNvSpPr>
          <p:nvPr/>
        </p:nvSpPr>
        <p:spPr>
          <a:xfrm xmlns:a="http://schemas.openxmlformats.org/drawingml/2006/main">
            <a:off x="800100" y="2324100"/>
            <a:ext cx="561975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72026"/>
                </a:solidFill>
                <a:latin typeface="Aptos Display"/>
                <a:ea typeface="Aptos Display"/>
                <a:cs typeface="Aptos Display"/>
              </a:defRPr>
            </a:pPr>
            <a:r>
              <a:rPr sz="1875" b="1">
                <a:solidFill>
                  <a:srgbClr val="172026"/>
                </a:solidFill>
                <a:latin typeface="Aptos Display"/>
                <a:ea typeface="Aptos Display"/>
                <a:cs typeface="Aptos Display"/>
              </a:rPr>
              <a:t>Diagnose whether the company has a demand generation engine or only scattered marketing activity, lead capture, and sales heroics.</a:t>
            </a:r>
          </a:p>
        </p:txBody>
      </p:sp>
      <p:sp>
        <p:nvSpPr>
          <p:cNvPr id="14" name="">
            <a:extLst xmlns:a="http://schemas.openxmlformats.org/drawingml/2006/main">
              <a:ext uri="{FF2B5EF4-FFF2-40B4-BE49-F238E27FC236}">
                <a16:creationId xmlns:a16="http://schemas.microsoft.com/office/drawing/2014/main" id="{BBB327DF-64D5-469D-9047-B8626958E460}"/>
              </a:ext>
            </a:extLst>
          </p:cNvPr>
          <p:cNvSpPr>
            <a:spLocks xmlns:a="http://schemas.openxmlformats.org/drawingml/2006/main" noGrp="1"/>
          </p:cNvSpPr>
          <p:nvPr/>
        </p:nvSpPr>
        <p:spPr>
          <a:xfrm xmlns:a="http://schemas.openxmlformats.org/drawingml/2006/main">
            <a:off x="800100" y="3676650"/>
            <a:ext cx="5334000" cy="190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38BEA0E7-CB1E-4920-AFA5-BF86D1D0BF74}"/>
              </a:ext>
            </a:extLst>
          </p:cNvPr>
          <p:cNvSpPr>
            <a:spLocks xmlns:a="http://schemas.openxmlformats.org/drawingml/2006/main" noGrp="1"/>
          </p:cNvSpPr>
          <p:nvPr/>
        </p:nvSpPr>
        <p:spPr>
          <a:xfrm xmlns:a="http://schemas.openxmlformats.org/drawingml/2006/main">
            <a:off x="800100" y="3905250"/>
            <a:ext cx="5334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9646A"/>
                </a:solidFill>
                <a:latin typeface="Aptos"/>
                <a:ea typeface="Aptos"/>
                <a:cs typeface="Aptos"/>
              </a:defRPr>
            </a:pPr>
            <a:r>
              <a:rPr sz="1200" b="0">
                <a:solidFill>
                  <a:srgbClr val="59646A"/>
                </a:solidFill>
                <a:latin typeface="Aptos"/>
                <a:ea typeface="Aptos"/>
                <a:cs typeface="Aptos"/>
              </a:rPr>
              <a:t>One focus repair, one content or distribution repair, and one signal, owner, or cadence repair.</a:t>
            </a:r>
          </a:p>
        </p:txBody>
      </p:sp>
      <p:sp>
        <p:nvSpPr>
          <p:cNvPr id="16" name="">
            <a:extLst xmlns:a="http://schemas.openxmlformats.org/drawingml/2006/main">
              <a:ext uri="{FF2B5EF4-FFF2-40B4-BE49-F238E27FC236}">
                <a16:creationId xmlns:a16="http://schemas.microsoft.com/office/drawing/2014/main" id="{6B5A8567-C46E-4D99-96CA-D07B6BCDD4A3}"/>
              </a:ext>
            </a:extLst>
          </p:cNvPr>
          <p:cNvSpPr>
            <a:spLocks xmlns:a="http://schemas.openxmlformats.org/drawingml/2006/main" noGrp="1"/>
          </p:cNvSpPr>
          <p:nvPr/>
        </p:nvSpPr>
        <p:spPr>
          <a:xfrm xmlns:a="http://schemas.openxmlformats.org/drawingml/2006/main">
            <a:off x="7181850" y="2038350"/>
            <a:ext cx="4248150" cy="238125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17" name="">
            <a:extLst xmlns:a="http://schemas.openxmlformats.org/drawingml/2006/main">
              <a:ext uri="{FF2B5EF4-FFF2-40B4-BE49-F238E27FC236}">
                <a16:creationId xmlns:a16="http://schemas.microsoft.com/office/drawing/2014/main" id="{CDD580BD-232A-4E8F-BBEB-BED2CDBB4B01}"/>
              </a:ext>
            </a:extLst>
          </p:cNvPr>
          <p:cNvSpPr>
            <a:spLocks xmlns:a="http://schemas.openxmlformats.org/drawingml/2006/main" noGrp="1"/>
          </p:cNvSpPr>
          <p:nvPr/>
        </p:nvSpPr>
        <p:spPr>
          <a:xfrm xmlns:a="http://schemas.openxmlformats.org/drawingml/2006/main">
            <a:off x="7505700" y="2400300"/>
            <a:ext cx="266700" cy="190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B9842B02-E587-4412-B450-982A5DB6527D}"/>
              </a:ext>
            </a:extLst>
          </p:cNvPr>
          <p:cNvSpPr>
            <a:spLocks xmlns:a="http://schemas.openxmlformats.org/drawingml/2006/main" noGrp="1"/>
          </p:cNvSpPr>
          <p:nvPr/>
        </p:nvSpPr>
        <p:spPr>
          <a:xfrm xmlns:a="http://schemas.openxmlformats.org/drawingml/2006/main">
            <a:off x="7867650" y="23241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INSTRUCTOR STANCE</a:t>
            </a:r>
          </a:p>
        </p:txBody>
      </p:sp>
      <p:sp>
        <p:nvSpPr>
          <p:cNvPr id="19" name="">
            <a:extLst xmlns:a="http://schemas.openxmlformats.org/drawingml/2006/main">
              <a:ext uri="{FF2B5EF4-FFF2-40B4-BE49-F238E27FC236}">
                <a16:creationId xmlns:a16="http://schemas.microsoft.com/office/drawing/2014/main" id="{F1AB97EE-6725-403D-8389-80007147D000}"/>
              </a:ext>
            </a:extLst>
          </p:cNvPr>
          <p:cNvSpPr>
            <a:spLocks xmlns:a="http://schemas.openxmlformats.org/drawingml/2006/main" noGrp="1"/>
          </p:cNvSpPr>
          <p:nvPr/>
        </p:nvSpPr>
        <p:spPr>
          <a:xfrm xmlns:a="http://schemas.openxmlformats.org/drawingml/2006/main">
            <a:off x="7505700" y="2752725"/>
            <a:ext cx="57150" cy="571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5EC777EF-5DBF-4316-8217-A802EEF4EB20}"/>
              </a:ext>
            </a:extLst>
          </p:cNvPr>
          <p:cNvSpPr>
            <a:spLocks xmlns:a="http://schemas.openxmlformats.org/drawingml/2006/main" noGrp="1"/>
          </p:cNvSpPr>
          <p:nvPr/>
        </p:nvSpPr>
        <p:spPr>
          <a:xfrm xmlns:a="http://schemas.openxmlformats.org/drawingml/2006/main">
            <a:off x="7677150" y="2686050"/>
            <a:ext cx="3124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Ask for evidence before opinion.</a:t>
            </a:r>
          </a:p>
        </p:txBody>
      </p:sp>
      <p:sp>
        <p:nvSpPr>
          <p:cNvPr id="21" name="">
            <a:extLst xmlns:a="http://schemas.openxmlformats.org/drawingml/2006/main">
              <a:ext uri="{FF2B5EF4-FFF2-40B4-BE49-F238E27FC236}">
                <a16:creationId xmlns:a16="http://schemas.microsoft.com/office/drawing/2014/main" id="{19AA687E-FB38-45E9-8615-A5EE3E2D7453}"/>
              </a:ext>
            </a:extLst>
          </p:cNvPr>
          <p:cNvSpPr>
            <a:spLocks xmlns:a="http://schemas.openxmlformats.org/drawingml/2006/main" noGrp="1"/>
          </p:cNvSpPr>
          <p:nvPr/>
        </p:nvSpPr>
        <p:spPr>
          <a:xfrm xmlns:a="http://schemas.openxmlformats.org/drawingml/2006/main">
            <a:off x="7505700" y="3152775"/>
            <a:ext cx="57150" cy="571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F2A0A1B3-2642-41B4-9189-8B6B5C5B30EB}"/>
              </a:ext>
            </a:extLst>
          </p:cNvPr>
          <p:cNvSpPr>
            <a:spLocks xmlns:a="http://schemas.openxmlformats.org/drawingml/2006/main" noGrp="1"/>
          </p:cNvSpPr>
          <p:nvPr/>
        </p:nvSpPr>
        <p:spPr>
          <a:xfrm xmlns:a="http://schemas.openxmlformats.org/drawingml/2006/main">
            <a:off x="7677150" y="3086100"/>
            <a:ext cx="3124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Use the workbook for capture.</a:t>
            </a:r>
          </a:p>
        </p:txBody>
      </p:sp>
      <p:sp>
        <p:nvSpPr>
          <p:cNvPr id="23" name="">
            <a:extLst xmlns:a="http://schemas.openxmlformats.org/drawingml/2006/main">
              <a:ext uri="{FF2B5EF4-FFF2-40B4-BE49-F238E27FC236}">
                <a16:creationId xmlns:a16="http://schemas.microsoft.com/office/drawing/2014/main" id="{C79F0CD6-5B45-42D5-ACDC-72714FA3549D}"/>
              </a:ext>
            </a:extLst>
          </p:cNvPr>
          <p:cNvSpPr>
            <a:spLocks xmlns:a="http://schemas.openxmlformats.org/drawingml/2006/main" noGrp="1"/>
          </p:cNvSpPr>
          <p:nvPr/>
        </p:nvSpPr>
        <p:spPr>
          <a:xfrm xmlns:a="http://schemas.openxmlformats.org/drawingml/2006/main">
            <a:off x="7505700" y="3552825"/>
            <a:ext cx="57150" cy="571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74AEE1B2-5A37-4384-B269-A042E513CDB0}"/>
              </a:ext>
            </a:extLst>
          </p:cNvPr>
          <p:cNvSpPr>
            <a:spLocks xmlns:a="http://schemas.openxmlformats.org/drawingml/2006/main" noGrp="1"/>
          </p:cNvSpPr>
          <p:nvPr/>
        </p:nvSpPr>
        <p:spPr>
          <a:xfrm xmlns:a="http://schemas.openxmlformats.org/drawingml/2006/main">
            <a:off x="7677150" y="3486150"/>
            <a:ext cx="3124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Keep AI useful but subordinate to human correction.</a:t>
            </a:r>
          </a:p>
        </p:txBody>
      </p:sp>
      <p:sp>
        <p:nvSpPr>
          <p:cNvPr id="25" name="">
            <a:extLst xmlns:a="http://schemas.openxmlformats.org/drawingml/2006/main">
              <a:ext uri="{FF2B5EF4-FFF2-40B4-BE49-F238E27FC236}">
                <a16:creationId xmlns:a16="http://schemas.microsoft.com/office/drawing/2014/main" id="{9F61503C-7288-4374-A3B6-6CAD65C7EC9A}"/>
              </a:ext>
            </a:extLst>
          </p:cNvPr>
          <p:cNvSpPr>
            <a:spLocks xmlns:a="http://schemas.openxmlformats.org/drawingml/2006/main" noGrp="1"/>
          </p:cNvSpPr>
          <p:nvPr/>
        </p:nvSpPr>
        <p:spPr>
          <a:xfrm xmlns:a="http://schemas.openxmlformats.org/drawingml/2006/main">
            <a:off x="7505700" y="3952875"/>
            <a:ext cx="57150" cy="571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ECAA4970-85D7-44F8-9814-F7B49AB3EDF3}"/>
              </a:ext>
            </a:extLst>
          </p:cNvPr>
          <p:cNvSpPr>
            <a:spLocks xmlns:a="http://schemas.openxmlformats.org/drawingml/2006/main" noGrp="1"/>
          </p:cNvSpPr>
          <p:nvPr/>
        </p:nvSpPr>
        <p:spPr>
          <a:xfrm xmlns:a="http://schemas.openxmlformats.org/drawingml/2006/main">
            <a:off x="7677150" y="3886200"/>
            <a:ext cx="3124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Do not accept generic SaaS or lead-gen answers.</a:t>
            </a:r>
          </a:p>
        </p:txBody>
      </p:sp>
      <p:sp>
        <p:nvSpPr>
          <p:cNvPr id="27" name="">
            <a:extLst xmlns:a="http://schemas.openxmlformats.org/drawingml/2006/main">
              <a:ext uri="{FF2B5EF4-FFF2-40B4-BE49-F238E27FC236}">
                <a16:creationId xmlns:a16="http://schemas.microsoft.com/office/drawing/2014/main" id="{C9FA8B60-47E7-495D-8C17-4B567B30B424}"/>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227C1C17-0CC3-4692-A3D7-85E1949AA24D}"/>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29" name="">
            <a:extLst xmlns:a="http://schemas.openxmlformats.org/drawingml/2006/main">
              <a:ext uri="{FF2B5EF4-FFF2-40B4-BE49-F238E27FC236}">
                <a16:creationId xmlns:a16="http://schemas.microsoft.com/office/drawing/2014/main" id="{D5E544EF-03B7-43E0-B191-7017DF09355E}"/>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30" name="">
            <a:extLst xmlns:a="http://schemas.openxmlformats.org/drawingml/2006/main">
              <a:ext uri="{FF2B5EF4-FFF2-40B4-BE49-F238E27FC236}">
                <a16:creationId xmlns:a16="http://schemas.microsoft.com/office/drawing/2014/main" id="{D2D98D46-7F4F-4A49-A29E-2F0347260FA0}"/>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2/15</a:t>
            </a:r>
          </a:p>
        </p:txBody>
      </p:sp>
    </p:spTree>
    <p:extLst>
      <p:ext uri="{BB962C8B-B14F-4D97-AF65-F5344CB8AC3E}">
        <p14:creationId xmlns:p14="http://schemas.microsoft.com/office/powerpoint/2010/main" val="182755962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CEBFD1-0BB7-4916-8411-14EB1A59CF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8991E05-32E7-4502-8748-70824BAF2F2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6AC1A33-023E-41AA-ADD3-DBCFE3010585}"/>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1-marker">
            <a:extLst xmlns:a="http://schemas.openxmlformats.org/drawingml/2006/main">
              <a:ext uri="{FF2B5EF4-FFF2-40B4-BE49-F238E27FC236}">
                <a16:creationId xmlns:a16="http://schemas.microsoft.com/office/drawing/2014/main" id="{A7F55134-124C-40D4-8494-459075EC1A33}"/>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1-label">
            <a:extLst xmlns:a="http://schemas.openxmlformats.org/drawingml/2006/main">
              <a:ext uri="{FF2B5EF4-FFF2-40B4-BE49-F238E27FC236}">
                <a16:creationId xmlns:a16="http://schemas.microsoft.com/office/drawing/2014/main" id="{AD22FFF9-921D-4014-9445-5211CF495D03}"/>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WHY IT MATTERS</a:t>
            </a:r>
          </a:p>
        </p:txBody>
      </p:sp>
      <p:sp>
        <p:nvSpPr>
          <p:cNvPr id="6" name="">
            <a:extLst xmlns:a="http://schemas.openxmlformats.org/drawingml/2006/main">
              <a:ext uri="{FF2B5EF4-FFF2-40B4-BE49-F238E27FC236}">
                <a16:creationId xmlns:a16="http://schemas.microsoft.com/office/drawing/2014/main" id="{32660B47-A44E-4510-9D09-406389433053}"/>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Industrial GTM punishes shallow assumptions.</a:t>
            </a:r>
          </a:p>
        </p:txBody>
      </p:sp>
      <p:sp>
        <p:nvSpPr>
          <p:cNvPr id="7" name="">
            <a:extLst xmlns:a="http://schemas.openxmlformats.org/drawingml/2006/main">
              <a:ext uri="{FF2B5EF4-FFF2-40B4-BE49-F238E27FC236}">
                <a16:creationId xmlns:a16="http://schemas.microsoft.com/office/drawing/2014/main" id="{710D13CD-0ADF-4C72-82E2-F17541383299}"/>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The instructor should tie every point back to long-cycle risk, committee proof, and trusted circulation.</a:t>
            </a:r>
          </a:p>
        </p:txBody>
      </p:sp>
      <p:sp>
        <p:nvSpPr>
          <p:cNvPr id="8" name="">
            <a:extLst xmlns:a="http://schemas.openxmlformats.org/drawingml/2006/main">
              <a:ext uri="{FF2B5EF4-FFF2-40B4-BE49-F238E27FC236}">
                <a16:creationId xmlns:a16="http://schemas.microsoft.com/office/drawing/2014/main" id="{DB414B6B-383A-4A84-AC72-F2B60BA26D36}"/>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434670C-D435-4711-8063-56B7F6454E72}"/>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10" name="">
            <a:extLst xmlns:a="http://schemas.openxmlformats.org/drawingml/2006/main">
              <a:ext uri="{FF2B5EF4-FFF2-40B4-BE49-F238E27FC236}">
                <a16:creationId xmlns:a16="http://schemas.microsoft.com/office/drawing/2014/main" id="{11C21FBA-1E79-4F43-A270-DF95F55BAC8A}"/>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11" name="">
            <a:extLst xmlns:a="http://schemas.openxmlformats.org/drawingml/2006/main">
              <a:ext uri="{FF2B5EF4-FFF2-40B4-BE49-F238E27FC236}">
                <a16:creationId xmlns:a16="http://schemas.microsoft.com/office/drawing/2014/main" id="{478861FB-ACEF-4BFB-854B-EDE58C62DD16}"/>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3/15</a:t>
            </a:r>
          </a:p>
        </p:txBody>
      </p:sp>
      <p:sp>
        <p:nvSpPr>
          <p:cNvPr id="12" name="">
            <a:extLst xmlns:a="http://schemas.openxmlformats.org/drawingml/2006/main">
              <a:ext uri="{FF2B5EF4-FFF2-40B4-BE49-F238E27FC236}">
                <a16:creationId xmlns:a16="http://schemas.microsoft.com/office/drawing/2014/main" id="{BFDE0B04-AB07-45E6-9BB9-57BF89C05B67}"/>
              </a:ext>
            </a:extLst>
          </p:cNvPr>
          <p:cNvSpPr>
            <a:spLocks xmlns:a="http://schemas.openxmlformats.org/drawingml/2006/main" noGrp="1"/>
          </p:cNvSpPr>
          <p:nvPr/>
        </p:nvSpPr>
        <p:spPr>
          <a:xfrm xmlns:a="http://schemas.openxmlformats.org/drawingml/2006/main">
            <a:off x="514350" y="2019300"/>
            <a:ext cx="5143500" cy="3200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3" name="">
            <a:extLst xmlns:a="http://schemas.openxmlformats.org/drawingml/2006/main">
              <a:ext uri="{FF2B5EF4-FFF2-40B4-BE49-F238E27FC236}">
                <a16:creationId xmlns:a16="http://schemas.microsoft.com/office/drawing/2014/main" id="{F70317EC-7F2E-4BE4-9EC2-8B9137EBD4A9}"/>
              </a:ext>
            </a:extLst>
          </p:cNvPr>
          <p:cNvSpPr>
            <a:spLocks xmlns:a="http://schemas.openxmlformats.org/drawingml/2006/main" noGrp="1"/>
          </p:cNvSpPr>
          <p:nvPr/>
        </p:nvSpPr>
        <p:spPr>
          <a:xfrm xmlns:a="http://schemas.openxmlformats.org/drawingml/2006/main">
            <a:off x="819150" y="23812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9BD9AB4D-E81A-4F6D-A206-FDFE6722E137}"/>
              </a:ext>
            </a:extLst>
          </p:cNvPr>
          <p:cNvSpPr>
            <a:spLocks xmlns:a="http://schemas.openxmlformats.org/drawingml/2006/main" noGrp="1"/>
          </p:cNvSpPr>
          <p:nvPr/>
        </p:nvSpPr>
        <p:spPr>
          <a:xfrm xmlns:a="http://schemas.openxmlformats.org/drawingml/2006/main">
            <a:off x="1181100" y="2305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INDUSTRIAL REALITY</a:t>
            </a:r>
          </a:p>
        </p:txBody>
      </p:sp>
      <p:sp>
        <p:nvSpPr>
          <p:cNvPr id="15" name="">
            <a:extLst xmlns:a="http://schemas.openxmlformats.org/drawingml/2006/main">
              <a:ext uri="{FF2B5EF4-FFF2-40B4-BE49-F238E27FC236}">
                <a16:creationId xmlns:a16="http://schemas.microsoft.com/office/drawing/2014/main" id="{F97D3E07-1D2E-4FF1-AEED-298AC08EF560}"/>
              </a:ext>
            </a:extLst>
          </p:cNvPr>
          <p:cNvSpPr>
            <a:spLocks xmlns:a="http://schemas.openxmlformats.org/drawingml/2006/main" noGrp="1"/>
          </p:cNvSpPr>
          <p:nvPr/>
        </p:nvSpPr>
        <p:spPr>
          <a:xfrm xmlns:a="http://schemas.openxmlformats.org/drawingml/2006/main">
            <a:off x="819150" y="27527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7954CDEF-1864-470A-BE96-2760875CEC22}"/>
              </a:ext>
            </a:extLst>
          </p:cNvPr>
          <p:cNvSpPr>
            <a:spLocks xmlns:a="http://schemas.openxmlformats.org/drawingml/2006/main" noGrp="1"/>
          </p:cNvSpPr>
          <p:nvPr/>
        </p:nvSpPr>
        <p:spPr>
          <a:xfrm xmlns:a="http://schemas.openxmlformats.org/drawingml/2006/main">
            <a:off x="990600" y="2686050"/>
            <a:ext cx="41719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Industrial demand often exists before it is visible in a form, RFQ, or sales call.</a:t>
            </a:r>
          </a:p>
        </p:txBody>
      </p:sp>
      <p:sp>
        <p:nvSpPr>
          <p:cNvPr id="17" name="">
            <a:extLst xmlns:a="http://schemas.openxmlformats.org/drawingml/2006/main">
              <a:ext uri="{FF2B5EF4-FFF2-40B4-BE49-F238E27FC236}">
                <a16:creationId xmlns:a16="http://schemas.microsoft.com/office/drawing/2014/main" id="{4E8A4EE5-E6FA-45C2-B33B-C2CE09328D2A}"/>
              </a:ext>
            </a:extLst>
          </p:cNvPr>
          <p:cNvSpPr>
            <a:spLocks xmlns:a="http://schemas.openxmlformats.org/drawingml/2006/main" noGrp="1"/>
          </p:cNvSpPr>
          <p:nvPr/>
        </p:nvSpPr>
        <p:spPr>
          <a:xfrm xmlns:a="http://schemas.openxmlformats.org/drawingml/2006/main">
            <a:off x="819150" y="322897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8422D4A8-51C3-46DE-8B4A-CD6119F3D3AC}"/>
              </a:ext>
            </a:extLst>
          </p:cNvPr>
          <p:cNvSpPr>
            <a:spLocks xmlns:a="http://schemas.openxmlformats.org/drawingml/2006/main" noGrp="1"/>
          </p:cNvSpPr>
          <p:nvPr/>
        </p:nvSpPr>
        <p:spPr>
          <a:xfrm xmlns:a="http://schemas.openxmlformats.org/drawingml/2006/main">
            <a:off x="990600" y="3162300"/>
            <a:ext cx="41719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Buyers learn through consultants, distributors, exhibitions, peers, technical experts, and internal committees.</a:t>
            </a:r>
          </a:p>
        </p:txBody>
      </p:sp>
      <p:sp>
        <p:nvSpPr>
          <p:cNvPr id="19" name="">
            <a:extLst xmlns:a="http://schemas.openxmlformats.org/drawingml/2006/main">
              <a:ext uri="{FF2B5EF4-FFF2-40B4-BE49-F238E27FC236}">
                <a16:creationId xmlns:a16="http://schemas.microsoft.com/office/drawing/2014/main" id="{200B7103-F1FF-4A2C-8A39-35BF1D5C4775}"/>
              </a:ext>
            </a:extLst>
          </p:cNvPr>
          <p:cNvSpPr>
            <a:spLocks xmlns:a="http://schemas.openxmlformats.org/drawingml/2006/main" noGrp="1"/>
          </p:cNvSpPr>
          <p:nvPr/>
        </p:nvSpPr>
        <p:spPr>
          <a:xfrm xmlns:a="http://schemas.openxmlformats.org/drawingml/2006/main">
            <a:off x="819150" y="37052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598E36FE-554C-44D5-B838-EAB20A8FCFFF}"/>
              </a:ext>
            </a:extLst>
          </p:cNvPr>
          <p:cNvSpPr>
            <a:spLocks xmlns:a="http://schemas.openxmlformats.org/drawingml/2006/main" noGrp="1"/>
          </p:cNvSpPr>
          <p:nvPr/>
        </p:nvSpPr>
        <p:spPr>
          <a:xfrm xmlns:a="http://schemas.openxmlformats.org/drawingml/2006/main">
            <a:off x="990600" y="3638550"/>
            <a:ext cx="41719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Lead volume can rise while high-fit account movement stays flat.</a:t>
            </a:r>
          </a:p>
        </p:txBody>
      </p:sp>
      <p:sp>
        <p:nvSpPr>
          <p:cNvPr id="21" name="">
            <a:extLst xmlns:a="http://schemas.openxmlformats.org/drawingml/2006/main">
              <a:ext uri="{FF2B5EF4-FFF2-40B4-BE49-F238E27FC236}">
                <a16:creationId xmlns:a16="http://schemas.microsoft.com/office/drawing/2014/main" id="{08B49948-4AC7-4183-A874-17A64DBB26A7}"/>
              </a:ext>
            </a:extLst>
          </p:cNvPr>
          <p:cNvSpPr>
            <a:spLocks xmlns:a="http://schemas.openxmlformats.org/drawingml/2006/main" noGrp="1"/>
          </p:cNvSpPr>
          <p:nvPr/>
        </p:nvSpPr>
        <p:spPr>
          <a:xfrm xmlns:a="http://schemas.openxmlformats.org/drawingml/2006/main">
            <a:off x="819150" y="418147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024EEB78-3A5E-49E2-B020-7620BB487306}"/>
              </a:ext>
            </a:extLst>
          </p:cNvPr>
          <p:cNvSpPr>
            <a:spLocks xmlns:a="http://schemas.openxmlformats.org/drawingml/2006/main" noGrp="1"/>
          </p:cNvSpPr>
          <p:nvPr/>
        </p:nvSpPr>
        <p:spPr>
          <a:xfrm xmlns:a="http://schemas.openxmlformats.org/drawingml/2006/main">
            <a:off x="990600" y="4114800"/>
            <a:ext cx="41719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The operating system must connect trust, education, distribution, signal interpretation, buyer enablement,...</a:t>
            </a:r>
          </a:p>
        </p:txBody>
      </p:sp>
      <p:sp>
        <p:nvSpPr>
          <p:cNvPr id="23" name="">
            <a:extLst xmlns:a="http://schemas.openxmlformats.org/drawingml/2006/main">
              <a:ext uri="{FF2B5EF4-FFF2-40B4-BE49-F238E27FC236}">
                <a16:creationId xmlns:a16="http://schemas.microsoft.com/office/drawing/2014/main" id="{A740AE43-0DFE-4CA2-A6EA-92173C05678A}"/>
              </a:ext>
            </a:extLst>
          </p:cNvPr>
          <p:cNvSpPr>
            <a:spLocks xmlns:a="http://schemas.openxmlformats.org/drawingml/2006/main" noGrp="1"/>
          </p:cNvSpPr>
          <p:nvPr/>
        </p:nvSpPr>
        <p:spPr>
          <a:xfrm xmlns:a="http://schemas.openxmlformats.org/drawingml/2006/main">
            <a:off x="6096000" y="2019300"/>
            <a:ext cx="5334000" cy="3200400"/>
          </a:xfrm>
          <a:prstGeom xmlns:a="http://schemas.openxmlformats.org/drawingml/2006/main" prst="rect">
            <a:avLst/>
          </a:prstGeom>
          <a:solidFill xmlns:a="http://schemas.openxmlformats.org/drawingml/2006/main">
            <a:srgbClr val="F9FAF7"/>
          </a:solidFill>
          <a:ln xmlns:a="http://schemas.openxmlformats.org/drawingml/2006/main" w="9525">
            <a:solidFill>
              <a:srgbClr val="D9DDD6"/>
            </a:solidFill>
            <a:prstDash val="solid"/>
          </a:ln>
        </p:spPr>
      </p:sp>
      <p:sp>
        <p:nvSpPr>
          <p:cNvPr id="24" name="">
            <a:extLst xmlns:a="http://schemas.openxmlformats.org/drawingml/2006/main">
              <a:ext uri="{FF2B5EF4-FFF2-40B4-BE49-F238E27FC236}">
                <a16:creationId xmlns:a16="http://schemas.microsoft.com/office/drawing/2014/main" id="{3AB97DC9-2111-4D85-939A-2587B5874184}"/>
              </a:ext>
            </a:extLst>
          </p:cNvPr>
          <p:cNvSpPr>
            <a:spLocks xmlns:a="http://schemas.openxmlformats.org/drawingml/2006/main" noGrp="1"/>
          </p:cNvSpPr>
          <p:nvPr/>
        </p:nvSpPr>
        <p:spPr>
          <a:xfrm xmlns:a="http://schemas.openxmlformats.org/drawingml/2006/main">
            <a:off x="6400800" y="2381250"/>
            <a:ext cx="266700" cy="190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E2550428-A7ED-4E2B-8AF7-958F1CECD7BD}"/>
              </a:ext>
            </a:extLst>
          </p:cNvPr>
          <p:cNvSpPr>
            <a:spLocks xmlns:a="http://schemas.openxmlformats.org/drawingml/2006/main" noGrp="1"/>
          </p:cNvSpPr>
          <p:nvPr/>
        </p:nvSpPr>
        <p:spPr>
          <a:xfrm xmlns:a="http://schemas.openxmlformats.org/drawingml/2006/main">
            <a:off x="6762750" y="2305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INSTRUCTOR CORRECTION</a:t>
            </a:r>
          </a:p>
        </p:txBody>
      </p:sp>
      <p:sp>
        <p:nvSpPr>
          <p:cNvPr id="26" name="">
            <a:extLst xmlns:a="http://schemas.openxmlformats.org/drawingml/2006/main">
              <a:ext uri="{FF2B5EF4-FFF2-40B4-BE49-F238E27FC236}">
                <a16:creationId xmlns:a16="http://schemas.microsoft.com/office/drawing/2014/main" id="{39AF40C2-6C48-4FDD-9B7E-4990F7140F02}"/>
              </a:ext>
            </a:extLst>
          </p:cNvPr>
          <p:cNvSpPr>
            <a:spLocks xmlns:a="http://schemas.openxmlformats.org/drawingml/2006/main" noGrp="1"/>
          </p:cNvSpPr>
          <p:nvPr/>
        </p:nvSpPr>
        <p:spPr>
          <a:xfrm xmlns:a="http://schemas.openxmlformats.org/drawingml/2006/main">
            <a:off x="6400800" y="2724150"/>
            <a:ext cx="247650" cy="247650"/>
          </a:xfrm>
          <a:prstGeom xmlns:a="http://schemas.openxmlformats.org/drawingml/2006/main" prst="rect">
            <a:avLst/>
          </a:prstGeom>
          <a:solidFill xmlns:a="http://schemas.openxmlformats.org/drawingml/2006/main">
            <a:srgbClr val="F0DFD5"/>
          </a:solidFill>
          <a:ln xmlns:a="http://schemas.openxmlformats.org/drawingml/2006/main" w="9525">
            <a:solidFill>
              <a:srgbClr val="A85D2A"/>
            </a:solidFill>
            <a:prstDash val="solid"/>
          </a:ln>
        </p:spPr>
      </p:sp>
      <p:sp>
        <p:nvSpPr>
          <p:cNvPr id="27" name="">
            <a:extLst xmlns:a="http://schemas.openxmlformats.org/drawingml/2006/main">
              <a:ext uri="{FF2B5EF4-FFF2-40B4-BE49-F238E27FC236}">
                <a16:creationId xmlns:a16="http://schemas.microsoft.com/office/drawing/2014/main" id="{E6FE3782-D7A6-4865-B91D-ACA3FCB306E0}"/>
              </a:ext>
            </a:extLst>
          </p:cNvPr>
          <p:cNvSpPr>
            <a:spLocks xmlns:a="http://schemas.openxmlformats.org/drawingml/2006/main" noGrp="1"/>
          </p:cNvSpPr>
          <p:nvPr/>
        </p:nvSpPr>
        <p:spPr>
          <a:xfrm xmlns:a="http://schemas.openxmlformats.org/drawingml/2006/main">
            <a:off x="6400800" y="275272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1</a:t>
            </a:r>
          </a:p>
        </p:txBody>
      </p:sp>
      <p:sp>
        <p:nvSpPr>
          <p:cNvPr id="28" name="">
            <a:extLst xmlns:a="http://schemas.openxmlformats.org/drawingml/2006/main">
              <a:ext uri="{FF2B5EF4-FFF2-40B4-BE49-F238E27FC236}">
                <a16:creationId xmlns:a16="http://schemas.microsoft.com/office/drawing/2014/main" id="{D7696212-B891-4D0A-8119-6990D79BF20C}"/>
              </a:ext>
            </a:extLst>
          </p:cNvPr>
          <p:cNvSpPr>
            <a:spLocks xmlns:a="http://schemas.openxmlformats.org/drawingml/2006/main" noGrp="1"/>
          </p:cNvSpPr>
          <p:nvPr/>
        </p:nvSpPr>
        <p:spPr>
          <a:xfrm xmlns:a="http://schemas.openxmlformats.org/drawingml/2006/main">
            <a:off x="6800850" y="2714625"/>
            <a:ext cx="4019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Move from activity to account movement.</a:t>
            </a:r>
          </a:p>
        </p:txBody>
      </p:sp>
      <p:sp>
        <p:nvSpPr>
          <p:cNvPr id="29" name="">
            <a:extLst xmlns:a="http://schemas.openxmlformats.org/drawingml/2006/main">
              <a:ext uri="{FF2B5EF4-FFF2-40B4-BE49-F238E27FC236}">
                <a16:creationId xmlns:a16="http://schemas.microsoft.com/office/drawing/2014/main" id="{49D079DD-D54B-4C05-A248-43829BD27238}"/>
              </a:ext>
            </a:extLst>
          </p:cNvPr>
          <p:cNvSpPr>
            <a:spLocks xmlns:a="http://schemas.openxmlformats.org/drawingml/2006/main" noGrp="1"/>
          </p:cNvSpPr>
          <p:nvPr/>
        </p:nvSpPr>
        <p:spPr>
          <a:xfrm xmlns:a="http://schemas.openxmlformats.org/drawingml/2006/main">
            <a:off x="6400800" y="3162300"/>
            <a:ext cx="247650" cy="247650"/>
          </a:xfrm>
          <a:prstGeom xmlns:a="http://schemas.openxmlformats.org/drawingml/2006/main" prst="rect">
            <a:avLst/>
          </a:prstGeom>
          <a:solidFill xmlns:a="http://schemas.openxmlformats.org/drawingml/2006/main">
            <a:srgbClr val="F0DFD5"/>
          </a:solidFill>
          <a:ln xmlns:a="http://schemas.openxmlformats.org/drawingml/2006/main" w="9525">
            <a:solidFill>
              <a:srgbClr val="A85D2A"/>
            </a:solidFill>
            <a:prstDash val="solid"/>
          </a:ln>
        </p:spPr>
      </p:sp>
      <p:sp>
        <p:nvSpPr>
          <p:cNvPr id="30" name="">
            <a:extLst xmlns:a="http://schemas.openxmlformats.org/drawingml/2006/main">
              <a:ext uri="{FF2B5EF4-FFF2-40B4-BE49-F238E27FC236}">
                <a16:creationId xmlns:a16="http://schemas.microsoft.com/office/drawing/2014/main" id="{0796A8AC-107F-4CDF-9E34-58DDD2E9346B}"/>
              </a:ext>
            </a:extLst>
          </p:cNvPr>
          <p:cNvSpPr>
            <a:spLocks xmlns:a="http://schemas.openxmlformats.org/drawingml/2006/main" noGrp="1"/>
          </p:cNvSpPr>
          <p:nvPr/>
        </p:nvSpPr>
        <p:spPr>
          <a:xfrm xmlns:a="http://schemas.openxmlformats.org/drawingml/2006/main">
            <a:off x="6400800" y="319087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2</a:t>
            </a:r>
          </a:p>
        </p:txBody>
      </p:sp>
      <p:sp>
        <p:nvSpPr>
          <p:cNvPr id="31" name="">
            <a:extLst xmlns:a="http://schemas.openxmlformats.org/drawingml/2006/main">
              <a:ext uri="{FF2B5EF4-FFF2-40B4-BE49-F238E27FC236}">
                <a16:creationId xmlns:a16="http://schemas.microsoft.com/office/drawing/2014/main" id="{67BEC42B-DA94-4755-BAB9-911505784EFE}"/>
              </a:ext>
            </a:extLst>
          </p:cNvPr>
          <p:cNvSpPr>
            <a:spLocks xmlns:a="http://schemas.openxmlformats.org/drawingml/2006/main" noGrp="1"/>
          </p:cNvSpPr>
          <p:nvPr/>
        </p:nvSpPr>
        <p:spPr>
          <a:xfrm xmlns:a="http://schemas.openxmlformats.org/drawingml/2006/main">
            <a:off x="6800850" y="3152775"/>
            <a:ext cx="4019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Move from one persona to committee risk.</a:t>
            </a:r>
          </a:p>
        </p:txBody>
      </p:sp>
      <p:sp>
        <p:nvSpPr>
          <p:cNvPr id="32" name="">
            <a:extLst xmlns:a="http://schemas.openxmlformats.org/drawingml/2006/main">
              <a:ext uri="{FF2B5EF4-FFF2-40B4-BE49-F238E27FC236}">
                <a16:creationId xmlns:a16="http://schemas.microsoft.com/office/drawing/2014/main" id="{7D9AF11B-5B5F-4A70-83F9-A393BE7302B5}"/>
              </a:ext>
            </a:extLst>
          </p:cNvPr>
          <p:cNvSpPr>
            <a:spLocks xmlns:a="http://schemas.openxmlformats.org/drawingml/2006/main" noGrp="1"/>
          </p:cNvSpPr>
          <p:nvPr/>
        </p:nvSpPr>
        <p:spPr>
          <a:xfrm xmlns:a="http://schemas.openxmlformats.org/drawingml/2006/main">
            <a:off x="6400800" y="3600450"/>
            <a:ext cx="247650" cy="247650"/>
          </a:xfrm>
          <a:prstGeom xmlns:a="http://schemas.openxmlformats.org/drawingml/2006/main" prst="rect">
            <a:avLst/>
          </a:prstGeom>
          <a:solidFill xmlns:a="http://schemas.openxmlformats.org/drawingml/2006/main">
            <a:srgbClr val="F0DFD5"/>
          </a:solidFill>
          <a:ln xmlns:a="http://schemas.openxmlformats.org/drawingml/2006/main" w="9525">
            <a:solidFill>
              <a:srgbClr val="A85D2A"/>
            </a:solidFill>
            <a:prstDash val="solid"/>
          </a:ln>
        </p:spPr>
      </p:sp>
      <p:sp>
        <p:nvSpPr>
          <p:cNvPr id="33" name="">
            <a:extLst xmlns:a="http://schemas.openxmlformats.org/drawingml/2006/main">
              <a:ext uri="{FF2B5EF4-FFF2-40B4-BE49-F238E27FC236}">
                <a16:creationId xmlns:a16="http://schemas.microsoft.com/office/drawing/2014/main" id="{346D619A-2029-448C-B447-EB5442986ACF}"/>
              </a:ext>
            </a:extLst>
          </p:cNvPr>
          <p:cNvSpPr>
            <a:spLocks xmlns:a="http://schemas.openxmlformats.org/drawingml/2006/main" noGrp="1"/>
          </p:cNvSpPr>
          <p:nvPr/>
        </p:nvSpPr>
        <p:spPr>
          <a:xfrm xmlns:a="http://schemas.openxmlformats.org/drawingml/2006/main">
            <a:off x="6400800" y="362902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3</a:t>
            </a:r>
          </a:p>
        </p:txBody>
      </p:sp>
      <p:sp>
        <p:nvSpPr>
          <p:cNvPr id="34" name="">
            <a:extLst xmlns:a="http://schemas.openxmlformats.org/drawingml/2006/main">
              <a:ext uri="{FF2B5EF4-FFF2-40B4-BE49-F238E27FC236}">
                <a16:creationId xmlns:a16="http://schemas.microsoft.com/office/drawing/2014/main" id="{C7528C77-4E2B-4544-A058-E44D550416EA}"/>
              </a:ext>
            </a:extLst>
          </p:cNvPr>
          <p:cNvSpPr>
            <a:spLocks xmlns:a="http://schemas.openxmlformats.org/drawingml/2006/main" noGrp="1"/>
          </p:cNvSpPr>
          <p:nvPr/>
        </p:nvSpPr>
        <p:spPr>
          <a:xfrm xmlns:a="http://schemas.openxmlformats.org/drawingml/2006/main">
            <a:off x="6800850" y="3590925"/>
            <a:ext cx="4019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Move from content volume to buyer uncertainty.</a:t>
            </a:r>
          </a:p>
        </p:txBody>
      </p:sp>
      <p:sp>
        <p:nvSpPr>
          <p:cNvPr id="35" name="">
            <a:extLst xmlns:a="http://schemas.openxmlformats.org/drawingml/2006/main">
              <a:ext uri="{FF2B5EF4-FFF2-40B4-BE49-F238E27FC236}">
                <a16:creationId xmlns:a16="http://schemas.microsoft.com/office/drawing/2014/main" id="{5B6D863A-C001-4B82-9159-A8B5239C57C1}"/>
              </a:ext>
            </a:extLst>
          </p:cNvPr>
          <p:cNvSpPr>
            <a:spLocks xmlns:a="http://schemas.openxmlformats.org/drawingml/2006/main" noGrp="1"/>
          </p:cNvSpPr>
          <p:nvPr/>
        </p:nvSpPr>
        <p:spPr>
          <a:xfrm xmlns:a="http://schemas.openxmlformats.org/drawingml/2006/main">
            <a:off x="6400800" y="4038600"/>
            <a:ext cx="247650" cy="247650"/>
          </a:xfrm>
          <a:prstGeom xmlns:a="http://schemas.openxmlformats.org/drawingml/2006/main" prst="rect">
            <a:avLst/>
          </a:prstGeom>
          <a:solidFill xmlns:a="http://schemas.openxmlformats.org/drawingml/2006/main">
            <a:srgbClr val="F0DFD5"/>
          </a:solidFill>
          <a:ln xmlns:a="http://schemas.openxmlformats.org/drawingml/2006/main" w="9525">
            <a:solidFill>
              <a:srgbClr val="A85D2A"/>
            </a:solidFill>
            <a:prstDash val="solid"/>
          </a:ln>
        </p:spPr>
      </p:sp>
      <p:sp>
        <p:nvSpPr>
          <p:cNvPr id="36" name="">
            <a:extLst xmlns:a="http://schemas.openxmlformats.org/drawingml/2006/main">
              <a:ext uri="{FF2B5EF4-FFF2-40B4-BE49-F238E27FC236}">
                <a16:creationId xmlns:a16="http://schemas.microsoft.com/office/drawing/2014/main" id="{EF10D194-1FB0-419F-8806-CF47E1D41298}"/>
              </a:ext>
            </a:extLst>
          </p:cNvPr>
          <p:cNvSpPr>
            <a:spLocks xmlns:a="http://schemas.openxmlformats.org/drawingml/2006/main" noGrp="1"/>
          </p:cNvSpPr>
          <p:nvPr/>
        </p:nvSpPr>
        <p:spPr>
          <a:xfrm xmlns:a="http://schemas.openxmlformats.org/drawingml/2006/main">
            <a:off x="6400800" y="406717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4</a:t>
            </a:r>
          </a:p>
        </p:txBody>
      </p:sp>
      <p:sp>
        <p:nvSpPr>
          <p:cNvPr id="37" name="">
            <a:extLst xmlns:a="http://schemas.openxmlformats.org/drawingml/2006/main">
              <a:ext uri="{FF2B5EF4-FFF2-40B4-BE49-F238E27FC236}">
                <a16:creationId xmlns:a16="http://schemas.microsoft.com/office/drawing/2014/main" id="{CF9D2EF8-F56D-4371-994C-F1A75A0557F6}"/>
              </a:ext>
            </a:extLst>
          </p:cNvPr>
          <p:cNvSpPr>
            <a:spLocks xmlns:a="http://schemas.openxmlformats.org/drawingml/2006/main" noGrp="1"/>
          </p:cNvSpPr>
          <p:nvPr/>
        </p:nvSpPr>
        <p:spPr>
          <a:xfrm xmlns:a="http://schemas.openxmlformats.org/drawingml/2006/main">
            <a:off x="6800850" y="4029075"/>
            <a:ext cx="4019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Move from engagement scoring to signal interpretation.</a:t>
            </a:r>
          </a:p>
        </p:txBody>
      </p:sp>
      <p:sp>
        <p:nvSpPr>
          <p:cNvPr id="38" name="">
            <a:extLst xmlns:a="http://schemas.openxmlformats.org/drawingml/2006/main">
              <a:ext uri="{FF2B5EF4-FFF2-40B4-BE49-F238E27FC236}">
                <a16:creationId xmlns:a16="http://schemas.microsoft.com/office/drawing/2014/main" id="{FCE50872-7975-46B4-88BB-18C7E90CB76F}"/>
              </a:ext>
            </a:extLst>
          </p:cNvPr>
          <p:cNvSpPr>
            <a:spLocks xmlns:a="http://schemas.openxmlformats.org/drawingml/2006/main" noGrp="1"/>
          </p:cNvSpPr>
          <p:nvPr/>
        </p:nvSpPr>
        <p:spPr>
          <a:xfrm xmlns:a="http://schemas.openxmlformats.org/drawingml/2006/main">
            <a:off x="6400800" y="4476750"/>
            <a:ext cx="247650" cy="247650"/>
          </a:xfrm>
          <a:prstGeom xmlns:a="http://schemas.openxmlformats.org/drawingml/2006/main" prst="rect">
            <a:avLst/>
          </a:prstGeom>
          <a:solidFill xmlns:a="http://schemas.openxmlformats.org/drawingml/2006/main">
            <a:srgbClr val="F0DFD5"/>
          </a:solidFill>
          <a:ln xmlns:a="http://schemas.openxmlformats.org/drawingml/2006/main" w="9525">
            <a:solidFill>
              <a:srgbClr val="A85D2A"/>
            </a:solidFill>
            <a:prstDash val="solid"/>
          </a:ln>
        </p:spPr>
      </p:sp>
      <p:sp>
        <p:nvSpPr>
          <p:cNvPr id="39" name="">
            <a:extLst xmlns:a="http://schemas.openxmlformats.org/drawingml/2006/main">
              <a:ext uri="{FF2B5EF4-FFF2-40B4-BE49-F238E27FC236}">
                <a16:creationId xmlns:a16="http://schemas.microsoft.com/office/drawing/2014/main" id="{BC726366-4792-4742-A372-C0754CE1F4B9}"/>
              </a:ext>
            </a:extLst>
          </p:cNvPr>
          <p:cNvSpPr>
            <a:spLocks xmlns:a="http://schemas.openxmlformats.org/drawingml/2006/main" noGrp="1"/>
          </p:cNvSpPr>
          <p:nvPr/>
        </p:nvSpPr>
        <p:spPr>
          <a:xfrm xmlns:a="http://schemas.openxmlformats.org/drawingml/2006/main">
            <a:off x="6400800" y="450532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5</a:t>
            </a:r>
          </a:p>
        </p:txBody>
      </p:sp>
      <p:sp>
        <p:nvSpPr>
          <p:cNvPr id="40" name="">
            <a:extLst xmlns:a="http://schemas.openxmlformats.org/drawingml/2006/main">
              <a:ext uri="{FF2B5EF4-FFF2-40B4-BE49-F238E27FC236}">
                <a16:creationId xmlns:a16="http://schemas.microsoft.com/office/drawing/2014/main" id="{6598099D-736A-44AA-95A3-84A9D042459C}"/>
              </a:ext>
            </a:extLst>
          </p:cNvPr>
          <p:cNvSpPr>
            <a:spLocks xmlns:a="http://schemas.openxmlformats.org/drawingml/2006/main" noGrp="1"/>
          </p:cNvSpPr>
          <p:nvPr/>
        </p:nvSpPr>
        <p:spPr>
          <a:xfrm xmlns:a="http://schemas.openxmlformats.org/drawingml/2006/main">
            <a:off x="6800850" y="4467225"/>
            <a:ext cx="4019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Move from reporting to weekly operating decisions.</a:t>
            </a:r>
          </a:p>
        </p:txBody>
      </p:sp>
      <p:sp>
        <p:nvSpPr>
          <p:cNvPr id="41" name="">
            <a:extLst xmlns:a="http://schemas.openxmlformats.org/drawingml/2006/main">
              <a:ext uri="{FF2B5EF4-FFF2-40B4-BE49-F238E27FC236}">
                <a16:creationId xmlns:a16="http://schemas.microsoft.com/office/drawing/2014/main" id="{B92481A5-7E67-4F40-A13D-68B7BB4C8685}"/>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40C70CED-708E-415C-B644-190636E1F3B3}"/>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43" name="">
            <a:extLst xmlns:a="http://schemas.openxmlformats.org/drawingml/2006/main">
              <a:ext uri="{FF2B5EF4-FFF2-40B4-BE49-F238E27FC236}">
                <a16:creationId xmlns:a16="http://schemas.microsoft.com/office/drawing/2014/main" id="{619B0F3C-BC6E-4082-B4D2-4B3E2A7A2052}"/>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44" name="">
            <a:extLst xmlns:a="http://schemas.openxmlformats.org/drawingml/2006/main">
              <a:ext uri="{FF2B5EF4-FFF2-40B4-BE49-F238E27FC236}">
                <a16:creationId xmlns:a16="http://schemas.microsoft.com/office/drawing/2014/main" id="{9774A040-C94E-4065-9D48-8623C0E2B1F8}"/>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3/15</a:t>
            </a:r>
          </a:p>
        </p:txBody>
      </p:sp>
    </p:spTree>
    <p:extLst>
      <p:ext uri="{BB962C8B-B14F-4D97-AF65-F5344CB8AC3E}">
        <p14:creationId xmlns:p14="http://schemas.microsoft.com/office/powerpoint/2010/main" val="41527006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49E322F-FED5-4D68-9193-6452C081DE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0F8FC14-EFE5-48DA-B139-95EAD135EB7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195E0F8-4A43-42E4-A1F6-92177459E7A8}"/>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1-marker">
            <a:extLst xmlns:a="http://schemas.openxmlformats.org/drawingml/2006/main">
              <a:ext uri="{FF2B5EF4-FFF2-40B4-BE49-F238E27FC236}">
                <a16:creationId xmlns:a16="http://schemas.microsoft.com/office/drawing/2014/main" id="{31ABA9D5-87DA-42A1-A87D-35F1FF28AF75}"/>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1-label">
            <a:extLst xmlns:a="http://schemas.openxmlformats.org/drawingml/2006/main">
              <a:ext uri="{FF2B5EF4-FFF2-40B4-BE49-F238E27FC236}">
                <a16:creationId xmlns:a16="http://schemas.microsoft.com/office/drawing/2014/main" id="{637D81FE-7C4A-4F0F-A1F9-B6F24E432B9A}"/>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CORE FRAMEWORK</a:t>
            </a:r>
          </a:p>
        </p:txBody>
      </p:sp>
      <p:sp>
        <p:nvSpPr>
          <p:cNvPr id="6" name="">
            <a:extLst xmlns:a="http://schemas.openxmlformats.org/drawingml/2006/main">
              <a:ext uri="{FF2B5EF4-FFF2-40B4-BE49-F238E27FC236}">
                <a16:creationId xmlns:a16="http://schemas.microsoft.com/office/drawing/2014/main" id="{BF2E2C9F-7B6A-420C-8243-9EAFCF4A2677}"/>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The demand engine only works when all seven jobs connect.</a:t>
            </a:r>
          </a:p>
        </p:txBody>
      </p:sp>
      <p:sp>
        <p:nvSpPr>
          <p:cNvPr id="7" name="">
            <a:extLst xmlns:a="http://schemas.openxmlformats.org/drawingml/2006/main">
              <a:ext uri="{FF2B5EF4-FFF2-40B4-BE49-F238E27FC236}">
                <a16:creationId xmlns:a16="http://schemas.microsoft.com/office/drawing/2014/main" id="{17ECD08F-3121-40AC-8FB3-AA6D19FC2E53}"/>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Use the diagram as the visual anchor; the visible path is the teachable sequence.</a:t>
            </a:r>
          </a:p>
        </p:txBody>
      </p:sp>
      <p:sp>
        <p:nvSpPr>
          <p:cNvPr id="8" name="">
            <a:extLst xmlns:a="http://schemas.openxmlformats.org/drawingml/2006/main">
              <a:ext uri="{FF2B5EF4-FFF2-40B4-BE49-F238E27FC236}">
                <a16:creationId xmlns:a16="http://schemas.microsoft.com/office/drawing/2014/main" id="{8B51BA14-D0ED-4B72-B986-9673A903F87C}"/>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61C8EFB-3B10-4360-ABED-AF2AC4ACBE6C}"/>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10" name="">
            <a:extLst xmlns:a="http://schemas.openxmlformats.org/drawingml/2006/main">
              <a:ext uri="{FF2B5EF4-FFF2-40B4-BE49-F238E27FC236}">
                <a16:creationId xmlns:a16="http://schemas.microsoft.com/office/drawing/2014/main" id="{648E470C-106A-4B1B-BF2C-1A1A86009FC6}"/>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11" name="">
            <a:extLst xmlns:a="http://schemas.openxmlformats.org/drawingml/2006/main">
              <a:ext uri="{FF2B5EF4-FFF2-40B4-BE49-F238E27FC236}">
                <a16:creationId xmlns:a16="http://schemas.microsoft.com/office/drawing/2014/main" id="{92AEB39C-8286-4330-B059-D56A7EC5072C}"/>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4/15</a:t>
            </a:r>
          </a:p>
        </p:txBody>
      </p:sp>
      <p:sp>
        <p:nvSpPr>
          <p:cNvPr id="12" name="">
            <a:extLst xmlns:a="http://schemas.openxmlformats.org/drawingml/2006/main">
              <a:ext uri="{FF2B5EF4-FFF2-40B4-BE49-F238E27FC236}">
                <a16:creationId xmlns:a16="http://schemas.microsoft.com/office/drawing/2014/main" id="{19E13FFB-ED3B-4CE6-A84D-A19E9B0B1145}"/>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263544A5-9A23-456A-85B3-B5C8F011E443}"/>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CFCFA"/>
          </a:solidFill>
          <a:ln xmlns:a="http://schemas.openxmlformats.org/drawingml/2006/main" w="9525">
            <a:solidFill>
              <a:srgbClr val="D9DDD6"/>
            </a:solidFill>
            <a:prstDash val="solid"/>
          </a:ln>
        </p:spPr>
      </p:sp>
      <p:sp>
        <p:nvSpPr>
          <p:cNvPr id="14" name="">
            <a:extLst xmlns:a="http://schemas.openxmlformats.org/drawingml/2006/main">
              <a:ext uri="{FF2B5EF4-FFF2-40B4-BE49-F238E27FC236}">
                <a16:creationId xmlns:a16="http://schemas.microsoft.com/office/drawing/2014/main" id="{6717A1EF-D8B9-48D3-AC29-6814DC0B0AF7}"/>
              </a:ext>
            </a:extLst>
          </p:cNvPr>
          <p:cNvSpPr>
            <a:spLocks xmlns:a="http://schemas.openxmlformats.org/drawingml/2006/main" noGrp="1"/>
          </p:cNvSpPr>
          <p:nvPr/>
        </p:nvSpPr>
        <p:spPr>
          <a:xfrm xmlns:a="http://schemas.openxmlformats.org/drawingml/2006/main">
            <a:off x="457200" y="21145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FED101E6-E4A8-466C-963F-486DA89743E8}"/>
              </a:ext>
            </a:extLst>
          </p:cNvPr>
          <p:cNvSpPr>
            <a:spLocks xmlns:a="http://schemas.openxmlformats.org/drawingml/2006/main" noGrp="1"/>
          </p:cNvSpPr>
          <p:nvPr/>
        </p:nvSpPr>
        <p:spPr>
          <a:xfrm xmlns:a="http://schemas.openxmlformats.org/drawingml/2006/main">
            <a:off x="819150" y="20383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NATIVE OPERATING DIAGRAM</a:t>
            </a:r>
          </a:p>
        </p:txBody>
      </p:sp>
      <p:sp>
        <p:nvSpPr>
          <p:cNvPr id="16" name="">
            <a:extLst xmlns:a="http://schemas.openxmlformats.org/drawingml/2006/main">
              <a:ext uri="{FF2B5EF4-FFF2-40B4-BE49-F238E27FC236}">
                <a16:creationId xmlns:a16="http://schemas.microsoft.com/office/drawing/2014/main" id="{421D972F-5206-4BB4-B3CA-12C4AC54A024}"/>
              </a:ext>
            </a:extLst>
          </p:cNvPr>
          <p:cNvSpPr>
            <a:spLocks xmlns:a="http://schemas.openxmlformats.org/drawingml/2006/main" noGrp="1"/>
          </p:cNvSpPr>
          <p:nvPr/>
        </p:nvSpPr>
        <p:spPr>
          <a:xfrm xmlns:a="http://schemas.openxmlformats.org/drawingml/2006/main">
            <a:off x="495300" y="2686050"/>
            <a:ext cx="26098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7" name="">
            <a:extLst xmlns:a="http://schemas.openxmlformats.org/drawingml/2006/main">
              <a:ext uri="{FF2B5EF4-FFF2-40B4-BE49-F238E27FC236}">
                <a16:creationId xmlns:a16="http://schemas.microsoft.com/office/drawing/2014/main" id="{C17B6F1B-7A52-4D10-A32F-363CE2695D39}"/>
              </a:ext>
            </a:extLst>
          </p:cNvPr>
          <p:cNvSpPr>
            <a:spLocks xmlns:a="http://schemas.openxmlformats.org/drawingml/2006/main" noGrp="1"/>
          </p:cNvSpPr>
          <p:nvPr/>
        </p:nvSpPr>
        <p:spPr>
          <a:xfrm xmlns:a="http://schemas.openxmlformats.org/drawingml/2006/main">
            <a:off x="495300" y="2686050"/>
            <a:ext cx="26098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650CF0AC-911B-48BF-A400-FBFCA8703785}"/>
              </a:ext>
            </a:extLst>
          </p:cNvPr>
          <p:cNvSpPr>
            <a:spLocks xmlns:a="http://schemas.openxmlformats.org/drawingml/2006/main" noGrp="1"/>
          </p:cNvSpPr>
          <p:nvPr/>
        </p:nvSpPr>
        <p:spPr>
          <a:xfrm xmlns:a="http://schemas.openxmlformats.org/drawingml/2006/main">
            <a:off x="609600" y="285750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1D6072"/>
                </a:solidFill>
                <a:latin typeface="Aptos"/>
                <a:ea typeface="Aptos"/>
                <a:cs typeface="Aptos"/>
              </a:defRPr>
            </a:pPr>
            <a:r>
              <a:rPr sz="975" b="1">
                <a:solidFill>
                  <a:srgbClr val="1D6072"/>
                </a:solidFill>
                <a:latin typeface="Aptos"/>
                <a:ea typeface="Aptos"/>
                <a:cs typeface="Aptos"/>
              </a:rPr>
              <a:t>1</a:t>
            </a:r>
          </a:p>
        </p:txBody>
      </p:sp>
      <p:sp>
        <p:nvSpPr>
          <p:cNvPr id="19" name="">
            <a:extLst xmlns:a="http://schemas.openxmlformats.org/drawingml/2006/main">
              <a:ext uri="{FF2B5EF4-FFF2-40B4-BE49-F238E27FC236}">
                <a16:creationId xmlns:a16="http://schemas.microsoft.com/office/drawing/2014/main" id="{CB55E33E-08FB-400C-98C0-1D33148B74F9}"/>
              </a:ext>
            </a:extLst>
          </p:cNvPr>
          <p:cNvSpPr>
            <a:spLocks xmlns:a="http://schemas.openxmlformats.org/drawingml/2006/main" noGrp="1"/>
          </p:cNvSpPr>
          <p:nvPr/>
        </p:nvSpPr>
        <p:spPr>
          <a:xfrm xmlns:a="http://schemas.openxmlformats.org/drawingml/2006/main">
            <a:off x="895350" y="2838450"/>
            <a:ext cx="2076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026"/>
                </a:solidFill>
                <a:latin typeface="Aptos"/>
                <a:ea typeface="Aptos"/>
                <a:cs typeface="Aptos"/>
              </a:defRPr>
            </a:pPr>
            <a:r>
              <a:rPr sz="900" b="1">
                <a:solidFill>
                  <a:srgbClr val="172026"/>
                </a:solidFill>
                <a:latin typeface="Aptos"/>
                <a:ea typeface="Aptos"/>
                <a:cs typeface="Aptos"/>
              </a:rPr>
              <a:t>Revenue goal and market focus</a:t>
            </a:r>
          </a:p>
        </p:txBody>
      </p:sp>
      <p:sp>
        <p:nvSpPr>
          <p:cNvPr id="20" name="">
            <a:extLst xmlns:a="http://schemas.openxmlformats.org/drawingml/2006/main">
              <a:ext uri="{FF2B5EF4-FFF2-40B4-BE49-F238E27FC236}">
                <a16:creationId xmlns:a16="http://schemas.microsoft.com/office/drawing/2014/main" id="{B5E6B5D2-8B2B-468E-88DD-1449A0C19314}"/>
              </a:ext>
            </a:extLst>
          </p:cNvPr>
          <p:cNvSpPr>
            <a:spLocks xmlns:a="http://schemas.openxmlformats.org/drawingml/2006/main" noGrp="1"/>
          </p:cNvSpPr>
          <p:nvPr/>
        </p:nvSpPr>
        <p:spPr>
          <a:xfrm xmlns:a="http://schemas.openxmlformats.org/drawingml/2006/main">
            <a:off x="3143250" y="3143250"/>
            <a:ext cx="152400" cy="19050"/>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44CDFFB3-93B6-4940-BB09-AFBDB2BC7B88}"/>
              </a:ext>
            </a:extLst>
          </p:cNvPr>
          <p:cNvSpPr>
            <a:spLocks xmlns:a="http://schemas.openxmlformats.org/drawingml/2006/main" noGrp="1"/>
          </p:cNvSpPr>
          <p:nvPr/>
        </p:nvSpPr>
        <p:spPr>
          <a:xfrm xmlns:a="http://schemas.openxmlformats.org/drawingml/2006/main">
            <a:off x="3314700" y="2686050"/>
            <a:ext cx="26098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22" name="">
            <a:extLst xmlns:a="http://schemas.openxmlformats.org/drawingml/2006/main">
              <a:ext uri="{FF2B5EF4-FFF2-40B4-BE49-F238E27FC236}">
                <a16:creationId xmlns:a16="http://schemas.microsoft.com/office/drawing/2014/main" id="{8D99945D-BB4E-4178-A51F-9EE1A59072CA}"/>
              </a:ext>
            </a:extLst>
          </p:cNvPr>
          <p:cNvSpPr>
            <a:spLocks xmlns:a="http://schemas.openxmlformats.org/drawingml/2006/main" noGrp="1"/>
          </p:cNvSpPr>
          <p:nvPr/>
        </p:nvSpPr>
        <p:spPr>
          <a:xfrm xmlns:a="http://schemas.openxmlformats.org/drawingml/2006/main">
            <a:off x="3314700" y="2686050"/>
            <a:ext cx="26098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1D8C6597-FE97-4C36-AD08-D911E35C0303}"/>
              </a:ext>
            </a:extLst>
          </p:cNvPr>
          <p:cNvSpPr>
            <a:spLocks xmlns:a="http://schemas.openxmlformats.org/drawingml/2006/main" noGrp="1"/>
          </p:cNvSpPr>
          <p:nvPr/>
        </p:nvSpPr>
        <p:spPr>
          <a:xfrm xmlns:a="http://schemas.openxmlformats.org/drawingml/2006/main">
            <a:off x="3429000" y="285750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A85D2A"/>
                </a:solidFill>
                <a:latin typeface="Aptos"/>
                <a:ea typeface="Aptos"/>
                <a:cs typeface="Aptos"/>
              </a:defRPr>
            </a:pPr>
            <a:r>
              <a:rPr sz="975" b="1">
                <a:solidFill>
                  <a:srgbClr val="A85D2A"/>
                </a:solidFill>
                <a:latin typeface="Aptos"/>
                <a:ea typeface="Aptos"/>
                <a:cs typeface="Aptos"/>
              </a:rPr>
              <a:t>2</a:t>
            </a:r>
          </a:p>
        </p:txBody>
      </p:sp>
      <p:sp>
        <p:nvSpPr>
          <p:cNvPr id="24" name="">
            <a:extLst xmlns:a="http://schemas.openxmlformats.org/drawingml/2006/main">
              <a:ext uri="{FF2B5EF4-FFF2-40B4-BE49-F238E27FC236}">
                <a16:creationId xmlns:a16="http://schemas.microsoft.com/office/drawing/2014/main" id="{D858B593-F10A-4F16-96DA-0076F8A668F6}"/>
              </a:ext>
            </a:extLst>
          </p:cNvPr>
          <p:cNvSpPr>
            <a:spLocks xmlns:a="http://schemas.openxmlformats.org/drawingml/2006/main" noGrp="1"/>
          </p:cNvSpPr>
          <p:nvPr/>
        </p:nvSpPr>
        <p:spPr>
          <a:xfrm xmlns:a="http://schemas.openxmlformats.org/drawingml/2006/main">
            <a:off x="3714750" y="2838450"/>
            <a:ext cx="2076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026"/>
                </a:solidFill>
                <a:latin typeface="Aptos"/>
                <a:ea typeface="Aptos"/>
                <a:cs typeface="Aptos"/>
              </a:defRPr>
            </a:pPr>
            <a:r>
              <a:rPr sz="900" b="1">
                <a:solidFill>
                  <a:srgbClr val="172026"/>
                </a:solidFill>
                <a:latin typeface="Aptos"/>
                <a:ea typeface="Aptos"/>
                <a:cs typeface="Aptos"/>
              </a:rPr>
              <a:t>ICP and buying committee</a:t>
            </a:r>
          </a:p>
        </p:txBody>
      </p:sp>
      <p:sp>
        <p:nvSpPr>
          <p:cNvPr id="25" name="">
            <a:extLst xmlns:a="http://schemas.openxmlformats.org/drawingml/2006/main">
              <a:ext uri="{FF2B5EF4-FFF2-40B4-BE49-F238E27FC236}">
                <a16:creationId xmlns:a16="http://schemas.microsoft.com/office/drawing/2014/main" id="{92F718DD-7DF1-434B-B0AF-3B80E5EBB735}"/>
              </a:ext>
            </a:extLst>
          </p:cNvPr>
          <p:cNvSpPr>
            <a:spLocks xmlns:a="http://schemas.openxmlformats.org/drawingml/2006/main" noGrp="1"/>
          </p:cNvSpPr>
          <p:nvPr/>
        </p:nvSpPr>
        <p:spPr>
          <a:xfrm xmlns:a="http://schemas.openxmlformats.org/drawingml/2006/main">
            <a:off x="5962650" y="3143250"/>
            <a:ext cx="152400" cy="19050"/>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8F7F5ACD-7EEE-4EF0-83D4-87F4CE2DA44D}"/>
              </a:ext>
            </a:extLst>
          </p:cNvPr>
          <p:cNvSpPr>
            <a:spLocks xmlns:a="http://schemas.openxmlformats.org/drawingml/2006/main" noGrp="1"/>
          </p:cNvSpPr>
          <p:nvPr/>
        </p:nvSpPr>
        <p:spPr>
          <a:xfrm xmlns:a="http://schemas.openxmlformats.org/drawingml/2006/main">
            <a:off x="6134100" y="2686050"/>
            <a:ext cx="26098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27" name="">
            <a:extLst xmlns:a="http://schemas.openxmlformats.org/drawingml/2006/main">
              <a:ext uri="{FF2B5EF4-FFF2-40B4-BE49-F238E27FC236}">
                <a16:creationId xmlns:a16="http://schemas.microsoft.com/office/drawing/2014/main" id="{B1E38206-734D-42F4-8996-3CB820C5BCC0}"/>
              </a:ext>
            </a:extLst>
          </p:cNvPr>
          <p:cNvSpPr>
            <a:spLocks xmlns:a="http://schemas.openxmlformats.org/drawingml/2006/main" noGrp="1"/>
          </p:cNvSpPr>
          <p:nvPr/>
        </p:nvSpPr>
        <p:spPr>
          <a:xfrm xmlns:a="http://schemas.openxmlformats.org/drawingml/2006/main">
            <a:off x="6134100" y="2686050"/>
            <a:ext cx="2609850" cy="57150"/>
          </a:xfrm>
          <a:prstGeom xmlns:a="http://schemas.openxmlformats.org/drawingml/2006/main" prst="rect">
            <a:avLst/>
          </a:prstGeom>
          <a:solidFill xmlns:a="http://schemas.openxmlformats.org/drawingml/2006/main">
            <a:srgbClr val="667A39"/>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E8949C70-CB86-4C96-A461-B0FBC7E132B7}"/>
              </a:ext>
            </a:extLst>
          </p:cNvPr>
          <p:cNvSpPr>
            <a:spLocks xmlns:a="http://schemas.openxmlformats.org/drawingml/2006/main" noGrp="1"/>
          </p:cNvSpPr>
          <p:nvPr/>
        </p:nvSpPr>
        <p:spPr>
          <a:xfrm xmlns:a="http://schemas.openxmlformats.org/drawingml/2006/main">
            <a:off x="6248400" y="285750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667A39"/>
                </a:solidFill>
                <a:latin typeface="Aptos"/>
                <a:ea typeface="Aptos"/>
                <a:cs typeface="Aptos"/>
              </a:defRPr>
            </a:pPr>
            <a:r>
              <a:rPr sz="975" b="1">
                <a:solidFill>
                  <a:srgbClr val="667A39"/>
                </a:solidFill>
                <a:latin typeface="Aptos"/>
                <a:ea typeface="Aptos"/>
                <a:cs typeface="Aptos"/>
              </a:rPr>
              <a:t>3</a:t>
            </a:r>
          </a:p>
        </p:txBody>
      </p:sp>
      <p:sp>
        <p:nvSpPr>
          <p:cNvPr id="29" name="">
            <a:extLst xmlns:a="http://schemas.openxmlformats.org/drawingml/2006/main">
              <a:ext uri="{FF2B5EF4-FFF2-40B4-BE49-F238E27FC236}">
                <a16:creationId xmlns:a16="http://schemas.microsoft.com/office/drawing/2014/main" id="{02EA24ED-E238-4527-A15E-7FB5A784E41D}"/>
              </a:ext>
            </a:extLst>
          </p:cNvPr>
          <p:cNvSpPr>
            <a:spLocks xmlns:a="http://schemas.openxmlformats.org/drawingml/2006/main" noGrp="1"/>
          </p:cNvSpPr>
          <p:nvPr/>
        </p:nvSpPr>
        <p:spPr>
          <a:xfrm xmlns:a="http://schemas.openxmlformats.org/drawingml/2006/main">
            <a:off x="6534150" y="2838450"/>
            <a:ext cx="2076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026"/>
                </a:solidFill>
                <a:latin typeface="Aptos"/>
                <a:ea typeface="Aptos"/>
                <a:cs typeface="Aptos"/>
              </a:defRPr>
            </a:pPr>
            <a:r>
              <a:rPr sz="900" b="1">
                <a:solidFill>
                  <a:srgbClr val="172026"/>
                </a:solidFill>
                <a:latin typeface="Aptos"/>
                <a:ea typeface="Aptos"/>
                <a:cs typeface="Aptos"/>
              </a:rPr>
              <a:t>MOIN and proof assets</a:t>
            </a:r>
          </a:p>
        </p:txBody>
      </p:sp>
      <p:sp>
        <p:nvSpPr>
          <p:cNvPr id="30" name="">
            <a:extLst xmlns:a="http://schemas.openxmlformats.org/drawingml/2006/main">
              <a:ext uri="{FF2B5EF4-FFF2-40B4-BE49-F238E27FC236}">
                <a16:creationId xmlns:a16="http://schemas.microsoft.com/office/drawing/2014/main" id="{02D1C8D4-A1CE-4445-99FB-F7AFE6540212}"/>
              </a:ext>
            </a:extLst>
          </p:cNvPr>
          <p:cNvSpPr>
            <a:spLocks xmlns:a="http://schemas.openxmlformats.org/drawingml/2006/main" noGrp="1"/>
          </p:cNvSpPr>
          <p:nvPr/>
        </p:nvSpPr>
        <p:spPr>
          <a:xfrm xmlns:a="http://schemas.openxmlformats.org/drawingml/2006/main">
            <a:off x="8782050" y="3143250"/>
            <a:ext cx="152400" cy="19050"/>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5965E3B0-59E3-46F5-ABAB-C0619316CBB9}"/>
              </a:ext>
            </a:extLst>
          </p:cNvPr>
          <p:cNvSpPr>
            <a:spLocks xmlns:a="http://schemas.openxmlformats.org/drawingml/2006/main" noGrp="1"/>
          </p:cNvSpPr>
          <p:nvPr/>
        </p:nvSpPr>
        <p:spPr>
          <a:xfrm xmlns:a="http://schemas.openxmlformats.org/drawingml/2006/main">
            <a:off x="8953500" y="2686050"/>
            <a:ext cx="26098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32" name="">
            <a:extLst xmlns:a="http://schemas.openxmlformats.org/drawingml/2006/main">
              <a:ext uri="{FF2B5EF4-FFF2-40B4-BE49-F238E27FC236}">
                <a16:creationId xmlns:a16="http://schemas.microsoft.com/office/drawing/2014/main" id="{E21826C3-4772-47CB-8DE6-41E436834074}"/>
              </a:ext>
            </a:extLst>
          </p:cNvPr>
          <p:cNvSpPr>
            <a:spLocks xmlns:a="http://schemas.openxmlformats.org/drawingml/2006/main" noGrp="1"/>
          </p:cNvSpPr>
          <p:nvPr/>
        </p:nvSpPr>
        <p:spPr>
          <a:xfrm xmlns:a="http://schemas.openxmlformats.org/drawingml/2006/main">
            <a:off x="8953500" y="2686050"/>
            <a:ext cx="2609850" cy="571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F58F05D4-D221-44EB-9BE1-E210993BA9F9}"/>
              </a:ext>
            </a:extLst>
          </p:cNvPr>
          <p:cNvSpPr>
            <a:spLocks xmlns:a="http://schemas.openxmlformats.org/drawingml/2006/main" noGrp="1"/>
          </p:cNvSpPr>
          <p:nvPr/>
        </p:nvSpPr>
        <p:spPr>
          <a:xfrm xmlns:a="http://schemas.openxmlformats.org/drawingml/2006/main">
            <a:off x="9067800" y="285750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B7953B"/>
                </a:solidFill>
                <a:latin typeface="Aptos"/>
                <a:ea typeface="Aptos"/>
                <a:cs typeface="Aptos"/>
              </a:defRPr>
            </a:pPr>
            <a:r>
              <a:rPr sz="975" b="1">
                <a:solidFill>
                  <a:srgbClr val="B7953B"/>
                </a:solidFill>
                <a:latin typeface="Aptos"/>
                <a:ea typeface="Aptos"/>
                <a:cs typeface="Aptos"/>
              </a:rPr>
              <a:t>4</a:t>
            </a:r>
          </a:p>
        </p:txBody>
      </p:sp>
      <p:sp>
        <p:nvSpPr>
          <p:cNvPr id="34" name="">
            <a:extLst xmlns:a="http://schemas.openxmlformats.org/drawingml/2006/main">
              <a:ext uri="{FF2B5EF4-FFF2-40B4-BE49-F238E27FC236}">
                <a16:creationId xmlns:a16="http://schemas.microsoft.com/office/drawing/2014/main" id="{6D693917-99FE-4FBC-934A-A7B8288B7890}"/>
              </a:ext>
            </a:extLst>
          </p:cNvPr>
          <p:cNvSpPr>
            <a:spLocks xmlns:a="http://schemas.openxmlformats.org/drawingml/2006/main" noGrp="1"/>
          </p:cNvSpPr>
          <p:nvPr/>
        </p:nvSpPr>
        <p:spPr>
          <a:xfrm xmlns:a="http://schemas.openxmlformats.org/drawingml/2006/main">
            <a:off x="9353550" y="2838450"/>
            <a:ext cx="2076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026"/>
                </a:solidFill>
                <a:latin typeface="Aptos"/>
                <a:ea typeface="Aptos"/>
                <a:cs typeface="Aptos"/>
              </a:defRPr>
            </a:pPr>
            <a:r>
              <a:rPr sz="900" b="1">
                <a:solidFill>
                  <a:srgbClr val="172026"/>
                </a:solidFill>
                <a:latin typeface="Aptos"/>
                <a:ea typeface="Aptos"/>
                <a:cs typeface="Aptos"/>
              </a:rPr>
              <a:t>Trusted distribution</a:t>
            </a:r>
          </a:p>
        </p:txBody>
      </p:sp>
      <p:sp>
        <p:nvSpPr>
          <p:cNvPr id="35" name="">
            <a:extLst xmlns:a="http://schemas.openxmlformats.org/drawingml/2006/main">
              <a:ext uri="{FF2B5EF4-FFF2-40B4-BE49-F238E27FC236}">
                <a16:creationId xmlns:a16="http://schemas.microsoft.com/office/drawing/2014/main" id="{A30053A3-51CD-47BB-818D-A2D4326D78F6}"/>
              </a:ext>
            </a:extLst>
          </p:cNvPr>
          <p:cNvSpPr>
            <a:spLocks xmlns:a="http://schemas.openxmlformats.org/drawingml/2006/main" noGrp="1"/>
          </p:cNvSpPr>
          <p:nvPr/>
        </p:nvSpPr>
        <p:spPr>
          <a:xfrm xmlns:a="http://schemas.openxmlformats.org/drawingml/2006/main">
            <a:off x="495300" y="4076700"/>
            <a:ext cx="26098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36" name="">
            <a:extLst xmlns:a="http://schemas.openxmlformats.org/drawingml/2006/main">
              <a:ext uri="{FF2B5EF4-FFF2-40B4-BE49-F238E27FC236}">
                <a16:creationId xmlns:a16="http://schemas.microsoft.com/office/drawing/2014/main" id="{863558A4-8FC9-464D-B2C6-0551500F520B}"/>
              </a:ext>
            </a:extLst>
          </p:cNvPr>
          <p:cNvSpPr>
            <a:spLocks xmlns:a="http://schemas.openxmlformats.org/drawingml/2006/main" noGrp="1"/>
          </p:cNvSpPr>
          <p:nvPr/>
        </p:nvSpPr>
        <p:spPr>
          <a:xfrm xmlns:a="http://schemas.openxmlformats.org/drawingml/2006/main">
            <a:off x="495300" y="4076700"/>
            <a:ext cx="26098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CF6D7410-6E81-4BF0-BDAD-B2CA28FC7B2D}"/>
              </a:ext>
            </a:extLst>
          </p:cNvPr>
          <p:cNvSpPr>
            <a:spLocks xmlns:a="http://schemas.openxmlformats.org/drawingml/2006/main" noGrp="1"/>
          </p:cNvSpPr>
          <p:nvPr/>
        </p:nvSpPr>
        <p:spPr>
          <a:xfrm xmlns:a="http://schemas.openxmlformats.org/drawingml/2006/main">
            <a:off x="609600" y="424815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1D6072"/>
                </a:solidFill>
                <a:latin typeface="Aptos"/>
                <a:ea typeface="Aptos"/>
                <a:cs typeface="Aptos"/>
              </a:defRPr>
            </a:pPr>
            <a:r>
              <a:rPr sz="975" b="1">
                <a:solidFill>
                  <a:srgbClr val="1D6072"/>
                </a:solidFill>
                <a:latin typeface="Aptos"/>
                <a:ea typeface="Aptos"/>
                <a:cs typeface="Aptos"/>
              </a:rPr>
              <a:t>5</a:t>
            </a:r>
          </a:p>
        </p:txBody>
      </p:sp>
      <p:sp>
        <p:nvSpPr>
          <p:cNvPr id="38" name="">
            <a:extLst xmlns:a="http://schemas.openxmlformats.org/drawingml/2006/main">
              <a:ext uri="{FF2B5EF4-FFF2-40B4-BE49-F238E27FC236}">
                <a16:creationId xmlns:a16="http://schemas.microsoft.com/office/drawing/2014/main" id="{A7DEA360-D07E-48A4-8B14-594E71529648}"/>
              </a:ext>
            </a:extLst>
          </p:cNvPr>
          <p:cNvSpPr>
            <a:spLocks xmlns:a="http://schemas.openxmlformats.org/drawingml/2006/main" noGrp="1"/>
          </p:cNvSpPr>
          <p:nvPr/>
        </p:nvSpPr>
        <p:spPr>
          <a:xfrm xmlns:a="http://schemas.openxmlformats.org/drawingml/2006/main">
            <a:off x="895350" y="4229100"/>
            <a:ext cx="2076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026"/>
                </a:solidFill>
                <a:latin typeface="Aptos"/>
                <a:ea typeface="Aptos"/>
                <a:cs typeface="Aptos"/>
              </a:defRPr>
            </a:pPr>
            <a:r>
              <a:rPr sz="900" b="1">
                <a:solidFill>
                  <a:srgbClr val="172026"/>
                </a:solidFill>
                <a:latin typeface="Aptos"/>
                <a:ea typeface="Aptos"/>
                <a:cs typeface="Aptos"/>
              </a:rPr>
              <a:t>Account-level signals</a:t>
            </a:r>
          </a:p>
        </p:txBody>
      </p:sp>
      <p:sp>
        <p:nvSpPr>
          <p:cNvPr id="39" name="">
            <a:extLst xmlns:a="http://schemas.openxmlformats.org/drawingml/2006/main">
              <a:ext uri="{FF2B5EF4-FFF2-40B4-BE49-F238E27FC236}">
                <a16:creationId xmlns:a16="http://schemas.microsoft.com/office/drawing/2014/main" id="{03CFB0E2-449B-4A8A-9F7A-6C762C203F52}"/>
              </a:ext>
            </a:extLst>
          </p:cNvPr>
          <p:cNvSpPr>
            <a:spLocks xmlns:a="http://schemas.openxmlformats.org/drawingml/2006/main" noGrp="1"/>
          </p:cNvSpPr>
          <p:nvPr/>
        </p:nvSpPr>
        <p:spPr>
          <a:xfrm xmlns:a="http://schemas.openxmlformats.org/drawingml/2006/main">
            <a:off x="3143250" y="4533900"/>
            <a:ext cx="152400" cy="19050"/>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4381EB78-0B98-42E4-B57D-ED0711BD2E0D}"/>
              </a:ext>
            </a:extLst>
          </p:cNvPr>
          <p:cNvSpPr>
            <a:spLocks xmlns:a="http://schemas.openxmlformats.org/drawingml/2006/main" noGrp="1"/>
          </p:cNvSpPr>
          <p:nvPr/>
        </p:nvSpPr>
        <p:spPr>
          <a:xfrm xmlns:a="http://schemas.openxmlformats.org/drawingml/2006/main">
            <a:off x="3314700" y="4076700"/>
            <a:ext cx="26098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41" name="">
            <a:extLst xmlns:a="http://schemas.openxmlformats.org/drawingml/2006/main">
              <a:ext uri="{FF2B5EF4-FFF2-40B4-BE49-F238E27FC236}">
                <a16:creationId xmlns:a16="http://schemas.microsoft.com/office/drawing/2014/main" id="{8791B5A1-3A2B-4174-890A-B89EC8B6D04E}"/>
              </a:ext>
            </a:extLst>
          </p:cNvPr>
          <p:cNvSpPr>
            <a:spLocks xmlns:a="http://schemas.openxmlformats.org/drawingml/2006/main" noGrp="1"/>
          </p:cNvSpPr>
          <p:nvPr/>
        </p:nvSpPr>
        <p:spPr>
          <a:xfrm xmlns:a="http://schemas.openxmlformats.org/drawingml/2006/main">
            <a:off x="3314700" y="4076700"/>
            <a:ext cx="26098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09679ADE-D4EF-4651-B873-769CCF170EB1}"/>
              </a:ext>
            </a:extLst>
          </p:cNvPr>
          <p:cNvSpPr>
            <a:spLocks xmlns:a="http://schemas.openxmlformats.org/drawingml/2006/main" noGrp="1"/>
          </p:cNvSpPr>
          <p:nvPr/>
        </p:nvSpPr>
        <p:spPr>
          <a:xfrm xmlns:a="http://schemas.openxmlformats.org/drawingml/2006/main">
            <a:off x="3429000" y="424815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A85D2A"/>
                </a:solidFill>
                <a:latin typeface="Aptos"/>
                <a:ea typeface="Aptos"/>
                <a:cs typeface="Aptos"/>
              </a:defRPr>
            </a:pPr>
            <a:r>
              <a:rPr sz="975" b="1">
                <a:solidFill>
                  <a:srgbClr val="A85D2A"/>
                </a:solidFill>
                <a:latin typeface="Aptos"/>
                <a:ea typeface="Aptos"/>
                <a:cs typeface="Aptos"/>
              </a:rPr>
              <a:t>6</a:t>
            </a:r>
          </a:p>
        </p:txBody>
      </p:sp>
      <p:sp>
        <p:nvSpPr>
          <p:cNvPr id="43" name="">
            <a:extLst xmlns:a="http://schemas.openxmlformats.org/drawingml/2006/main">
              <a:ext uri="{FF2B5EF4-FFF2-40B4-BE49-F238E27FC236}">
                <a16:creationId xmlns:a16="http://schemas.microsoft.com/office/drawing/2014/main" id="{0B435910-24BD-44C3-AF09-640BA6137DEA}"/>
              </a:ext>
            </a:extLst>
          </p:cNvPr>
          <p:cNvSpPr>
            <a:spLocks xmlns:a="http://schemas.openxmlformats.org/drawingml/2006/main" noGrp="1"/>
          </p:cNvSpPr>
          <p:nvPr/>
        </p:nvSpPr>
        <p:spPr>
          <a:xfrm xmlns:a="http://schemas.openxmlformats.org/drawingml/2006/main">
            <a:off x="3714750" y="4229100"/>
            <a:ext cx="2076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026"/>
                </a:solidFill>
                <a:latin typeface="Aptos"/>
                <a:ea typeface="Aptos"/>
                <a:cs typeface="Aptos"/>
              </a:defRPr>
            </a:pPr>
            <a:r>
              <a:rPr sz="900" b="1">
                <a:solidFill>
                  <a:srgbClr val="172026"/>
                </a:solidFill>
                <a:latin typeface="Aptos"/>
                <a:ea typeface="Aptos"/>
                <a:cs typeface="Aptos"/>
              </a:rPr>
              <a:t>Signal routing and buyer enablement</a:t>
            </a:r>
          </a:p>
        </p:txBody>
      </p:sp>
      <p:sp>
        <p:nvSpPr>
          <p:cNvPr id="44" name="">
            <a:extLst xmlns:a="http://schemas.openxmlformats.org/drawingml/2006/main">
              <a:ext uri="{FF2B5EF4-FFF2-40B4-BE49-F238E27FC236}">
                <a16:creationId xmlns:a16="http://schemas.microsoft.com/office/drawing/2014/main" id="{D08F1D6A-C8AB-476E-8BCF-B4A24AFF41CD}"/>
              </a:ext>
            </a:extLst>
          </p:cNvPr>
          <p:cNvSpPr>
            <a:spLocks xmlns:a="http://schemas.openxmlformats.org/drawingml/2006/main" noGrp="1"/>
          </p:cNvSpPr>
          <p:nvPr/>
        </p:nvSpPr>
        <p:spPr>
          <a:xfrm xmlns:a="http://schemas.openxmlformats.org/drawingml/2006/main">
            <a:off x="5962650" y="4533900"/>
            <a:ext cx="152400" cy="19050"/>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0DFABEB0-E942-46EB-BFB5-4C079761955D}"/>
              </a:ext>
            </a:extLst>
          </p:cNvPr>
          <p:cNvSpPr>
            <a:spLocks xmlns:a="http://schemas.openxmlformats.org/drawingml/2006/main" noGrp="1"/>
          </p:cNvSpPr>
          <p:nvPr/>
        </p:nvSpPr>
        <p:spPr>
          <a:xfrm xmlns:a="http://schemas.openxmlformats.org/drawingml/2006/main">
            <a:off x="6134100" y="4076700"/>
            <a:ext cx="260985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46" name="">
            <a:extLst xmlns:a="http://schemas.openxmlformats.org/drawingml/2006/main">
              <a:ext uri="{FF2B5EF4-FFF2-40B4-BE49-F238E27FC236}">
                <a16:creationId xmlns:a16="http://schemas.microsoft.com/office/drawing/2014/main" id="{8405F667-CF64-4439-89D7-44569AD8C86E}"/>
              </a:ext>
            </a:extLst>
          </p:cNvPr>
          <p:cNvSpPr>
            <a:spLocks xmlns:a="http://schemas.openxmlformats.org/drawingml/2006/main" noGrp="1"/>
          </p:cNvSpPr>
          <p:nvPr/>
        </p:nvSpPr>
        <p:spPr>
          <a:xfrm xmlns:a="http://schemas.openxmlformats.org/drawingml/2006/main">
            <a:off x="6134100" y="4076700"/>
            <a:ext cx="2609850" cy="57150"/>
          </a:xfrm>
          <a:prstGeom xmlns:a="http://schemas.openxmlformats.org/drawingml/2006/main" prst="rect">
            <a:avLst/>
          </a:prstGeom>
          <a:solidFill xmlns:a="http://schemas.openxmlformats.org/drawingml/2006/main">
            <a:srgbClr val="667A39"/>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1CD837DD-41FB-41E1-BE03-B05B061782A7}"/>
              </a:ext>
            </a:extLst>
          </p:cNvPr>
          <p:cNvSpPr>
            <a:spLocks xmlns:a="http://schemas.openxmlformats.org/drawingml/2006/main" noGrp="1"/>
          </p:cNvSpPr>
          <p:nvPr/>
        </p:nvSpPr>
        <p:spPr>
          <a:xfrm xmlns:a="http://schemas.openxmlformats.org/drawingml/2006/main">
            <a:off x="6248400" y="4248150"/>
            <a:ext cx="2095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75" b="1">
                <a:solidFill>
                  <a:srgbClr val="667A39"/>
                </a:solidFill>
                <a:latin typeface="Aptos"/>
                <a:ea typeface="Aptos"/>
                <a:cs typeface="Aptos"/>
              </a:defRPr>
            </a:pPr>
            <a:r>
              <a:rPr sz="975" b="1">
                <a:solidFill>
                  <a:srgbClr val="667A39"/>
                </a:solidFill>
                <a:latin typeface="Aptos"/>
                <a:ea typeface="Aptos"/>
                <a:cs typeface="Aptos"/>
              </a:rPr>
              <a:t>7</a:t>
            </a:r>
          </a:p>
        </p:txBody>
      </p:sp>
      <p:sp>
        <p:nvSpPr>
          <p:cNvPr id="48" name="">
            <a:extLst xmlns:a="http://schemas.openxmlformats.org/drawingml/2006/main">
              <a:ext uri="{FF2B5EF4-FFF2-40B4-BE49-F238E27FC236}">
                <a16:creationId xmlns:a16="http://schemas.microsoft.com/office/drawing/2014/main" id="{6A67AF1E-6603-4DBB-ADAC-00488DE4C275}"/>
              </a:ext>
            </a:extLst>
          </p:cNvPr>
          <p:cNvSpPr>
            <a:spLocks xmlns:a="http://schemas.openxmlformats.org/drawingml/2006/main" noGrp="1"/>
          </p:cNvSpPr>
          <p:nvPr/>
        </p:nvSpPr>
        <p:spPr>
          <a:xfrm xmlns:a="http://schemas.openxmlformats.org/drawingml/2006/main">
            <a:off x="6534150" y="4229100"/>
            <a:ext cx="20764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72026"/>
                </a:solidFill>
                <a:latin typeface="Aptos"/>
                <a:ea typeface="Aptos"/>
                <a:cs typeface="Aptos"/>
              </a:defRPr>
            </a:pPr>
            <a:r>
              <a:rPr sz="900" b="1">
                <a:solidFill>
                  <a:srgbClr val="172026"/>
                </a:solidFill>
                <a:latin typeface="Aptos"/>
                <a:ea typeface="Aptos"/>
                <a:cs typeface="Aptos"/>
              </a:rPr>
              <a:t>Weekly learning loop</a:t>
            </a:r>
          </a:p>
        </p:txBody>
      </p:sp>
      <p:sp>
        <p:nvSpPr>
          <p:cNvPr id="49" name="">
            <a:extLst xmlns:a="http://schemas.openxmlformats.org/drawingml/2006/main">
              <a:ext uri="{FF2B5EF4-FFF2-40B4-BE49-F238E27FC236}">
                <a16:creationId xmlns:a16="http://schemas.microsoft.com/office/drawing/2014/main" id="{C165F0A0-DB2F-4574-BEC6-B1BBCBEC1F69}"/>
              </a:ext>
            </a:extLst>
          </p:cNvPr>
          <p:cNvSpPr>
            <a:spLocks xmlns:a="http://schemas.openxmlformats.org/drawingml/2006/main" noGrp="1"/>
          </p:cNvSpPr>
          <p:nvPr/>
        </p:nvSpPr>
        <p:spPr>
          <a:xfrm xmlns:a="http://schemas.openxmlformats.org/drawingml/2006/main">
            <a:off x="495300" y="5772150"/>
            <a:ext cx="11430000" cy="38100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50" name="">
            <a:extLst xmlns:a="http://schemas.openxmlformats.org/drawingml/2006/main">
              <a:ext uri="{FF2B5EF4-FFF2-40B4-BE49-F238E27FC236}">
                <a16:creationId xmlns:a16="http://schemas.microsoft.com/office/drawing/2014/main" id="{49A42436-E62C-425A-B9D9-3BF086584127}"/>
              </a:ext>
            </a:extLst>
          </p:cNvPr>
          <p:cNvSpPr>
            <a:spLocks xmlns:a="http://schemas.openxmlformats.org/drawingml/2006/main" noGrp="1"/>
          </p:cNvSpPr>
          <p:nvPr/>
        </p:nvSpPr>
        <p:spPr>
          <a:xfrm xmlns:a="http://schemas.openxmlformats.org/drawingml/2006/main">
            <a:off x="685800" y="5876925"/>
            <a:ext cx="1104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750" b="0">
                <a:solidFill>
                  <a:srgbClr val="D6E3E5"/>
                </a:solidFill>
                <a:latin typeface="Aptos"/>
                <a:ea typeface="Aptos"/>
                <a:cs typeface="Aptos"/>
              </a:defRPr>
            </a:pPr>
            <a:r>
              <a:rPr sz="750" b="0">
                <a:solidFill>
                  <a:srgbClr val="D6E3E5"/>
                </a:solidFill>
                <a:latin typeface="Aptos"/>
                <a:ea typeface="Aptos"/>
                <a:cs typeface="Aptos"/>
              </a:rPr>
              <a:t>Flowchart companion: assets/flowcharts/01-industrial-demand-generation-operating-system.svg</a:t>
            </a:r>
          </a:p>
        </p:txBody>
      </p:sp>
      <p:sp>
        <p:nvSpPr>
          <p:cNvPr id="51" name="">
            <a:extLst xmlns:a="http://schemas.openxmlformats.org/drawingml/2006/main">
              <a:ext uri="{FF2B5EF4-FFF2-40B4-BE49-F238E27FC236}">
                <a16:creationId xmlns:a16="http://schemas.microsoft.com/office/drawing/2014/main" id="{C254524E-9521-4DBE-8B16-A70B5B82C375}"/>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F244C15F-2551-4689-B2F7-8DEACEDC54E4}"/>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53" name="">
            <a:extLst xmlns:a="http://schemas.openxmlformats.org/drawingml/2006/main">
              <a:ext uri="{FF2B5EF4-FFF2-40B4-BE49-F238E27FC236}">
                <a16:creationId xmlns:a16="http://schemas.microsoft.com/office/drawing/2014/main" id="{562E7E4B-B84A-4ADC-A755-DCFDC108152E}"/>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54" name="">
            <a:extLst xmlns:a="http://schemas.openxmlformats.org/drawingml/2006/main">
              <a:ext uri="{FF2B5EF4-FFF2-40B4-BE49-F238E27FC236}">
                <a16:creationId xmlns:a16="http://schemas.microsoft.com/office/drawing/2014/main" id="{2197071D-4492-47C4-B28E-3C4D2184AA14}"/>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4/15</a:t>
            </a:r>
          </a:p>
        </p:txBody>
      </p:sp>
      <p:sp>
        <p:nvSpPr>
          <p:cNvPr id="55" name="">
            <a:extLst xmlns:a="http://schemas.openxmlformats.org/drawingml/2006/main">
              <a:ext uri="{FF2B5EF4-FFF2-40B4-BE49-F238E27FC236}">
                <a16:creationId xmlns:a16="http://schemas.microsoft.com/office/drawing/2014/main" id="{B21CC4D7-0544-404B-8B25-80518E2E3A14}"/>
              </a:ext>
            </a:extLst>
          </p:cNvPr>
          <p:cNvSpPr>
            <a:spLocks xmlns:a="http://schemas.openxmlformats.org/drawingml/2006/main" noGrp="1"/>
          </p:cNvSpPr>
          <p:nvPr/>
        </p:nvSpPr>
        <p:spPr>
          <a:xfrm xmlns:a="http://schemas.openxmlformats.org/drawingml/2006/main">
            <a:off x="0" y="0"/>
            <a:ext cx="12192000" cy="18097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BAE0CC71-253B-4164-94B8-881D66286436}"/>
              </a:ext>
            </a:extLst>
          </p:cNvPr>
          <p:cNvSpPr>
            <a:spLocks xmlns:a="http://schemas.openxmlformats.org/drawingml/2006/main" noGrp="1"/>
          </p:cNvSpPr>
          <p:nvPr/>
        </p:nvSpPr>
        <p:spPr>
          <a:xfrm xmlns:a="http://schemas.openxmlformats.org/drawingml/2006/main">
            <a:off x="0" y="0"/>
            <a:ext cx="171450" cy="180975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57" name="">
            <a:extLst xmlns:a="http://schemas.openxmlformats.org/drawingml/2006/main">
              <a:ext uri="{FF2B5EF4-FFF2-40B4-BE49-F238E27FC236}">
                <a16:creationId xmlns:a16="http://schemas.microsoft.com/office/drawing/2014/main" id="{88DDA4FD-7AA7-4849-AF3F-C5FC2CC4F987}"/>
              </a:ext>
            </a:extLst>
          </p:cNvPr>
          <p:cNvSpPr>
            <a:spLocks xmlns:a="http://schemas.openxmlformats.org/drawingml/2006/main" noGrp="1"/>
          </p:cNvSpPr>
          <p:nvPr/>
        </p:nvSpPr>
        <p:spPr>
          <a:xfrm xmlns:a="http://schemas.openxmlformats.org/drawingml/2006/main">
            <a:off x="171450" y="0"/>
            <a:ext cx="57150" cy="18097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8" name="kicker-01-marker">
            <a:extLst xmlns:a="http://schemas.openxmlformats.org/drawingml/2006/main">
              <a:ext uri="{FF2B5EF4-FFF2-40B4-BE49-F238E27FC236}">
                <a16:creationId xmlns:a16="http://schemas.microsoft.com/office/drawing/2014/main" id="{D021346C-D309-414D-9CF9-94AB82F98DB9}"/>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9" name="kicker-01-label">
            <a:extLst xmlns:a="http://schemas.openxmlformats.org/drawingml/2006/main">
              <a:ext uri="{FF2B5EF4-FFF2-40B4-BE49-F238E27FC236}">
                <a16:creationId xmlns:a16="http://schemas.microsoft.com/office/drawing/2014/main" id="{F7B895BF-EA75-4F17-A2D3-C4C989FCE1F0}"/>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CORE FRAMEWORK</a:t>
            </a:r>
          </a:p>
        </p:txBody>
      </p:sp>
      <p:sp>
        <p:nvSpPr>
          <p:cNvPr id="60" name="">
            <a:extLst xmlns:a="http://schemas.openxmlformats.org/drawingml/2006/main">
              <a:ext uri="{FF2B5EF4-FFF2-40B4-BE49-F238E27FC236}">
                <a16:creationId xmlns:a16="http://schemas.microsoft.com/office/drawing/2014/main" id="{27F881CD-FAE8-4113-8C6C-D0D995B3682B}"/>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The demand engine only works when all seven jobs connect.</a:t>
            </a:r>
          </a:p>
        </p:txBody>
      </p:sp>
      <p:sp>
        <p:nvSpPr>
          <p:cNvPr id="61" name="">
            <a:extLst xmlns:a="http://schemas.openxmlformats.org/drawingml/2006/main">
              <a:ext uri="{FF2B5EF4-FFF2-40B4-BE49-F238E27FC236}">
                <a16:creationId xmlns:a16="http://schemas.microsoft.com/office/drawing/2014/main" id="{0BBD6947-723B-4691-81E1-D9C1642AEAC4}"/>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Use the diagram as the visual anchor; the visible path is the teachable sequence.</a:t>
            </a:r>
          </a:p>
        </p:txBody>
      </p:sp>
      <p:sp>
        <p:nvSpPr>
          <p:cNvPr id="62" name="">
            <a:extLst xmlns:a="http://schemas.openxmlformats.org/drawingml/2006/main">
              <a:ext uri="{FF2B5EF4-FFF2-40B4-BE49-F238E27FC236}">
                <a16:creationId xmlns:a16="http://schemas.microsoft.com/office/drawing/2014/main" id="{D6C0972E-5ECC-4A8A-B05C-A09752E2A915}"/>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D8310233-07B4-44F4-8316-86EBD8CE8EED}"/>
              </a:ext>
            </a:extLst>
          </p:cNvPr>
          <p:cNvSpPr>
            <a:spLocks xmlns:a="http://schemas.openxmlformats.org/drawingml/2006/main" noGrp="1"/>
          </p:cNvSpPr>
          <p:nvPr/>
        </p:nvSpPr>
        <p:spPr>
          <a:xfrm xmlns:a="http://schemas.openxmlformats.org/drawingml/2006/main">
            <a:off x="0" y="6400800"/>
            <a:ext cx="171450" cy="4572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F5E52856-28D1-4D57-A5F7-8104E8BA9C20}"/>
              </a:ext>
            </a:extLst>
          </p:cNvPr>
          <p:cNvSpPr>
            <a:spLocks xmlns:a="http://schemas.openxmlformats.org/drawingml/2006/main" noGrp="1"/>
          </p:cNvSpPr>
          <p:nvPr/>
        </p:nvSpPr>
        <p:spPr>
          <a:xfrm xmlns:a="http://schemas.openxmlformats.org/drawingml/2006/main">
            <a:off x="171450" y="6400800"/>
            <a:ext cx="57150" cy="457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65" name="">
            <a:extLst xmlns:a="http://schemas.openxmlformats.org/drawingml/2006/main">
              <a:ext uri="{FF2B5EF4-FFF2-40B4-BE49-F238E27FC236}">
                <a16:creationId xmlns:a16="http://schemas.microsoft.com/office/drawing/2014/main" id="{B253BCB0-DA29-4FF6-973B-C93E02AB53E9}"/>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66" name="">
            <a:extLst xmlns:a="http://schemas.openxmlformats.org/drawingml/2006/main">
              <a:ext uri="{FF2B5EF4-FFF2-40B4-BE49-F238E27FC236}">
                <a16:creationId xmlns:a16="http://schemas.microsoft.com/office/drawing/2014/main" id="{A4CCA46A-3293-4928-BC75-E641FCC289BB}"/>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67" name="">
            <a:extLst xmlns:a="http://schemas.openxmlformats.org/drawingml/2006/main">
              <a:ext uri="{FF2B5EF4-FFF2-40B4-BE49-F238E27FC236}">
                <a16:creationId xmlns:a16="http://schemas.microsoft.com/office/drawing/2014/main" id="{8EDC1FFD-E7B9-42E5-A314-84C13836BCCA}"/>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68" name="">
            <a:extLst xmlns:a="http://schemas.openxmlformats.org/drawingml/2006/main">
              <a:ext uri="{FF2B5EF4-FFF2-40B4-BE49-F238E27FC236}">
                <a16:creationId xmlns:a16="http://schemas.microsoft.com/office/drawing/2014/main" id="{B6BA0461-523F-4AE1-A21F-62FBDCCEC4DD}"/>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4/15</a:t>
            </a:r>
          </a:p>
        </p:txBody>
      </p:sp>
    </p:spTree>
    <p:extLst>
      <p:ext uri="{BB962C8B-B14F-4D97-AF65-F5344CB8AC3E}">
        <p14:creationId xmlns:p14="http://schemas.microsoft.com/office/powerpoint/2010/main" val="152147004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8DB98AA-9714-47EE-A17F-1BB8B850126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5E8E49D-E9E8-4F74-A3FB-B5776464D9E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E0E6A3F-32BD-4920-BFF1-E57C8F706185}"/>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1-marker">
            <a:extLst xmlns:a="http://schemas.openxmlformats.org/drawingml/2006/main">
              <a:ext uri="{FF2B5EF4-FFF2-40B4-BE49-F238E27FC236}">
                <a16:creationId xmlns:a16="http://schemas.microsoft.com/office/drawing/2014/main" id="{374ADF7F-40D9-4EF8-892F-F5EFE9C5BB01}"/>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1-label">
            <a:extLst xmlns:a="http://schemas.openxmlformats.org/drawingml/2006/main">
              <a:ext uri="{FF2B5EF4-FFF2-40B4-BE49-F238E27FC236}">
                <a16:creationId xmlns:a16="http://schemas.microsoft.com/office/drawing/2014/main" id="{E2416D8A-0533-4DCD-B0DF-FEE1827460ED}"/>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MENTAL MODEL</a:t>
            </a:r>
          </a:p>
        </p:txBody>
      </p:sp>
      <p:sp>
        <p:nvSpPr>
          <p:cNvPr id="6" name="">
            <a:extLst xmlns:a="http://schemas.openxmlformats.org/drawingml/2006/main">
              <a:ext uri="{FF2B5EF4-FFF2-40B4-BE49-F238E27FC236}">
                <a16:creationId xmlns:a16="http://schemas.microsoft.com/office/drawing/2014/main" id="{BCADD882-831B-4F47-8557-0928F5B4C7CF}"/>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Separate the four motions before diagnosing the system.</a:t>
            </a:r>
          </a:p>
        </p:txBody>
      </p:sp>
      <p:sp>
        <p:nvSpPr>
          <p:cNvPr id="7" name="">
            <a:extLst xmlns:a="http://schemas.openxmlformats.org/drawingml/2006/main">
              <a:ext uri="{FF2B5EF4-FFF2-40B4-BE49-F238E27FC236}">
                <a16:creationId xmlns:a16="http://schemas.microsoft.com/office/drawing/2014/main" id="{2549FF5B-DCB0-4617-9A5F-5A1C11CD9B7E}"/>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Keep this slide conversational: make learners say what would change in their current system.</a:t>
            </a:r>
          </a:p>
        </p:txBody>
      </p:sp>
      <p:sp>
        <p:nvSpPr>
          <p:cNvPr id="8" name="">
            <a:extLst xmlns:a="http://schemas.openxmlformats.org/drawingml/2006/main">
              <a:ext uri="{FF2B5EF4-FFF2-40B4-BE49-F238E27FC236}">
                <a16:creationId xmlns:a16="http://schemas.microsoft.com/office/drawing/2014/main" id="{DE6E95FD-F811-4A10-83EC-719189580B6F}"/>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CD3E4181-9526-4124-93D5-D1B9C60A545C}"/>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10" name="">
            <a:extLst xmlns:a="http://schemas.openxmlformats.org/drawingml/2006/main">
              <a:ext uri="{FF2B5EF4-FFF2-40B4-BE49-F238E27FC236}">
                <a16:creationId xmlns:a16="http://schemas.microsoft.com/office/drawing/2014/main" id="{745C5B91-0AF0-431C-BBD4-E8D374911384}"/>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11" name="">
            <a:extLst xmlns:a="http://schemas.openxmlformats.org/drawingml/2006/main">
              <a:ext uri="{FF2B5EF4-FFF2-40B4-BE49-F238E27FC236}">
                <a16:creationId xmlns:a16="http://schemas.microsoft.com/office/drawing/2014/main" id="{35A0C837-DF02-4E4F-AC27-C827B30EEACF}"/>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5/15</a:t>
            </a:r>
          </a:p>
        </p:txBody>
      </p:sp>
      <p:sp>
        <p:nvSpPr>
          <p:cNvPr id="12" name="">
            <a:extLst xmlns:a="http://schemas.openxmlformats.org/drawingml/2006/main">
              <a:ext uri="{FF2B5EF4-FFF2-40B4-BE49-F238E27FC236}">
                <a16:creationId xmlns:a16="http://schemas.microsoft.com/office/drawing/2014/main" id="{EBD96057-EF4A-45DC-9892-F7AC915D1266}"/>
              </a:ext>
            </a:extLst>
          </p:cNvPr>
          <p:cNvSpPr>
            <a:spLocks xmlns:a="http://schemas.openxmlformats.org/drawingml/2006/main" noGrp="1"/>
          </p:cNvSpPr>
          <p:nvPr/>
        </p:nvSpPr>
        <p:spPr>
          <a:xfrm xmlns:a="http://schemas.openxmlformats.org/drawingml/2006/main">
            <a:off x="514350" y="2266950"/>
            <a:ext cx="2557463"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3" name="">
            <a:extLst xmlns:a="http://schemas.openxmlformats.org/drawingml/2006/main">
              <a:ext uri="{FF2B5EF4-FFF2-40B4-BE49-F238E27FC236}">
                <a16:creationId xmlns:a16="http://schemas.microsoft.com/office/drawing/2014/main" id="{3E1660B7-530C-44B6-8562-F614B525F7F4}"/>
              </a:ext>
            </a:extLst>
          </p:cNvPr>
          <p:cNvSpPr>
            <a:spLocks xmlns:a="http://schemas.openxmlformats.org/drawingml/2006/main" noGrp="1"/>
          </p:cNvSpPr>
          <p:nvPr/>
        </p:nvSpPr>
        <p:spPr>
          <a:xfrm xmlns:a="http://schemas.openxmlformats.org/drawingml/2006/main">
            <a:off x="514350" y="2266950"/>
            <a:ext cx="2557463" cy="66675"/>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3ECA1D9C-DF95-460E-810E-652B0FFA3055}"/>
              </a:ext>
            </a:extLst>
          </p:cNvPr>
          <p:cNvSpPr>
            <a:spLocks xmlns:a="http://schemas.openxmlformats.org/drawingml/2006/main" noGrp="1"/>
          </p:cNvSpPr>
          <p:nvPr/>
        </p:nvSpPr>
        <p:spPr>
          <a:xfrm xmlns:a="http://schemas.openxmlformats.org/drawingml/2006/main">
            <a:off x="723900" y="2590800"/>
            <a:ext cx="2138363"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D6072"/>
                </a:solidFill>
                <a:latin typeface="Aptos Display"/>
                <a:ea typeface="Aptos Display"/>
                <a:cs typeface="Aptos Display"/>
              </a:defRPr>
            </a:pPr>
            <a:r>
              <a:rPr sz="1800" b="1">
                <a:solidFill>
                  <a:srgbClr val="1D6072"/>
                </a:solidFill>
                <a:latin typeface="Aptos Display"/>
                <a:ea typeface="Aptos Display"/>
                <a:cs typeface="Aptos Display"/>
              </a:rPr>
              <a:t>Creation</a:t>
            </a:r>
          </a:p>
        </p:txBody>
      </p:sp>
      <p:sp>
        <p:nvSpPr>
          <p:cNvPr id="15" name="">
            <a:extLst xmlns:a="http://schemas.openxmlformats.org/drawingml/2006/main">
              <a:ext uri="{FF2B5EF4-FFF2-40B4-BE49-F238E27FC236}">
                <a16:creationId xmlns:a16="http://schemas.microsoft.com/office/drawing/2014/main" id="{6F6DDCF1-2DC5-47C0-AA67-7D746625F25C}"/>
              </a:ext>
            </a:extLst>
          </p:cNvPr>
          <p:cNvSpPr>
            <a:spLocks xmlns:a="http://schemas.openxmlformats.org/drawingml/2006/main" noGrp="1"/>
          </p:cNvSpPr>
          <p:nvPr/>
        </p:nvSpPr>
        <p:spPr>
          <a:xfrm xmlns:a="http://schemas.openxmlformats.org/drawingml/2006/main">
            <a:off x="723900" y="3257550"/>
            <a:ext cx="2138363"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Teach the market why the problem or opportunity matters.</a:t>
            </a:r>
          </a:p>
        </p:txBody>
      </p:sp>
      <p:sp>
        <p:nvSpPr>
          <p:cNvPr id="16" name="">
            <a:extLst xmlns:a="http://schemas.openxmlformats.org/drawingml/2006/main">
              <a:ext uri="{FF2B5EF4-FFF2-40B4-BE49-F238E27FC236}">
                <a16:creationId xmlns:a16="http://schemas.microsoft.com/office/drawing/2014/main" id="{56FDE160-E1C9-45AC-A83D-AD9A2870787B}"/>
              </a:ext>
            </a:extLst>
          </p:cNvPr>
          <p:cNvSpPr>
            <a:spLocks xmlns:a="http://schemas.openxmlformats.org/drawingml/2006/main" noGrp="1"/>
          </p:cNvSpPr>
          <p:nvPr/>
        </p:nvSpPr>
        <p:spPr>
          <a:xfrm xmlns:a="http://schemas.openxmlformats.org/drawingml/2006/main">
            <a:off x="3300413" y="2266950"/>
            <a:ext cx="2557463"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7" name="">
            <a:extLst xmlns:a="http://schemas.openxmlformats.org/drawingml/2006/main">
              <a:ext uri="{FF2B5EF4-FFF2-40B4-BE49-F238E27FC236}">
                <a16:creationId xmlns:a16="http://schemas.microsoft.com/office/drawing/2014/main" id="{C3504CFC-35FB-4782-8250-211CA1E9AA8D}"/>
              </a:ext>
            </a:extLst>
          </p:cNvPr>
          <p:cNvSpPr>
            <a:spLocks xmlns:a="http://schemas.openxmlformats.org/drawingml/2006/main" noGrp="1"/>
          </p:cNvSpPr>
          <p:nvPr/>
        </p:nvSpPr>
        <p:spPr>
          <a:xfrm xmlns:a="http://schemas.openxmlformats.org/drawingml/2006/main">
            <a:off x="3300413" y="2266950"/>
            <a:ext cx="2557463" cy="66675"/>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7DCEA16C-9F22-4CEE-B188-CD9DF162B12E}"/>
              </a:ext>
            </a:extLst>
          </p:cNvPr>
          <p:cNvSpPr>
            <a:spLocks xmlns:a="http://schemas.openxmlformats.org/drawingml/2006/main" noGrp="1"/>
          </p:cNvSpPr>
          <p:nvPr/>
        </p:nvSpPr>
        <p:spPr>
          <a:xfrm xmlns:a="http://schemas.openxmlformats.org/drawingml/2006/main">
            <a:off x="3509963" y="2590800"/>
            <a:ext cx="2138363"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A85D2A"/>
                </a:solidFill>
                <a:latin typeface="Aptos Display"/>
                <a:ea typeface="Aptos Display"/>
                <a:cs typeface="Aptos Display"/>
              </a:defRPr>
            </a:pPr>
            <a:r>
              <a:rPr sz="1800" b="1">
                <a:solidFill>
                  <a:srgbClr val="A85D2A"/>
                </a:solidFill>
                <a:latin typeface="Aptos Display"/>
                <a:ea typeface="Aptos Display"/>
                <a:cs typeface="Aptos Display"/>
              </a:rPr>
              <a:t>Distribution</a:t>
            </a:r>
          </a:p>
        </p:txBody>
      </p:sp>
      <p:sp>
        <p:nvSpPr>
          <p:cNvPr id="19" name="">
            <a:extLst xmlns:a="http://schemas.openxmlformats.org/drawingml/2006/main">
              <a:ext uri="{FF2B5EF4-FFF2-40B4-BE49-F238E27FC236}">
                <a16:creationId xmlns:a16="http://schemas.microsoft.com/office/drawing/2014/main" id="{FA040A6D-86DC-48E9-9F53-8E90129BCFCF}"/>
              </a:ext>
            </a:extLst>
          </p:cNvPr>
          <p:cNvSpPr>
            <a:spLocks xmlns:a="http://schemas.openxmlformats.org/drawingml/2006/main" noGrp="1"/>
          </p:cNvSpPr>
          <p:nvPr/>
        </p:nvSpPr>
        <p:spPr>
          <a:xfrm xmlns:a="http://schemas.openxmlformats.org/drawingml/2006/main">
            <a:off x="3509963" y="3257550"/>
            <a:ext cx="2138363"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Move insight through channels the buyer already trusts.</a:t>
            </a:r>
          </a:p>
        </p:txBody>
      </p:sp>
      <p:sp>
        <p:nvSpPr>
          <p:cNvPr id="20" name="">
            <a:extLst xmlns:a="http://schemas.openxmlformats.org/drawingml/2006/main">
              <a:ext uri="{FF2B5EF4-FFF2-40B4-BE49-F238E27FC236}">
                <a16:creationId xmlns:a16="http://schemas.microsoft.com/office/drawing/2014/main" id="{9F97CE68-2AAB-4C60-AD93-A0E140ABE9E3}"/>
              </a:ext>
            </a:extLst>
          </p:cNvPr>
          <p:cNvSpPr>
            <a:spLocks xmlns:a="http://schemas.openxmlformats.org/drawingml/2006/main" noGrp="1"/>
          </p:cNvSpPr>
          <p:nvPr/>
        </p:nvSpPr>
        <p:spPr>
          <a:xfrm xmlns:a="http://schemas.openxmlformats.org/drawingml/2006/main">
            <a:off x="6086475" y="2266950"/>
            <a:ext cx="2557463"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21" name="">
            <a:extLst xmlns:a="http://schemas.openxmlformats.org/drawingml/2006/main">
              <a:ext uri="{FF2B5EF4-FFF2-40B4-BE49-F238E27FC236}">
                <a16:creationId xmlns:a16="http://schemas.microsoft.com/office/drawing/2014/main" id="{14619DD9-5002-44BB-9D7B-F73510BD01A6}"/>
              </a:ext>
            </a:extLst>
          </p:cNvPr>
          <p:cNvSpPr>
            <a:spLocks xmlns:a="http://schemas.openxmlformats.org/drawingml/2006/main" noGrp="1"/>
          </p:cNvSpPr>
          <p:nvPr/>
        </p:nvSpPr>
        <p:spPr>
          <a:xfrm xmlns:a="http://schemas.openxmlformats.org/drawingml/2006/main">
            <a:off x="6086475" y="2266950"/>
            <a:ext cx="2557463" cy="66675"/>
          </a:xfrm>
          <a:prstGeom xmlns:a="http://schemas.openxmlformats.org/drawingml/2006/main" prst="rect">
            <a:avLst/>
          </a:prstGeom>
          <a:solidFill xmlns:a="http://schemas.openxmlformats.org/drawingml/2006/main">
            <a:srgbClr val="667A39"/>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29370EB4-BCF6-43F0-9515-C70BBBEB4968}"/>
              </a:ext>
            </a:extLst>
          </p:cNvPr>
          <p:cNvSpPr>
            <a:spLocks xmlns:a="http://schemas.openxmlformats.org/drawingml/2006/main" noGrp="1"/>
          </p:cNvSpPr>
          <p:nvPr/>
        </p:nvSpPr>
        <p:spPr>
          <a:xfrm xmlns:a="http://schemas.openxmlformats.org/drawingml/2006/main">
            <a:off x="6296025" y="2590800"/>
            <a:ext cx="2138363"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667A39"/>
                </a:solidFill>
                <a:latin typeface="Aptos Display"/>
                <a:ea typeface="Aptos Display"/>
                <a:cs typeface="Aptos Display"/>
              </a:defRPr>
            </a:pPr>
            <a:r>
              <a:rPr sz="1800" b="1">
                <a:solidFill>
                  <a:srgbClr val="667A39"/>
                </a:solidFill>
                <a:latin typeface="Aptos Display"/>
                <a:ea typeface="Aptos Display"/>
                <a:cs typeface="Aptos Display"/>
              </a:rPr>
              <a:t>Capture</a:t>
            </a:r>
          </a:p>
        </p:txBody>
      </p:sp>
      <p:sp>
        <p:nvSpPr>
          <p:cNvPr id="23" name="">
            <a:extLst xmlns:a="http://schemas.openxmlformats.org/drawingml/2006/main">
              <a:ext uri="{FF2B5EF4-FFF2-40B4-BE49-F238E27FC236}">
                <a16:creationId xmlns:a16="http://schemas.microsoft.com/office/drawing/2014/main" id="{7495247B-7889-489B-88D3-23ACB84E8653}"/>
              </a:ext>
            </a:extLst>
          </p:cNvPr>
          <p:cNvSpPr>
            <a:spLocks xmlns:a="http://schemas.openxmlformats.org/drawingml/2006/main" noGrp="1"/>
          </p:cNvSpPr>
          <p:nvPr/>
        </p:nvSpPr>
        <p:spPr>
          <a:xfrm xmlns:a="http://schemas.openxmlformats.org/drawingml/2006/main">
            <a:off x="6296025" y="3257550"/>
            <a:ext cx="2138363"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Interpret account-level evidence by fit, role, state, and strength.</a:t>
            </a:r>
          </a:p>
        </p:txBody>
      </p:sp>
      <p:sp>
        <p:nvSpPr>
          <p:cNvPr id="24" name="">
            <a:extLst xmlns:a="http://schemas.openxmlformats.org/drawingml/2006/main">
              <a:ext uri="{FF2B5EF4-FFF2-40B4-BE49-F238E27FC236}">
                <a16:creationId xmlns:a16="http://schemas.microsoft.com/office/drawing/2014/main" id="{55D61CD7-AAFD-442D-8C90-9D8CD928805E}"/>
              </a:ext>
            </a:extLst>
          </p:cNvPr>
          <p:cNvSpPr>
            <a:spLocks xmlns:a="http://schemas.openxmlformats.org/drawingml/2006/main" noGrp="1"/>
          </p:cNvSpPr>
          <p:nvPr/>
        </p:nvSpPr>
        <p:spPr>
          <a:xfrm xmlns:a="http://schemas.openxmlformats.org/drawingml/2006/main">
            <a:off x="8872538" y="2266950"/>
            <a:ext cx="2557463"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25" name="">
            <a:extLst xmlns:a="http://schemas.openxmlformats.org/drawingml/2006/main">
              <a:ext uri="{FF2B5EF4-FFF2-40B4-BE49-F238E27FC236}">
                <a16:creationId xmlns:a16="http://schemas.microsoft.com/office/drawing/2014/main" id="{7A07226A-5C6A-460C-8D61-FE0239616B2A}"/>
              </a:ext>
            </a:extLst>
          </p:cNvPr>
          <p:cNvSpPr>
            <a:spLocks xmlns:a="http://schemas.openxmlformats.org/drawingml/2006/main" noGrp="1"/>
          </p:cNvSpPr>
          <p:nvPr/>
        </p:nvSpPr>
        <p:spPr>
          <a:xfrm xmlns:a="http://schemas.openxmlformats.org/drawingml/2006/main">
            <a:off x="8872538" y="2266950"/>
            <a:ext cx="2557463" cy="66675"/>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2889E499-88E3-41BB-9E6E-52E4352A67DD}"/>
              </a:ext>
            </a:extLst>
          </p:cNvPr>
          <p:cNvSpPr>
            <a:spLocks xmlns:a="http://schemas.openxmlformats.org/drawingml/2006/main" noGrp="1"/>
          </p:cNvSpPr>
          <p:nvPr/>
        </p:nvSpPr>
        <p:spPr>
          <a:xfrm xmlns:a="http://schemas.openxmlformats.org/drawingml/2006/main">
            <a:off x="9082088" y="2590800"/>
            <a:ext cx="2138363"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B7953B"/>
                </a:solidFill>
                <a:latin typeface="Aptos Display"/>
                <a:ea typeface="Aptos Display"/>
                <a:cs typeface="Aptos Display"/>
              </a:defRPr>
            </a:pPr>
            <a:r>
              <a:rPr sz="1800" b="1">
                <a:solidFill>
                  <a:srgbClr val="B7953B"/>
                </a:solidFill>
                <a:latin typeface="Aptos Display"/>
                <a:ea typeface="Aptos Display"/>
                <a:cs typeface="Aptos Display"/>
              </a:rPr>
              <a:t>Enablement</a:t>
            </a:r>
          </a:p>
        </p:txBody>
      </p:sp>
      <p:sp>
        <p:nvSpPr>
          <p:cNvPr id="27" name="">
            <a:extLst xmlns:a="http://schemas.openxmlformats.org/drawingml/2006/main">
              <a:ext uri="{FF2B5EF4-FFF2-40B4-BE49-F238E27FC236}">
                <a16:creationId xmlns:a16="http://schemas.microsoft.com/office/drawing/2014/main" id="{EA223C04-A6CA-40A7-8608-FF8D23EBABA8}"/>
              </a:ext>
            </a:extLst>
          </p:cNvPr>
          <p:cNvSpPr>
            <a:spLocks xmlns:a="http://schemas.openxmlformats.org/drawingml/2006/main" noGrp="1"/>
          </p:cNvSpPr>
          <p:nvPr/>
        </p:nvSpPr>
        <p:spPr>
          <a:xfrm xmlns:a="http://schemas.openxmlformats.org/drawingml/2006/main">
            <a:off x="9082088" y="3257550"/>
            <a:ext cx="2138363"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Help champions move the committee when the supplier is not in the room.</a:t>
            </a:r>
          </a:p>
        </p:txBody>
      </p:sp>
      <p:sp>
        <p:nvSpPr>
          <p:cNvPr id="28" name="">
            <a:extLst xmlns:a="http://schemas.openxmlformats.org/drawingml/2006/main">
              <a:ext uri="{FF2B5EF4-FFF2-40B4-BE49-F238E27FC236}">
                <a16:creationId xmlns:a16="http://schemas.microsoft.com/office/drawing/2014/main" id="{6D1C2EA3-6647-4216-B722-5ABBA8E56C6D}"/>
              </a:ext>
            </a:extLst>
          </p:cNvPr>
          <p:cNvSpPr>
            <a:spLocks xmlns:a="http://schemas.openxmlformats.org/drawingml/2006/main" noGrp="1"/>
          </p:cNvSpPr>
          <p:nvPr/>
        </p:nvSpPr>
        <p:spPr>
          <a:xfrm xmlns:a="http://schemas.openxmlformats.org/drawingml/2006/main">
            <a:off x="8782050" y="5353050"/>
            <a:ext cx="2647950" cy="83820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29" name="">
            <a:extLst xmlns:a="http://schemas.openxmlformats.org/drawingml/2006/main">
              <a:ext uri="{FF2B5EF4-FFF2-40B4-BE49-F238E27FC236}">
                <a16:creationId xmlns:a16="http://schemas.microsoft.com/office/drawing/2014/main" id="{B30AE68B-2355-4653-8C69-6CA77D884E7E}"/>
              </a:ext>
            </a:extLst>
          </p:cNvPr>
          <p:cNvSpPr>
            <a:spLocks xmlns:a="http://schemas.openxmlformats.org/drawingml/2006/main" noGrp="1"/>
          </p:cNvSpPr>
          <p:nvPr/>
        </p:nvSpPr>
        <p:spPr>
          <a:xfrm xmlns:a="http://schemas.openxmlformats.org/drawingml/2006/main">
            <a:off x="8972550" y="550545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AFC3C8"/>
                </a:solidFill>
                <a:latin typeface="Aptos"/>
                <a:ea typeface="Aptos"/>
                <a:cs typeface="Aptos"/>
              </a:defRPr>
            </a:pPr>
            <a:r>
              <a:rPr sz="675" b="1">
                <a:solidFill>
                  <a:srgbClr val="AFC3C8"/>
                </a:solidFill>
                <a:latin typeface="Aptos"/>
                <a:ea typeface="Aptos"/>
                <a:cs typeface="Aptos"/>
              </a:rPr>
              <a:t>INSTRUCTOR CUE</a:t>
            </a:r>
          </a:p>
        </p:txBody>
      </p:sp>
      <p:sp>
        <p:nvSpPr>
          <p:cNvPr id="30" name="">
            <a:extLst xmlns:a="http://schemas.openxmlformats.org/drawingml/2006/main">
              <a:ext uri="{FF2B5EF4-FFF2-40B4-BE49-F238E27FC236}">
                <a16:creationId xmlns:a16="http://schemas.microsoft.com/office/drawing/2014/main" id="{7EFC5B70-4E0E-4322-B01C-11F98DA1E512}"/>
              </a:ext>
            </a:extLst>
          </p:cNvPr>
          <p:cNvSpPr>
            <a:spLocks xmlns:a="http://schemas.openxmlformats.org/drawingml/2006/main" noGrp="1"/>
          </p:cNvSpPr>
          <p:nvPr/>
        </p:nvSpPr>
        <p:spPr>
          <a:xfrm xmlns:a="http://schemas.openxmlformats.org/drawingml/2006/main">
            <a:off x="8972550" y="5676900"/>
            <a:ext cx="2190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FFFFF"/>
                </a:solidFill>
                <a:latin typeface="Aptos"/>
                <a:ea typeface="Aptos"/>
                <a:cs typeface="Aptos"/>
              </a:defRPr>
            </a:pPr>
            <a:r>
              <a:rPr sz="975" b="0">
                <a:solidFill>
                  <a:srgbClr val="FFFFFF"/>
                </a:solidFill>
                <a:latin typeface="Aptos"/>
                <a:ea typeface="Aptos"/>
                <a:cs typeface="Aptos"/>
              </a:rPr>
              <a:t>Ask: which box is weakest in your current category?</a:t>
            </a:r>
          </a:p>
        </p:txBody>
      </p:sp>
      <p:sp>
        <p:nvSpPr>
          <p:cNvPr id="31" name="">
            <a:extLst xmlns:a="http://schemas.openxmlformats.org/drawingml/2006/main">
              <a:ext uri="{FF2B5EF4-FFF2-40B4-BE49-F238E27FC236}">
                <a16:creationId xmlns:a16="http://schemas.microsoft.com/office/drawing/2014/main" id="{D749E270-F6BE-41BE-AC29-560FE46C7F9A}"/>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F6CE11E0-E0F3-46BE-BB5E-F4DA03D53343}"/>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33" name="">
            <a:extLst xmlns:a="http://schemas.openxmlformats.org/drawingml/2006/main">
              <a:ext uri="{FF2B5EF4-FFF2-40B4-BE49-F238E27FC236}">
                <a16:creationId xmlns:a16="http://schemas.microsoft.com/office/drawing/2014/main" id="{C8A4C8B6-8AE0-4AD9-8A7B-29FA72B77100}"/>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34" name="">
            <a:extLst xmlns:a="http://schemas.openxmlformats.org/drawingml/2006/main">
              <a:ext uri="{FF2B5EF4-FFF2-40B4-BE49-F238E27FC236}">
                <a16:creationId xmlns:a16="http://schemas.microsoft.com/office/drawing/2014/main" id="{C9EB0A4E-6678-44DA-8400-9F2A82622046}"/>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5/15</a:t>
            </a:r>
          </a:p>
        </p:txBody>
      </p:sp>
    </p:spTree>
    <p:extLst>
      <p:ext uri="{BB962C8B-B14F-4D97-AF65-F5344CB8AC3E}">
        <p14:creationId xmlns:p14="http://schemas.microsoft.com/office/powerpoint/2010/main" val="42924075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581AD9B-CC58-4426-8C43-CDEA6A84B9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917A476-C75F-4BA0-8DC4-E439F86A81D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F80A601-DA71-418F-B9B5-ED02F22411A3}"/>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1-marker">
            <a:extLst xmlns:a="http://schemas.openxmlformats.org/drawingml/2006/main">
              <a:ext uri="{FF2B5EF4-FFF2-40B4-BE49-F238E27FC236}">
                <a16:creationId xmlns:a16="http://schemas.microsoft.com/office/drawing/2014/main" id="{1658D61F-F29E-4F61-AF89-031D09BD65AC}"/>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1-label">
            <a:extLst xmlns:a="http://schemas.openxmlformats.org/drawingml/2006/main">
              <a:ext uri="{FF2B5EF4-FFF2-40B4-BE49-F238E27FC236}">
                <a16:creationId xmlns:a16="http://schemas.microsoft.com/office/drawing/2014/main" id="{6C46269C-0C1D-4A16-92AF-6E38D89ABE72}"/>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COMPOSITE EXAMPLE</a:t>
            </a:r>
          </a:p>
        </p:txBody>
      </p:sp>
      <p:sp>
        <p:nvSpPr>
          <p:cNvPr id="6" name="">
            <a:extLst xmlns:a="http://schemas.openxmlformats.org/drawingml/2006/main">
              <a:ext uri="{FF2B5EF4-FFF2-40B4-BE49-F238E27FC236}">
                <a16:creationId xmlns:a16="http://schemas.microsoft.com/office/drawing/2014/main" id="{77D9067C-1CAC-4A41-AD55-F0522E7C051C}"/>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Composite food processing equipment supplier</a:t>
            </a:r>
          </a:p>
        </p:txBody>
      </p:sp>
      <p:sp>
        <p:nvSpPr>
          <p:cNvPr id="7" name="">
            <a:extLst xmlns:a="http://schemas.openxmlformats.org/drawingml/2006/main">
              <a:ext uri="{FF2B5EF4-FFF2-40B4-BE49-F238E27FC236}">
                <a16:creationId xmlns:a16="http://schemas.microsoft.com/office/drawing/2014/main" id="{C3B50B59-30AE-47F7-A458-B4B7EE3581E7}"/>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Use as an anonymized industrial pattern, not a named-company case study.</a:t>
            </a:r>
          </a:p>
        </p:txBody>
      </p:sp>
      <p:sp>
        <p:nvSpPr>
          <p:cNvPr id="8" name="">
            <a:extLst xmlns:a="http://schemas.openxmlformats.org/drawingml/2006/main">
              <a:ext uri="{FF2B5EF4-FFF2-40B4-BE49-F238E27FC236}">
                <a16:creationId xmlns:a16="http://schemas.microsoft.com/office/drawing/2014/main" id="{B1C6F38B-2AB6-47DF-8759-F78D9BF56BE1}"/>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5B0C2C0-4396-425F-9346-11EB05B5899A}"/>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10" name="">
            <a:extLst xmlns:a="http://schemas.openxmlformats.org/drawingml/2006/main">
              <a:ext uri="{FF2B5EF4-FFF2-40B4-BE49-F238E27FC236}">
                <a16:creationId xmlns:a16="http://schemas.microsoft.com/office/drawing/2014/main" id="{8022A3F3-6288-4167-BF56-4659FEB9075D}"/>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11" name="">
            <a:extLst xmlns:a="http://schemas.openxmlformats.org/drawingml/2006/main">
              <a:ext uri="{FF2B5EF4-FFF2-40B4-BE49-F238E27FC236}">
                <a16:creationId xmlns:a16="http://schemas.microsoft.com/office/drawing/2014/main" id="{0276674B-F807-47C0-8899-2950EC0B90BF}"/>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6/15</a:t>
            </a:r>
          </a:p>
        </p:txBody>
      </p:sp>
      <p:sp>
        <p:nvSpPr>
          <p:cNvPr id="12" name="">
            <a:extLst xmlns:a="http://schemas.openxmlformats.org/drawingml/2006/main">
              <a:ext uri="{FF2B5EF4-FFF2-40B4-BE49-F238E27FC236}">
                <a16:creationId xmlns:a16="http://schemas.microsoft.com/office/drawing/2014/main" id="{0C90F9D9-4C48-4A9D-A304-78C90F448207}"/>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544E7F4F-58D0-480E-8F63-EFBAC1BE298A}"/>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4" name="">
            <a:extLst xmlns:a="http://schemas.openxmlformats.org/drawingml/2006/main">
              <a:ext uri="{FF2B5EF4-FFF2-40B4-BE49-F238E27FC236}">
                <a16:creationId xmlns:a16="http://schemas.microsoft.com/office/drawing/2014/main" id="{0295F912-0F7E-4E7D-90E8-0A8887FADD32}"/>
              </a:ext>
            </a:extLst>
          </p:cNvPr>
          <p:cNvSpPr>
            <a:spLocks xmlns:a="http://schemas.openxmlformats.org/drawingml/2006/main" noGrp="1"/>
          </p:cNvSpPr>
          <p:nvPr/>
        </p:nvSpPr>
        <p:spPr>
          <a:xfrm xmlns:a="http://schemas.openxmlformats.org/drawingml/2006/main">
            <a:off x="609600" y="22669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39AE9415-FE30-466E-9B13-B7212F143B87}"/>
              </a:ext>
            </a:extLst>
          </p:cNvPr>
          <p:cNvSpPr>
            <a:spLocks xmlns:a="http://schemas.openxmlformats.org/drawingml/2006/main" noGrp="1"/>
          </p:cNvSpPr>
          <p:nvPr/>
        </p:nvSpPr>
        <p:spPr>
          <a:xfrm xmlns:a="http://schemas.openxmlformats.org/drawingml/2006/main">
            <a:off x="971550" y="2190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PATTERN AND REPAIR</a:t>
            </a:r>
          </a:p>
        </p:txBody>
      </p:sp>
      <p:sp>
        <p:nvSpPr>
          <p:cNvPr id="16" name="">
            <a:extLst xmlns:a="http://schemas.openxmlformats.org/drawingml/2006/main">
              <a:ext uri="{FF2B5EF4-FFF2-40B4-BE49-F238E27FC236}">
                <a16:creationId xmlns:a16="http://schemas.microsoft.com/office/drawing/2014/main" id="{BA97AD9C-24F6-455A-95EA-221C1018EAE2}"/>
              </a:ext>
            </a:extLst>
          </p:cNvPr>
          <p:cNvSpPr>
            <a:spLocks xmlns:a="http://schemas.openxmlformats.org/drawingml/2006/main" noGrp="1"/>
          </p:cNvSpPr>
          <p:nvPr/>
        </p:nvSpPr>
        <p:spPr>
          <a:xfrm xmlns:a="http://schemas.openxmlformats.org/drawingml/2006/main">
            <a:off x="609600" y="271462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1A10E66B-A480-4330-88F2-29BF042C4F75}"/>
              </a:ext>
            </a:extLst>
          </p:cNvPr>
          <p:cNvSpPr>
            <a:spLocks xmlns:a="http://schemas.openxmlformats.org/drawingml/2006/main" noGrp="1"/>
          </p:cNvSpPr>
          <p:nvPr/>
        </p:nvSpPr>
        <p:spPr>
          <a:xfrm xmlns:a="http://schemas.openxmlformats.org/drawingml/2006/main">
            <a:off x="781050" y="2647950"/>
            <a:ext cx="10115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The team attends exhibitions, collects visiting cards, posts product images, and celebrates inquiry volume.</a:t>
            </a:r>
          </a:p>
        </p:txBody>
      </p:sp>
      <p:sp>
        <p:nvSpPr>
          <p:cNvPr id="18" name="">
            <a:extLst xmlns:a="http://schemas.openxmlformats.org/drawingml/2006/main">
              <a:ext uri="{FF2B5EF4-FFF2-40B4-BE49-F238E27FC236}">
                <a16:creationId xmlns:a16="http://schemas.microsoft.com/office/drawing/2014/main" id="{9DEF3496-06F0-4F21-8F29-49AEB53D72C7}"/>
              </a:ext>
            </a:extLst>
          </p:cNvPr>
          <p:cNvSpPr>
            <a:spLocks xmlns:a="http://schemas.openxmlformats.org/drawingml/2006/main" noGrp="1"/>
          </p:cNvSpPr>
          <p:nvPr/>
        </p:nvSpPr>
        <p:spPr>
          <a:xfrm xmlns:a="http://schemas.openxmlformats.org/drawingml/2006/main">
            <a:off x="609600" y="326707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F38D8E52-2695-4262-9170-0F9CADFB6C8F}"/>
              </a:ext>
            </a:extLst>
          </p:cNvPr>
          <p:cNvSpPr>
            <a:spLocks xmlns:a="http://schemas.openxmlformats.org/drawingml/2006/main" noGrp="1"/>
          </p:cNvSpPr>
          <p:nvPr/>
        </p:nvSpPr>
        <p:spPr>
          <a:xfrm xmlns:a="http://schemas.openxmlformats.org/drawingml/2006/main">
            <a:off x="781050" y="3200400"/>
            <a:ext cx="10115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Sales complains that most RFQs are low quality and price-led.</a:t>
            </a:r>
          </a:p>
        </p:txBody>
      </p:sp>
      <p:sp>
        <p:nvSpPr>
          <p:cNvPr id="20" name="">
            <a:extLst xmlns:a="http://schemas.openxmlformats.org/drawingml/2006/main">
              <a:ext uri="{FF2B5EF4-FFF2-40B4-BE49-F238E27FC236}">
                <a16:creationId xmlns:a16="http://schemas.microsoft.com/office/drawing/2014/main" id="{7B939E89-85E3-473B-97FA-3A7E1FAE2EDF}"/>
              </a:ext>
            </a:extLst>
          </p:cNvPr>
          <p:cNvSpPr>
            <a:spLocks xmlns:a="http://schemas.openxmlformats.org/drawingml/2006/main" noGrp="1"/>
          </p:cNvSpPr>
          <p:nvPr/>
        </p:nvSpPr>
        <p:spPr>
          <a:xfrm xmlns:a="http://schemas.openxmlformats.org/drawingml/2006/main">
            <a:off x="609600" y="381952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11736331-C92C-49CC-BA0F-6594FD0AB608}"/>
              </a:ext>
            </a:extLst>
          </p:cNvPr>
          <p:cNvSpPr>
            <a:spLocks xmlns:a="http://schemas.openxmlformats.org/drawingml/2006/main" noGrp="1"/>
          </p:cNvSpPr>
          <p:nvPr/>
        </p:nvSpPr>
        <p:spPr>
          <a:xfrm xmlns:a="http://schemas.openxmlformats.org/drawingml/2006/main">
            <a:off x="781050" y="3752850"/>
            <a:ext cx="10115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The repair is to focus on export-oriented snack manufacturers with throughput, oil efficiency, hygiene, or export-quality...</a:t>
            </a:r>
          </a:p>
        </p:txBody>
      </p:sp>
      <p:sp>
        <p:nvSpPr>
          <p:cNvPr id="22" name="">
            <a:extLst xmlns:a="http://schemas.openxmlformats.org/drawingml/2006/main">
              <a:ext uri="{FF2B5EF4-FFF2-40B4-BE49-F238E27FC236}">
                <a16:creationId xmlns:a16="http://schemas.microsoft.com/office/drawing/2014/main" id="{8CB227B1-DF05-4878-90F3-861D3CC214F8}"/>
              </a:ext>
            </a:extLst>
          </p:cNvPr>
          <p:cNvSpPr>
            <a:spLocks xmlns:a="http://schemas.openxmlformats.org/drawingml/2006/main" noGrp="1"/>
          </p:cNvSpPr>
          <p:nvPr/>
        </p:nvSpPr>
        <p:spPr>
          <a:xfrm xmlns:a="http://schemas.openxmlformats.org/drawingml/2006/main">
            <a:off x="609600" y="437197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514D2432-BDB2-4A8C-903D-F923080BA3F0}"/>
              </a:ext>
            </a:extLst>
          </p:cNvPr>
          <p:cNvSpPr>
            <a:spLocks xmlns:a="http://schemas.openxmlformats.org/drawingml/2006/main" noGrp="1"/>
          </p:cNvSpPr>
          <p:nvPr/>
        </p:nvSpPr>
        <p:spPr>
          <a:xfrm xmlns:a="http://schemas.openxmlformats.org/drawingml/2006/main">
            <a:off x="781050" y="4305300"/>
            <a:ext cx="101155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The operating measure becomes target account progression, not inquiry count alone.</a:t>
            </a:r>
          </a:p>
        </p:txBody>
      </p:sp>
      <p:sp>
        <p:nvSpPr>
          <p:cNvPr id="24" name="">
            <a:extLst xmlns:a="http://schemas.openxmlformats.org/drawingml/2006/main">
              <a:ext uri="{FF2B5EF4-FFF2-40B4-BE49-F238E27FC236}">
                <a16:creationId xmlns:a16="http://schemas.microsoft.com/office/drawing/2014/main" id="{8B109D01-3B23-408C-A2A7-7FEF68DAD8A3}"/>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0CFE7CE0-B26D-4219-A351-7BF8C2EA2DFC}"/>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26" name="">
            <a:extLst xmlns:a="http://schemas.openxmlformats.org/drawingml/2006/main">
              <a:ext uri="{FF2B5EF4-FFF2-40B4-BE49-F238E27FC236}">
                <a16:creationId xmlns:a16="http://schemas.microsoft.com/office/drawing/2014/main" id="{E5FFB6D5-2131-42A9-A554-D8E28FCC784E}"/>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27" name="">
            <a:extLst xmlns:a="http://schemas.openxmlformats.org/drawingml/2006/main">
              <a:ext uri="{FF2B5EF4-FFF2-40B4-BE49-F238E27FC236}">
                <a16:creationId xmlns:a16="http://schemas.microsoft.com/office/drawing/2014/main" id="{8D23D9DF-A749-47C5-A17E-44E1D5AA116C}"/>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6/15</a:t>
            </a:r>
          </a:p>
        </p:txBody>
      </p:sp>
      <p:sp>
        <p:nvSpPr>
          <p:cNvPr id="28" name="">
            <a:extLst xmlns:a="http://schemas.openxmlformats.org/drawingml/2006/main">
              <a:ext uri="{FF2B5EF4-FFF2-40B4-BE49-F238E27FC236}">
                <a16:creationId xmlns:a16="http://schemas.microsoft.com/office/drawing/2014/main" id="{BF65C121-9154-4961-86E7-41DE6199CA18}"/>
              </a:ext>
            </a:extLst>
          </p:cNvPr>
          <p:cNvSpPr>
            <a:spLocks xmlns:a="http://schemas.openxmlformats.org/drawingml/2006/main" noGrp="1"/>
          </p:cNvSpPr>
          <p:nvPr/>
        </p:nvSpPr>
        <p:spPr>
          <a:xfrm xmlns:a="http://schemas.openxmlformats.org/drawingml/2006/main">
            <a:off x="0" y="0"/>
            <a:ext cx="12192000" cy="18097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11B5C786-E8F7-4F6F-BD6B-5A14FBC7DCDE}"/>
              </a:ext>
            </a:extLst>
          </p:cNvPr>
          <p:cNvSpPr>
            <a:spLocks xmlns:a="http://schemas.openxmlformats.org/drawingml/2006/main" noGrp="1"/>
          </p:cNvSpPr>
          <p:nvPr/>
        </p:nvSpPr>
        <p:spPr>
          <a:xfrm xmlns:a="http://schemas.openxmlformats.org/drawingml/2006/main">
            <a:off x="0" y="0"/>
            <a:ext cx="171450" cy="180975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744CC0AA-84E4-4EA4-AA3B-82D125019B4C}"/>
              </a:ext>
            </a:extLst>
          </p:cNvPr>
          <p:cNvSpPr>
            <a:spLocks xmlns:a="http://schemas.openxmlformats.org/drawingml/2006/main" noGrp="1"/>
          </p:cNvSpPr>
          <p:nvPr/>
        </p:nvSpPr>
        <p:spPr>
          <a:xfrm xmlns:a="http://schemas.openxmlformats.org/drawingml/2006/main">
            <a:off x="171450" y="0"/>
            <a:ext cx="57150" cy="18097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31" name="kicker-01-marker">
            <a:extLst xmlns:a="http://schemas.openxmlformats.org/drawingml/2006/main">
              <a:ext uri="{FF2B5EF4-FFF2-40B4-BE49-F238E27FC236}">
                <a16:creationId xmlns:a16="http://schemas.microsoft.com/office/drawing/2014/main" id="{54B4AFCC-B529-4C28-9270-F009DF2E0E30}"/>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32" name="kicker-01-label">
            <a:extLst xmlns:a="http://schemas.openxmlformats.org/drawingml/2006/main">
              <a:ext uri="{FF2B5EF4-FFF2-40B4-BE49-F238E27FC236}">
                <a16:creationId xmlns:a16="http://schemas.microsoft.com/office/drawing/2014/main" id="{9AFBB950-8990-47A7-9283-FF086F7A8883}"/>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COMPOSITE EXAMPLE</a:t>
            </a:r>
          </a:p>
        </p:txBody>
      </p:sp>
      <p:sp>
        <p:nvSpPr>
          <p:cNvPr id="33" name="">
            <a:extLst xmlns:a="http://schemas.openxmlformats.org/drawingml/2006/main">
              <a:ext uri="{FF2B5EF4-FFF2-40B4-BE49-F238E27FC236}">
                <a16:creationId xmlns:a16="http://schemas.microsoft.com/office/drawing/2014/main" id="{3A7C46BE-1F37-4367-8FB5-9D47F6A2EEAB}"/>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Composite food processing equipment supplier</a:t>
            </a:r>
          </a:p>
        </p:txBody>
      </p:sp>
      <p:sp>
        <p:nvSpPr>
          <p:cNvPr id="34" name="">
            <a:extLst xmlns:a="http://schemas.openxmlformats.org/drawingml/2006/main">
              <a:ext uri="{FF2B5EF4-FFF2-40B4-BE49-F238E27FC236}">
                <a16:creationId xmlns:a16="http://schemas.microsoft.com/office/drawing/2014/main" id="{B6E01C09-6183-4441-BA93-294029FA217E}"/>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Use as an anonymized industrial pattern, not a named-company case study.</a:t>
            </a:r>
          </a:p>
        </p:txBody>
      </p:sp>
      <p:sp>
        <p:nvSpPr>
          <p:cNvPr id="35" name="">
            <a:extLst xmlns:a="http://schemas.openxmlformats.org/drawingml/2006/main">
              <a:ext uri="{FF2B5EF4-FFF2-40B4-BE49-F238E27FC236}">
                <a16:creationId xmlns:a16="http://schemas.microsoft.com/office/drawing/2014/main" id="{915AD23C-CBE0-411E-B084-C8E162C7ECDE}"/>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43DD0986-B2BC-4D86-A748-3AD338ED8209}"/>
              </a:ext>
            </a:extLst>
          </p:cNvPr>
          <p:cNvSpPr>
            <a:spLocks xmlns:a="http://schemas.openxmlformats.org/drawingml/2006/main" noGrp="1"/>
          </p:cNvSpPr>
          <p:nvPr/>
        </p:nvSpPr>
        <p:spPr>
          <a:xfrm xmlns:a="http://schemas.openxmlformats.org/drawingml/2006/main">
            <a:off x="0" y="6400800"/>
            <a:ext cx="171450" cy="4572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E4AF243B-C51F-4058-92B5-AA948EE61830}"/>
              </a:ext>
            </a:extLst>
          </p:cNvPr>
          <p:cNvSpPr>
            <a:spLocks xmlns:a="http://schemas.openxmlformats.org/drawingml/2006/main" noGrp="1"/>
          </p:cNvSpPr>
          <p:nvPr/>
        </p:nvSpPr>
        <p:spPr>
          <a:xfrm xmlns:a="http://schemas.openxmlformats.org/drawingml/2006/main">
            <a:off x="171450" y="6400800"/>
            <a:ext cx="57150" cy="457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BAD610E5-5B20-43B7-898B-1A84E5802CC3}"/>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30C2DA29-5686-49C1-A72C-CAD49A3848B4}"/>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40" name="">
            <a:extLst xmlns:a="http://schemas.openxmlformats.org/drawingml/2006/main">
              <a:ext uri="{FF2B5EF4-FFF2-40B4-BE49-F238E27FC236}">
                <a16:creationId xmlns:a16="http://schemas.microsoft.com/office/drawing/2014/main" id="{CFFD2955-461F-4206-A587-EB5FE5FECF8E}"/>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41" name="">
            <a:extLst xmlns:a="http://schemas.openxmlformats.org/drawingml/2006/main">
              <a:ext uri="{FF2B5EF4-FFF2-40B4-BE49-F238E27FC236}">
                <a16:creationId xmlns:a16="http://schemas.microsoft.com/office/drawing/2014/main" id="{1C713923-F55F-4E6B-843B-3D93EA1E4FCC}"/>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6/15</a:t>
            </a:r>
          </a:p>
        </p:txBody>
      </p:sp>
    </p:spTree>
    <p:extLst>
      <p:ext uri="{BB962C8B-B14F-4D97-AF65-F5344CB8AC3E}">
        <p14:creationId xmlns:p14="http://schemas.microsoft.com/office/powerpoint/2010/main" val="198258749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523B913-FDC6-4CC9-B117-FD79B9B523F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32AE949-0894-43D3-8BB5-690F67F7EF5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3EDEF10-877A-4932-9FEC-662BD84C4FFC}"/>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1-marker">
            <a:extLst xmlns:a="http://schemas.openxmlformats.org/drawingml/2006/main">
              <a:ext uri="{FF2B5EF4-FFF2-40B4-BE49-F238E27FC236}">
                <a16:creationId xmlns:a16="http://schemas.microsoft.com/office/drawing/2014/main" id="{DA74D071-D192-4FA1-82F0-D42CC50FB547}"/>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1-label">
            <a:extLst xmlns:a="http://schemas.openxmlformats.org/drawingml/2006/main">
              <a:ext uri="{FF2B5EF4-FFF2-40B4-BE49-F238E27FC236}">
                <a16:creationId xmlns:a16="http://schemas.microsoft.com/office/drawing/2014/main" id="{75254938-B1A4-4542-82E4-4E7F0F2BB41E}"/>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DIAGNOSTIC</a:t>
            </a:r>
          </a:p>
        </p:txBody>
      </p:sp>
      <p:sp>
        <p:nvSpPr>
          <p:cNvPr id="6" name="">
            <a:extLst xmlns:a="http://schemas.openxmlformats.org/drawingml/2006/main">
              <a:ext uri="{FF2B5EF4-FFF2-40B4-BE49-F238E27FC236}">
                <a16:creationId xmlns:a16="http://schemas.microsoft.com/office/drawing/2014/main" id="{51EC3C8D-5361-4ADF-956E-575D81883B0D}"/>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Run the room on one hard operating question.</a:t>
            </a:r>
          </a:p>
        </p:txBody>
      </p:sp>
      <p:sp>
        <p:nvSpPr>
          <p:cNvPr id="7" name="">
            <a:extLst xmlns:a="http://schemas.openxmlformats.org/drawingml/2006/main">
              <a:ext uri="{FF2B5EF4-FFF2-40B4-BE49-F238E27FC236}">
                <a16:creationId xmlns:a16="http://schemas.microsoft.com/office/drawing/2014/main" id="{6B068018-008F-4437-AF38-49B2AED79107}"/>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This slide is the short live diagnostic before the exercise.</a:t>
            </a:r>
          </a:p>
        </p:txBody>
      </p:sp>
      <p:sp>
        <p:nvSpPr>
          <p:cNvPr id="8" name="">
            <a:extLst xmlns:a="http://schemas.openxmlformats.org/drawingml/2006/main">
              <a:ext uri="{FF2B5EF4-FFF2-40B4-BE49-F238E27FC236}">
                <a16:creationId xmlns:a16="http://schemas.microsoft.com/office/drawing/2014/main" id="{9B2031BA-5C5E-4E51-845F-086B814F09E9}"/>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5F13ECB4-F673-4895-A736-6FE715AB0ABA}"/>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10" name="">
            <a:extLst xmlns:a="http://schemas.openxmlformats.org/drawingml/2006/main">
              <a:ext uri="{FF2B5EF4-FFF2-40B4-BE49-F238E27FC236}">
                <a16:creationId xmlns:a16="http://schemas.microsoft.com/office/drawing/2014/main" id="{1C6E4ECD-E137-4AA7-BCC8-D1102DBECF64}"/>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11" name="">
            <a:extLst xmlns:a="http://schemas.openxmlformats.org/drawingml/2006/main">
              <a:ext uri="{FF2B5EF4-FFF2-40B4-BE49-F238E27FC236}">
                <a16:creationId xmlns:a16="http://schemas.microsoft.com/office/drawing/2014/main" id="{7ECEB616-6722-45D7-9728-2DBC91153A13}"/>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7/15</a:t>
            </a:r>
          </a:p>
        </p:txBody>
      </p:sp>
      <p:sp>
        <p:nvSpPr>
          <p:cNvPr id="12" name="">
            <a:extLst xmlns:a="http://schemas.openxmlformats.org/drawingml/2006/main">
              <a:ext uri="{FF2B5EF4-FFF2-40B4-BE49-F238E27FC236}">
                <a16:creationId xmlns:a16="http://schemas.microsoft.com/office/drawing/2014/main" id="{F7D1460D-012B-4CAF-9587-9FF0F8F51ACA}"/>
              </a:ext>
            </a:extLst>
          </p:cNvPr>
          <p:cNvSpPr>
            <a:spLocks xmlns:a="http://schemas.openxmlformats.org/drawingml/2006/main" noGrp="1"/>
          </p:cNvSpPr>
          <p:nvPr/>
        </p:nvSpPr>
        <p:spPr>
          <a:xfrm xmlns:a="http://schemas.openxmlformats.org/drawingml/2006/main">
            <a:off x="514350" y="1962150"/>
            <a:ext cx="10915650" cy="121920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13" name="">
            <a:extLst xmlns:a="http://schemas.openxmlformats.org/drawingml/2006/main">
              <a:ext uri="{FF2B5EF4-FFF2-40B4-BE49-F238E27FC236}">
                <a16:creationId xmlns:a16="http://schemas.microsoft.com/office/drawing/2014/main" id="{7A003856-6D31-49EF-8ED9-439F9DAF0C84}"/>
              </a:ext>
            </a:extLst>
          </p:cNvPr>
          <p:cNvSpPr>
            <a:spLocks xmlns:a="http://schemas.openxmlformats.org/drawingml/2006/main" noGrp="1"/>
          </p:cNvSpPr>
          <p:nvPr/>
        </p:nvSpPr>
        <p:spPr>
          <a:xfrm xmlns:a="http://schemas.openxmlformats.org/drawingml/2006/main">
            <a:off x="857250" y="2190750"/>
            <a:ext cx="100584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Where is the current system confusing activity with account movement?</a:t>
            </a:r>
          </a:p>
        </p:txBody>
      </p:sp>
      <p:sp>
        <p:nvSpPr>
          <p:cNvPr id="14" name="">
            <a:extLst xmlns:a="http://schemas.openxmlformats.org/drawingml/2006/main">
              <a:ext uri="{FF2B5EF4-FFF2-40B4-BE49-F238E27FC236}">
                <a16:creationId xmlns:a16="http://schemas.microsoft.com/office/drawing/2014/main" id="{C502516E-0290-43D4-8B6F-4BDCF7CD3F01}"/>
              </a:ext>
            </a:extLst>
          </p:cNvPr>
          <p:cNvSpPr>
            <a:spLocks xmlns:a="http://schemas.openxmlformats.org/drawingml/2006/main" noGrp="1"/>
          </p:cNvSpPr>
          <p:nvPr/>
        </p:nvSpPr>
        <p:spPr>
          <a:xfrm xmlns:a="http://schemas.openxmlformats.org/drawingml/2006/main">
            <a:off x="704850" y="37147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74B36CB7-E7E3-476C-9360-044B0483D60D}"/>
              </a:ext>
            </a:extLst>
          </p:cNvPr>
          <p:cNvSpPr>
            <a:spLocks xmlns:a="http://schemas.openxmlformats.org/drawingml/2006/main" noGrp="1"/>
          </p:cNvSpPr>
          <p:nvPr/>
        </p:nvSpPr>
        <p:spPr>
          <a:xfrm xmlns:a="http://schemas.openxmlformats.org/drawingml/2006/main">
            <a:off x="1066800" y="36385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PROMPT STACK</a:t>
            </a:r>
          </a:p>
        </p:txBody>
      </p:sp>
      <p:sp>
        <p:nvSpPr>
          <p:cNvPr id="16" name="">
            <a:extLst xmlns:a="http://schemas.openxmlformats.org/drawingml/2006/main">
              <a:ext uri="{FF2B5EF4-FFF2-40B4-BE49-F238E27FC236}">
                <a16:creationId xmlns:a16="http://schemas.microsoft.com/office/drawing/2014/main" id="{C96C5C52-78A6-476D-B0BF-252AA6B86BE2}"/>
              </a:ext>
            </a:extLst>
          </p:cNvPr>
          <p:cNvSpPr>
            <a:spLocks xmlns:a="http://schemas.openxmlformats.org/drawingml/2006/main" noGrp="1"/>
          </p:cNvSpPr>
          <p:nvPr/>
        </p:nvSpPr>
        <p:spPr>
          <a:xfrm xmlns:a="http://schemas.openxmlformats.org/drawingml/2006/main">
            <a:off x="876300" y="410527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EECEE9FB-D63B-4E1D-A1AF-DE8820DB2B58}"/>
              </a:ext>
            </a:extLst>
          </p:cNvPr>
          <p:cNvSpPr>
            <a:spLocks xmlns:a="http://schemas.openxmlformats.org/drawingml/2006/main" noGrp="1"/>
          </p:cNvSpPr>
          <p:nvPr/>
        </p:nvSpPr>
        <p:spPr>
          <a:xfrm xmlns:a="http://schemas.openxmlformats.org/drawingml/2006/main">
            <a:off x="1047750" y="4038600"/>
            <a:ext cx="421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Are we measuring leads or movement of high-fit accounts?</a:t>
            </a:r>
          </a:p>
        </p:txBody>
      </p:sp>
      <p:sp>
        <p:nvSpPr>
          <p:cNvPr id="18" name="">
            <a:extLst xmlns:a="http://schemas.openxmlformats.org/drawingml/2006/main">
              <a:ext uri="{FF2B5EF4-FFF2-40B4-BE49-F238E27FC236}">
                <a16:creationId xmlns:a16="http://schemas.microsoft.com/office/drawing/2014/main" id="{E73057C0-807C-4DA7-847C-D2ED6F4AC19B}"/>
              </a:ext>
            </a:extLst>
          </p:cNvPr>
          <p:cNvSpPr>
            <a:spLocks xmlns:a="http://schemas.openxmlformats.org/drawingml/2006/main" noGrp="1"/>
          </p:cNvSpPr>
          <p:nvPr/>
        </p:nvSpPr>
        <p:spPr>
          <a:xfrm xmlns:a="http://schemas.openxmlformats.org/drawingml/2006/main">
            <a:off x="876300" y="460057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C0D0E3D6-9C22-48B8-9970-9A60D778B50C}"/>
              </a:ext>
            </a:extLst>
          </p:cNvPr>
          <p:cNvSpPr>
            <a:spLocks xmlns:a="http://schemas.openxmlformats.org/drawingml/2006/main" noGrp="1"/>
          </p:cNvSpPr>
          <p:nvPr/>
        </p:nvSpPr>
        <p:spPr>
          <a:xfrm xmlns:a="http://schemas.openxmlformats.org/drawingml/2006/main">
            <a:off x="1047750" y="4533900"/>
            <a:ext cx="421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Do we know which buying committee roles are engaging?</a:t>
            </a:r>
          </a:p>
        </p:txBody>
      </p:sp>
      <p:sp>
        <p:nvSpPr>
          <p:cNvPr id="20" name="">
            <a:extLst xmlns:a="http://schemas.openxmlformats.org/drawingml/2006/main">
              <a:ext uri="{FF2B5EF4-FFF2-40B4-BE49-F238E27FC236}">
                <a16:creationId xmlns:a16="http://schemas.microsoft.com/office/drawing/2014/main" id="{AF305CE0-480F-4E93-8FA7-D191D1806536}"/>
              </a:ext>
            </a:extLst>
          </p:cNvPr>
          <p:cNvSpPr>
            <a:spLocks xmlns:a="http://schemas.openxmlformats.org/drawingml/2006/main" noGrp="1"/>
          </p:cNvSpPr>
          <p:nvPr/>
        </p:nvSpPr>
        <p:spPr>
          <a:xfrm xmlns:a="http://schemas.openxmlformats.org/drawingml/2006/main">
            <a:off x="876300" y="509587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14CA204C-E63F-44B8-B188-FAAB2194AA31}"/>
              </a:ext>
            </a:extLst>
          </p:cNvPr>
          <p:cNvSpPr>
            <a:spLocks xmlns:a="http://schemas.openxmlformats.org/drawingml/2006/main" noGrp="1"/>
          </p:cNvSpPr>
          <p:nvPr/>
        </p:nvSpPr>
        <p:spPr>
          <a:xfrm xmlns:a="http://schemas.openxmlformats.org/drawingml/2006/main">
            <a:off x="1047750" y="5029200"/>
            <a:ext cx="421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Can sales explain why an account should be acted on now?</a:t>
            </a:r>
          </a:p>
        </p:txBody>
      </p:sp>
      <p:sp>
        <p:nvSpPr>
          <p:cNvPr id="22" name="">
            <a:extLst xmlns:a="http://schemas.openxmlformats.org/drawingml/2006/main">
              <a:ext uri="{FF2B5EF4-FFF2-40B4-BE49-F238E27FC236}">
                <a16:creationId xmlns:a16="http://schemas.microsoft.com/office/drawing/2014/main" id="{80679901-0487-4F08-AA3F-BAB3139C2E94}"/>
              </a:ext>
            </a:extLst>
          </p:cNvPr>
          <p:cNvSpPr>
            <a:spLocks xmlns:a="http://schemas.openxmlformats.org/drawingml/2006/main" noGrp="1"/>
          </p:cNvSpPr>
          <p:nvPr/>
        </p:nvSpPr>
        <p:spPr>
          <a:xfrm xmlns:a="http://schemas.openxmlformats.org/drawingml/2006/main">
            <a:off x="6096000" y="410527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5F7F83C4-51C5-43D2-BD61-B3DA5F0E2835}"/>
              </a:ext>
            </a:extLst>
          </p:cNvPr>
          <p:cNvSpPr>
            <a:spLocks xmlns:a="http://schemas.openxmlformats.org/drawingml/2006/main" noGrp="1"/>
          </p:cNvSpPr>
          <p:nvPr/>
        </p:nvSpPr>
        <p:spPr>
          <a:xfrm xmlns:a="http://schemas.openxmlformats.org/drawingml/2006/main">
            <a:off x="6267450" y="4038600"/>
            <a:ext cx="421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Do we have content for content, solution, and vendor demand?</a:t>
            </a:r>
          </a:p>
        </p:txBody>
      </p:sp>
      <p:sp>
        <p:nvSpPr>
          <p:cNvPr id="24" name="">
            <a:extLst xmlns:a="http://schemas.openxmlformats.org/drawingml/2006/main">
              <a:ext uri="{FF2B5EF4-FFF2-40B4-BE49-F238E27FC236}">
                <a16:creationId xmlns:a16="http://schemas.microsoft.com/office/drawing/2014/main" id="{562FA5BB-3F77-45AE-8F12-4E35E382B7DE}"/>
              </a:ext>
            </a:extLst>
          </p:cNvPr>
          <p:cNvSpPr>
            <a:spLocks xmlns:a="http://schemas.openxmlformats.org/drawingml/2006/main" noGrp="1"/>
          </p:cNvSpPr>
          <p:nvPr/>
        </p:nvSpPr>
        <p:spPr>
          <a:xfrm xmlns:a="http://schemas.openxmlformats.org/drawingml/2006/main">
            <a:off x="6096000" y="460057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B7D314AC-6AEF-40E0-B34F-6011DF539B62}"/>
              </a:ext>
            </a:extLst>
          </p:cNvPr>
          <p:cNvSpPr>
            <a:spLocks xmlns:a="http://schemas.openxmlformats.org/drawingml/2006/main" noGrp="1"/>
          </p:cNvSpPr>
          <p:nvPr/>
        </p:nvSpPr>
        <p:spPr>
          <a:xfrm xmlns:a="http://schemas.openxmlformats.org/drawingml/2006/main">
            <a:off x="6267450" y="4533900"/>
            <a:ext cx="4210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Does RevOps capture source, state, strength, owner, SLA, and next action?</a:t>
            </a:r>
          </a:p>
        </p:txBody>
      </p:sp>
      <p:sp>
        <p:nvSpPr>
          <p:cNvPr id="26" name="">
            <a:extLst xmlns:a="http://schemas.openxmlformats.org/drawingml/2006/main">
              <a:ext uri="{FF2B5EF4-FFF2-40B4-BE49-F238E27FC236}">
                <a16:creationId xmlns:a16="http://schemas.microsoft.com/office/drawing/2014/main" id="{91370BD6-A471-4B21-ABE3-ADCDD006E05D}"/>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6A07E9D9-7F70-4BB6-866A-836943D57416}"/>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28" name="">
            <a:extLst xmlns:a="http://schemas.openxmlformats.org/drawingml/2006/main">
              <a:ext uri="{FF2B5EF4-FFF2-40B4-BE49-F238E27FC236}">
                <a16:creationId xmlns:a16="http://schemas.microsoft.com/office/drawing/2014/main" id="{D605D508-4BA0-4A20-B210-F276ED6ED478}"/>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29" name="">
            <a:extLst xmlns:a="http://schemas.openxmlformats.org/drawingml/2006/main">
              <a:ext uri="{FF2B5EF4-FFF2-40B4-BE49-F238E27FC236}">
                <a16:creationId xmlns:a16="http://schemas.microsoft.com/office/drawing/2014/main" id="{55CD356D-A4AD-4096-B37A-9C0C6B6876B8}"/>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7/15</a:t>
            </a:r>
          </a:p>
        </p:txBody>
      </p:sp>
    </p:spTree>
    <p:extLst>
      <p:ext uri="{BB962C8B-B14F-4D97-AF65-F5344CB8AC3E}">
        <p14:creationId xmlns:p14="http://schemas.microsoft.com/office/powerpoint/2010/main" val="33875403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2C58B40-C8E0-450F-B59D-D3FF98F4A7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AD03CA2-DF27-4F0F-86B4-106A1E32B33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C002700-3D10-4F45-9F75-196CE16780BB}"/>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1-marker">
            <a:extLst xmlns:a="http://schemas.openxmlformats.org/drawingml/2006/main">
              <a:ext uri="{FF2B5EF4-FFF2-40B4-BE49-F238E27FC236}">
                <a16:creationId xmlns:a16="http://schemas.microsoft.com/office/drawing/2014/main" id="{AB8EE0DF-0D67-4476-8208-87FF2E712358}"/>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1-label">
            <a:extLst xmlns:a="http://schemas.openxmlformats.org/drawingml/2006/main">
              <a:ext uri="{FF2B5EF4-FFF2-40B4-BE49-F238E27FC236}">
                <a16:creationId xmlns:a16="http://schemas.microsoft.com/office/drawing/2014/main" id="{031F5A02-AFCE-4335-84DC-A0881B229094}"/>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EXERCISE SETUP</a:t>
            </a:r>
          </a:p>
        </p:txBody>
      </p:sp>
      <p:sp>
        <p:nvSpPr>
          <p:cNvPr id="6" name="">
            <a:extLst xmlns:a="http://schemas.openxmlformats.org/drawingml/2006/main">
              <a:ext uri="{FF2B5EF4-FFF2-40B4-BE49-F238E27FC236}">
                <a16:creationId xmlns:a16="http://schemas.microsoft.com/office/drawing/2014/main" id="{E90E654B-7FF8-41B2-8213-3E4EB0E0A23A}"/>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Demand system diagnostic</a:t>
            </a:r>
          </a:p>
        </p:txBody>
      </p:sp>
      <p:sp>
        <p:nvSpPr>
          <p:cNvPr id="7" name="">
            <a:extLst xmlns:a="http://schemas.openxmlformats.org/drawingml/2006/main">
              <a:ext uri="{FF2B5EF4-FFF2-40B4-BE49-F238E27FC236}">
                <a16:creationId xmlns:a16="http://schemas.microsoft.com/office/drawing/2014/main" id="{7A32EA2E-4E7A-40EA-AA30-A999887D04D2}"/>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The exercise produces a working artifact, not class discussion notes.</a:t>
            </a:r>
          </a:p>
        </p:txBody>
      </p:sp>
      <p:sp>
        <p:nvSpPr>
          <p:cNvPr id="8" name="">
            <a:extLst xmlns:a="http://schemas.openxmlformats.org/drawingml/2006/main">
              <a:ext uri="{FF2B5EF4-FFF2-40B4-BE49-F238E27FC236}">
                <a16:creationId xmlns:a16="http://schemas.microsoft.com/office/drawing/2014/main" id="{0BC48773-E609-4F55-B869-67E56EC6F001}"/>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A08E452E-A1CC-46A4-BE55-8EFAA07260BE}"/>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10" name="">
            <a:extLst xmlns:a="http://schemas.openxmlformats.org/drawingml/2006/main">
              <a:ext uri="{FF2B5EF4-FFF2-40B4-BE49-F238E27FC236}">
                <a16:creationId xmlns:a16="http://schemas.microsoft.com/office/drawing/2014/main" id="{EC959079-A8B4-4E03-8321-FC82FD674CA0}"/>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11" name="">
            <a:extLst xmlns:a="http://schemas.openxmlformats.org/drawingml/2006/main">
              <a:ext uri="{FF2B5EF4-FFF2-40B4-BE49-F238E27FC236}">
                <a16:creationId xmlns:a16="http://schemas.microsoft.com/office/drawing/2014/main" id="{F8E82A8B-CF87-49A9-828C-02CEBC4E5653}"/>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8/15</a:t>
            </a:r>
          </a:p>
        </p:txBody>
      </p:sp>
      <p:sp>
        <p:nvSpPr>
          <p:cNvPr id="12" name="">
            <a:extLst xmlns:a="http://schemas.openxmlformats.org/drawingml/2006/main">
              <a:ext uri="{FF2B5EF4-FFF2-40B4-BE49-F238E27FC236}">
                <a16:creationId xmlns:a16="http://schemas.microsoft.com/office/drawing/2014/main" id="{11D9316B-7CB5-4D63-AC12-CB4D4C179644}"/>
              </a:ext>
            </a:extLst>
          </p:cNvPr>
          <p:cNvSpPr>
            <a:spLocks xmlns:a="http://schemas.openxmlformats.org/drawingml/2006/main" noGrp="1"/>
          </p:cNvSpPr>
          <p:nvPr/>
        </p:nvSpPr>
        <p:spPr>
          <a:xfrm xmlns:a="http://schemas.openxmlformats.org/drawingml/2006/main">
            <a:off x="514350" y="2038350"/>
            <a:ext cx="3143250" cy="304800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3" name="">
            <a:extLst xmlns:a="http://schemas.openxmlformats.org/drawingml/2006/main">
              <a:ext uri="{FF2B5EF4-FFF2-40B4-BE49-F238E27FC236}">
                <a16:creationId xmlns:a16="http://schemas.microsoft.com/office/drawing/2014/main" id="{E4A726C3-9009-4976-83CD-AEFC2121E222}"/>
              </a:ext>
            </a:extLst>
          </p:cNvPr>
          <p:cNvSpPr>
            <a:spLocks xmlns:a="http://schemas.openxmlformats.org/drawingml/2006/main" noGrp="1"/>
          </p:cNvSpPr>
          <p:nvPr/>
        </p:nvSpPr>
        <p:spPr>
          <a:xfrm xmlns:a="http://schemas.openxmlformats.org/drawingml/2006/main">
            <a:off x="819150" y="2419350"/>
            <a:ext cx="266700" cy="190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69AF26AB-C56E-4BD7-8D8A-F730D4775AFC}"/>
              </a:ext>
            </a:extLst>
          </p:cNvPr>
          <p:cNvSpPr>
            <a:spLocks xmlns:a="http://schemas.openxmlformats.org/drawingml/2006/main" noGrp="1"/>
          </p:cNvSpPr>
          <p:nvPr/>
        </p:nvSpPr>
        <p:spPr>
          <a:xfrm xmlns:a="http://schemas.openxmlformats.org/drawingml/2006/main">
            <a:off x="1181100" y="23431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TIMEBOX</a:t>
            </a:r>
          </a:p>
        </p:txBody>
      </p:sp>
      <p:sp>
        <p:nvSpPr>
          <p:cNvPr id="15" name="">
            <a:extLst xmlns:a="http://schemas.openxmlformats.org/drawingml/2006/main">
              <a:ext uri="{FF2B5EF4-FFF2-40B4-BE49-F238E27FC236}">
                <a16:creationId xmlns:a16="http://schemas.microsoft.com/office/drawing/2014/main" id="{3CBDB3E7-3E96-46C9-98C2-7A234D6C7EDD}"/>
              </a:ext>
            </a:extLst>
          </p:cNvPr>
          <p:cNvSpPr>
            <a:spLocks xmlns:a="http://schemas.openxmlformats.org/drawingml/2006/main" noGrp="1"/>
          </p:cNvSpPr>
          <p:nvPr/>
        </p:nvSpPr>
        <p:spPr>
          <a:xfrm xmlns:a="http://schemas.openxmlformats.org/drawingml/2006/main">
            <a:off x="819150" y="2705100"/>
            <a:ext cx="22669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72026"/>
                </a:solidFill>
                <a:latin typeface="Aptos Display"/>
                <a:ea typeface="Aptos Display"/>
                <a:cs typeface="Aptos Display"/>
              </a:defRPr>
            </a:pPr>
            <a:r>
              <a:rPr sz="1950" b="1">
                <a:solidFill>
                  <a:srgbClr val="172026"/>
                </a:solidFill>
                <a:latin typeface="Aptos Display"/>
                <a:ea typeface="Aptos Display"/>
                <a:cs typeface="Aptos Display"/>
              </a:rPr>
              <a:t>6 min individual, 4 min pair review</a:t>
            </a:r>
          </a:p>
        </p:txBody>
      </p:sp>
      <p:sp>
        <p:nvSpPr>
          <p:cNvPr id="16" name="">
            <a:extLst xmlns:a="http://schemas.openxmlformats.org/drawingml/2006/main">
              <a:ext uri="{FF2B5EF4-FFF2-40B4-BE49-F238E27FC236}">
                <a16:creationId xmlns:a16="http://schemas.microsoft.com/office/drawing/2014/main" id="{48D8431B-C0E0-4F3B-8BDD-F21591FC3BC3}"/>
              </a:ext>
            </a:extLst>
          </p:cNvPr>
          <p:cNvSpPr>
            <a:spLocks xmlns:a="http://schemas.openxmlformats.org/drawingml/2006/main" noGrp="1"/>
          </p:cNvSpPr>
          <p:nvPr/>
        </p:nvSpPr>
        <p:spPr>
          <a:xfrm xmlns:a="http://schemas.openxmlformats.org/drawingml/2006/main">
            <a:off x="819150" y="373380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EAF199EF-F3E6-421B-AE9B-9531D6680A3F}"/>
              </a:ext>
            </a:extLst>
          </p:cNvPr>
          <p:cNvSpPr>
            <a:spLocks xmlns:a="http://schemas.openxmlformats.org/drawingml/2006/main" noGrp="1"/>
          </p:cNvSpPr>
          <p:nvPr/>
        </p:nvSpPr>
        <p:spPr>
          <a:xfrm xmlns:a="http://schemas.openxmlformats.org/drawingml/2006/main">
            <a:off x="1181100" y="36576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OUTPUT</a:t>
            </a:r>
          </a:p>
        </p:txBody>
      </p:sp>
      <p:sp>
        <p:nvSpPr>
          <p:cNvPr id="18" name="">
            <a:extLst xmlns:a="http://schemas.openxmlformats.org/drawingml/2006/main">
              <a:ext uri="{FF2B5EF4-FFF2-40B4-BE49-F238E27FC236}">
                <a16:creationId xmlns:a16="http://schemas.microsoft.com/office/drawing/2014/main" id="{EFF1A0E9-A1B8-4009-A9E4-8F023DBB725F}"/>
              </a:ext>
            </a:extLst>
          </p:cNvPr>
          <p:cNvSpPr>
            <a:spLocks xmlns:a="http://schemas.openxmlformats.org/drawingml/2006/main" noGrp="1"/>
          </p:cNvSpPr>
          <p:nvPr/>
        </p:nvSpPr>
        <p:spPr>
          <a:xfrm xmlns:a="http://schemas.openxmlformats.org/drawingml/2006/main">
            <a:off x="819150" y="4000500"/>
            <a:ext cx="23241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59646A"/>
                </a:solidFill>
                <a:latin typeface="Aptos"/>
                <a:ea typeface="Aptos"/>
                <a:cs typeface="Aptos"/>
              </a:defRPr>
            </a:pPr>
            <a:r>
              <a:rPr sz="1275" b="0">
                <a:solidFill>
                  <a:srgbClr val="59646A"/>
                </a:solidFill>
                <a:latin typeface="Aptos"/>
                <a:ea typeface="Aptos"/>
                <a:cs typeface="Aptos"/>
              </a:rPr>
              <a:t>Demand system diagnostic with three priority repairs</a:t>
            </a:r>
          </a:p>
        </p:txBody>
      </p:sp>
      <p:sp>
        <p:nvSpPr>
          <p:cNvPr id="19" name="">
            <a:extLst xmlns:a="http://schemas.openxmlformats.org/drawingml/2006/main">
              <a:ext uri="{FF2B5EF4-FFF2-40B4-BE49-F238E27FC236}">
                <a16:creationId xmlns:a16="http://schemas.microsoft.com/office/drawing/2014/main" id="{47088DCE-047B-467D-8086-8903A93CF6EB}"/>
              </a:ext>
            </a:extLst>
          </p:cNvPr>
          <p:cNvSpPr>
            <a:spLocks xmlns:a="http://schemas.openxmlformats.org/drawingml/2006/main" noGrp="1"/>
          </p:cNvSpPr>
          <p:nvPr/>
        </p:nvSpPr>
        <p:spPr>
          <a:xfrm xmlns:a="http://schemas.openxmlformats.org/drawingml/2006/main">
            <a:off x="4095750" y="2038350"/>
            <a:ext cx="7334250" cy="3048000"/>
          </a:xfrm>
          <a:prstGeom xmlns:a="http://schemas.openxmlformats.org/drawingml/2006/main" prst="rect">
            <a:avLst/>
          </a:prstGeom>
          <a:solidFill xmlns:a="http://schemas.openxmlformats.org/drawingml/2006/main">
            <a:srgbClr val="F9FAF7"/>
          </a:solidFill>
          <a:ln xmlns:a="http://schemas.openxmlformats.org/drawingml/2006/main" w="9525">
            <a:solidFill>
              <a:srgbClr val="D9DDD6"/>
            </a:solidFill>
            <a:prstDash val="solid"/>
          </a:ln>
        </p:spPr>
      </p:sp>
      <p:sp>
        <p:nvSpPr>
          <p:cNvPr id="20" name="">
            <a:extLst xmlns:a="http://schemas.openxmlformats.org/drawingml/2006/main">
              <a:ext uri="{FF2B5EF4-FFF2-40B4-BE49-F238E27FC236}">
                <a16:creationId xmlns:a16="http://schemas.microsoft.com/office/drawing/2014/main" id="{F7E45328-E300-4A6C-A7BA-C55529035BCF}"/>
              </a:ext>
            </a:extLst>
          </p:cNvPr>
          <p:cNvSpPr>
            <a:spLocks xmlns:a="http://schemas.openxmlformats.org/drawingml/2006/main" noGrp="1"/>
          </p:cNvSpPr>
          <p:nvPr/>
        </p:nvSpPr>
        <p:spPr>
          <a:xfrm xmlns:a="http://schemas.openxmlformats.org/drawingml/2006/main">
            <a:off x="4419600" y="2419350"/>
            <a:ext cx="266700" cy="19050"/>
          </a:xfrm>
          <a:prstGeom xmlns:a="http://schemas.openxmlformats.org/drawingml/2006/main" prst="rect">
            <a:avLst/>
          </a:prstGeom>
          <a:solidFill xmlns:a="http://schemas.openxmlformats.org/drawingml/2006/main">
            <a:srgbClr val="667A39"/>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62352720-10E7-49AD-AC2F-B9550DEB3AAE}"/>
              </a:ext>
            </a:extLst>
          </p:cNvPr>
          <p:cNvSpPr>
            <a:spLocks xmlns:a="http://schemas.openxmlformats.org/drawingml/2006/main" noGrp="1"/>
          </p:cNvSpPr>
          <p:nvPr/>
        </p:nvSpPr>
        <p:spPr>
          <a:xfrm xmlns:a="http://schemas.openxmlformats.org/drawingml/2006/main">
            <a:off x="4781550" y="23431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LEARNER ACTIONS</a:t>
            </a:r>
          </a:p>
        </p:txBody>
      </p:sp>
      <p:sp>
        <p:nvSpPr>
          <p:cNvPr id="22" name="">
            <a:extLst xmlns:a="http://schemas.openxmlformats.org/drawingml/2006/main">
              <a:ext uri="{FF2B5EF4-FFF2-40B4-BE49-F238E27FC236}">
                <a16:creationId xmlns:a16="http://schemas.microsoft.com/office/drawing/2014/main" id="{8AC4337F-14A2-4E51-9A72-771028FC8C99}"/>
              </a:ext>
            </a:extLst>
          </p:cNvPr>
          <p:cNvSpPr>
            <a:spLocks xmlns:a="http://schemas.openxmlformats.org/drawingml/2006/main" noGrp="1"/>
          </p:cNvSpPr>
          <p:nvPr/>
        </p:nvSpPr>
        <p:spPr>
          <a:xfrm xmlns:a="http://schemas.openxmlformats.org/drawingml/2006/main">
            <a:off x="4419600" y="2781300"/>
            <a:ext cx="247650" cy="247650"/>
          </a:xfrm>
          <a:prstGeom xmlns:a="http://schemas.openxmlformats.org/drawingml/2006/main" prst="rect">
            <a:avLst/>
          </a:prstGeom>
          <a:solidFill xmlns:a="http://schemas.openxmlformats.org/drawingml/2006/main">
            <a:srgbClr val="E4E9D8"/>
          </a:solidFill>
          <a:ln xmlns:a="http://schemas.openxmlformats.org/drawingml/2006/main" w="9525">
            <a:solidFill>
              <a:srgbClr val="667A39"/>
            </a:solidFill>
            <a:prstDash val="solid"/>
          </a:ln>
        </p:spPr>
      </p:sp>
      <p:sp>
        <p:nvSpPr>
          <p:cNvPr id="23" name="">
            <a:extLst xmlns:a="http://schemas.openxmlformats.org/drawingml/2006/main">
              <a:ext uri="{FF2B5EF4-FFF2-40B4-BE49-F238E27FC236}">
                <a16:creationId xmlns:a16="http://schemas.microsoft.com/office/drawing/2014/main" id="{9D320AEB-3C3B-414F-A68B-09B5459D9A7A}"/>
              </a:ext>
            </a:extLst>
          </p:cNvPr>
          <p:cNvSpPr>
            <a:spLocks xmlns:a="http://schemas.openxmlformats.org/drawingml/2006/main" noGrp="1"/>
          </p:cNvSpPr>
          <p:nvPr/>
        </p:nvSpPr>
        <p:spPr>
          <a:xfrm xmlns:a="http://schemas.openxmlformats.org/drawingml/2006/main">
            <a:off x="4419600" y="280987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1</a:t>
            </a:r>
          </a:p>
        </p:txBody>
      </p:sp>
      <p:sp>
        <p:nvSpPr>
          <p:cNvPr id="24" name="">
            <a:extLst xmlns:a="http://schemas.openxmlformats.org/drawingml/2006/main">
              <a:ext uri="{FF2B5EF4-FFF2-40B4-BE49-F238E27FC236}">
                <a16:creationId xmlns:a16="http://schemas.microsoft.com/office/drawing/2014/main" id="{A9F7A0FB-BC89-4F7D-8338-297341C13732}"/>
              </a:ext>
            </a:extLst>
          </p:cNvPr>
          <p:cNvSpPr>
            <a:spLocks xmlns:a="http://schemas.openxmlformats.org/drawingml/2006/main" noGrp="1"/>
          </p:cNvSpPr>
          <p:nvPr/>
        </p:nvSpPr>
        <p:spPr>
          <a:xfrm xmlns:a="http://schemas.openxmlformats.org/drawingml/2006/main">
            <a:off x="4819650" y="2771775"/>
            <a:ext cx="56959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Choose one manufacturing or export category.</a:t>
            </a:r>
          </a:p>
        </p:txBody>
      </p:sp>
      <p:sp>
        <p:nvSpPr>
          <p:cNvPr id="25" name="">
            <a:extLst xmlns:a="http://schemas.openxmlformats.org/drawingml/2006/main">
              <a:ext uri="{FF2B5EF4-FFF2-40B4-BE49-F238E27FC236}">
                <a16:creationId xmlns:a16="http://schemas.microsoft.com/office/drawing/2014/main" id="{926601B5-A2BC-41D8-949F-BDC5444BE374}"/>
              </a:ext>
            </a:extLst>
          </p:cNvPr>
          <p:cNvSpPr>
            <a:spLocks xmlns:a="http://schemas.openxmlformats.org/drawingml/2006/main" noGrp="1"/>
          </p:cNvSpPr>
          <p:nvPr/>
        </p:nvSpPr>
        <p:spPr>
          <a:xfrm xmlns:a="http://schemas.openxmlformats.org/drawingml/2006/main">
            <a:off x="4419600" y="3429000"/>
            <a:ext cx="247650" cy="247650"/>
          </a:xfrm>
          <a:prstGeom xmlns:a="http://schemas.openxmlformats.org/drawingml/2006/main" prst="rect">
            <a:avLst/>
          </a:prstGeom>
          <a:solidFill xmlns:a="http://schemas.openxmlformats.org/drawingml/2006/main">
            <a:srgbClr val="E4E9D8"/>
          </a:solidFill>
          <a:ln xmlns:a="http://schemas.openxmlformats.org/drawingml/2006/main" w="9525">
            <a:solidFill>
              <a:srgbClr val="667A39"/>
            </a:solidFill>
            <a:prstDash val="solid"/>
          </a:ln>
        </p:spPr>
      </p:sp>
      <p:sp>
        <p:nvSpPr>
          <p:cNvPr id="26" name="">
            <a:extLst xmlns:a="http://schemas.openxmlformats.org/drawingml/2006/main">
              <a:ext uri="{FF2B5EF4-FFF2-40B4-BE49-F238E27FC236}">
                <a16:creationId xmlns:a16="http://schemas.microsoft.com/office/drawing/2014/main" id="{18A56B4F-2BBE-48C1-A6F5-38E9729110B9}"/>
              </a:ext>
            </a:extLst>
          </p:cNvPr>
          <p:cNvSpPr>
            <a:spLocks xmlns:a="http://schemas.openxmlformats.org/drawingml/2006/main" noGrp="1"/>
          </p:cNvSpPr>
          <p:nvPr/>
        </p:nvSpPr>
        <p:spPr>
          <a:xfrm xmlns:a="http://schemas.openxmlformats.org/drawingml/2006/main">
            <a:off x="4419600" y="345757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2</a:t>
            </a:r>
          </a:p>
        </p:txBody>
      </p:sp>
      <p:sp>
        <p:nvSpPr>
          <p:cNvPr id="27" name="">
            <a:extLst xmlns:a="http://schemas.openxmlformats.org/drawingml/2006/main">
              <a:ext uri="{FF2B5EF4-FFF2-40B4-BE49-F238E27FC236}">
                <a16:creationId xmlns:a16="http://schemas.microsoft.com/office/drawing/2014/main" id="{485562AC-D805-4C43-848F-965CD00AE916}"/>
              </a:ext>
            </a:extLst>
          </p:cNvPr>
          <p:cNvSpPr>
            <a:spLocks xmlns:a="http://schemas.openxmlformats.org/drawingml/2006/main" noGrp="1"/>
          </p:cNvSpPr>
          <p:nvPr/>
        </p:nvSpPr>
        <p:spPr>
          <a:xfrm xmlns:a="http://schemas.openxmlformats.org/drawingml/2006/main">
            <a:off x="4819650" y="3419475"/>
            <a:ext cx="56959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Score the nine system layers: market focus, ICP, demand creation, distribution, intelligence,...</a:t>
            </a:r>
          </a:p>
        </p:txBody>
      </p:sp>
      <p:sp>
        <p:nvSpPr>
          <p:cNvPr id="28" name="">
            <a:extLst xmlns:a="http://schemas.openxmlformats.org/drawingml/2006/main">
              <a:ext uri="{FF2B5EF4-FFF2-40B4-BE49-F238E27FC236}">
                <a16:creationId xmlns:a16="http://schemas.microsoft.com/office/drawing/2014/main" id="{FA812837-59B5-4702-B53D-8C5C079D20A4}"/>
              </a:ext>
            </a:extLst>
          </p:cNvPr>
          <p:cNvSpPr>
            <a:spLocks xmlns:a="http://schemas.openxmlformats.org/drawingml/2006/main" noGrp="1"/>
          </p:cNvSpPr>
          <p:nvPr/>
        </p:nvSpPr>
        <p:spPr>
          <a:xfrm xmlns:a="http://schemas.openxmlformats.org/drawingml/2006/main">
            <a:off x="4419600" y="4076700"/>
            <a:ext cx="247650" cy="247650"/>
          </a:xfrm>
          <a:prstGeom xmlns:a="http://schemas.openxmlformats.org/drawingml/2006/main" prst="rect">
            <a:avLst/>
          </a:prstGeom>
          <a:solidFill xmlns:a="http://schemas.openxmlformats.org/drawingml/2006/main">
            <a:srgbClr val="E4E9D8"/>
          </a:solidFill>
          <a:ln xmlns:a="http://schemas.openxmlformats.org/drawingml/2006/main" w="9525">
            <a:solidFill>
              <a:srgbClr val="667A39"/>
            </a:solidFill>
            <a:prstDash val="solid"/>
          </a:ln>
        </p:spPr>
      </p:sp>
      <p:sp>
        <p:nvSpPr>
          <p:cNvPr id="29" name="">
            <a:extLst xmlns:a="http://schemas.openxmlformats.org/drawingml/2006/main">
              <a:ext uri="{FF2B5EF4-FFF2-40B4-BE49-F238E27FC236}">
                <a16:creationId xmlns:a16="http://schemas.microsoft.com/office/drawing/2014/main" id="{446E73B7-6E19-4651-8A47-78AE24188E5E}"/>
              </a:ext>
            </a:extLst>
          </p:cNvPr>
          <p:cNvSpPr>
            <a:spLocks xmlns:a="http://schemas.openxmlformats.org/drawingml/2006/main" noGrp="1"/>
          </p:cNvSpPr>
          <p:nvPr/>
        </p:nvSpPr>
        <p:spPr>
          <a:xfrm xmlns:a="http://schemas.openxmlformats.org/drawingml/2006/main">
            <a:off x="4419600" y="410527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3</a:t>
            </a:r>
          </a:p>
        </p:txBody>
      </p:sp>
      <p:sp>
        <p:nvSpPr>
          <p:cNvPr id="30" name="">
            <a:extLst xmlns:a="http://schemas.openxmlformats.org/drawingml/2006/main">
              <a:ext uri="{FF2B5EF4-FFF2-40B4-BE49-F238E27FC236}">
                <a16:creationId xmlns:a16="http://schemas.microsoft.com/office/drawing/2014/main" id="{9DC02ECA-5A58-4D93-8596-0A428374CD19}"/>
              </a:ext>
            </a:extLst>
          </p:cNvPr>
          <p:cNvSpPr>
            <a:spLocks xmlns:a="http://schemas.openxmlformats.org/drawingml/2006/main" noGrp="1"/>
          </p:cNvSpPr>
          <p:nvPr/>
        </p:nvSpPr>
        <p:spPr>
          <a:xfrm xmlns:a="http://schemas.openxmlformats.org/drawingml/2006/main">
            <a:off x="4819650" y="4067175"/>
            <a:ext cx="56959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Name one repair in focus, one in content or distribution, and one in signal, owner, or cadence.</a:t>
            </a:r>
          </a:p>
        </p:txBody>
      </p:sp>
      <p:sp>
        <p:nvSpPr>
          <p:cNvPr id="31" name="">
            <a:extLst xmlns:a="http://schemas.openxmlformats.org/drawingml/2006/main">
              <a:ext uri="{FF2B5EF4-FFF2-40B4-BE49-F238E27FC236}">
                <a16:creationId xmlns:a16="http://schemas.microsoft.com/office/drawing/2014/main" id="{D000C63C-F007-4E3C-9538-245DD380A9DA}"/>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A5825635-492A-4462-973B-DFC47882827A}"/>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33" name="">
            <a:extLst xmlns:a="http://schemas.openxmlformats.org/drawingml/2006/main">
              <a:ext uri="{FF2B5EF4-FFF2-40B4-BE49-F238E27FC236}">
                <a16:creationId xmlns:a16="http://schemas.microsoft.com/office/drawing/2014/main" id="{2C1256A5-2EAB-46FE-B127-E5AC0D0A585A}"/>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34" name="">
            <a:extLst xmlns:a="http://schemas.openxmlformats.org/drawingml/2006/main">
              <a:ext uri="{FF2B5EF4-FFF2-40B4-BE49-F238E27FC236}">
                <a16:creationId xmlns:a16="http://schemas.microsoft.com/office/drawing/2014/main" id="{D7DC0531-BEBE-4913-A762-3EAF944DE8E6}"/>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8/15</a:t>
            </a:r>
          </a:p>
        </p:txBody>
      </p:sp>
    </p:spTree>
    <p:extLst>
      <p:ext uri="{BB962C8B-B14F-4D97-AF65-F5344CB8AC3E}">
        <p14:creationId xmlns:p14="http://schemas.microsoft.com/office/powerpoint/2010/main" val="205792593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276DE0-D1FB-4137-A2E7-0F9D7B9F01E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D3128C1-72CE-4E24-A263-1B9C79E5455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805C30A-3C80-4E02-83AE-8B2839B5ECE3}"/>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1-marker">
            <a:extLst xmlns:a="http://schemas.openxmlformats.org/drawingml/2006/main">
              <a:ext uri="{FF2B5EF4-FFF2-40B4-BE49-F238E27FC236}">
                <a16:creationId xmlns:a16="http://schemas.microsoft.com/office/drawing/2014/main" id="{74309450-71F4-4EF9-B0E5-A79F2FF52F33}"/>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1-label">
            <a:extLst xmlns:a="http://schemas.openxmlformats.org/drawingml/2006/main">
              <a:ext uri="{FF2B5EF4-FFF2-40B4-BE49-F238E27FC236}">
                <a16:creationId xmlns:a16="http://schemas.microsoft.com/office/drawing/2014/main" id="{1A4B8FD3-DB13-47A8-A4ED-75A5690937CD}"/>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GROUP CRITIQUE</a:t>
            </a:r>
          </a:p>
        </p:txBody>
      </p:sp>
      <p:sp>
        <p:nvSpPr>
          <p:cNvPr id="6" name="">
            <a:extLst xmlns:a="http://schemas.openxmlformats.org/drawingml/2006/main">
              <a:ext uri="{FF2B5EF4-FFF2-40B4-BE49-F238E27FC236}">
                <a16:creationId xmlns:a16="http://schemas.microsoft.com/office/drawing/2014/main" id="{BD9B971A-7E0A-413F-8836-7D91F72C9686}"/>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Critique the operating decision, not the writing style.</a:t>
            </a:r>
          </a:p>
        </p:txBody>
      </p:sp>
      <p:sp>
        <p:nvSpPr>
          <p:cNvPr id="7" name="">
            <a:extLst xmlns:a="http://schemas.openxmlformats.org/drawingml/2006/main">
              <a:ext uri="{FF2B5EF4-FFF2-40B4-BE49-F238E27FC236}">
                <a16:creationId xmlns:a16="http://schemas.microsoft.com/office/drawing/2014/main" id="{7F0EC301-0E9F-4303-A2D4-AC9018B45CB7}"/>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Peers should find one false assumption, missing proof need, or unclear owner.</a:t>
            </a:r>
          </a:p>
        </p:txBody>
      </p:sp>
      <p:sp>
        <p:nvSpPr>
          <p:cNvPr id="8" name="">
            <a:extLst xmlns:a="http://schemas.openxmlformats.org/drawingml/2006/main">
              <a:ext uri="{FF2B5EF4-FFF2-40B4-BE49-F238E27FC236}">
                <a16:creationId xmlns:a16="http://schemas.microsoft.com/office/drawing/2014/main" id="{CD1F6216-C6DD-48B4-A643-09D128F0CE88}"/>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55A246D-9A45-41D5-8CDB-3B58584EE0C3}"/>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10" name="">
            <a:extLst xmlns:a="http://schemas.openxmlformats.org/drawingml/2006/main">
              <a:ext uri="{FF2B5EF4-FFF2-40B4-BE49-F238E27FC236}">
                <a16:creationId xmlns:a16="http://schemas.microsoft.com/office/drawing/2014/main" id="{B50610CA-110B-4F79-B29E-F7D17F8C974A}"/>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11" name="">
            <a:extLst xmlns:a="http://schemas.openxmlformats.org/drawingml/2006/main">
              <a:ext uri="{FF2B5EF4-FFF2-40B4-BE49-F238E27FC236}">
                <a16:creationId xmlns:a16="http://schemas.microsoft.com/office/drawing/2014/main" id="{870EB172-B848-41F9-83A6-DA801D3AC706}"/>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9/15</a:t>
            </a:r>
          </a:p>
        </p:txBody>
      </p:sp>
      <p:sp>
        <p:nvSpPr>
          <p:cNvPr id="12" name="">
            <a:extLst xmlns:a="http://schemas.openxmlformats.org/drawingml/2006/main">
              <a:ext uri="{FF2B5EF4-FFF2-40B4-BE49-F238E27FC236}">
                <a16:creationId xmlns:a16="http://schemas.microsoft.com/office/drawing/2014/main" id="{BB5343B0-3693-4815-B22C-5EC4E31AE82E}"/>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270624AB-E7BE-4B70-8CAB-954B3BAF6BFB}"/>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4" name="">
            <a:extLst xmlns:a="http://schemas.openxmlformats.org/drawingml/2006/main">
              <a:ext uri="{FF2B5EF4-FFF2-40B4-BE49-F238E27FC236}">
                <a16:creationId xmlns:a16="http://schemas.microsoft.com/office/drawing/2014/main" id="{0005C3CC-E5EB-4C72-A3AB-B2BFAEF775AF}"/>
              </a:ext>
            </a:extLst>
          </p:cNvPr>
          <p:cNvSpPr>
            <a:spLocks xmlns:a="http://schemas.openxmlformats.org/drawingml/2006/main" noGrp="1"/>
          </p:cNvSpPr>
          <p:nvPr/>
        </p:nvSpPr>
        <p:spPr>
          <a:xfrm xmlns:a="http://schemas.openxmlformats.org/drawingml/2006/main">
            <a:off x="609600" y="22669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BA6127B8-966B-4E69-9766-9711E9969C0F}"/>
              </a:ext>
            </a:extLst>
          </p:cNvPr>
          <p:cNvSpPr>
            <a:spLocks xmlns:a="http://schemas.openxmlformats.org/drawingml/2006/main" noGrp="1"/>
          </p:cNvSpPr>
          <p:nvPr/>
        </p:nvSpPr>
        <p:spPr>
          <a:xfrm xmlns:a="http://schemas.openxmlformats.org/drawingml/2006/main">
            <a:off x="971550" y="2190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TEST THE ARTIFACT</a:t>
            </a:r>
          </a:p>
        </p:txBody>
      </p:sp>
      <p:sp>
        <p:nvSpPr>
          <p:cNvPr id="16" name="">
            <a:extLst xmlns:a="http://schemas.openxmlformats.org/drawingml/2006/main">
              <a:ext uri="{FF2B5EF4-FFF2-40B4-BE49-F238E27FC236}">
                <a16:creationId xmlns:a16="http://schemas.microsoft.com/office/drawing/2014/main" id="{E6876C7F-A59D-474E-AEB3-DE8A3EBE57A2}"/>
              </a:ext>
            </a:extLst>
          </p:cNvPr>
          <p:cNvSpPr>
            <a:spLocks xmlns:a="http://schemas.openxmlformats.org/drawingml/2006/main" noGrp="1"/>
          </p:cNvSpPr>
          <p:nvPr/>
        </p:nvSpPr>
        <p:spPr>
          <a:xfrm xmlns:a="http://schemas.openxmlformats.org/drawingml/2006/main">
            <a:off x="609600" y="2647950"/>
            <a:ext cx="247650" cy="247650"/>
          </a:xfrm>
          <a:prstGeom xmlns:a="http://schemas.openxmlformats.org/drawingml/2006/main" prst="rect">
            <a:avLst/>
          </a:prstGeom>
          <a:solidFill xmlns:a="http://schemas.openxmlformats.org/drawingml/2006/main">
            <a:srgbClr val="DCE8E9"/>
          </a:solidFill>
          <a:ln xmlns:a="http://schemas.openxmlformats.org/drawingml/2006/main" w="9525">
            <a:solidFill>
              <a:srgbClr val="1D6072"/>
            </a:solidFill>
            <a:prstDash val="solid"/>
          </a:ln>
        </p:spPr>
      </p:sp>
      <p:sp>
        <p:nvSpPr>
          <p:cNvPr id="17" name="">
            <a:extLst xmlns:a="http://schemas.openxmlformats.org/drawingml/2006/main">
              <a:ext uri="{FF2B5EF4-FFF2-40B4-BE49-F238E27FC236}">
                <a16:creationId xmlns:a16="http://schemas.microsoft.com/office/drawing/2014/main" id="{9EB88F49-AFDE-43F4-B864-650B7B8D8CAA}"/>
              </a:ext>
            </a:extLst>
          </p:cNvPr>
          <p:cNvSpPr>
            <a:spLocks xmlns:a="http://schemas.openxmlformats.org/drawingml/2006/main" noGrp="1"/>
          </p:cNvSpPr>
          <p:nvPr/>
        </p:nvSpPr>
        <p:spPr>
          <a:xfrm xmlns:a="http://schemas.openxmlformats.org/drawingml/2006/main">
            <a:off x="609600" y="267652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1</a:t>
            </a:r>
          </a:p>
        </p:txBody>
      </p:sp>
      <p:sp>
        <p:nvSpPr>
          <p:cNvPr id="18" name="">
            <a:extLst xmlns:a="http://schemas.openxmlformats.org/drawingml/2006/main">
              <a:ext uri="{FF2B5EF4-FFF2-40B4-BE49-F238E27FC236}">
                <a16:creationId xmlns:a16="http://schemas.microsoft.com/office/drawing/2014/main" id="{85B49849-F319-43A1-BF80-626EB98905B2}"/>
              </a:ext>
            </a:extLst>
          </p:cNvPr>
          <p:cNvSpPr>
            <a:spLocks xmlns:a="http://schemas.openxmlformats.org/drawingml/2006/main" noGrp="1"/>
          </p:cNvSpPr>
          <p:nvPr/>
        </p:nvSpPr>
        <p:spPr>
          <a:xfrm xmlns:a="http://schemas.openxmlformats.org/drawingml/2006/main">
            <a:off x="1009650" y="2638425"/>
            <a:ext cx="43624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Is the weakness a focus, content, distribution, routing, enablement, or cadence problem?</a:t>
            </a:r>
          </a:p>
        </p:txBody>
      </p:sp>
      <p:sp>
        <p:nvSpPr>
          <p:cNvPr id="19" name="">
            <a:extLst xmlns:a="http://schemas.openxmlformats.org/drawingml/2006/main">
              <a:ext uri="{FF2B5EF4-FFF2-40B4-BE49-F238E27FC236}">
                <a16:creationId xmlns:a16="http://schemas.microsoft.com/office/drawing/2014/main" id="{58ED591C-2422-47CC-B41F-930A8C5399AF}"/>
              </a:ext>
            </a:extLst>
          </p:cNvPr>
          <p:cNvSpPr>
            <a:spLocks xmlns:a="http://schemas.openxmlformats.org/drawingml/2006/main" noGrp="1"/>
          </p:cNvSpPr>
          <p:nvPr/>
        </p:nvSpPr>
        <p:spPr>
          <a:xfrm xmlns:a="http://schemas.openxmlformats.org/drawingml/2006/main">
            <a:off x="609600" y="3238500"/>
            <a:ext cx="247650" cy="247650"/>
          </a:xfrm>
          <a:prstGeom xmlns:a="http://schemas.openxmlformats.org/drawingml/2006/main" prst="rect">
            <a:avLst/>
          </a:prstGeom>
          <a:solidFill xmlns:a="http://schemas.openxmlformats.org/drawingml/2006/main">
            <a:srgbClr val="DCE8E9"/>
          </a:solidFill>
          <a:ln xmlns:a="http://schemas.openxmlformats.org/drawingml/2006/main" w="9525">
            <a:solidFill>
              <a:srgbClr val="1D6072"/>
            </a:solidFill>
            <a:prstDash val="solid"/>
          </a:ln>
        </p:spPr>
      </p:sp>
      <p:sp>
        <p:nvSpPr>
          <p:cNvPr id="20" name="">
            <a:extLst xmlns:a="http://schemas.openxmlformats.org/drawingml/2006/main">
              <a:ext uri="{FF2B5EF4-FFF2-40B4-BE49-F238E27FC236}">
                <a16:creationId xmlns:a16="http://schemas.microsoft.com/office/drawing/2014/main" id="{90D7237F-A524-4976-8D87-B3C737DCDC6A}"/>
              </a:ext>
            </a:extLst>
          </p:cNvPr>
          <p:cNvSpPr>
            <a:spLocks xmlns:a="http://schemas.openxmlformats.org/drawingml/2006/main" noGrp="1"/>
          </p:cNvSpPr>
          <p:nvPr/>
        </p:nvSpPr>
        <p:spPr>
          <a:xfrm xmlns:a="http://schemas.openxmlformats.org/drawingml/2006/main">
            <a:off x="609600" y="326707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2</a:t>
            </a:r>
          </a:p>
        </p:txBody>
      </p:sp>
      <p:sp>
        <p:nvSpPr>
          <p:cNvPr id="21" name="">
            <a:extLst xmlns:a="http://schemas.openxmlformats.org/drawingml/2006/main">
              <a:ext uri="{FF2B5EF4-FFF2-40B4-BE49-F238E27FC236}">
                <a16:creationId xmlns:a16="http://schemas.microsoft.com/office/drawing/2014/main" id="{19E776D4-9127-4A45-B32E-EEAB8E37BAA5}"/>
              </a:ext>
            </a:extLst>
          </p:cNvPr>
          <p:cNvSpPr>
            <a:spLocks xmlns:a="http://schemas.openxmlformats.org/drawingml/2006/main" noGrp="1"/>
          </p:cNvSpPr>
          <p:nvPr/>
        </p:nvSpPr>
        <p:spPr>
          <a:xfrm xmlns:a="http://schemas.openxmlformats.org/drawingml/2006/main">
            <a:off x="1009650" y="3228975"/>
            <a:ext cx="43624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What is the commercial consequence?</a:t>
            </a:r>
          </a:p>
        </p:txBody>
      </p:sp>
      <p:sp>
        <p:nvSpPr>
          <p:cNvPr id="22" name="">
            <a:extLst xmlns:a="http://schemas.openxmlformats.org/drawingml/2006/main">
              <a:ext uri="{FF2B5EF4-FFF2-40B4-BE49-F238E27FC236}">
                <a16:creationId xmlns:a16="http://schemas.microsoft.com/office/drawing/2014/main" id="{8C3766EA-534E-4CAB-BDDE-510A530C9C0D}"/>
              </a:ext>
            </a:extLst>
          </p:cNvPr>
          <p:cNvSpPr>
            <a:spLocks xmlns:a="http://schemas.openxmlformats.org/drawingml/2006/main" noGrp="1"/>
          </p:cNvSpPr>
          <p:nvPr/>
        </p:nvSpPr>
        <p:spPr>
          <a:xfrm xmlns:a="http://schemas.openxmlformats.org/drawingml/2006/main">
            <a:off x="609600" y="3829050"/>
            <a:ext cx="247650" cy="247650"/>
          </a:xfrm>
          <a:prstGeom xmlns:a="http://schemas.openxmlformats.org/drawingml/2006/main" prst="rect">
            <a:avLst/>
          </a:prstGeom>
          <a:solidFill xmlns:a="http://schemas.openxmlformats.org/drawingml/2006/main">
            <a:srgbClr val="DCE8E9"/>
          </a:solidFill>
          <a:ln xmlns:a="http://schemas.openxmlformats.org/drawingml/2006/main" w="9525">
            <a:solidFill>
              <a:srgbClr val="1D6072"/>
            </a:solidFill>
            <a:prstDash val="solid"/>
          </a:ln>
        </p:spPr>
      </p:sp>
      <p:sp>
        <p:nvSpPr>
          <p:cNvPr id="23" name="">
            <a:extLst xmlns:a="http://schemas.openxmlformats.org/drawingml/2006/main">
              <a:ext uri="{FF2B5EF4-FFF2-40B4-BE49-F238E27FC236}">
                <a16:creationId xmlns:a16="http://schemas.microsoft.com/office/drawing/2014/main" id="{C9CADFCD-D192-4165-9169-3F13B1F93BDB}"/>
              </a:ext>
            </a:extLst>
          </p:cNvPr>
          <p:cNvSpPr>
            <a:spLocks xmlns:a="http://schemas.openxmlformats.org/drawingml/2006/main" noGrp="1"/>
          </p:cNvSpPr>
          <p:nvPr/>
        </p:nvSpPr>
        <p:spPr>
          <a:xfrm xmlns:a="http://schemas.openxmlformats.org/drawingml/2006/main">
            <a:off x="609600" y="385762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3</a:t>
            </a:r>
          </a:p>
        </p:txBody>
      </p:sp>
      <p:sp>
        <p:nvSpPr>
          <p:cNvPr id="24" name="">
            <a:extLst xmlns:a="http://schemas.openxmlformats.org/drawingml/2006/main">
              <a:ext uri="{FF2B5EF4-FFF2-40B4-BE49-F238E27FC236}">
                <a16:creationId xmlns:a16="http://schemas.microsoft.com/office/drawing/2014/main" id="{BB5974EE-27F1-4F27-8F2A-B3C8EB926CC1}"/>
              </a:ext>
            </a:extLst>
          </p:cNvPr>
          <p:cNvSpPr>
            <a:spLocks xmlns:a="http://schemas.openxmlformats.org/drawingml/2006/main" noGrp="1"/>
          </p:cNvSpPr>
          <p:nvPr/>
        </p:nvSpPr>
        <p:spPr>
          <a:xfrm xmlns:a="http://schemas.openxmlformats.org/drawingml/2006/main">
            <a:off x="1009650" y="3819525"/>
            <a:ext cx="43624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Which buying role is affected?</a:t>
            </a:r>
          </a:p>
        </p:txBody>
      </p:sp>
      <p:sp>
        <p:nvSpPr>
          <p:cNvPr id="25" name="">
            <a:extLst xmlns:a="http://schemas.openxmlformats.org/drawingml/2006/main">
              <a:ext uri="{FF2B5EF4-FFF2-40B4-BE49-F238E27FC236}">
                <a16:creationId xmlns:a16="http://schemas.microsoft.com/office/drawing/2014/main" id="{39B9D765-CBFE-418D-9761-0E85219DEDDA}"/>
              </a:ext>
            </a:extLst>
          </p:cNvPr>
          <p:cNvSpPr>
            <a:spLocks xmlns:a="http://schemas.openxmlformats.org/drawingml/2006/main" noGrp="1"/>
          </p:cNvSpPr>
          <p:nvPr/>
        </p:nvSpPr>
        <p:spPr>
          <a:xfrm xmlns:a="http://schemas.openxmlformats.org/drawingml/2006/main">
            <a:off x="6572250" y="2266950"/>
            <a:ext cx="266700" cy="190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5E31C8F8-1EB6-40BE-B43C-9BE1ACD054CF}"/>
              </a:ext>
            </a:extLst>
          </p:cNvPr>
          <p:cNvSpPr>
            <a:spLocks xmlns:a="http://schemas.openxmlformats.org/drawingml/2006/main" noGrp="1"/>
          </p:cNvSpPr>
          <p:nvPr/>
        </p:nvSpPr>
        <p:spPr>
          <a:xfrm xmlns:a="http://schemas.openxmlformats.org/drawingml/2006/main">
            <a:off x="6934200" y="2190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FORCE THE REPAIR</a:t>
            </a:r>
          </a:p>
        </p:txBody>
      </p:sp>
      <p:sp>
        <p:nvSpPr>
          <p:cNvPr id="27" name="">
            <a:extLst xmlns:a="http://schemas.openxmlformats.org/drawingml/2006/main">
              <a:ext uri="{FF2B5EF4-FFF2-40B4-BE49-F238E27FC236}">
                <a16:creationId xmlns:a16="http://schemas.microsoft.com/office/drawing/2014/main" id="{376DFDAB-FD76-463B-A834-3A3025131120}"/>
              </a:ext>
            </a:extLst>
          </p:cNvPr>
          <p:cNvSpPr>
            <a:spLocks xmlns:a="http://schemas.openxmlformats.org/drawingml/2006/main" noGrp="1"/>
          </p:cNvSpPr>
          <p:nvPr/>
        </p:nvSpPr>
        <p:spPr>
          <a:xfrm xmlns:a="http://schemas.openxmlformats.org/drawingml/2006/main">
            <a:off x="6572250" y="2647950"/>
            <a:ext cx="247650" cy="247650"/>
          </a:xfrm>
          <a:prstGeom xmlns:a="http://schemas.openxmlformats.org/drawingml/2006/main" prst="rect">
            <a:avLst/>
          </a:prstGeom>
          <a:solidFill xmlns:a="http://schemas.openxmlformats.org/drawingml/2006/main">
            <a:srgbClr val="F0DFD5"/>
          </a:solidFill>
          <a:ln xmlns:a="http://schemas.openxmlformats.org/drawingml/2006/main" w="9525">
            <a:solidFill>
              <a:srgbClr val="A85D2A"/>
            </a:solidFill>
            <a:prstDash val="solid"/>
          </a:ln>
        </p:spPr>
      </p:sp>
      <p:sp>
        <p:nvSpPr>
          <p:cNvPr id="28" name="">
            <a:extLst xmlns:a="http://schemas.openxmlformats.org/drawingml/2006/main">
              <a:ext uri="{FF2B5EF4-FFF2-40B4-BE49-F238E27FC236}">
                <a16:creationId xmlns:a16="http://schemas.microsoft.com/office/drawing/2014/main" id="{DCFDE0E9-B405-460E-8B44-B8C976B00623}"/>
              </a:ext>
            </a:extLst>
          </p:cNvPr>
          <p:cNvSpPr>
            <a:spLocks xmlns:a="http://schemas.openxmlformats.org/drawingml/2006/main" noGrp="1"/>
          </p:cNvSpPr>
          <p:nvPr/>
        </p:nvSpPr>
        <p:spPr>
          <a:xfrm xmlns:a="http://schemas.openxmlformats.org/drawingml/2006/main">
            <a:off x="6572250" y="267652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1</a:t>
            </a:r>
          </a:p>
        </p:txBody>
      </p:sp>
      <p:sp>
        <p:nvSpPr>
          <p:cNvPr id="29" name="">
            <a:extLst xmlns:a="http://schemas.openxmlformats.org/drawingml/2006/main">
              <a:ext uri="{FF2B5EF4-FFF2-40B4-BE49-F238E27FC236}">
                <a16:creationId xmlns:a16="http://schemas.microsoft.com/office/drawing/2014/main" id="{5C22F633-9DE6-489C-9CD7-A245B73BCE62}"/>
              </a:ext>
            </a:extLst>
          </p:cNvPr>
          <p:cNvSpPr>
            <a:spLocks xmlns:a="http://schemas.openxmlformats.org/drawingml/2006/main" noGrp="1"/>
          </p:cNvSpPr>
          <p:nvPr/>
        </p:nvSpPr>
        <p:spPr>
          <a:xfrm xmlns:a="http://schemas.openxmlformats.org/drawingml/2006/main">
            <a:off x="6972300" y="2638425"/>
            <a:ext cx="43624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What would sales need before acting?</a:t>
            </a:r>
          </a:p>
        </p:txBody>
      </p:sp>
      <p:sp>
        <p:nvSpPr>
          <p:cNvPr id="30" name="">
            <a:extLst xmlns:a="http://schemas.openxmlformats.org/drawingml/2006/main">
              <a:ext uri="{FF2B5EF4-FFF2-40B4-BE49-F238E27FC236}">
                <a16:creationId xmlns:a16="http://schemas.microsoft.com/office/drawing/2014/main" id="{9A3FC741-2BAA-405D-8697-E88E551838E1}"/>
              </a:ext>
            </a:extLst>
          </p:cNvPr>
          <p:cNvSpPr>
            <a:spLocks xmlns:a="http://schemas.openxmlformats.org/drawingml/2006/main" noGrp="1"/>
          </p:cNvSpPr>
          <p:nvPr/>
        </p:nvSpPr>
        <p:spPr>
          <a:xfrm xmlns:a="http://schemas.openxmlformats.org/drawingml/2006/main">
            <a:off x="6572250" y="3238500"/>
            <a:ext cx="247650" cy="247650"/>
          </a:xfrm>
          <a:prstGeom xmlns:a="http://schemas.openxmlformats.org/drawingml/2006/main" prst="rect">
            <a:avLst/>
          </a:prstGeom>
          <a:solidFill xmlns:a="http://schemas.openxmlformats.org/drawingml/2006/main">
            <a:srgbClr val="F0DFD5"/>
          </a:solidFill>
          <a:ln xmlns:a="http://schemas.openxmlformats.org/drawingml/2006/main" w="9525">
            <a:solidFill>
              <a:srgbClr val="A85D2A"/>
            </a:solidFill>
            <a:prstDash val="solid"/>
          </a:ln>
        </p:spPr>
      </p:sp>
      <p:sp>
        <p:nvSpPr>
          <p:cNvPr id="31" name="">
            <a:extLst xmlns:a="http://schemas.openxmlformats.org/drawingml/2006/main">
              <a:ext uri="{FF2B5EF4-FFF2-40B4-BE49-F238E27FC236}">
                <a16:creationId xmlns:a16="http://schemas.microsoft.com/office/drawing/2014/main" id="{6B39ECEF-6352-47E1-B8B3-9A9F64003F7F}"/>
              </a:ext>
            </a:extLst>
          </p:cNvPr>
          <p:cNvSpPr>
            <a:spLocks xmlns:a="http://schemas.openxmlformats.org/drawingml/2006/main" noGrp="1"/>
          </p:cNvSpPr>
          <p:nvPr/>
        </p:nvSpPr>
        <p:spPr>
          <a:xfrm xmlns:a="http://schemas.openxmlformats.org/drawingml/2006/main">
            <a:off x="6572250" y="3267075"/>
            <a:ext cx="247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825" b="1">
                <a:solidFill>
                  <a:srgbClr val="1D6072"/>
                </a:solidFill>
                <a:latin typeface="Aptos"/>
                <a:ea typeface="Aptos"/>
                <a:cs typeface="Aptos"/>
              </a:defRPr>
            </a:pPr>
            <a:r>
              <a:rPr sz="825" b="1">
                <a:solidFill>
                  <a:srgbClr val="1D6072"/>
                </a:solidFill>
                <a:latin typeface="Aptos"/>
                <a:ea typeface="Aptos"/>
                <a:cs typeface="Aptos"/>
              </a:rPr>
              <a:t>2</a:t>
            </a:r>
          </a:p>
        </p:txBody>
      </p:sp>
      <p:sp>
        <p:nvSpPr>
          <p:cNvPr id="32" name="">
            <a:extLst xmlns:a="http://schemas.openxmlformats.org/drawingml/2006/main">
              <a:ext uri="{FF2B5EF4-FFF2-40B4-BE49-F238E27FC236}">
                <a16:creationId xmlns:a16="http://schemas.microsoft.com/office/drawing/2014/main" id="{BD1C4B78-2E74-4613-B1F7-3AFC1D9E6D7A}"/>
              </a:ext>
            </a:extLst>
          </p:cNvPr>
          <p:cNvSpPr>
            <a:spLocks xmlns:a="http://schemas.openxmlformats.org/drawingml/2006/main" noGrp="1"/>
          </p:cNvSpPr>
          <p:nvPr/>
        </p:nvSpPr>
        <p:spPr>
          <a:xfrm xmlns:a="http://schemas.openxmlformats.org/drawingml/2006/main">
            <a:off x="6972300" y="3228975"/>
            <a:ext cx="43624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What would RevOps need to capture?</a:t>
            </a:r>
          </a:p>
        </p:txBody>
      </p:sp>
      <p:sp>
        <p:nvSpPr>
          <p:cNvPr id="33" name="">
            <a:extLst xmlns:a="http://schemas.openxmlformats.org/drawingml/2006/main">
              <a:ext uri="{FF2B5EF4-FFF2-40B4-BE49-F238E27FC236}">
                <a16:creationId xmlns:a16="http://schemas.microsoft.com/office/drawing/2014/main" id="{DD6BBF64-CD83-4826-862A-5C87105D7256}"/>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D729F33B-2006-4C22-A25B-C6DFB71E56F6}"/>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35" name="">
            <a:extLst xmlns:a="http://schemas.openxmlformats.org/drawingml/2006/main">
              <a:ext uri="{FF2B5EF4-FFF2-40B4-BE49-F238E27FC236}">
                <a16:creationId xmlns:a16="http://schemas.microsoft.com/office/drawing/2014/main" id="{67C24C63-12AB-4D70-80DF-4A1A20D71311}"/>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36" name="">
            <a:extLst xmlns:a="http://schemas.openxmlformats.org/drawingml/2006/main">
              <a:ext uri="{FF2B5EF4-FFF2-40B4-BE49-F238E27FC236}">
                <a16:creationId xmlns:a16="http://schemas.microsoft.com/office/drawing/2014/main" id="{037D7C0E-9DFE-4558-BEDE-465EE0DE9FB7}"/>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9/15</a:t>
            </a:r>
          </a:p>
        </p:txBody>
      </p:sp>
      <p:sp>
        <p:nvSpPr>
          <p:cNvPr id="37" name="">
            <a:extLst xmlns:a="http://schemas.openxmlformats.org/drawingml/2006/main">
              <a:ext uri="{FF2B5EF4-FFF2-40B4-BE49-F238E27FC236}">
                <a16:creationId xmlns:a16="http://schemas.microsoft.com/office/drawing/2014/main" id="{FC5374C1-FA27-4D5E-B395-0C9D82D5EC4D}"/>
              </a:ext>
            </a:extLst>
          </p:cNvPr>
          <p:cNvSpPr>
            <a:spLocks xmlns:a="http://schemas.openxmlformats.org/drawingml/2006/main" noGrp="1"/>
          </p:cNvSpPr>
          <p:nvPr/>
        </p:nvSpPr>
        <p:spPr>
          <a:xfrm xmlns:a="http://schemas.openxmlformats.org/drawingml/2006/main">
            <a:off x="0" y="0"/>
            <a:ext cx="12192000" cy="18097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DD0AC8A7-1B75-485E-B436-B5554C86420B}"/>
              </a:ext>
            </a:extLst>
          </p:cNvPr>
          <p:cNvSpPr>
            <a:spLocks xmlns:a="http://schemas.openxmlformats.org/drawingml/2006/main" noGrp="1"/>
          </p:cNvSpPr>
          <p:nvPr/>
        </p:nvSpPr>
        <p:spPr>
          <a:xfrm xmlns:a="http://schemas.openxmlformats.org/drawingml/2006/main">
            <a:off x="0" y="0"/>
            <a:ext cx="171450" cy="180975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904662B1-D15E-4074-B1E6-5540AEC605C7}"/>
              </a:ext>
            </a:extLst>
          </p:cNvPr>
          <p:cNvSpPr>
            <a:spLocks xmlns:a="http://schemas.openxmlformats.org/drawingml/2006/main" noGrp="1"/>
          </p:cNvSpPr>
          <p:nvPr/>
        </p:nvSpPr>
        <p:spPr>
          <a:xfrm xmlns:a="http://schemas.openxmlformats.org/drawingml/2006/main">
            <a:off x="171450" y="0"/>
            <a:ext cx="57150" cy="18097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0" name="kicker-01-marker">
            <a:extLst xmlns:a="http://schemas.openxmlformats.org/drawingml/2006/main">
              <a:ext uri="{FF2B5EF4-FFF2-40B4-BE49-F238E27FC236}">
                <a16:creationId xmlns:a16="http://schemas.microsoft.com/office/drawing/2014/main" id="{65D0052D-3E26-44FD-8D40-B3223E20C254}"/>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1" name="kicker-01-label">
            <a:extLst xmlns:a="http://schemas.openxmlformats.org/drawingml/2006/main">
              <a:ext uri="{FF2B5EF4-FFF2-40B4-BE49-F238E27FC236}">
                <a16:creationId xmlns:a16="http://schemas.microsoft.com/office/drawing/2014/main" id="{C680107C-6A25-4960-ADC0-2E637A669F81}"/>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GROUP CRITIQUE</a:t>
            </a:r>
          </a:p>
        </p:txBody>
      </p:sp>
      <p:sp>
        <p:nvSpPr>
          <p:cNvPr id="42" name="">
            <a:extLst xmlns:a="http://schemas.openxmlformats.org/drawingml/2006/main">
              <a:ext uri="{FF2B5EF4-FFF2-40B4-BE49-F238E27FC236}">
                <a16:creationId xmlns:a16="http://schemas.microsoft.com/office/drawing/2014/main" id="{648A297A-3A71-4359-9785-4A03CD564404}"/>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Critique the operating decision, not the writing style.</a:t>
            </a:r>
          </a:p>
        </p:txBody>
      </p:sp>
      <p:sp>
        <p:nvSpPr>
          <p:cNvPr id="43" name="">
            <a:extLst xmlns:a="http://schemas.openxmlformats.org/drawingml/2006/main">
              <a:ext uri="{FF2B5EF4-FFF2-40B4-BE49-F238E27FC236}">
                <a16:creationId xmlns:a16="http://schemas.microsoft.com/office/drawing/2014/main" id="{8AB7F291-1AB6-47AC-85FB-007A121917EA}"/>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Peers should find one false assumption, missing proof need, or unclear owner.</a:t>
            </a:r>
          </a:p>
        </p:txBody>
      </p:sp>
      <p:sp>
        <p:nvSpPr>
          <p:cNvPr id="44" name="">
            <a:extLst xmlns:a="http://schemas.openxmlformats.org/drawingml/2006/main">
              <a:ext uri="{FF2B5EF4-FFF2-40B4-BE49-F238E27FC236}">
                <a16:creationId xmlns:a16="http://schemas.microsoft.com/office/drawing/2014/main" id="{B83F999B-AC7D-4957-8C21-EE14DF1CAFF3}"/>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6EFB6E88-3F84-4E17-8721-FF0C0172E726}"/>
              </a:ext>
            </a:extLst>
          </p:cNvPr>
          <p:cNvSpPr>
            <a:spLocks xmlns:a="http://schemas.openxmlformats.org/drawingml/2006/main" noGrp="1"/>
          </p:cNvSpPr>
          <p:nvPr/>
        </p:nvSpPr>
        <p:spPr>
          <a:xfrm xmlns:a="http://schemas.openxmlformats.org/drawingml/2006/main">
            <a:off x="0" y="6400800"/>
            <a:ext cx="171450" cy="4572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014500BB-0D86-4F8C-BCC7-3B0CDC883304}"/>
              </a:ext>
            </a:extLst>
          </p:cNvPr>
          <p:cNvSpPr>
            <a:spLocks xmlns:a="http://schemas.openxmlformats.org/drawingml/2006/main" noGrp="1"/>
          </p:cNvSpPr>
          <p:nvPr/>
        </p:nvSpPr>
        <p:spPr>
          <a:xfrm xmlns:a="http://schemas.openxmlformats.org/drawingml/2006/main">
            <a:off x="171450" y="6400800"/>
            <a:ext cx="57150" cy="457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7F449017-6F9A-40AE-8535-8C2C7A331741}"/>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A15BFC27-514E-4F87-800E-DE01AFA839AD}"/>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49" name="">
            <a:extLst xmlns:a="http://schemas.openxmlformats.org/drawingml/2006/main">
              <a:ext uri="{FF2B5EF4-FFF2-40B4-BE49-F238E27FC236}">
                <a16:creationId xmlns:a16="http://schemas.microsoft.com/office/drawing/2014/main" id="{F9DF96E5-0337-45C4-9132-B86B7CAE32FD}"/>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50" name="">
            <a:extLst xmlns:a="http://schemas.openxmlformats.org/drawingml/2006/main">
              <a:ext uri="{FF2B5EF4-FFF2-40B4-BE49-F238E27FC236}">
                <a16:creationId xmlns:a16="http://schemas.microsoft.com/office/drawing/2014/main" id="{775DD9C4-D060-4D87-931A-DA979185F030}"/>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9/15</a:t>
            </a:r>
          </a:p>
        </p:txBody>
      </p:sp>
    </p:spTree>
    <p:extLst>
      <p:ext uri="{BB962C8B-B14F-4D97-AF65-F5344CB8AC3E}">
        <p14:creationId xmlns:p14="http://schemas.microsoft.com/office/powerpoint/2010/main" val="134341081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963EF42-D8D4-439D-A4D1-D3561B61D9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C253C04-95EF-4696-8EC4-72883DD4658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3B7F5BB-C650-4B78-8992-4B59CA37FAEF}"/>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1-marker">
            <a:extLst xmlns:a="http://schemas.openxmlformats.org/drawingml/2006/main">
              <a:ext uri="{FF2B5EF4-FFF2-40B4-BE49-F238E27FC236}">
                <a16:creationId xmlns:a16="http://schemas.microsoft.com/office/drawing/2014/main" id="{26824954-DFCE-430A-80B0-DAD9EA015E2D}"/>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1-label">
            <a:extLst xmlns:a="http://schemas.openxmlformats.org/drawingml/2006/main">
              <a:ext uri="{FF2B5EF4-FFF2-40B4-BE49-F238E27FC236}">
                <a16:creationId xmlns:a16="http://schemas.microsoft.com/office/drawing/2014/main" id="{68B48D2B-DDDE-492E-84BB-4A982DE7E077}"/>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AI-ASSISTED EXERCISE</a:t>
            </a:r>
          </a:p>
        </p:txBody>
      </p:sp>
      <p:sp>
        <p:nvSpPr>
          <p:cNvPr id="6" name="">
            <a:extLst xmlns:a="http://schemas.openxmlformats.org/drawingml/2006/main">
              <a:ext uri="{FF2B5EF4-FFF2-40B4-BE49-F238E27FC236}">
                <a16:creationId xmlns:a16="http://schemas.microsoft.com/office/drawing/2014/main" id="{BBE170CC-337C-468A-B6C0-3F1197681BF6}"/>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Use AI to structure the attempt, then make humans responsible for judgment.</a:t>
            </a:r>
          </a:p>
        </p:txBody>
      </p:sp>
      <p:sp>
        <p:nvSpPr>
          <p:cNvPr id="7" name="">
            <a:extLst xmlns:a="http://schemas.openxmlformats.org/drawingml/2006/main">
              <a:ext uri="{FF2B5EF4-FFF2-40B4-BE49-F238E27FC236}">
                <a16:creationId xmlns:a16="http://schemas.microsoft.com/office/drawing/2014/main" id="{03D96780-2B98-4B69-B95A-8E47A06BE7A8}"/>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The prompt is constrained by source, assumptions, output standard, and human validation.</a:t>
            </a:r>
          </a:p>
        </p:txBody>
      </p:sp>
      <p:sp>
        <p:nvSpPr>
          <p:cNvPr id="8" name="">
            <a:extLst xmlns:a="http://schemas.openxmlformats.org/drawingml/2006/main">
              <a:ext uri="{FF2B5EF4-FFF2-40B4-BE49-F238E27FC236}">
                <a16:creationId xmlns:a16="http://schemas.microsoft.com/office/drawing/2014/main" id="{0398E9BB-534D-4C72-839D-41264E263A1B}"/>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69D5AE6-E7D1-4BDB-ACD4-4FD5B5DF7FE3}"/>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10" name="">
            <a:extLst xmlns:a="http://schemas.openxmlformats.org/drawingml/2006/main">
              <a:ext uri="{FF2B5EF4-FFF2-40B4-BE49-F238E27FC236}">
                <a16:creationId xmlns:a16="http://schemas.microsoft.com/office/drawing/2014/main" id="{35CEE696-388A-442D-BBC4-CE05B7600DB0}"/>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11" name="">
            <a:extLst xmlns:a="http://schemas.openxmlformats.org/drawingml/2006/main">
              <a:ext uri="{FF2B5EF4-FFF2-40B4-BE49-F238E27FC236}">
                <a16:creationId xmlns:a16="http://schemas.microsoft.com/office/drawing/2014/main" id="{FDE34EC3-4763-48B7-83AB-1565A3555688}"/>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10/15</a:t>
            </a:r>
          </a:p>
        </p:txBody>
      </p:sp>
      <p:sp>
        <p:nvSpPr>
          <p:cNvPr id="12" name="">
            <a:extLst xmlns:a="http://schemas.openxmlformats.org/drawingml/2006/main">
              <a:ext uri="{FF2B5EF4-FFF2-40B4-BE49-F238E27FC236}">
                <a16:creationId xmlns:a16="http://schemas.microsoft.com/office/drawing/2014/main" id="{F51C8A63-2760-40AB-948C-DBB3F17F1A6A}"/>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53C2192-2EDA-4FCF-9092-F14F8549FFEC}"/>
              </a:ext>
            </a:extLst>
          </p:cNvPr>
          <p:cNvSpPr>
            <a:spLocks xmlns:a="http://schemas.openxmlformats.org/drawingml/2006/main" noGrp="1"/>
          </p:cNvSpPr>
          <p:nvPr/>
        </p:nvSpPr>
        <p:spPr>
          <a:xfrm xmlns:a="http://schemas.openxmlformats.org/drawingml/2006/main">
            <a:off x="228600" y="1809750"/>
            <a:ext cx="6096000" cy="459105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14" name="">
            <a:extLst xmlns:a="http://schemas.openxmlformats.org/drawingml/2006/main">
              <a:ext uri="{FF2B5EF4-FFF2-40B4-BE49-F238E27FC236}">
                <a16:creationId xmlns:a16="http://schemas.microsoft.com/office/drawing/2014/main" id="{18471629-07FB-48A1-AF7B-9208DD8B2353}"/>
              </a:ext>
            </a:extLst>
          </p:cNvPr>
          <p:cNvSpPr>
            <a:spLocks xmlns:a="http://schemas.openxmlformats.org/drawingml/2006/main" noGrp="1"/>
          </p:cNvSpPr>
          <p:nvPr/>
        </p:nvSpPr>
        <p:spPr>
          <a:xfrm xmlns:a="http://schemas.openxmlformats.org/drawingml/2006/main">
            <a:off x="609600" y="2266950"/>
            <a:ext cx="266700" cy="190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CD95EB33-4465-4C20-B468-DDE5C1000334}"/>
              </a:ext>
            </a:extLst>
          </p:cNvPr>
          <p:cNvSpPr>
            <a:spLocks xmlns:a="http://schemas.openxmlformats.org/drawingml/2006/main" noGrp="1"/>
          </p:cNvSpPr>
          <p:nvPr/>
        </p:nvSpPr>
        <p:spPr>
          <a:xfrm xmlns:a="http://schemas.openxmlformats.org/drawingml/2006/main">
            <a:off x="971550" y="2190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PROMPT TO GIVE AI</a:t>
            </a:r>
          </a:p>
        </p:txBody>
      </p:sp>
      <p:sp>
        <p:nvSpPr>
          <p:cNvPr id="16" name="">
            <a:extLst xmlns:a="http://schemas.openxmlformats.org/drawingml/2006/main">
              <a:ext uri="{FF2B5EF4-FFF2-40B4-BE49-F238E27FC236}">
                <a16:creationId xmlns:a16="http://schemas.microsoft.com/office/drawing/2014/main" id="{129B7E89-529C-44F1-A141-06CB1CA182F9}"/>
              </a:ext>
            </a:extLst>
          </p:cNvPr>
          <p:cNvSpPr>
            <a:spLocks xmlns:a="http://schemas.openxmlformats.org/drawingml/2006/main" noGrp="1"/>
          </p:cNvSpPr>
          <p:nvPr/>
        </p:nvSpPr>
        <p:spPr>
          <a:xfrm xmlns:a="http://schemas.openxmlformats.org/drawingml/2006/main">
            <a:off x="609600" y="2647950"/>
            <a:ext cx="5048250" cy="2190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Given the selected category, current assets, current channels, sales feedback, and CRM fields, classify the current demand motion as demand creation, demand capture, lead collection, or mixed. Identify the weakest operating layer, one practical repair that can start within two weeks, one account-level signal to track, and the human questions that require sales, RevOps, SME, or leadership input.</a:t>
            </a:r>
          </a:p>
        </p:txBody>
      </p:sp>
      <p:sp>
        <p:nvSpPr>
          <p:cNvPr id="17" name="">
            <a:extLst xmlns:a="http://schemas.openxmlformats.org/drawingml/2006/main">
              <a:ext uri="{FF2B5EF4-FFF2-40B4-BE49-F238E27FC236}">
                <a16:creationId xmlns:a16="http://schemas.microsoft.com/office/drawing/2014/main" id="{68C8917C-C1BF-41D9-ADB9-43AE213836DA}"/>
              </a:ext>
            </a:extLst>
          </p:cNvPr>
          <p:cNvSpPr>
            <a:spLocks xmlns:a="http://schemas.openxmlformats.org/drawingml/2006/main" noGrp="1"/>
          </p:cNvSpPr>
          <p:nvPr/>
        </p:nvSpPr>
        <p:spPr>
          <a:xfrm xmlns:a="http://schemas.openxmlformats.org/drawingml/2006/main">
            <a:off x="6324600" y="1809750"/>
            <a:ext cx="5867400" cy="45910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8" name="">
            <a:extLst xmlns:a="http://schemas.openxmlformats.org/drawingml/2006/main">
              <a:ext uri="{FF2B5EF4-FFF2-40B4-BE49-F238E27FC236}">
                <a16:creationId xmlns:a16="http://schemas.microsoft.com/office/drawing/2014/main" id="{3009E0C3-AD66-467B-9421-BE815055FD11}"/>
              </a:ext>
            </a:extLst>
          </p:cNvPr>
          <p:cNvSpPr>
            <a:spLocks xmlns:a="http://schemas.openxmlformats.org/drawingml/2006/main" noGrp="1"/>
          </p:cNvSpPr>
          <p:nvPr/>
        </p:nvSpPr>
        <p:spPr>
          <a:xfrm xmlns:a="http://schemas.openxmlformats.org/drawingml/2006/main">
            <a:off x="6705600" y="22669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6FD83545-DA48-4739-ACD2-DE6B57DCCB1E}"/>
              </a:ext>
            </a:extLst>
          </p:cNvPr>
          <p:cNvSpPr>
            <a:spLocks xmlns:a="http://schemas.openxmlformats.org/drawingml/2006/main" noGrp="1"/>
          </p:cNvSpPr>
          <p:nvPr/>
        </p:nvSpPr>
        <p:spPr>
          <a:xfrm xmlns:a="http://schemas.openxmlformats.org/drawingml/2006/main">
            <a:off x="7067550" y="2190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REQUIRED OUTPUT STANDARD</a:t>
            </a:r>
          </a:p>
        </p:txBody>
      </p:sp>
      <p:sp>
        <p:nvSpPr>
          <p:cNvPr id="20" name="">
            <a:extLst xmlns:a="http://schemas.openxmlformats.org/drawingml/2006/main">
              <a:ext uri="{FF2B5EF4-FFF2-40B4-BE49-F238E27FC236}">
                <a16:creationId xmlns:a16="http://schemas.microsoft.com/office/drawing/2014/main" id="{DE56D64D-4E36-40CA-83E4-7029405BEE79}"/>
              </a:ext>
            </a:extLst>
          </p:cNvPr>
          <p:cNvSpPr>
            <a:spLocks xmlns:a="http://schemas.openxmlformats.org/drawingml/2006/main" noGrp="1"/>
          </p:cNvSpPr>
          <p:nvPr/>
        </p:nvSpPr>
        <p:spPr>
          <a:xfrm xmlns:a="http://schemas.openxmlformats.org/drawingml/2006/main">
            <a:off x="6705600" y="27146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0931D362-00D7-4591-ACA8-C3EF3521E295}"/>
              </a:ext>
            </a:extLst>
          </p:cNvPr>
          <p:cNvSpPr>
            <a:spLocks xmlns:a="http://schemas.openxmlformats.org/drawingml/2006/main" noGrp="1"/>
          </p:cNvSpPr>
          <p:nvPr/>
        </p:nvSpPr>
        <p:spPr>
          <a:xfrm xmlns:a="http://schemas.openxmlformats.org/drawingml/2006/main">
            <a:off x="6877050" y="2647950"/>
            <a:ext cx="42100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Names the missing layer</a:t>
            </a:r>
          </a:p>
        </p:txBody>
      </p:sp>
      <p:sp>
        <p:nvSpPr>
          <p:cNvPr id="22" name="">
            <a:extLst xmlns:a="http://schemas.openxmlformats.org/drawingml/2006/main">
              <a:ext uri="{FF2B5EF4-FFF2-40B4-BE49-F238E27FC236}">
                <a16:creationId xmlns:a16="http://schemas.microsoft.com/office/drawing/2014/main" id="{6E1DB188-6920-4477-96B8-2D7604617848}"/>
              </a:ext>
            </a:extLst>
          </p:cNvPr>
          <p:cNvSpPr>
            <a:spLocks xmlns:a="http://schemas.openxmlformats.org/drawingml/2006/main" noGrp="1"/>
          </p:cNvSpPr>
          <p:nvPr/>
        </p:nvSpPr>
        <p:spPr>
          <a:xfrm xmlns:a="http://schemas.openxmlformats.org/drawingml/2006/main">
            <a:off x="6705600" y="319087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6EEC66A5-453F-43C1-909D-17DFDC5BB703}"/>
              </a:ext>
            </a:extLst>
          </p:cNvPr>
          <p:cNvSpPr>
            <a:spLocks xmlns:a="http://schemas.openxmlformats.org/drawingml/2006/main" noGrp="1"/>
          </p:cNvSpPr>
          <p:nvPr/>
        </p:nvSpPr>
        <p:spPr>
          <a:xfrm xmlns:a="http://schemas.openxmlformats.org/drawingml/2006/main">
            <a:off x="6877050" y="3124200"/>
            <a:ext cx="42100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Explains the anti-pattern and commercial risk</a:t>
            </a:r>
          </a:p>
        </p:txBody>
      </p:sp>
      <p:sp>
        <p:nvSpPr>
          <p:cNvPr id="24" name="">
            <a:extLst xmlns:a="http://schemas.openxmlformats.org/drawingml/2006/main">
              <a:ext uri="{FF2B5EF4-FFF2-40B4-BE49-F238E27FC236}">
                <a16:creationId xmlns:a16="http://schemas.microsoft.com/office/drawing/2014/main" id="{4836736B-6BE4-4041-AED1-F7BE5D2A13C2}"/>
              </a:ext>
            </a:extLst>
          </p:cNvPr>
          <p:cNvSpPr>
            <a:spLocks xmlns:a="http://schemas.openxmlformats.org/drawingml/2006/main" noGrp="1"/>
          </p:cNvSpPr>
          <p:nvPr/>
        </p:nvSpPr>
        <p:spPr>
          <a:xfrm xmlns:a="http://schemas.openxmlformats.org/drawingml/2006/main">
            <a:off x="6705600" y="36671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1F0F4206-F995-4B15-8EC7-0B07D11F2EA2}"/>
              </a:ext>
            </a:extLst>
          </p:cNvPr>
          <p:cNvSpPr>
            <a:spLocks xmlns:a="http://schemas.openxmlformats.org/drawingml/2006/main" noGrp="1"/>
          </p:cNvSpPr>
          <p:nvPr/>
        </p:nvSpPr>
        <p:spPr>
          <a:xfrm xmlns:a="http://schemas.openxmlformats.org/drawingml/2006/main">
            <a:off x="6877050" y="3600450"/>
            <a:ext cx="42100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Defines signal, owner, and cadence</a:t>
            </a:r>
          </a:p>
        </p:txBody>
      </p:sp>
      <p:sp>
        <p:nvSpPr>
          <p:cNvPr id="26" name="">
            <a:extLst xmlns:a="http://schemas.openxmlformats.org/drawingml/2006/main">
              <a:ext uri="{FF2B5EF4-FFF2-40B4-BE49-F238E27FC236}">
                <a16:creationId xmlns:a16="http://schemas.microsoft.com/office/drawing/2014/main" id="{BB953982-F09F-47D0-870F-ECBB1F80AA68}"/>
              </a:ext>
            </a:extLst>
          </p:cNvPr>
          <p:cNvSpPr>
            <a:spLocks xmlns:a="http://schemas.openxmlformats.org/drawingml/2006/main" noGrp="1"/>
          </p:cNvSpPr>
          <p:nvPr/>
        </p:nvSpPr>
        <p:spPr>
          <a:xfrm xmlns:a="http://schemas.openxmlformats.org/drawingml/2006/main">
            <a:off x="6705600" y="414337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3F139242-1529-43F1-9298-DE14CBC0CF5B}"/>
              </a:ext>
            </a:extLst>
          </p:cNvPr>
          <p:cNvSpPr>
            <a:spLocks xmlns:a="http://schemas.openxmlformats.org/drawingml/2006/main" noGrp="1"/>
          </p:cNvSpPr>
          <p:nvPr/>
        </p:nvSpPr>
        <p:spPr>
          <a:xfrm xmlns:a="http://schemas.openxmlformats.org/drawingml/2006/main">
            <a:off x="6877050" y="4076700"/>
            <a:ext cx="42100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Lists human validation questions</a:t>
            </a:r>
          </a:p>
        </p:txBody>
      </p:sp>
      <p:sp>
        <p:nvSpPr>
          <p:cNvPr id="28" name="">
            <a:extLst xmlns:a="http://schemas.openxmlformats.org/drawingml/2006/main">
              <a:ext uri="{FF2B5EF4-FFF2-40B4-BE49-F238E27FC236}">
                <a16:creationId xmlns:a16="http://schemas.microsoft.com/office/drawing/2014/main" id="{D0B9A621-718F-444E-BD55-71240F975B4F}"/>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F61BBC5E-A8E9-43E2-916F-DF3602C4F2D8}"/>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30" name="">
            <a:extLst xmlns:a="http://schemas.openxmlformats.org/drawingml/2006/main">
              <a:ext uri="{FF2B5EF4-FFF2-40B4-BE49-F238E27FC236}">
                <a16:creationId xmlns:a16="http://schemas.microsoft.com/office/drawing/2014/main" id="{92384B0F-B88F-4C92-AFD4-84338FC3726B}"/>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31" name="">
            <a:extLst xmlns:a="http://schemas.openxmlformats.org/drawingml/2006/main">
              <a:ext uri="{FF2B5EF4-FFF2-40B4-BE49-F238E27FC236}">
                <a16:creationId xmlns:a16="http://schemas.microsoft.com/office/drawing/2014/main" id="{C3027DCF-E17D-482A-ACCB-71A3E944BDC3}"/>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10/15</a:t>
            </a:r>
          </a:p>
        </p:txBody>
      </p:sp>
      <p:sp>
        <p:nvSpPr>
          <p:cNvPr id="32" name="">
            <a:extLst xmlns:a="http://schemas.openxmlformats.org/drawingml/2006/main">
              <a:ext uri="{FF2B5EF4-FFF2-40B4-BE49-F238E27FC236}">
                <a16:creationId xmlns:a16="http://schemas.microsoft.com/office/drawing/2014/main" id="{B813E07D-DE35-46C1-8A69-F99E7C88AF18}"/>
              </a:ext>
            </a:extLst>
          </p:cNvPr>
          <p:cNvSpPr>
            <a:spLocks xmlns:a="http://schemas.openxmlformats.org/drawingml/2006/main" noGrp="1"/>
          </p:cNvSpPr>
          <p:nvPr/>
        </p:nvSpPr>
        <p:spPr>
          <a:xfrm xmlns:a="http://schemas.openxmlformats.org/drawingml/2006/main">
            <a:off x="0" y="0"/>
            <a:ext cx="12192000" cy="18097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A66CBB84-69EC-4B56-9440-6F0113EDE849}"/>
              </a:ext>
            </a:extLst>
          </p:cNvPr>
          <p:cNvSpPr>
            <a:spLocks xmlns:a="http://schemas.openxmlformats.org/drawingml/2006/main" noGrp="1"/>
          </p:cNvSpPr>
          <p:nvPr/>
        </p:nvSpPr>
        <p:spPr>
          <a:xfrm xmlns:a="http://schemas.openxmlformats.org/drawingml/2006/main">
            <a:off x="0" y="0"/>
            <a:ext cx="171450" cy="180975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6B854A24-06EB-4FFD-BC9D-A265D24A7CAC}"/>
              </a:ext>
            </a:extLst>
          </p:cNvPr>
          <p:cNvSpPr>
            <a:spLocks xmlns:a="http://schemas.openxmlformats.org/drawingml/2006/main" noGrp="1"/>
          </p:cNvSpPr>
          <p:nvPr/>
        </p:nvSpPr>
        <p:spPr>
          <a:xfrm xmlns:a="http://schemas.openxmlformats.org/drawingml/2006/main">
            <a:off x="171450" y="0"/>
            <a:ext cx="57150" cy="18097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35" name="kicker-01-marker">
            <a:extLst xmlns:a="http://schemas.openxmlformats.org/drawingml/2006/main">
              <a:ext uri="{FF2B5EF4-FFF2-40B4-BE49-F238E27FC236}">
                <a16:creationId xmlns:a16="http://schemas.microsoft.com/office/drawing/2014/main" id="{53456B4C-C2E7-4F49-B4B5-A7BA5B42231C}"/>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36" name="kicker-01-label">
            <a:extLst xmlns:a="http://schemas.openxmlformats.org/drawingml/2006/main">
              <a:ext uri="{FF2B5EF4-FFF2-40B4-BE49-F238E27FC236}">
                <a16:creationId xmlns:a16="http://schemas.microsoft.com/office/drawing/2014/main" id="{86E98E6D-27A6-49BE-BBBD-2A790FD2D372}"/>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AI-ASSISTED EXERCISE</a:t>
            </a:r>
          </a:p>
        </p:txBody>
      </p:sp>
      <p:sp>
        <p:nvSpPr>
          <p:cNvPr id="37" name="">
            <a:extLst xmlns:a="http://schemas.openxmlformats.org/drawingml/2006/main">
              <a:ext uri="{FF2B5EF4-FFF2-40B4-BE49-F238E27FC236}">
                <a16:creationId xmlns:a16="http://schemas.microsoft.com/office/drawing/2014/main" id="{EDF2A2B1-1CE9-49AB-B024-F8D4D50C8FD9}"/>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Use AI to structure the attempt, then make humans responsible for judgment.</a:t>
            </a:r>
          </a:p>
        </p:txBody>
      </p:sp>
      <p:sp>
        <p:nvSpPr>
          <p:cNvPr id="38" name="">
            <a:extLst xmlns:a="http://schemas.openxmlformats.org/drawingml/2006/main">
              <a:ext uri="{FF2B5EF4-FFF2-40B4-BE49-F238E27FC236}">
                <a16:creationId xmlns:a16="http://schemas.microsoft.com/office/drawing/2014/main" id="{F75F2307-AAEE-4EB4-A58C-28EDD95E1D91}"/>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The prompt is constrained by source, assumptions, output standard, and human validation.</a:t>
            </a:r>
          </a:p>
        </p:txBody>
      </p:sp>
      <p:sp>
        <p:nvSpPr>
          <p:cNvPr id="39" name="">
            <a:extLst xmlns:a="http://schemas.openxmlformats.org/drawingml/2006/main">
              <a:ext uri="{FF2B5EF4-FFF2-40B4-BE49-F238E27FC236}">
                <a16:creationId xmlns:a16="http://schemas.microsoft.com/office/drawing/2014/main" id="{B75EC8E9-0148-4CD0-9542-8541C7876C2E}"/>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C45809E5-BFDC-436A-A636-94CBAAC97EAB}"/>
              </a:ext>
            </a:extLst>
          </p:cNvPr>
          <p:cNvSpPr>
            <a:spLocks xmlns:a="http://schemas.openxmlformats.org/drawingml/2006/main" noGrp="1"/>
          </p:cNvSpPr>
          <p:nvPr/>
        </p:nvSpPr>
        <p:spPr>
          <a:xfrm xmlns:a="http://schemas.openxmlformats.org/drawingml/2006/main">
            <a:off x="0" y="6400800"/>
            <a:ext cx="171450" cy="4572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DC7F23CD-B6FB-4F3F-BD3E-CCE60A59F860}"/>
              </a:ext>
            </a:extLst>
          </p:cNvPr>
          <p:cNvSpPr>
            <a:spLocks xmlns:a="http://schemas.openxmlformats.org/drawingml/2006/main" noGrp="1"/>
          </p:cNvSpPr>
          <p:nvPr/>
        </p:nvSpPr>
        <p:spPr>
          <a:xfrm xmlns:a="http://schemas.openxmlformats.org/drawingml/2006/main">
            <a:off x="171450" y="6400800"/>
            <a:ext cx="57150" cy="457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D2EADEF0-281D-4A50-8FFF-815D7492A91C}"/>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DCF34D98-4967-46FE-B9CC-BABEAE2A5948}"/>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44" name="">
            <a:extLst xmlns:a="http://schemas.openxmlformats.org/drawingml/2006/main">
              <a:ext uri="{FF2B5EF4-FFF2-40B4-BE49-F238E27FC236}">
                <a16:creationId xmlns:a16="http://schemas.microsoft.com/office/drawing/2014/main" id="{18D76B17-890A-4806-88A4-450C06F23021}"/>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45" name="">
            <a:extLst xmlns:a="http://schemas.openxmlformats.org/drawingml/2006/main">
              <a:ext uri="{FF2B5EF4-FFF2-40B4-BE49-F238E27FC236}">
                <a16:creationId xmlns:a16="http://schemas.microsoft.com/office/drawing/2014/main" id="{6CC70333-067F-43C9-AC18-CDF1201F1BE1}"/>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10/15</a:t>
            </a:r>
          </a:p>
        </p:txBody>
      </p:sp>
    </p:spTree>
    <p:extLst>
      <p:ext uri="{BB962C8B-B14F-4D97-AF65-F5344CB8AC3E}">
        <p14:creationId xmlns:p14="http://schemas.microsoft.com/office/powerpoint/2010/main" val="48102589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22B40E4-35F7-4678-AE31-C12D43298C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C0D0F6B-2D09-4451-A728-F883F43FB7F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35B7CF5-2BB0-4BFD-B99E-EBA0045A7150}"/>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1-marker">
            <a:extLst xmlns:a="http://schemas.openxmlformats.org/drawingml/2006/main">
              <a:ext uri="{FF2B5EF4-FFF2-40B4-BE49-F238E27FC236}">
                <a16:creationId xmlns:a16="http://schemas.microsoft.com/office/drawing/2014/main" id="{CB9FDC5B-DE93-4569-9D0B-4AEEDAB48B29}"/>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1-label">
            <a:extLst xmlns:a="http://schemas.openxmlformats.org/drawingml/2006/main">
              <a:ext uri="{FF2B5EF4-FFF2-40B4-BE49-F238E27FC236}">
                <a16:creationId xmlns:a16="http://schemas.microsoft.com/office/drawing/2014/main" id="{46DD4FA3-E89B-4C5E-B64B-54D54BC84439}"/>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HUMAN CORRECTION</a:t>
            </a:r>
          </a:p>
        </p:txBody>
      </p:sp>
      <p:sp>
        <p:nvSpPr>
          <p:cNvPr id="6" name="">
            <a:extLst xmlns:a="http://schemas.openxmlformats.org/drawingml/2006/main">
              <a:ext uri="{FF2B5EF4-FFF2-40B4-BE49-F238E27FC236}">
                <a16:creationId xmlns:a16="http://schemas.microsoft.com/office/drawing/2014/main" id="{7E6C1708-C2DE-4EA4-8BFF-67F54C78BEFC}"/>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AI can draft structure. Humans must repair industrial reality.</a:t>
            </a:r>
          </a:p>
        </p:txBody>
      </p:sp>
      <p:sp>
        <p:nvSpPr>
          <p:cNvPr id="7" name="">
            <a:extLst xmlns:a="http://schemas.openxmlformats.org/drawingml/2006/main">
              <a:ext uri="{FF2B5EF4-FFF2-40B4-BE49-F238E27FC236}">
                <a16:creationId xmlns:a16="http://schemas.microsoft.com/office/drawing/2014/main" id="{7BF12C0F-03DE-47A4-8CCE-B292FD081C6B}"/>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This slide gives the instructor a rejection standard.</a:t>
            </a:r>
          </a:p>
        </p:txBody>
      </p:sp>
      <p:sp>
        <p:nvSpPr>
          <p:cNvPr id="8" name="">
            <a:extLst xmlns:a="http://schemas.openxmlformats.org/drawingml/2006/main">
              <a:ext uri="{FF2B5EF4-FFF2-40B4-BE49-F238E27FC236}">
                <a16:creationId xmlns:a16="http://schemas.microsoft.com/office/drawing/2014/main" id="{986A6B2F-45AE-4F59-88B3-5D58359F5188}"/>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3EF7ADFB-E3BE-4F06-9D1B-3ECD325C0D29}"/>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10" name="">
            <a:extLst xmlns:a="http://schemas.openxmlformats.org/drawingml/2006/main">
              <a:ext uri="{FF2B5EF4-FFF2-40B4-BE49-F238E27FC236}">
                <a16:creationId xmlns:a16="http://schemas.microsoft.com/office/drawing/2014/main" id="{8C46FD2F-0ECD-4B67-A817-9B1CE2656EE3}"/>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11" name="">
            <a:extLst xmlns:a="http://schemas.openxmlformats.org/drawingml/2006/main">
              <a:ext uri="{FF2B5EF4-FFF2-40B4-BE49-F238E27FC236}">
                <a16:creationId xmlns:a16="http://schemas.microsoft.com/office/drawing/2014/main" id="{3488396F-2BF0-4F9D-B2BD-BC6FA955C8CE}"/>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11/15</a:t>
            </a:r>
          </a:p>
        </p:txBody>
      </p:sp>
      <p:sp>
        <p:nvSpPr>
          <p:cNvPr id="12" name="">
            <a:extLst xmlns:a="http://schemas.openxmlformats.org/drawingml/2006/main">
              <a:ext uri="{FF2B5EF4-FFF2-40B4-BE49-F238E27FC236}">
                <a16:creationId xmlns:a16="http://schemas.microsoft.com/office/drawing/2014/main" id="{2CF909D6-C76A-41C1-92D6-2E3A2D5A2FBA}"/>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4304669-7F4B-4959-910E-CF7E961DF9E5}"/>
              </a:ext>
            </a:extLst>
          </p:cNvPr>
          <p:cNvSpPr>
            <a:spLocks xmlns:a="http://schemas.openxmlformats.org/drawingml/2006/main" noGrp="1"/>
          </p:cNvSpPr>
          <p:nvPr/>
        </p:nvSpPr>
        <p:spPr>
          <a:xfrm xmlns:a="http://schemas.openxmlformats.org/drawingml/2006/main">
            <a:off x="228600" y="1809750"/>
            <a:ext cx="7677150" cy="45910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4" name="">
            <a:extLst xmlns:a="http://schemas.openxmlformats.org/drawingml/2006/main">
              <a:ext uri="{FF2B5EF4-FFF2-40B4-BE49-F238E27FC236}">
                <a16:creationId xmlns:a16="http://schemas.microsoft.com/office/drawing/2014/main" id="{C4E9CA8F-7F09-4D05-870B-A9150069021E}"/>
              </a:ext>
            </a:extLst>
          </p:cNvPr>
          <p:cNvSpPr>
            <a:spLocks xmlns:a="http://schemas.openxmlformats.org/drawingml/2006/main" noGrp="1"/>
          </p:cNvSpPr>
          <p:nvPr/>
        </p:nvSpPr>
        <p:spPr>
          <a:xfrm xmlns:a="http://schemas.openxmlformats.org/drawingml/2006/main">
            <a:off x="609600" y="2266950"/>
            <a:ext cx="266700" cy="19050"/>
          </a:xfrm>
          <a:prstGeom xmlns:a="http://schemas.openxmlformats.org/drawingml/2006/main" prst="rect">
            <a:avLst/>
          </a:prstGeom>
          <a:solidFill xmlns:a="http://schemas.openxmlformats.org/drawingml/2006/main">
            <a:srgbClr val="A8493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672B00E4-225A-4AD5-8975-36D1A72026C6}"/>
              </a:ext>
            </a:extLst>
          </p:cNvPr>
          <p:cNvSpPr>
            <a:spLocks xmlns:a="http://schemas.openxmlformats.org/drawingml/2006/main" noGrp="1"/>
          </p:cNvSpPr>
          <p:nvPr/>
        </p:nvSpPr>
        <p:spPr>
          <a:xfrm xmlns:a="http://schemas.openxmlformats.org/drawingml/2006/main">
            <a:off x="971550" y="2190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REJECT OR REPAIR WHEN AI OUTPUT...</a:t>
            </a:r>
          </a:p>
        </p:txBody>
      </p:sp>
      <p:sp>
        <p:nvSpPr>
          <p:cNvPr id="16" name="">
            <a:extLst xmlns:a="http://schemas.openxmlformats.org/drawingml/2006/main">
              <a:ext uri="{FF2B5EF4-FFF2-40B4-BE49-F238E27FC236}">
                <a16:creationId xmlns:a16="http://schemas.microsoft.com/office/drawing/2014/main" id="{C9C9E626-3B0E-4B48-8C87-D489FC1EE63C}"/>
              </a:ext>
            </a:extLst>
          </p:cNvPr>
          <p:cNvSpPr>
            <a:spLocks xmlns:a="http://schemas.openxmlformats.org/drawingml/2006/main" noGrp="1"/>
          </p:cNvSpPr>
          <p:nvPr/>
        </p:nvSpPr>
        <p:spPr>
          <a:xfrm xmlns:a="http://schemas.openxmlformats.org/drawingml/2006/main">
            <a:off x="609600" y="2714625"/>
            <a:ext cx="57150" cy="57150"/>
          </a:xfrm>
          <a:prstGeom xmlns:a="http://schemas.openxmlformats.org/drawingml/2006/main" prst="rect">
            <a:avLst/>
          </a:prstGeom>
          <a:solidFill xmlns:a="http://schemas.openxmlformats.org/drawingml/2006/main">
            <a:srgbClr val="A8493D"/>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CAC419E4-501D-4515-92D3-B64ADE6366BC}"/>
              </a:ext>
            </a:extLst>
          </p:cNvPr>
          <p:cNvSpPr>
            <a:spLocks xmlns:a="http://schemas.openxmlformats.org/drawingml/2006/main" noGrp="1"/>
          </p:cNvSpPr>
          <p:nvPr/>
        </p:nvSpPr>
        <p:spPr>
          <a:xfrm xmlns:a="http://schemas.openxmlformats.org/drawingml/2006/main">
            <a:off x="781050" y="2647950"/>
            <a:ext cx="5924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Reject more-content recommendations with no distribution path.</a:t>
            </a:r>
          </a:p>
        </p:txBody>
      </p:sp>
      <p:sp>
        <p:nvSpPr>
          <p:cNvPr id="18" name="">
            <a:extLst xmlns:a="http://schemas.openxmlformats.org/drawingml/2006/main">
              <a:ext uri="{FF2B5EF4-FFF2-40B4-BE49-F238E27FC236}">
                <a16:creationId xmlns:a16="http://schemas.microsoft.com/office/drawing/2014/main" id="{D02F44CE-EF0D-4ED1-8F69-B5B5B2A84770}"/>
              </a:ext>
            </a:extLst>
          </p:cNvPr>
          <p:cNvSpPr>
            <a:spLocks xmlns:a="http://schemas.openxmlformats.org/drawingml/2006/main" noGrp="1"/>
          </p:cNvSpPr>
          <p:nvPr/>
        </p:nvSpPr>
        <p:spPr>
          <a:xfrm xmlns:a="http://schemas.openxmlformats.org/drawingml/2006/main">
            <a:off x="609600" y="3171825"/>
            <a:ext cx="57150" cy="57150"/>
          </a:xfrm>
          <a:prstGeom xmlns:a="http://schemas.openxmlformats.org/drawingml/2006/main" prst="rect">
            <a:avLst/>
          </a:prstGeom>
          <a:solidFill xmlns:a="http://schemas.openxmlformats.org/drawingml/2006/main">
            <a:srgbClr val="A8493D"/>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00258D1D-D77D-4286-AA96-C6493BECA7D3}"/>
              </a:ext>
            </a:extLst>
          </p:cNvPr>
          <p:cNvSpPr>
            <a:spLocks xmlns:a="http://schemas.openxmlformats.org/drawingml/2006/main" noGrp="1"/>
          </p:cNvSpPr>
          <p:nvPr/>
        </p:nvSpPr>
        <p:spPr>
          <a:xfrm xmlns:a="http://schemas.openxmlformats.org/drawingml/2006/main">
            <a:off x="781050" y="3105150"/>
            <a:ext cx="5924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Reject lead magnets before buyer trust exists.</a:t>
            </a:r>
          </a:p>
        </p:txBody>
      </p:sp>
      <p:sp>
        <p:nvSpPr>
          <p:cNvPr id="20" name="">
            <a:extLst xmlns:a="http://schemas.openxmlformats.org/drawingml/2006/main">
              <a:ext uri="{FF2B5EF4-FFF2-40B4-BE49-F238E27FC236}">
                <a16:creationId xmlns:a16="http://schemas.microsoft.com/office/drawing/2014/main" id="{C8127DFA-85AF-4BAC-90C1-BAF10F8F5585}"/>
              </a:ext>
            </a:extLst>
          </p:cNvPr>
          <p:cNvSpPr>
            <a:spLocks xmlns:a="http://schemas.openxmlformats.org/drawingml/2006/main" noGrp="1"/>
          </p:cNvSpPr>
          <p:nvPr/>
        </p:nvSpPr>
        <p:spPr>
          <a:xfrm xmlns:a="http://schemas.openxmlformats.org/drawingml/2006/main">
            <a:off x="609600" y="3629025"/>
            <a:ext cx="57150" cy="57150"/>
          </a:xfrm>
          <a:prstGeom xmlns:a="http://schemas.openxmlformats.org/drawingml/2006/main" prst="rect">
            <a:avLst/>
          </a:prstGeom>
          <a:solidFill xmlns:a="http://schemas.openxmlformats.org/drawingml/2006/main">
            <a:srgbClr val="A8493D"/>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96989755-7A8A-4E2C-AE10-EEC6EF3C6DEE}"/>
              </a:ext>
            </a:extLst>
          </p:cNvPr>
          <p:cNvSpPr>
            <a:spLocks xmlns:a="http://schemas.openxmlformats.org/drawingml/2006/main" noGrp="1"/>
          </p:cNvSpPr>
          <p:nvPr/>
        </p:nvSpPr>
        <p:spPr>
          <a:xfrm xmlns:a="http://schemas.openxmlformats.org/drawingml/2006/main">
            <a:off x="781050" y="3562350"/>
            <a:ext cx="5924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Reject impressions, traffic, likes, and MQLs as primary success.</a:t>
            </a:r>
          </a:p>
        </p:txBody>
      </p:sp>
      <p:sp>
        <p:nvSpPr>
          <p:cNvPr id="22" name="">
            <a:extLst xmlns:a="http://schemas.openxmlformats.org/drawingml/2006/main">
              <a:ext uri="{FF2B5EF4-FFF2-40B4-BE49-F238E27FC236}">
                <a16:creationId xmlns:a16="http://schemas.microsoft.com/office/drawing/2014/main" id="{C1985BDA-B50F-4BAC-A4EC-AB86065311A7}"/>
              </a:ext>
            </a:extLst>
          </p:cNvPr>
          <p:cNvSpPr>
            <a:spLocks xmlns:a="http://schemas.openxmlformats.org/drawingml/2006/main" noGrp="1"/>
          </p:cNvSpPr>
          <p:nvPr/>
        </p:nvSpPr>
        <p:spPr>
          <a:xfrm xmlns:a="http://schemas.openxmlformats.org/drawingml/2006/main">
            <a:off x="609600" y="4086225"/>
            <a:ext cx="57150" cy="57150"/>
          </a:xfrm>
          <a:prstGeom xmlns:a="http://schemas.openxmlformats.org/drawingml/2006/main" prst="rect">
            <a:avLst/>
          </a:prstGeom>
          <a:solidFill xmlns:a="http://schemas.openxmlformats.org/drawingml/2006/main">
            <a:srgbClr val="A8493D"/>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F25BE204-177B-46C0-8D6E-31D2EE047E24}"/>
              </a:ext>
            </a:extLst>
          </p:cNvPr>
          <p:cNvSpPr>
            <a:spLocks xmlns:a="http://schemas.openxmlformats.org/drawingml/2006/main" noGrp="1"/>
          </p:cNvSpPr>
          <p:nvPr/>
        </p:nvSpPr>
        <p:spPr>
          <a:xfrm xmlns:a="http://schemas.openxmlformats.org/drawingml/2006/main">
            <a:off x="781050" y="4019550"/>
            <a:ext cx="5924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Reject activation before state and signal strength are known.</a:t>
            </a:r>
          </a:p>
        </p:txBody>
      </p:sp>
      <p:sp>
        <p:nvSpPr>
          <p:cNvPr id="24" name="">
            <a:extLst xmlns:a="http://schemas.openxmlformats.org/drawingml/2006/main">
              <a:ext uri="{FF2B5EF4-FFF2-40B4-BE49-F238E27FC236}">
                <a16:creationId xmlns:a16="http://schemas.microsoft.com/office/drawing/2014/main" id="{A59BC9A8-6DA1-40D2-99BD-97A3A78A338F}"/>
              </a:ext>
            </a:extLst>
          </p:cNvPr>
          <p:cNvSpPr>
            <a:spLocks xmlns:a="http://schemas.openxmlformats.org/drawingml/2006/main" noGrp="1"/>
          </p:cNvSpPr>
          <p:nvPr/>
        </p:nvSpPr>
        <p:spPr>
          <a:xfrm xmlns:a="http://schemas.openxmlformats.org/drawingml/2006/main">
            <a:off x="609600" y="4543425"/>
            <a:ext cx="57150" cy="57150"/>
          </a:xfrm>
          <a:prstGeom xmlns:a="http://schemas.openxmlformats.org/drawingml/2006/main" prst="rect">
            <a:avLst/>
          </a:prstGeom>
          <a:solidFill xmlns:a="http://schemas.openxmlformats.org/drawingml/2006/main">
            <a:srgbClr val="A8493D"/>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1DA1CA7D-B99B-489B-904C-0938F2015A14}"/>
              </a:ext>
            </a:extLst>
          </p:cNvPr>
          <p:cNvSpPr>
            <a:spLocks xmlns:a="http://schemas.openxmlformats.org/drawingml/2006/main" noGrp="1"/>
          </p:cNvSpPr>
          <p:nvPr/>
        </p:nvSpPr>
        <p:spPr>
          <a:xfrm xmlns:a="http://schemas.openxmlformats.org/drawingml/2006/main">
            <a:off x="781050" y="4476750"/>
            <a:ext cx="5924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72026"/>
                </a:solidFill>
                <a:latin typeface="Aptos"/>
                <a:ea typeface="Aptos"/>
                <a:cs typeface="Aptos"/>
              </a:defRPr>
            </a:pPr>
            <a:r>
              <a:rPr sz="1200" b="0">
                <a:solidFill>
                  <a:srgbClr val="172026"/>
                </a:solidFill>
                <a:latin typeface="Aptos"/>
                <a:ea typeface="Aptos"/>
                <a:cs typeface="Aptos"/>
              </a:rPr>
              <a:t>Reject invented named-company examples.</a:t>
            </a:r>
          </a:p>
        </p:txBody>
      </p:sp>
      <p:sp>
        <p:nvSpPr>
          <p:cNvPr id="26" name="">
            <a:extLst xmlns:a="http://schemas.openxmlformats.org/drawingml/2006/main">
              <a:ext uri="{FF2B5EF4-FFF2-40B4-BE49-F238E27FC236}">
                <a16:creationId xmlns:a16="http://schemas.microsoft.com/office/drawing/2014/main" id="{9ECAA1A3-99E7-4E57-9011-96E7521DD2C1}"/>
              </a:ext>
            </a:extLst>
          </p:cNvPr>
          <p:cNvSpPr>
            <a:spLocks xmlns:a="http://schemas.openxmlformats.org/drawingml/2006/main" noGrp="1"/>
          </p:cNvSpPr>
          <p:nvPr/>
        </p:nvSpPr>
        <p:spPr>
          <a:xfrm xmlns:a="http://schemas.openxmlformats.org/drawingml/2006/main">
            <a:off x="7905750" y="1809750"/>
            <a:ext cx="4286250" cy="4591050"/>
          </a:xfrm>
          <a:prstGeom xmlns:a="http://schemas.openxmlformats.org/drawingml/2006/main" prst="rect">
            <a:avLst/>
          </a:prstGeom>
          <a:solidFill xmlns:a="http://schemas.openxmlformats.org/drawingml/2006/main">
            <a:srgbClr val="F9FAF7"/>
          </a:solidFill>
          <a:ln xmlns:a="http://schemas.openxmlformats.org/drawingml/2006/main" w="9525">
            <a:solidFill>
              <a:srgbClr val="D9DDD6"/>
            </a:solidFill>
            <a:prstDash val="solid"/>
          </a:ln>
        </p:spPr>
      </p:sp>
      <p:sp>
        <p:nvSpPr>
          <p:cNvPr id="27" name="">
            <a:extLst xmlns:a="http://schemas.openxmlformats.org/drawingml/2006/main">
              <a:ext uri="{FF2B5EF4-FFF2-40B4-BE49-F238E27FC236}">
                <a16:creationId xmlns:a16="http://schemas.microsoft.com/office/drawing/2014/main" id="{A131DF41-B1CC-46C4-8A18-B83942E19942}"/>
              </a:ext>
            </a:extLst>
          </p:cNvPr>
          <p:cNvSpPr>
            <a:spLocks xmlns:a="http://schemas.openxmlformats.org/drawingml/2006/main" noGrp="1"/>
          </p:cNvSpPr>
          <p:nvPr/>
        </p:nvSpPr>
        <p:spPr>
          <a:xfrm xmlns:a="http://schemas.openxmlformats.org/drawingml/2006/main">
            <a:off x="8286750" y="2266950"/>
            <a:ext cx="266700" cy="19050"/>
          </a:xfrm>
          <a:prstGeom xmlns:a="http://schemas.openxmlformats.org/drawingml/2006/main" prst="rect">
            <a:avLst/>
          </a:prstGeom>
          <a:solidFill xmlns:a="http://schemas.openxmlformats.org/drawingml/2006/main">
            <a:srgbClr val="667A39"/>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DEA17D8E-F6E7-4BB0-A77A-38AF4995D16C}"/>
              </a:ext>
            </a:extLst>
          </p:cNvPr>
          <p:cNvSpPr>
            <a:spLocks xmlns:a="http://schemas.openxmlformats.org/drawingml/2006/main" noGrp="1"/>
          </p:cNvSpPr>
          <p:nvPr/>
        </p:nvSpPr>
        <p:spPr>
          <a:xfrm xmlns:a="http://schemas.openxmlformats.org/drawingml/2006/main">
            <a:off x="8648700" y="2190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QUALITY CONTROL</a:t>
            </a:r>
          </a:p>
        </p:txBody>
      </p:sp>
      <p:sp>
        <p:nvSpPr>
          <p:cNvPr id="29" name="">
            <a:extLst xmlns:a="http://schemas.openxmlformats.org/drawingml/2006/main">
              <a:ext uri="{FF2B5EF4-FFF2-40B4-BE49-F238E27FC236}">
                <a16:creationId xmlns:a16="http://schemas.microsoft.com/office/drawing/2014/main" id="{7A1D5616-C3F9-46DC-BBB6-CFE763816D29}"/>
              </a:ext>
            </a:extLst>
          </p:cNvPr>
          <p:cNvSpPr>
            <a:spLocks xmlns:a="http://schemas.openxmlformats.org/drawingml/2006/main" noGrp="1"/>
          </p:cNvSpPr>
          <p:nvPr/>
        </p:nvSpPr>
        <p:spPr>
          <a:xfrm xmlns:a="http://schemas.openxmlformats.org/drawingml/2006/main">
            <a:off x="8286750" y="2647950"/>
            <a:ext cx="28575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26"/>
                </a:solidFill>
                <a:latin typeface="Aptos"/>
                <a:ea typeface="Aptos"/>
                <a:cs typeface="Aptos"/>
              </a:defRPr>
            </a:pPr>
            <a:r>
              <a:rPr sz="1275" b="0">
                <a:solidFill>
                  <a:srgbClr val="172026"/>
                </a:solidFill>
                <a:latin typeface="Aptos"/>
                <a:ea typeface="Aptos"/>
                <a:cs typeface="Aptos"/>
              </a:rPr>
              <a:t>The correction standard is not nicer wording. It is better industrial judgment: category specificity, proof, owner, field, SLA, cadence, and disqualification where needed.</a:t>
            </a:r>
          </a:p>
        </p:txBody>
      </p:sp>
      <p:sp>
        <p:nvSpPr>
          <p:cNvPr id="30" name="">
            <a:extLst xmlns:a="http://schemas.openxmlformats.org/drawingml/2006/main">
              <a:ext uri="{FF2B5EF4-FFF2-40B4-BE49-F238E27FC236}">
                <a16:creationId xmlns:a16="http://schemas.microsoft.com/office/drawing/2014/main" id="{9DC05C62-FA30-4AD8-A329-788CECEA4F4C}"/>
              </a:ext>
            </a:extLst>
          </p:cNvPr>
          <p:cNvSpPr>
            <a:spLocks xmlns:a="http://schemas.openxmlformats.org/drawingml/2006/main" noGrp="1"/>
          </p:cNvSpPr>
          <p:nvPr/>
        </p:nvSpPr>
        <p:spPr>
          <a:xfrm xmlns:a="http://schemas.openxmlformats.org/drawingml/2006/main">
            <a:off x="8782050" y="5353050"/>
            <a:ext cx="2647950" cy="83820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31" name="">
            <a:extLst xmlns:a="http://schemas.openxmlformats.org/drawingml/2006/main">
              <a:ext uri="{FF2B5EF4-FFF2-40B4-BE49-F238E27FC236}">
                <a16:creationId xmlns:a16="http://schemas.microsoft.com/office/drawing/2014/main" id="{C282F936-C214-48C1-A42D-55486EA8FDB2}"/>
              </a:ext>
            </a:extLst>
          </p:cNvPr>
          <p:cNvSpPr>
            <a:spLocks xmlns:a="http://schemas.openxmlformats.org/drawingml/2006/main" noGrp="1"/>
          </p:cNvSpPr>
          <p:nvPr/>
        </p:nvSpPr>
        <p:spPr>
          <a:xfrm xmlns:a="http://schemas.openxmlformats.org/drawingml/2006/main">
            <a:off x="8972550" y="550545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AFC3C8"/>
                </a:solidFill>
                <a:latin typeface="Aptos"/>
                <a:ea typeface="Aptos"/>
                <a:cs typeface="Aptos"/>
              </a:defRPr>
            </a:pPr>
            <a:r>
              <a:rPr sz="675" b="1">
                <a:solidFill>
                  <a:srgbClr val="AFC3C8"/>
                </a:solidFill>
                <a:latin typeface="Aptos"/>
                <a:ea typeface="Aptos"/>
                <a:cs typeface="Aptos"/>
              </a:rPr>
              <a:t>INSTRUCTOR CUE</a:t>
            </a:r>
          </a:p>
        </p:txBody>
      </p:sp>
      <p:sp>
        <p:nvSpPr>
          <p:cNvPr id="32" name="">
            <a:extLst xmlns:a="http://schemas.openxmlformats.org/drawingml/2006/main">
              <a:ext uri="{FF2B5EF4-FFF2-40B4-BE49-F238E27FC236}">
                <a16:creationId xmlns:a16="http://schemas.microsoft.com/office/drawing/2014/main" id="{F1ED6E01-A0AA-4BDB-AB37-C17CE9EF7F06}"/>
              </a:ext>
            </a:extLst>
          </p:cNvPr>
          <p:cNvSpPr>
            <a:spLocks xmlns:a="http://schemas.openxmlformats.org/drawingml/2006/main" noGrp="1"/>
          </p:cNvSpPr>
          <p:nvPr/>
        </p:nvSpPr>
        <p:spPr>
          <a:xfrm xmlns:a="http://schemas.openxmlformats.org/drawingml/2006/main">
            <a:off x="8972550" y="5676900"/>
            <a:ext cx="2190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FFFFF"/>
                </a:solidFill>
                <a:latin typeface="Aptos"/>
                <a:ea typeface="Aptos"/>
                <a:cs typeface="Aptos"/>
              </a:defRPr>
            </a:pPr>
            <a:r>
              <a:rPr sz="975" b="0">
                <a:solidFill>
                  <a:srgbClr val="FFFFFF"/>
                </a:solidFill>
                <a:latin typeface="Aptos"/>
                <a:ea typeface="Aptos"/>
                <a:cs typeface="Aptos"/>
              </a:rPr>
              <a:t>Ask what the AI is guessing.</a:t>
            </a:r>
          </a:p>
        </p:txBody>
      </p:sp>
      <p:sp>
        <p:nvSpPr>
          <p:cNvPr id="33" name="">
            <a:extLst xmlns:a="http://schemas.openxmlformats.org/drawingml/2006/main">
              <a:ext uri="{FF2B5EF4-FFF2-40B4-BE49-F238E27FC236}">
                <a16:creationId xmlns:a16="http://schemas.microsoft.com/office/drawing/2014/main" id="{BBACA6CD-30D3-479D-8519-5D00B509C858}"/>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ADDAE12D-E775-4462-A55F-5F9316BA9B1A}"/>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35" name="">
            <a:extLst xmlns:a="http://schemas.openxmlformats.org/drawingml/2006/main">
              <a:ext uri="{FF2B5EF4-FFF2-40B4-BE49-F238E27FC236}">
                <a16:creationId xmlns:a16="http://schemas.microsoft.com/office/drawing/2014/main" id="{B6F90343-2289-43CA-888E-9A22FFD2478B}"/>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36" name="">
            <a:extLst xmlns:a="http://schemas.openxmlformats.org/drawingml/2006/main">
              <a:ext uri="{FF2B5EF4-FFF2-40B4-BE49-F238E27FC236}">
                <a16:creationId xmlns:a16="http://schemas.microsoft.com/office/drawing/2014/main" id="{4965D2D3-E395-4293-B202-E9C65CE0D113}"/>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11/15</a:t>
            </a:r>
          </a:p>
        </p:txBody>
      </p:sp>
      <p:sp>
        <p:nvSpPr>
          <p:cNvPr id="37" name="">
            <a:extLst xmlns:a="http://schemas.openxmlformats.org/drawingml/2006/main">
              <a:ext uri="{FF2B5EF4-FFF2-40B4-BE49-F238E27FC236}">
                <a16:creationId xmlns:a16="http://schemas.microsoft.com/office/drawing/2014/main" id="{3E562D75-1409-4557-8071-36DB81882022}"/>
              </a:ext>
            </a:extLst>
          </p:cNvPr>
          <p:cNvSpPr>
            <a:spLocks xmlns:a="http://schemas.openxmlformats.org/drawingml/2006/main" noGrp="1"/>
          </p:cNvSpPr>
          <p:nvPr/>
        </p:nvSpPr>
        <p:spPr>
          <a:xfrm xmlns:a="http://schemas.openxmlformats.org/drawingml/2006/main">
            <a:off x="0" y="0"/>
            <a:ext cx="12192000" cy="18097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CD99049B-49E8-4455-B6FB-F720CC06C277}"/>
              </a:ext>
            </a:extLst>
          </p:cNvPr>
          <p:cNvSpPr>
            <a:spLocks xmlns:a="http://schemas.openxmlformats.org/drawingml/2006/main" noGrp="1"/>
          </p:cNvSpPr>
          <p:nvPr/>
        </p:nvSpPr>
        <p:spPr>
          <a:xfrm xmlns:a="http://schemas.openxmlformats.org/drawingml/2006/main">
            <a:off x="0" y="0"/>
            <a:ext cx="171450" cy="180975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18A71805-2977-4648-95AC-8B2B781FBCCF}"/>
              </a:ext>
            </a:extLst>
          </p:cNvPr>
          <p:cNvSpPr>
            <a:spLocks xmlns:a="http://schemas.openxmlformats.org/drawingml/2006/main" noGrp="1"/>
          </p:cNvSpPr>
          <p:nvPr/>
        </p:nvSpPr>
        <p:spPr>
          <a:xfrm xmlns:a="http://schemas.openxmlformats.org/drawingml/2006/main">
            <a:off x="171450" y="0"/>
            <a:ext cx="57150" cy="18097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0" name="kicker-01-marker">
            <a:extLst xmlns:a="http://schemas.openxmlformats.org/drawingml/2006/main">
              <a:ext uri="{FF2B5EF4-FFF2-40B4-BE49-F238E27FC236}">
                <a16:creationId xmlns:a16="http://schemas.microsoft.com/office/drawing/2014/main" id="{1E7DB7D3-E133-4EB7-9169-10BB88E6549B}"/>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1" name="kicker-01-label">
            <a:extLst xmlns:a="http://schemas.openxmlformats.org/drawingml/2006/main">
              <a:ext uri="{FF2B5EF4-FFF2-40B4-BE49-F238E27FC236}">
                <a16:creationId xmlns:a16="http://schemas.microsoft.com/office/drawing/2014/main" id="{F1BBA2CD-6D46-4737-9E18-BF49E8B332F2}"/>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HUMAN CORRECTION</a:t>
            </a:r>
          </a:p>
        </p:txBody>
      </p:sp>
      <p:sp>
        <p:nvSpPr>
          <p:cNvPr id="42" name="">
            <a:extLst xmlns:a="http://schemas.openxmlformats.org/drawingml/2006/main">
              <a:ext uri="{FF2B5EF4-FFF2-40B4-BE49-F238E27FC236}">
                <a16:creationId xmlns:a16="http://schemas.microsoft.com/office/drawing/2014/main" id="{83EB5D1C-4352-46D1-8E28-7A72192463F3}"/>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AI can draft structure. Humans must repair industrial reality.</a:t>
            </a:r>
          </a:p>
        </p:txBody>
      </p:sp>
      <p:sp>
        <p:nvSpPr>
          <p:cNvPr id="43" name="">
            <a:extLst xmlns:a="http://schemas.openxmlformats.org/drawingml/2006/main">
              <a:ext uri="{FF2B5EF4-FFF2-40B4-BE49-F238E27FC236}">
                <a16:creationId xmlns:a16="http://schemas.microsoft.com/office/drawing/2014/main" id="{145E876A-A3E3-4FD0-A14A-D989E52B90AF}"/>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This slide gives the instructor a rejection standard.</a:t>
            </a:r>
          </a:p>
        </p:txBody>
      </p:sp>
      <p:sp>
        <p:nvSpPr>
          <p:cNvPr id="44" name="">
            <a:extLst xmlns:a="http://schemas.openxmlformats.org/drawingml/2006/main">
              <a:ext uri="{FF2B5EF4-FFF2-40B4-BE49-F238E27FC236}">
                <a16:creationId xmlns:a16="http://schemas.microsoft.com/office/drawing/2014/main" id="{79A3A245-B4F5-418C-8ED3-C72F69D96D1C}"/>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07ED2268-F3F4-4151-9FF2-2934A45AFDE2}"/>
              </a:ext>
            </a:extLst>
          </p:cNvPr>
          <p:cNvSpPr>
            <a:spLocks xmlns:a="http://schemas.openxmlformats.org/drawingml/2006/main" noGrp="1"/>
          </p:cNvSpPr>
          <p:nvPr/>
        </p:nvSpPr>
        <p:spPr>
          <a:xfrm xmlns:a="http://schemas.openxmlformats.org/drawingml/2006/main">
            <a:off x="0" y="6400800"/>
            <a:ext cx="171450" cy="4572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ECDD1127-A89A-419F-AB3B-2D79267E5241}"/>
              </a:ext>
            </a:extLst>
          </p:cNvPr>
          <p:cNvSpPr>
            <a:spLocks xmlns:a="http://schemas.openxmlformats.org/drawingml/2006/main" noGrp="1"/>
          </p:cNvSpPr>
          <p:nvPr/>
        </p:nvSpPr>
        <p:spPr>
          <a:xfrm xmlns:a="http://schemas.openxmlformats.org/drawingml/2006/main">
            <a:off x="171450" y="6400800"/>
            <a:ext cx="57150" cy="457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E377EE4A-AE1F-4389-BF0A-A162596D9DE6}"/>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9798A95A-A8A4-4CF9-9C57-D4BE5D6FD650}"/>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49" name="">
            <a:extLst xmlns:a="http://schemas.openxmlformats.org/drawingml/2006/main">
              <a:ext uri="{FF2B5EF4-FFF2-40B4-BE49-F238E27FC236}">
                <a16:creationId xmlns:a16="http://schemas.microsoft.com/office/drawing/2014/main" id="{3DBE90F9-2DD4-4CF2-8875-38063FAFE65E}"/>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50" name="">
            <a:extLst xmlns:a="http://schemas.openxmlformats.org/drawingml/2006/main">
              <a:ext uri="{FF2B5EF4-FFF2-40B4-BE49-F238E27FC236}">
                <a16:creationId xmlns:a16="http://schemas.microsoft.com/office/drawing/2014/main" id="{8C5E948A-1E46-40E9-98EA-4AD91A45C2F5}"/>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11/15</a:t>
            </a:r>
          </a:p>
        </p:txBody>
      </p:sp>
    </p:spTree>
    <p:extLst>
      <p:ext uri="{BB962C8B-B14F-4D97-AF65-F5344CB8AC3E}">
        <p14:creationId xmlns:p14="http://schemas.microsoft.com/office/powerpoint/2010/main" val="24110861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962084-8720-47C9-A0A7-BB79020A8A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5C78918-1D03-4A92-9FED-098804A2083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3DE5A24-3089-43A9-B161-0503D8111AA4}"/>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1-marker">
            <a:extLst xmlns:a="http://schemas.openxmlformats.org/drawingml/2006/main">
              <a:ext uri="{FF2B5EF4-FFF2-40B4-BE49-F238E27FC236}">
                <a16:creationId xmlns:a16="http://schemas.microsoft.com/office/drawing/2014/main" id="{B11523E6-BB02-4615-A88A-9BDC61F51B9D}"/>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1-label">
            <a:extLst xmlns:a="http://schemas.openxmlformats.org/drawingml/2006/main">
              <a:ext uri="{FF2B5EF4-FFF2-40B4-BE49-F238E27FC236}">
                <a16:creationId xmlns:a16="http://schemas.microsoft.com/office/drawing/2014/main" id="{3493129F-1634-4D55-8E35-FE14F48D6234}"/>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REVOPS TRANSLATION</a:t>
            </a:r>
          </a:p>
        </p:txBody>
      </p:sp>
      <p:sp>
        <p:nvSpPr>
          <p:cNvPr id="6" name="">
            <a:extLst xmlns:a="http://schemas.openxmlformats.org/drawingml/2006/main">
              <a:ext uri="{FF2B5EF4-FFF2-40B4-BE49-F238E27FC236}">
                <a16:creationId xmlns:a16="http://schemas.microsoft.com/office/drawing/2014/main" id="{555C651B-4576-4C4D-836F-21173920FE01}"/>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The diagnostic must become inspectable fields.</a:t>
            </a:r>
          </a:p>
        </p:txBody>
      </p:sp>
      <p:sp>
        <p:nvSpPr>
          <p:cNvPr id="7" name="">
            <a:extLst xmlns:a="http://schemas.openxmlformats.org/drawingml/2006/main">
              <a:ext uri="{FF2B5EF4-FFF2-40B4-BE49-F238E27FC236}">
                <a16:creationId xmlns:a16="http://schemas.microsoft.com/office/drawing/2014/main" id="{E08387C4-4A1A-4236-BBDD-9DB7EBCB5E05}"/>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Every artifact must become inspectable in a field, board, owner model, or cadence.</a:t>
            </a:r>
          </a:p>
        </p:txBody>
      </p:sp>
      <p:sp>
        <p:nvSpPr>
          <p:cNvPr id="8" name="">
            <a:extLst xmlns:a="http://schemas.openxmlformats.org/drawingml/2006/main">
              <a:ext uri="{FF2B5EF4-FFF2-40B4-BE49-F238E27FC236}">
                <a16:creationId xmlns:a16="http://schemas.microsoft.com/office/drawing/2014/main" id="{0D8D3BA0-CC58-4715-8DE7-EF4399423276}"/>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CFC3C75B-9840-4602-8D85-061D5566C8B9}"/>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10" name="">
            <a:extLst xmlns:a="http://schemas.openxmlformats.org/drawingml/2006/main">
              <a:ext uri="{FF2B5EF4-FFF2-40B4-BE49-F238E27FC236}">
                <a16:creationId xmlns:a16="http://schemas.microsoft.com/office/drawing/2014/main" id="{C9B3E463-D357-481B-8C65-426A6E120B43}"/>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11" name="">
            <a:extLst xmlns:a="http://schemas.openxmlformats.org/drawingml/2006/main">
              <a:ext uri="{FF2B5EF4-FFF2-40B4-BE49-F238E27FC236}">
                <a16:creationId xmlns:a16="http://schemas.microsoft.com/office/drawing/2014/main" id="{3702A5BE-7BA5-45FB-BBE0-3D2D3562A81D}"/>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12/15</a:t>
            </a:r>
          </a:p>
        </p:txBody>
      </p:sp>
      <p:sp>
        <p:nvSpPr>
          <p:cNvPr id="12" name="">
            <a:extLst xmlns:a="http://schemas.openxmlformats.org/drawingml/2006/main">
              <a:ext uri="{FF2B5EF4-FFF2-40B4-BE49-F238E27FC236}">
                <a16:creationId xmlns:a16="http://schemas.microsoft.com/office/drawing/2014/main" id="{6640A6C8-3F72-45BE-B6BF-31DA45484881}"/>
              </a:ext>
            </a:extLst>
          </p:cNvPr>
          <p:cNvSpPr>
            <a:spLocks xmlns:a="http://schemas.openxmlformats.org/drawingml/2006/main" noGrp="1"/>
          </p:cNvSpPr>
          <p:nvPr/>
        </p:nvSpPr>
        <p:spPr>
          <a:xfrm xmlns:a="http://schemas.openxmlformats.org/drawingml/2006/main">
            <a:off x="666750" y="2266950"/>
            <a:ext cx="3333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3" name="">
            <a:extLst xmlns:a="http://schemas.openxmlformats.org/drawingml/2006/main">
              <a:ext uri="{FF2B5EF4-FFF2-40B4-BE49-F238E27FC236}">
                <a16:creationId xmlns:a16="http://schemas.microsoft.com/office/drawing/2014/main" id="{643A30CA-1A2F-471A-A99E-2A849F7D5F21}"/>
              </a:ext>
            </a:extLst>
          </p:cNvPr>
          <p:cNvSpPr>
            <a:spLocks xmlns:a="http://schemas.openxmlformats.org/drawingml/2006/main" noGrp="1"/>
          </p:cNvSpPr>
          <p:nvPr/>
        </p:nvSpPr>
        <p:spPr>
          <a:xfrm xmlns:a="http://schemas.openxmlformats.org/drawingml/2006/main">
            <a:off x="666750" y="2266950"/>
            <a:ext cx="57150" cy="7048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A9705DBF-3091-4D36-83C3-4084A5D0B12C}"/>
              </a:ext>
            </a:extLst>
          </p:cNvPr>
          <p:cNvSpPr>
            <a:spLocks xmlns:a="http://schemas.openxmlformats.org/drawingml/2006/main" noGrp="1"/>
          </p:cNvSpPr>
          <p:nvPr/>
        </p:nvSpPr>
        <p:spPr>
          <a:xfrm xmlns:a="http://schemas.openxmlformats.org/drawingml/2006/main">
            <a:off x="876300" y="2438400"/>
            <a:ext cx="2933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72026"/>
                </a:solidFill>
                <a:latin typeface="Aptos"/>
                <a:ea typeface="Aptos"/>
                <a:cs typeface="Aptos"/>
              </a:defRPr>
            </a:pPr>
            <a:r>
              <a:rPr sz="1200" b="1">
                <a:solidFill>
                  <a:srgbClr val="172026"/>
                </a:solidFill>
                <a:latin typeface="Aptos"/>
                <a:ea typeface="Aptos"/>
                <a:cs typeface="Aptos"/>
              </a:rPr>
              <a:t>Account fit</a:t>
            </a:r>
          </a:p>
        </p:txBody>
      </p:sp>
      <p:sp>
        <p:nvSpPr>
          <p:cNvPr id="15" name="">
            <a:extLst xmlns:a="http://schemas.openxmlformats.org/drawingml/2006/main">
              <a:ext uri="{FF2B5EF4-FFF2-40B4-BE49-F238E27FC236}">
                <a16:creationId xmlns:a16="http://schemas.microsoft.com/office/drawing/2014/main" id="{9BB4959D-DD07-4DC4-8B0B-6DBBE9D55188}"/>
              </a:ext>
            </a:extLst>
          </p:cNvPr>
          <p:cNvSpPr>
            <a:spLocks xmlns:a="http://schemas.openxmlformats.org/drawingml/2006/main" noGrp="1"/>
          </p:cNvSpPr>
          <p:nvPr/>
        </p:nvSpPr>
        <p:spPr>
          <a:xfrm xmlns:a="http://schemas.openxmlformats.org/drawingml/2006/main">
            <a:off x="4305300" y="2266950"/>
            <a:ext cx="3333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6" name="">
            <a:extLst xmlns:a="http://schemas.openxmlformats.org/drawingml/2006/main">
              <a:ext uri="{FF2B5EF4-FFF2-40B4-BE49-F238E27FC236}">
                <a16:creationId xmlns:a16="http://schemas.microsoft.com/office/drawing/2014/main" id="{233668BC-E77F-4867-A6F6-504FDF0BA9AA}"/>
              </a:ext>
            </a:extLst>
          </p:cNvPr>
          <p:cNvSpPr>
            <a:spLocks xmlns:a="http://schemas.openxmlformats.org/drawingml/2006/main" noGrp="1"/>
          </p:cNvSpPr>
          <p:nvPr/>
        </p:nvSpPr>
        <p:spPr>
          <a:xfrm xmlns:a="http://schemas.openxmlformats.org/drawingml/2006/main">
            <a:off x="4305300" y="2266950"/>
            <a:ext cx="57150" cy="7048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3ED46D52-8C39-4663-BA62-CA4840803173}"/>
              </a:ext>
            </a:extLst>
          </p:cNvPr>
          <p:cNvSpPr>
            <a:spLocks xmlns:a="http://schemas.openxmlformats.org/drawingml/2006/main" noGrp="1"/>
          </p:cNvSpPr>
          <p:nvPr/>
        </p:nvSpPr>
        <p:spPr>
          <a:xfrm xmlns:a="http://schemas.openxmlformats.org/drawingml/2006/main">
            <a:off x="4514850" y="2438400"/>
            <a:ext cx="2933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72026"/>
                </a:solidFill>
                <a:latin typeface="Aptos"/>
                <a:ea typeface="Aptos"/>
                <a:cs typeface="Aptos"/>
              </a:defRPr>
            </a:pPr>
            <a:r>
              <a:rPr sz="1200" b="1">
                <a:solidFill>
                  <a:srgbClr val="172026"/>
                </a:solidFill>
                <a:latin typeface="Aptos"/>
                <a:ea typeface="Aptos"/>
                <a:cs typeface="Aptos"/>
              </a:rPr>
              <a:t>Demand state</a:t>
            </a:r>
          </a:p>
        </p:txBody>
      </p:sp>
      <p:sp>
        <p:nvSpPr>
          <p:cNvPr id="18" name="">
            <a:extLst xmlns:a="http://schemas.openxmlformats.org/drawingml/2006/main">
              <a:ext uri="{FF2B5EF4-FFF2-40B4-BE49-F238E27FC236}">
                <a16:creationId xmlns:a16="http://schemas.microsoft.com/office/drawing/2014/main" id="{CD375EB8-7ACF-4E9C-908A-54E3E2510811}"/>
              </a:ext>
            </a:extLst>
          </p:cNvPr>
          <p:cNvSpPr>
            <a:spLocks xmlns:a="http://schemas.openxmlformats.org/drawingml/2006/main" noGrp="1"/>
          </p:cNvSpPr>
          <p:nvPr/>
        </p:nvSpPr>
        <p:spPr>
          <a:xfrm xmlns:a="http://schemas.openxmlformats.org/drawingml/2006/main">
            <a:off x="7943850" y="2266950"/>
            <a:ext cx="3333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9" name="">
            <a:extLst xmlns:a="http://schemas.openxmlformats.org/drawingml/2006/main">
              <a:ext uri="{FF2B5EF4-FFF2-40B4-BE49-F238E27FC236}">
                <a16:creationId xmlns:a16="http://schemas.microsoft.com/office/drawing/2014/main" id="{BCFFF83B-1F8F-4584-9762-66F9D3CC8AD8}"/>
              </a:ext>
            </a:extLst>
          </p:cNvPr>
          <p:cNvSpPr>
            <a:spLocks xmlns:a="http://schemas.openxmlformats.org/drawingml/2006/main" noGrp="1"/>
          </p:cNvSpPr>
          <p:nvPr/>
        </p:nvSpPr>
        <p:spPr>
          <a:xfrm xmlns:a="http://schemas.openxmlformats.org/drawingml/2006/main">
            <a:off x="7943850" y="2266950"/>
            <a:ext cx="57150" cy="704850"/>
          </a:xfrm>
          <a:prstGeom xmlns:a="http://schemas.openxmlformats.org/drawingml/2006/main" prst="rect">
            <a:avLst/>
          </a:prstGeom>
          <a:solidFill xmlns:a="http://schemas.openxmlformats.org/drawingml/2006/main">
            <a:srgbClr val="667A39"/>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1313D9AA-744F-4EDE-AD75-8C806467FCDA}"/>
              </a:ext>
            </a:extLst>
          </p:cNvPr>
          <p:cNvSpPr>
            <a:spLocks xmlns:a="http://schemas.openxmlformats.org/drawingml/2006/main" noGrp="1"/>
          </p:cNvSpPr>
          <p:nvPr/>
        </p:nvSpPr>
        <p:spPr>
          <a:xfrm xmlns:a="http://schemas.openxmlformats.org/drawingml/2006/main">
            <a:off x="8153400" y="2438400"/>
            <a:ext cx="2933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72026"/>
                </a:solidFill>
                <a:latin typeface="Aptos"/>
                <a:ea typeface="Aptos"/>
                <a:cs typeface="Aptos"/>
              </a:defRPr>
            </a:pPr>
            <a:r>
              <a:rPr sz="1200" b="1">
                <a:solidFill>
                  <a:srgbClr val="172026"/>
                </a:solidFill>
                <a:latin typeface="Aptos"/>
                <a:ea typeface="Aptos"/>
                <a:cs typeface="Aptos"/>
              </a:rPr>
              <a:t>Signal source and strength</a:t>
            </a:r>
          </a:p>
        </p:txBody>
      </p:sp>
      <p:sp>
        <p:nvSpPr>
          <p:cNvPr id="21" name="">
            <a:extLst xmlns:a="http://schemas.openxmlformats.org/drawingml/2006/main">
              <a:ext uri="{FF2B5EF4-FFF2-40B4-BE49-F238E27FC236}">
                <a16:creationId xmlns:a16="http://schemas.microsoft.com/office/drawing/2014/main" id="{76A1FF73-EBD4-467D-B4E1-1724897A8A64}"/>
              </a:ext>
            </a:extLst>
          </p:cNvPr>
          <p:cNvSpPr>
            <a:spLocks xmlns:a="http://schemas.openxmlformats.org/drawingml/2006/main" noGrp="1"/>
          </p:cNvSpPr>
          <p:nvPr/>
        </p:nvSpPr>
        <p:spPr>
          <a:xfrm xmlns:a="http://schemas.openxmlformats.org/drawingml/2006/main">
            <a:off x="666750" y="3162300"/>
            <a:ext cx="3333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22" name="">
            <a:extLst xmlns:a="http://schemas.openxmlformats.org/drawingml/2006/main">
              <a:ext uri="{FF2B5EF4-FFF2-40B4-BE49-F238E27FC236}">
                <a16:creationId xmlns:a16="http://schemas.microsoft.com/office/drawing/2014/main" id="{45849FBC-F820-4CE5-B948-09FAA4D48116}"/>
              </a:ext>
            </a:extLst>
          </p:cNvPr>
          <p:cNvSpPr>
            <a:spLocks xmlns:a="http://schemas.openxmlformats.org/drawingml/2006/main" noGrp="1"/>
          </p:cNvSpPr>
          <p:nvPr/>
        </p:nvSpPr>
        <p:spPr>
          <a:xfrm xmlns:a="http://schemas.openxmlformats.org/drawingml/2006/main">
            <a:off x="666750" y="3162300"/>
            <a:ext cx="57150" cy="7048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695FC813-D178-46E8-B939-3B4DDD050453}"/>
              </a:ext>
            </a:extLst>
          </p:cNvPr>
          <p:cNvSpPr>
            <a:spLocks xmlns:a="http://schemas.openxmlformats.org/drawingml/2006/main" noGrp="1"/>
          </p:cNvSpPr>
          <p:nvPr/>
        </p:nvSpPr>
        <p:spPr>
          <a:xfrm xmlns:a="http://schemas.openxmlformats.org/drawingml/2006/main">
            <a:off x="876300" y="3333750"/>
            <a:ext cx="2933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72026"/>
                </a:solidFill>
                <a:latin typeface="Aptos"/>
                <a:ea typeface="Aptos"/>
                <a:cs typeface="Aptos"/>
              </a:defRPr>
            </a:pPr>
            <a:r>
              <a:rPr sz="1200" b="1">
                <a:solidFill>
                  <a:srgbClr val="172026"/>
                </a:solidFill>
                <a:latin typeface="Aptos"/>
                <a:ea typeface="Aptos"/>
                <a:cs typeface="Aptos"/>
              </a:rPr>
              <a:t>Buying role</a:t>
            </a:r>
          </a:p>
        </p:txBody>
      </p:sp>
      <p:sp>
        <p:nvSpPr>
          <p:cNvPr id="24" name="">
            <a:extLst xmlns:a="http://schemas.openxmlformats.org/drawingml/2006/main">
              <a:ext uri="{FF2B5EF4-FFF2-40B4-BE49-F238E27FC236}">
                <a16:creationId xmlns:a16="http://schemas.microsoft.com/office/drawing/2014/main" id="{1024F79A-D3FF-440B-807C-2167A0A99547}"/>
              </a:ext>
            </a:extLst>
          </p:cNvPr>
          <p:cNvSpPr>
            <a:spLocks xmlns:a="http://schemas.openxmlformats.org/drawingml/2006/main" noGrp="1"/>
          </p:cNvSpPr>
          <p:nvPr/>
        </p:nvSpPr>
        <p:spPr>
          <a:xfrm xmlns:a="http://schemas.openxmlformats.org/drawingml/2006/main">
            <a:off x="4305300" y="3162300"/>
            <a:ext cx="3333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25" name="">
            <a:extLst xmlns:a="http://schemas.openxmlformats.org/drawingml/2006/main">
              <a:ext uri="{FF2B5EF4-FFF2-40B4-BE49-F238E27FC236}">
                <a16:creationId xmlns:a16="http://schemas.microsoft.com/office/drawing/2014/main" id="{46AF13A1-797A-46DF-A49F-0339A0C9D0B2}"/>
              </a:ext>
            </a:extLst>
          </p:cNvPr>
          <p:cNvSpPr>
            <a:spLocks xmlns:a="http://schemas.openxmlformats.org/drawingml/2006/main" noGrp="1"/>
          </p:cNvSpPr>
          <p:nvPr/>
        </p:nvSpPr>
        <p:spPr>
          <a:xfrm xmlns:a="http://schemas.openxmlformats.org/drawingml/2006/main">
            <a:off x="4305300" y="3162300"/>
            <a:ext cx="57150" cy="7048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081E7BB9-11FB-4E30-800C-B47DA7515C64}"/>
              </a:ext>
            </a:extLst>
          </p:cNvPr>
          <p:cNvSpPr>
            <a:spLocks xmlns:a="http://schemas.openxmlformats.org/drawingml/2006/main" noGrp="1"/>
          </p:cNvSpPr>
          <p:nvPr/>
        </p:nvSpPr>
        <p:spPr>
          <a:xfrm xmlns:a="http://schemas.openxmlformats.org/drawingml/2006/main">
            <a:off x="4514850" y="3333750"/>
            <a:ext cx="2933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72026"/>
                </a:solidFill>
                <a:latin typeface="Aptos"/>
                <a:ea typeface="Aptos"/>
                <a:cs typeface="Aptos"/>
              </a:defRPr>
            </a:pPr>
            <a:r>
              <a:rPr sz="1200" b="1">
                <a:solidFill>
                  <a:srgbClr val="172026"/>
                </a:solidFill>
                <a:latin typeface="Aptos"/>
                <a:ea typeface="Aptos"/>
                <a:cs typeface="Aptos"/>
              </a:rPr>
              <a:t>Progression state</a:t>
            </a:r>
          </a:p>
        </p:txBody>
      </p:sp>
      <p:sp>
        <p:nvSpPr>
          <p:cNvPr id="27" name="">
            <a:extLst xmlns:a="http://schemas.openxmlformats.org/drawingml/2006/main">
              <a:ext uri="{FF2B5EF4-FFF2-40B4-BE49-F238E27FC236}">
                <a16:creationId xmlns:a16="http://schemas.microsoft.com/office/drawing/2014/main" id="{F0411E7C-D10E-4B35-A203-B81F31D15BE4}"/>
              </a:ext>
            </a:extLst>
          </p:cNvPr>
          <p:cNvSpPr>
            <a:spLocks xmlns:a="http://schemas.openxmlformats.org/drawingml/2006/main" noGrp="1"/>
          </p:cNvSpPr>
          <p:nvPr/>
        </p:nvSpPr>
        <p:spPr>
          <a:xfrm xmlns:a="http://schemas.openxmlformats.org/drawingml/2006/main">
            <a:off x="7943850" y="3162300"/>
            <a:ext cx="3333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28" name="">
            <a:extLst xmlns:a="http://schemas.openxmlformats.org/drawingml/2006/main">
              <a:ext uri="{FF2B5EF4-FFF2-40B4-BE49-F238E27FC236}">
                <a16:creationId xmlns:a16="http://schemas.microsoft.com/office/drawing/2014/main" id="{99A32E8C-1BA4-4843-B860-3FBB0244DCE3}"/>
              </a:ext>
            </a:extLst>
          </p:cNvPr>
          <p:cNvSpPr>
            <a:spLocks xmlns:a="http://schemas.openxmlformats.org/drawingml/2006/main" noGrp="1"/>
          </p:cNvSpPr>
          <p:nvPr/>
        </p:nvSpPr>
        <p:spPr>
          <a:xfrm xmlns:a="http://schemas.openxmlformats.org/drawingml/2006/main">
            <a:off x="7943850" y="3162300"/>
            <a:ext cx="57150" cy="704850"/>
          </a:xfrm>
          <a:prstGeom xmlns:a="http://schemas.openxmlformats.org/drawingml/2006/main" prst="rect">
            <a:avLst/>
          </a:prstGeom>
          <a:solidFill xmlns:a="http://schemas.openxmlformats.org/drawingml/2006/main">
            <a:srgbClr val="667A39"/>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595816E5-B010-4E1C-A59C-677D3ADB022B}"/>
              </a:ext>
            </a:extLst>
          </p:cNvPr>
          <p:cNvSpPr>
            <a:spLocks xmlns:a="http://schemas.openxmlformats.org/drawingml/2006/main" noGrp="1"/>
          </p:cNvSpPr>
          <p:nvPr/>
        </p:nvSpPr>
        <p:spPr>
          <a:xfrm xmlns:a="http://schemas.openxmlformats.org/drawingml/2006/main">
            <a:off x="8153400" y="3333750"/>
            <a:ext cx="2933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1">
                <a:solidFill>
                  <a:srgbClr val="172026"/>
                </a:solidFill>
                <a:latin typeface="Aptos"/>
                <a:ea typeface="Aptos"/>
                <a:cs typeface="Aptos"/>
              </a:defRPr>
            </a:pPr>
            <a:r>
              <a:rPr sz="1200" b="1">
                <a:solidFill>
                  <a:srgbClr val="172026"/>
                </a:solidFill>
                <a:latin typeface="Aptos"/>
                <a:ea typeface="Aptos"/>
                <a:cs typeface="Aptos"/>
              </a:rPr>
              <a:t>Owner, SLA, and next action</a:t>
            </a:r>
          </a:p>
        </p:txBody>
      </p:sp>
      <p:sp>
        <p:nvSpPr>
          <p:cNvPr id="30" name="">
            <a:extLst xmlns:a="http://schemas.openxmlformats.org/drawingml/2006/main">
              <a:ext uri="{FF2B5EF4-FFF2-40B4-BE49-F238E27FC236}">
                <a16:creationId xmlns:a16="http://schemas.microsoft.com/office/drawing/2014/main" id="{B4018EEF-BD83-4263-B165-0F133E9D5FBC}"/>
              </a:ext>
            </a:extLst>
          </p:cNvPr>
          <p:cNvSpPr>
            <a:spLocks xmlns:a="http://schemas.openxmlformats.org/drawingml/2006/main" noGrp="1"/>
          </p:cNvSpPr>
          <p:nvPr/>
        </p:nvSpPr>
        <p:spPr>
          <a:xfrm xmlns:a="http://schemas.openxmlformats.org/drawingml/2006/main">
            <a:off x="8782050" y="5353050"/>
            <a:ext cx="2647950" cy="83820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31" name="">
            <a:extLst xmlns:a="http://schemas.openxmlformats.org/drawingml/2006/main">
              <a:ext uri="{FF2B5EF4-FFF2-40B4-BE49-F238E27FC236}">
                <a16:creationId xmlns:a16="http://schemas.microsoft.com/office/drawing/2014/main" id="{23D8DB72-20C2-4E30-9CC1-22537A0ADC21}"/>
              </a:ext>
            </a:extLst>
          </p:cNvPr>
          <p:cNvSpPr>
            <a:spLocks xmlns:a="http://schemas.openxmlformats.org/drawingml/2006/main" noGrp="1"/>
          </p:cNvSpPr>
          <p:nvPr/>
        </p:nvSpPr>
        <p:spPr>
          <a:xfrm xmlns:a="http://schemas.openxmlformats.org/drawingml/2006/main">
            <a:off x="8972550" y="550545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AFC3C8"/>
                </a:solidFill>
                <a:latin typeface="Aptos"/>
                <a:ea typeface="Aptos"/>
                <a:cs typeface="Aptos"/>
              </a:defRPr>
            </a:pPr>
            <a:r>
              <a:rPr sz="675" b="1">
                <a:solidFill>
                  <a:srgbClr val="AFC3C8"/>
                </a:solidFill>
                <a:latin typeface="Aptos"/>
                <a:ea typeface="Aptos"/>
                <a:cs typeface="Aptos"/>
              </a:rPr>
              <a:t>INSTRUCTOR CUE</a:t>
            </a:r>
          </a:p>
        </p:txBody>
      </p:sp>
      <p:sp>
        <p:nvSpPr>
          <p:cNvPr id="32" name="">
            <a:extLst xmlns:a="http://schemas.openxmlformats.org/drawingml/2006/main">
              <a:ext uri="{FF2B5EF4-FFF2-40B4-BE49-F238E27FC236}">
                <a16:creationId xmlns:a16="http://schemas.microsoft.com/office/drawing/2014/main" id="{71E8A442-DF49-4C36-B649-27E38853E1BD}"/>
              </a:ext>
            </a:extLst>
          </p:cNvPr>
          <p:cNvSpPr>
            <a:spLocks xmlns:a="http://schemas.openxmlformats.org/drawingml/2006/main" noGrp="1"/>
          </p:cNvSpPr>
          <p:nvPr/>
        </p:nvSpPr>
        <p:spPr>
          <a:xfrm xmlns:a="http://schemas.openxmlformats.org/drawingml/2006/main">
            <a:off x="8972550" y="5676900"/>
            <a:ext cx="2190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FFFFF"/>
                </a:solidFill>
                <a:latin typeface="Aptos"/>
                <a:ea typeface="Aptos"/>
                <a:cs typeface="Aptos"/>
              </a:defRPr>
            </a:pPr>
            <a:r>
              <a:rPr sz="975" b="0">
                <a:solidFill>
                  <a:srgbClr val="FFFFFF"/>
                </a:solidFill>
                <a:latin typeface="Aptos"/>
                <a:ea typeface="Aptos"/>
                <a:cs typeface="Aptos"/>
              </a:rPr>
              <a:t>If it cannot be tracked, it is not operational yet.</a:t>
            </a:r>
          </a:p>
        </p:txBody>
      </p:sp>
      <p:sp>
        <p:nvSpPr>
          <p:cNvPr id="33" name="">
            <a:extLst xmlns:a="http://schemas.openxmlformats.org/drawingml/2006/main">
              <a:ext uri="{FF2B5EF4-FFF2-40B4-BE49-F238E27FC236}">
                <a16:creationId xmlns:a16="http://schemas.microsoft.com/office/drawing/2014/main" id="{61FE7765-12D1-43FC-9C17-877B1DD7534F}"/>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7349E8C3-CF5A-4EC0-A5BC-F60EF4370908}"/>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35" name="">
            <a:extLst xmlns:a="http://schemas.openxmlformats.org/drawingml/2006/main">
              <a:ext uri="{FF2B5EF4-FFF2-40B4-BE49-F238E27FC236}">
                <a16:creationId xmlns:a16="http://schemas.microsoft.com/office/drawing/2014/main" id="{D2521B93-F7FB-4C4D-824D-BCF32B9793E8}"/>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36" name="">
            <a:extLst xmlns:a="http://schemas.openxmlformats.org/drawingml/2006/main">
              <a:ext uri="{FF2B5EF4-FFF2-40B4-BE49-F238E27FC236}">
                <a16:creationId xmlns:a16="http://schemas.microsoft.com/office/drawing/2014/main" id="{BE3E77E6-2F05-4D46-8C47-1561078B575D}"/>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12/15</a:t>
            </a:r>
          </a:p>
        </p:txBody>
      </p:sp>
    </p:spTree>
    <p:extLst>
      <p:ext uri="{BB962C8B-B14F-4D97-AF65-F5344CB8AC3E}">
        <p14:creationId xmlns:p14="http://schemas.microsoft.com/office/powerpoint/2010/main" val="167179593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6D22C1A-8E1D-4A7F-8749-0CF20A331E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30162A7-D5D6-4086-80C5-6F56FEC0E56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BEDCA13-DF58-4AA1-9D0B-2F7877EFAAD9}"/>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1-marker">
            <a:extLst xmlns:a="http://schemas.openxmlformats.org/drawingml/2006/main">
              <a:ext uri="{FF2B5EF4-FFF2-40B4-BE49-F238E27FC236}">
                <a16:creationId xmlns:a16="http://schemas.microsoft.com/office/drawing/2014/main" id="{3ED1631E-D6CB-43B5-9BC1-26AB677C2FF5}"/>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1-label">
            <a:extLst xmlns:a="http://schemas.openxmlformats.org/drawingml/2006/main">
              <a:ext uri="{FF2B5EF4-FFF2-40B4-BE49-F238E27FC236}">
                <a16:creationId xmlns:a16="http://schemas.microsoft.com/office/drawing/2014/main" id="{A708E9C0-359E-4EC1-8C22-AC2DFBA255E9}"/>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FAILURE MODES</a:t>
            </a:r>
          </a:p>
        </p:txBody>
      </p:sp>
      <p:sp>
        <p:nvSpPr>
          <p:cNvPr id="6" name="">
            <a:extLst xmlns:a="http://schemas.openxmlformats.org/drawingml/2006/main">
              <a:ext uri="{FF2B5EF4-FFF2-40B4-BE49-F238E27FC236}">
                <a16:creationId xmlns:a16="http://schemas.microsoft.com/office/drawing/2014/main" id="{E92D664A-D992-4D7E-B7ED-FC5D454E2057}"/>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Name the anti-pattern before it becomes field behavior.</a:t>
            </a:r>
          </a:p>
        </p:txBody>
      </p:sp>
      <p:sp>
        <p:nvSpPr>
          <p:cNvPr id="7" name="">
            <a:extLst xmlns:a="http://schemas.openxmlformats.org/drawingml/2006/main">
              <a:ext uri="{FF2B5EF4-FFF2-40B4-BE49-F238E27FC236}">
                <a16:creationId xmlns:a16="http://schemas.microsoft.com/office/drawing/2014/main" id="{DBC168D1-9274-4B2D-BDFD-DD1311E0ECF8}"/>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Use this slide to make weak work easier to reject in the moment.</a:t>
            </a:r>
          </a:p>
        </p:txBody>
      </p:sp>
      <p:sp>
        <p:nvSpPr>
          <p:cNvPr id="8" name="">
            <a:extLst xmlns:a="http://schemas.openxmlformats.org/drawingml/2006/main">
              <a:ext uri="{FF2B5EF4-FFF2-40B4-BE49-F238E27FC236}">
                <a16:creationId xmlns:a16="http://schemas.microsoft.com/office/drawing/2014/main" id="{A7B9FAED-410B-45BD-B0A7-F492D3881424}"/>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7920F2F-2B22-4105-9871-68D1ADB91ADD}"/>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10" name="">
            <a:extLst xmlns:a="http://schemas.openxmlformats.org/drawingml/2006/main">
              <a:ext uri="{FF2B5EF4-FFF2-40B4-BE49-F238E27FC236}">
                <a16:creationId xmlns:a16="http://schemas.microsoft.com/office/drawing/2014/main" id="{EE5287CC-B344-4784-88E3-C65F16BD6C53}"/>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11" name="">
            <a:extLst xmlns:a="http://schemas.openxmlformats.org/drawingml/2006/main">
              <a:ext uri="{FF2B5EF4-FFF2-40B4-BE49-F238E27FC236}">
                <a16:creationId xmlns:a16="http://schemas.microsoft.com/office/drawing/2014/main" id="{FA73CD2A-2D6A-4DD7-B89D-A61F0D012FB6}"/>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13/15</a:t>
            </a:r>
          </a:p>
        </p:txBody>
      </p:sp>
      <p:sp>
        <p:nvSpPr>
          <p:cNvPr id="12" name="">
            <a:extLst xmlns:a="http://schemas.openxmlformats.org/drawingml/2006/main">
              <a:ext uri="{FF2B5EF4-FFF2-40B4-BE49-F238E27FC236}">
                <a16:creationId xmlns:a16="http://schemas.microsoft.com/office/drawing/2014/main" id="{0EF271A8-980B-47ED-AD14-B9BB60D602E6}"/>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970ED490-2A51-488C-A1DA-49C4DB2E6D00}"/>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4" name="">
            <a:extLst xmlns:a="http://schemas.openxmlformats.org/drawingml/2006/main">
              <a:ext uri="{FF2B5EF4-FFF2-40B4-BE49-F238E27FC236}">
                <a16:creationId xmlns:a16="http://schemas.microsoft.com/office/drawing/2014/main" id="{340E8E0C-0417-40A9-8660-C26EF9273211}"/>
              </a:ext>
            </a:extLst>
          </p:cNvPr>
          <p:cNvSpPr>
            <a:spLocks xmlns:a="http://schemas.openxmlformats.org/drawingml/2006/main" noGrp="1"/>
          </p:cNvSpPr>
          <p:nvPr/>
        </p:nvSpPr>
        <p:spPr>
          <a:xfrm xmlns:a="http://schemas.openxmlformats.org/drawingml/2006/main">
            <a:off x="228600" y="1809750"/>
            <a:ext cx="11963400" cy="40005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15" name="">
            <a:extLst xmlns:a="http://schemas.openxmlformats.org/drawingml/2006/main">
              <a:ext uri="{FF2B5EF4-FFF2-40B4-BE49-F238E27FC236}">
                <a16:creationId xmlns:a16="http://schemas.microsoft.com/office/drawing/2014/main" id="{2AA04529-32A9-4B10-8955-90EFB9E04E76}"/>
              </a:ext>
            </a:extLst>
          </p:cNvPr>
          <p:cNvSpPr>
            <a:spLocks xmlns:a="http://schemas.openxmlformats.org/drawingml/2006/main" noGrp="1"/>
          </p:cNvSpPr>
          <p:nvPr/>
        </p:nvSpPr>
        <p:spPr>
          <a:xfrm xmlns:a="http://schemas.openxmlformats.org/drawingml/2006/main">
            <a:off x="438150" y="19240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Failure mode</a:t>
            </a:r>
          </a:p>
        </p:txBody>
      </p:sp>
      <p:sp>
        <p:nvSpPr>
          <p:cNvPr id="16" name="">
            <a:extLst xmlns:a="http://schemas.openxmlformats.org/drawingml/2006/main">
              <a:ext uri="{FF2B5EF4-FFF2-40B4-BE49-F238E27FC236}">
                <a16:creationId xmlns:a16="http://schemas.microsoft.com/office/drawing/2014/main" id="{68F0ED15-3D4C-45B3-9542-656626CE478C}"/>
              </a:ext>
            </a:extLst>
          </p:cNvPr>
          <p:cNvSpPr>
            <a:spLocks xmlns:a="http://schemas.openxmlformats.org/drawingml/2006/main" noGrp="1"/>
          </p:cNvSpPr>
          <p:nvPr/>
        </p:nvSpPr>
        <p:spPr>
          <a:xfrm xmlns:a="http://schemas.openxmlformats.org/drawingml/2006/main">
            <a:off x="3371850" y="1924050"/>
            <a:ext cx="2762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What it looks like</a:t>
            </a:r>
          </a:p>
        </p:txBody>
      </p:sp>
      <p:sp>
        <p:nvSpPr>
          <p:cNvPr id="17" name="">
            <a:extLst xmlns:a="http://schemas.openxmlformats.org/drawingml/2006/main">
              <a:ext uri="{FF2B5EF4-FFF2-40B4-BE49-F238E27FC236}">
                <a16:creationId xmlns:a16="http://schemas.microsoft.com/office/drawing/2014/main" id="{BEF786C1-AD19-4225-83D4-57AFA79C798A}"/>
              </a:ext>
            </a:extLst>
          </p:cNvPr>
          <p:cNvSpPr>
            <a:spLocks xmlns:a="http://schemas.openxmlformats.org/drawingml/2006/main" noGrp="1"/>
          </p:cNvSpPr>
          <p:nvPr/>
        </p:nvSpPr>
        <p:spPr>
          <a:xfrm xmlns:a="http://schemas.openxmlformats.org/drawingml/2006/main">
            <a:off x="6896100" y="19240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Correction</a:t>
            </a:r>
          </a:p>
        </p:txBody>
      </p:sp>
      <p:sp>
        <p:nvSpPr>
          <p:cNvPr id="18" name="">
            <a:extLst xmlns:a="http://schemas.openxmlformats.org/drawingml/2006/main">
              <a:ext uri="{FF2B5EF4-FFF2-40B4-BE49-F238E27FC236}">
                <a16:creationId xmlns:a16="http://schemas.microsoft.com/office/drawing/2014/main" id="{794C242A-6BF5-425C-AD89-FD59FD348D09}"/>
              </a:ext>
            </a:extLst>
          </p:cNvPr>
          <p:cNvSpPr>
            <a:spLocks xmlns:a="http://schemas.openxmlformats.org/drawingml/2006/main" noGrp="1"/>
          </p:cNvSpPr>
          <p:nvPr/>
        </p:nvSpPr>
        <p:spPr>
          <a:xfrm xmlns:a="http://schemas.openxmlformats.org/drawingml/2006/main">
            <a:off x="228600" y="2209800"/>
            <a:ext cx="1196340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CD79E8F4-A8ED-49AF-AA25-D3A0E78C7408}"/>
              </a:ext>
            </a:extLst>
          </p:cNvPr>
          <p:cNvSpPr>
            <a:spLocks xmlns:a="http://schemas.openxmlformats.org/drawingml/2006/main" noGrp="1"/>
          </p:cNvSpPr>
          <p:nvPr/>
        </p:nvSpPr>
        <p:spPr>
          <a:xfrm xmlns:a="http://schemas.openxmlformats.org/drawingml/2006/main">
            <a:off x="438150" y="23812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6"/>
                </a:solidFill>
                <a:latin typeface="Aptos"/>
                <a:ea typeface="Aptos"/>
                <a:cs typeface="Aptos"/>
              </a:defRPr>
            </a:pPr>
            <a:r>
              <a:rPr sz="1125" b="1">
                <a:solidFill>
                  <a:srgbClr val="172026"/>
                </a:solidFill>
                <a:latin typeface="Aptos"/>
                <a:ea typeface="Aptos"/>
                <a:cs typeface="Aptos"/>
              </a:rPr>
              <a:t>Lead-gen disguise</a:t>
            </a:r>
          </a:p>
        </p:txBody>
      </p:sp>
      <p:sp>
        <p:nvSpPr>
          <p:cNvPr id="20" name="">
            <a:extLst xmlns:a="http://schemas.openxmlformats.org/drawingml/2006/main">
              <a:ext uri="{FF2B5EF4-FFF2-40B4-BE49-F238E27FC236}">
                <a16:creationId xmlns:a16="http://schemas.microsoft.com/office/drawing/2014/main" id="{7DFF2DDB-D869-470E-BBB5-AF3CBD2E8D14}"/>
              </a:ext>
            </a:extLst>
          </p:cNvPr>
          <p:cNvSpPr>
            <a:spLocks xmlns:a="http://schemas.openxmlformats.org/drawingml/2006/main" noGrp="1"/>
          </p:cNvSpPr>
          <p:nvPr/>
        </p:nvSpPr>
        <p:spPr>
          <a:xfrm xmlns:a="http://schemas.openxmlformats.org/drawingml/2006/main">
            <a:off x="3371850" y="2381250"/>
            <a:ext cx="285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9646A"/>
                </a:solidFill>
                <a:latin typeface="Aptos"/>
                <a:ea typeface="Aptos"/>
                <a:cs typeface="Aptos"/>
              </a:defRPr>
            </a:pPr>
            <a:r>
              <a:rPr sz="1050" b="0">
                <a:solidFill>
                  <a:srgbClr val="59646A"/>
                </a:solidFill>
                <a:latin typeface="Aptos"/>
                <a:ea typeface="Aptos"/>
                <a:cs typeface="Aptos"/>
              </a:rPr>
              <a:t>Forms and MQLs dominate</a:t>
            </a:r>
          </a:p>
        </p:txBody>
      </p:sp>
      <p:sp>
        <p:nvSpPr>
          <p:cNvPr id="21" name="">
            <a:extLst xmlns:a="http://schemas.openxmlformats.org/drawingml/2006/main">
              <a:ext uri="{FF2B5EF4-FFF2-40B4-BE49-F238E27FC236}">
                <a16:creationId xmlns:a16="http://schemas.microsoft.com/office/drawing/2014/main" id="{3FD26EA9-4510-4D14-9020-5F105E1A74A8}"/>
              </a:ext>
            </a:extLst>
          </p:cNvPr>
          <p:cNvSpPr>
            <a:spLocks xmlns:a="http://schemas.openxmlformats.org/drawingml/2006/main" noGrp="1"/>
          </p:cNvSpPr>
          <p:nvPr/>
        </p:nvSpPr>
        <p:spPr>
          <a:xfrm xmlns:a="http://schemas.openxmlformats.org/drawingml/2006/main">
            <a:off x="6896100" y="238125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72026"/>
                </a:solidFill>
                <a:latin typeface="Aptos"/>
                <a:ea typeface="Aptos"/>
                <a:cs typeface="Aptos"/>
              </a:defRPr>
            </a:pPr>
            <a:r>
              <a:rPr sz="1050" b="0">
                <a:solidFill>
                  <a:srgbClr val="172026"/>
                </a:solidFill>
                <a:latin typeface="Aptos"/>
                <a:ea typeface="Aptos"/>
                <a:cs typeface="Aptos"/>
              </a:rPr>
              <a:t>Reset around account movement</a:t>
            </a:r>
          </a:p>
        </p:txBody>
      </p:sp>
      <p:sp>
        <p:nvSpPr>
          <p:cNvPr id="22" name="">
            <a:extLst xmlns:a="http://schemas.openxmlformats.org/drawingml/2006/main">
              <a:ext uri="{FF2B5EF4-FFF2-40B4-BE49-F238E27FC236}">
                <a16:creationId xmlns:a16="http://schemas.microsoft.com/office/drawing/2014/main" id="{E5534546-9640-4BD1-8557-6CE20A2F2207}"/>
              </a:ext>
            </a:extLst>
          </p:cNvPr>
          <p:cNvSpPr>
            <a:spLocks xmlns:a="http://schemas.openxmlformats.org/drawingml/2006/main" noGrp="1"/>
          </p:cNvSpPr>
          <p:nvPr/>
        </p:nvSpPr>
        <p:spPr>
          <a:xfrm xmlns:a="http://schemas.openxmlformats.org/drawingml/2006/main">
            <a:off x="228600" y="2933700"/>
            <a:ext cx="11963400" cy="723900"/>
          </a:xfrm>
          <a:prstGeom xmlns:a="http://schemas.openxmlformats.org/drawingml/2006/main" prst="rect">
            <a:avLst/>
          </a:prstGeom>
          <a:solidFill xmlns:a="http://schemas.openxmlformats.org/drawingml/2006/main">
            <a:srgbClr val="FAFBF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E8EEE9B0-729C-4DC2-A50E-7A983AB374CF}"/>
              </a:ext>
            </a:extLst>
          </p:cNvPr>
          <p:cNvSpPr>
            <a:spLocks xmlns:a="http://schemas.openxmlformats.org/drawingml/2006/main" noGrp="1"/>
          </p:cNvSpPr>
          <p:nvPr/>
        </p:nvSpPr>
        <p:spPr>
          <a:xfrm xmlns:a="http://schemas.openxmlformats.org/drawingml/2006/main">
            <a:off x="228600" y="2933700"/>
            <a:ext cx="1196340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8EA09DD2-EC53-4914-8D61-C2171AE85F07}"/>
              </a:ext>
            </a:extLst>
          </p:cNvPr>
          <p:cNvSpPr>
            <a:spLocks xmlns:a="http://schemas.openxmlformats.org/drawingml/2006/main" noGrp="1"/>
          </p:cNvSpPr>
          <p:nvPr/>
        </p:nvSpPr>
        <p:spPr>
          <a:xfrm xmlns:a="http://schemas.openxmlformats.org/drawingml/2006/main">
            <a:off x="438150" y="31051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6"/>
                </a:solidFill>
                <a:latin typeface="Aptos"/>
                <a:ea typeface="Aptos"/>
                <a:cs typeface="Aptos"/>
              </a:defRPr>
            </a:pPr>
            <a:r>
              <a:rPr sz="1125" b="1">
                <a:solidFill>
                  <a:srgbClr val="172026"/>
                </a:solidFill>
                <a:latin typeface="Aptos"/>
                <a:ea typeface="Aptos"/>
                <a:cs typeface="Aptos"/>
              </a:rPr>
              <a:t>Campaign calendar thinking</a:t>
            </a:r>
          </a:p>
        </p:txBody>
      </p:sp>
      <p:sp>
        <p:nvSpPr>
          <p:cNvPr id="25" name="">
            <a:extLst xmlns:a="http://schemas.openxmlformats.org/drawingml/2006/main">
              <a:ext uri="{FF2B5EF4-FFF2-40B4-BE49-F238E27FC236}">
                <a16:creationId xmlns:a16="http://schemas.microsoft.com/office/drawing/2014/main" id="{67F1B2D5-CFB9-4BE5-BB68-19234523FB57}"/>
              </a:ext>
            </a:extLst>
          </p:cNvPr>
          <p:cNvSpPr>
            <a:spLocks xmlns:a="http://schemas.openxmlformats.org/drawingml/2006/main" noGrp="1"/>
          </p:cNvSpPr>
          <p:nvPr/>
        </p:nvSpPr>
        <p:spPr>
          <a:xfrm xmlns:a="http://schemas.openxmlformats.org/drawingml/2006/main">
            <a:off x="3371850" y="3105150"/>
            <a:ext cx="285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9646A"/>
                </a:solidFill>
                <a:latin typeface="Aptos"/>
                <a:ea typeface="Aptos"/>
                <a:cs typeface="Aptos"/>
              </a:defRPr>
            </a:pPr>
            <a:r>
              <a:rPr sz="1050" b="0">
                <a:solidFill>
                  <a:srgbClr val="59646A"/>
                </a:solidFill>
                <a:latin typeface="Aptos"/>
                <a:ea typeface="Aptos"/>
                <a:cs typeface="Aptos"/>
              </a:rPr>
              <a:t>Content planned by month</a:t>
            </a:r>
          </a:p>
        </p:txBody>
      </p:sp>
      <p:sp>
        <p:nvSpPr>
          <p:cNvPr id="26" name="">
            <a:extLst xmlns:a="http://schemas.openxmlformats.org/drawingml/2006/main">
              <a:ext uri="{FF2B5EF4-FFF2-40B4-BE49-F238E27FC236}">
                <a16:creationId xmlns:a16="http://schemas.microsoft.com/office/drawing/2014/main" id="{2B81029A-F6A1-4B32-9C66-0E6D039D771A}"/>
              </a:ext>
            </a:extLst>
          </p:cNvPr>
          <p:cNvSpPr>
            <a:spLocks xmlns:a="http://schemas.openxmlformats.org/drawingml/2006/main" noGrp="1"/>
          </p:cNvSpPr>
          <p:nvPr/>
        </p:nvSpPr>
        <p:spPr>
          <a:xfrm xmlns:a="http://schemas.openxmlformats.org/drawingml/2006/main">
            <a:off x="6896100" y="310515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72026"/>
                </a:solidFill>
                <a:latin typeface="Aptos"/>
                <a:ea typeface="Aptos"/>
                <a:cs typeface="Aptos"/>
              </a:defRPr>
            </a:pPr>
            <a:r>
              <a:rPr sz="1050" b="0">
                <a:solidFill>
                  <a:srgbClr val="172026"/>
                </a:solidFill>
                <a:latin typeface="Aptos"/>
                <a:ea typeface="Aptos"/>
                <a:cs typeface="Aptos"/>
              </a:rPr>
              <a:t>Rebuild around MOIN and sales use</a:t>
            </a:r>
          </a:p>
        </p:txBody>
      </p:sp>
      <p:sp>
        <p:nvSpPr>
          <p:cNvPr id="27" name="">
            <a:extLst xmlns:a="http://schemas.openxmlformats.org/drawingml/2006/main">
              <a:ext uri="{FF2B5EF4-FFF2-40B4-BE49-F238E27FC236}">
                <a16:creationId xmlns:a16="http://schemas.microsoft.com/office/drawing/2014/main" id="{89769047-8C7F-4585-8969-EDE00D6006B7}"/>
              </a:ext>
            </a:extLst>
          </p:cNvPr>
          <p:cNvSpPr>
            <a:spLocks xmlns:a="http://schemas.openxmlformats.org/drawingml/2006/main" noGrp="1"/>
          </p:cNvSpPr>
          <p:nvPr/>
        </p:nvSpPr>
        <p:spPr>
          <a:xfrm xmlns:a="http://schemas.openxmlformats.org/drawingml/2006/main">
            <a:off x="228600" y="3657600"/>
            <a:ext cx="1196340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A83ED69C-1A61-45DC-B0B1-1AE1B85DAB53}"/>
              </a:ext>
            </a:extLst>
          </p:cNvPr>
          <p:cNvSpPr>
            <a:spLocks xmlns:a="http://schemas.openxmlformats.org/drawingml/2006/main" noGrp="1"/>
          </p:cNvSpPr>
          <p:nvPr/>
        </p:nvSpPr>
        <p:spPr>
          <a:xfrm xmlns:a="http://schemas.openxmlformats.org/drawingml/2006/main">
            <a:off x="438150" y="38290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6"/>
                </a:solidFill>
                <a:latin typeface="Aptos"/>
                <a:ea typeface="Aptos"/>
                <a:cs typeface="Aptos"/>
              </a:defRPr>
            </a:pPr>
            <a:r>
              <a:rPr sz="1125" b="1">
                <a:solidFill>
                  <a:srgbClr val="172026"/>
                </a:solidFill>
                <a:latin typeface="Aptos"/>
                <a:ea typeface="Aptos"/>
                <a:cs typeface="Aptos"/>
              </a:rPr>
              <a:t>Owned-channel dependency</a:t>
            </a:r>
          </a:p>
        </p:txBody>
      </p:sp>
      <p:sp>
        <p:nvSpPr>
          <p:cNvPr id="29" name="">
            <a:extLst xmlns:a="http://schemas.openxmlformats.org/drawingml/2006/main">
              <a:ext uri="{FF2B5EF4-FFF2-40B4-BE49-F238E27FC236}">
                <a16:creationId xmlns:a16="http://schemas.microsoft.com/office/drawing/2014/main" id="{6CA80578-9957-4805-B38C-305F77E2C6B4}"/>
              </a:ext>
            </a:extLst>
          </p:cNvPr>
          <p:cNvSpPr>
            <a:spLocks xmlns:a="http://schemas.openxmlformats.org/drawingml/2006/main" noGrp="1"/>
          </p:cNvSpPr>
          <p:nvPr/>
        </p:nvSpPr>
        <p:spPr>
          <a:xfrm xmlns:a="http://schemas.openxmlformats.org/drawingml/2006/main">
            <a:off x="3371850" y="3829050"/>
            <a:ext cx="285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9646A"/>
                </a:solidFill>
                <a:latin typeface="Aptos"/>
                <a:ea typeface="Aptos"/>
                <a:cs typeface="Aptos"/>
              </a:defRPr>
            </a:pPr>
            <a:r>
              <a:rPr sz="1050" b="0">
                <a:solidFill>
                  <a:srgbClr val="59646A"/>
                </a:solidFill>
                <a:latin typeface="Aptos"/>
                <a:ea typeface="Aptos"/>
                <a:cs typeface="Aptos"/>
              </a:rPr>
              <a:t>Publishing without circulation</a:t>
            </a:r>
          </a:p>
        </p:txBody>
      </p:sp>
      <p:sp>
        <p:nvSpPr>
          <p:cNvPr id="30" name="">
            <a:extLst xmlns:a="http://schemas.openxmlformats.org/drawingml/2006/main">
              <a:ext uri="{FF2B5EF4-FFF2-40B4-BE49-F238E27FC236}">
                <a16:creationId xmlns:a16="http://schemas.microsoft.com/office/drawing/2014/main" id="{CF5FF524-98A3-429F-A80C-135133BB6BBE}"/>
              </a:ext>
            </a:extLst>
          </p:cNvPr>
          <p:cNvSpPr>
            <a:spLocks xmlns:a="http://schemas.openxmlformats.org/drawingml/2006/main" noGrp="1"/>
          </p:cNvSpPr>
          <p:nvPr/>
        </p:nvSpPr>
        <p:spPr>
          <a:xfrm xmlns:a="http://schemas.openxmlformats.org/drawingml/2006/main">
            <a:off x="6896100" y="382905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72026"/>
                </a:solidFill>
                <a:latin typeface="Aptos"/>
                <a:ea typeface="Aptos"/>
                <a:cs typeface="Aptos"/>
              </a:defRPr>
            </a:pPr>
            <a:r>
              <a:rPr sz="1050" b="0">
                <a:solidFill>
                  <a:srgbClr val="172026"/>
                </a:solidFill>
                <a:latin typeface="Aptos"/>
                <a:ea typeface="Aptos"/>
                <a:cs typeface="Aptos"/>
              </a:rPr>
              <a:t>Add expert, sales, partner, event, and association paths</a:t>
            </a:r>
          </a:p>
        </p:txBody>
      </p:sp>
      <p:sp>
        <p:nvSpPr>
          <p:cNvPr id="31" name="">
            <a:extLst xmlns:a="http://schemas.openxmlformats.org/drawingml/2006/main">
              <a:ext uri="{FF2B5EF4-FFF2-40B4-BE49-F238E27FC236}">
                <a16:creationId xmlns:a16="http://schemas.microsoft.com/office/drawing/2014/main" id="{EFFF86E1-6352-4A40-9458-5F281AD367E8}"/>
              </a:ext>
            </a:extLst>
          </p:cNvPr>
          <p:cNvSpPr>
            <a:spLocks xmlns:a="http://schemas.openxmlformats.org/drawingml/2006/main" noGrp="1"/>
          </p:cNvSpPr>
          <p:nvPr/>
        </p:nvSpPr>
        <p:spPr>
          <a:xfrm xmlns:a="http://schemas.openxmlformats.org/drawingml/2006/main">
            <a:off x="228600" y="4381500"/>
            <a:ext cx="11963400" cy="723900"/>
          </a:xfrm>
          <a:prstGeom xmlns:a="http://schemas.openxmlformats.org/drawingml/2006/main" prst="rect">
            <a:avLst/>
          </a:prstGeom>
          <a:solidFill xmlns:a="http://schemas.openxmlformats.org/drawingml/2006/main">
            <a:srgbClr val="FAFBF8"/>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5E262380-2723-4C28-8CC1-99F6EAC1D6FC}"/>
              </a:ext>
            </a:extLst>
          </p:cNvPr>
          <p:cNvSpPr>
            <a:spLocks xmlns:a="http://schemas.openxmlformats.org/drawingml/2006/main" noGrp="1"/>
          </p:cNvSpPr>
          <p:nvPr/>
        </p:nvSpPr>
        <p:spPr>
          <a:xfrm xmlns:a="http://schemas.openxmlformats.org/drawingml/2006/main">
            <a:off x="228600" y="4381500"/>
            <a:ext cx="1196340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6AD1CAA9-F898-45FC-A05D-7D3F8A3FED41}"/>
              </a:ext>
            </a:extLst>
          </p:cNvPr>
          <p:cNvSpPr>
            <a:spLocks xmlns:a="http://schemas.openxmlformats.org/drawingml/2006/main" noGrp="1"/>
          </p:cNvSpPr>
          <p:nvPr/>
        </p:nvSpPr>
        <p:spPr>
          <a:xfrm xmlns:a="http://schemas.openxmlformats.org/drawingml/2006/main">
            <a:off x="438150" y="45529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026"/>
                </a:solidFill>
                <a:latin typeface="Aptos"/>
                <a:ea typeface="Aptos"/>
                <a:cs typeface="Aptos"/>
              </a:defRPr>
            </a:pPr>
            <a:r>
              <a:rPr sz="1125" b="1">
                <a:solidFill>
                  <a:srgbClr val="172026"/>
                </a:solidFill>
                <a:latin typeface="Aptos"/>
                <a:ea typeface="Aptos"/>
                <a:cs typeface="Aptos"/>
              </a:rPr>
              <a:t>RevOps invisibility</a:t>
            </a:r>
          </a:p>
        </p:txBody>
      </p:sp>
      <p:sp>
        <p:nvSpPr>
          <p:cNvPr id="34" name="">
            <a:extLst xmlns:a="http://schemas.openxmlformats.org/drawingml/2006/main">
              <a:ext uri="{FF2B5EF4-FFF2-40B4-BE49-F238E27FC236}">
                <a16:creationId xmlns:a16="http://schemas.microsoft.com/office/drawing/2014/main" id="{AB56AFAD-02D3-471A-A791-C009C8BF18E8}"/>
              </a:ext>
            </a:extLst>
          </p:cNvPr>
          <p:cNvSpPr>
            <a:spLocks xmlns:a="http://schemas.openxmlformats.org/drawingml/2006/main" noGrp="1"/>
          </p:cNvSpPr>
          <p:nvPr/>
        </p:nvSpPr>
        <p:spPr>
          <a:xfrm xmlns:a="http://schemas.openxmlformats.org/drawingml/2006/main">
            <a:off x="3371850" y="4552950"/>
            <a:ext cx="285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9646A"/>
                </a:solidFill>
                <a:latin typeface="Aptos"/>
                <a:ea typeface="Aptos"/>
                <a:cs typeface="Aptos"/>
              </a:defRPr>
            </a:pPr>
            <a:r>
              <a:rPr sz="1050" b="0">
                <a:solidFill>
                  <a:srgbClr val="59646A"/>
                </a:solidFill>
                <a:latin typeface="Aptos"/>
                <a:ea typeface="Aptos"/>
                <a:cs typeface="Aptos"/>
              </a:rPr>
              <a:t>No signal object or progression state</a:t>
            </a:r>
          </a:p>
        </p:txBody>
      </p:sp>
      <p:sp>
        <p:nvSpPr>
          <p:cNvPr id="35" name="">
            <a:extLst xmlns:a="http://schemas.openxmlformats.org/drawingml/2006/main">
              <a:ext uri="{FF2B5EF4-FFF2-40B4-BE49-F238E27FC236}">
                <a16:creationId xmlns:a16="http://schemas.microsoft.com/office/drawing/2014/main" id="{93F61560-F471-4C51-9994-A63889200D92}"/>
              </a:ext>
            </a:extLst>
          </p:cNvPr>
          <p:cNvSpPr>
            <a:spLocks xmlns:a="http://schemas.openxmlformats.org/drawingml/2006/main" noGrp="1"/>
          </p:cNvSpPr>
          <p:nvPr/>
        </p:nvSpPr>
        <p:spPr>
          <a:xfrm xmlns:a="http://schemas.openxmlformats.org/drawingml/2006/main">
            <a:off x="6896100" y="455295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72026"/>
                </a:solidFill>
                <a:latin typeface="Aptos"/>
                <a:ea typeface="Aptos"/>
                <a:cs typeface="Aptos"/>
              </a:defRPr>
            </a:pPr>
            <a:r>
              <a:rPr sz="1050" b="0">
                <a:solidFill>
                  <a:srgbClr val="172026"/>
                </a:solidFill>
                <a:latin typeface="Aptos"/>
                <a:ea typeface="Aptos"/>
                <a:cs typeface="Aptos"/>
              </a:rPr>
              <a:t>Define fields and weekly cadence board</a:t>
            </a:r>
          </a:p>
        </p:txBody>
      </p:sp>
      <p:sp>
        <p:nvSpPr>
          <p:cNvPr id="36" name="">
            <a:extLst xmlns:a="http://schemas.openxmlformats.org/drawingml/2006/main">
              <a:ext uri="{FF2B5EF4-FFF2-40B4-BE49-F238E27FC236}">
                <a16:creationId xmlns:a16="http://schemas.microsoft.com/office/drawing/2014/main" id="{A5664D3F-FD5E-46FB-9417-89D06B45E42E}"/>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9C368AB1-55BF-4A19-A744-79690EBDA89D}"/>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38" name="">
            <a:extLst xmlns:a="http://schemas.openxmlformats.org/drawingml/2006/main">
              <a:ext uri="{FF2B5EF4-FFF2-40B4-BE49-F238E27FC236}">
                <a16:creationId xmlns:a16="http://schemas.microsoft.com/office/drawing/2014/main" id="{F40E0A45-F32C-47AA-877A-8D5F5E9EEF69}"/>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39" name="">
            <a:extLst xmlns:a="http://schemas.openxmlformats.org/drawingml/2006/main">
              <a:ext uri="{FF2B5EF4-FFF2-40B4-BE49-F238E27FC236}">
                <a16:creationId xmlns:a16="http://schemas.microsoft.com/office/drawing/2014/main" id="{661BB1CA-49DB-4469-A1C9-5F3DBF1348FD}"/>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13/15</a:t>
            </a:r>
          </a:p>
        </p:txBody>
      </p:sp>
      <p:sp>
        <p:nvSpPr>
          <p:cNvPr id="40" name="">
            <a:extLst xmlns:a="http://schemas.openxmlformats.org/drawingml/2006/main">
              <a:ext uri="{FF2B5EF4-FFF2-40B4-BE49-F238E27FC236}">
                <a16:creationId xmlns:a16="http://schemas.microsoft.com/office/drawing/2014/main" id="{4D646031-C139-42FF-9D9D-18B08EC263B0}"/>
              </a:ext>
            </a:extLst>
          </p:cNvPr>
          <p:cNvSpPr>
            <a:spLocks xmlns:a="http://schemas.openxmlformats.org/drawingml/2006/main" noGrp="1"/>
          </p:cNvSpPr>
          <p:nvPr/>
        </p:nvSpPr>
        <p:spPr>
          <a:xfrm xmlns:a="http://schemas.openxmlformats.org/drawingml/2006/main">
            <a:off x="0" y="0"/>
            <a:ext cx="12192000" cy="18097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52951878-E05D-4D95-A449-C3BB34E27963}"/>
              </a:ext>
            </a:extLst>
          </p:cNvPr>
          <p:cNvSpPr>
            <a:spLocks xmlns:a="http://schemas.openxmlformats.org/drawingml/2006/main" noGrp="1"/>
          </p:cNvSpPr>
          <p:nvPr/>
        </p:nvSpPr>
        <p:spPr>
          <a:xfrm xmlns:a="http://schemas.openxmlformats.org/drawingml/2006/main">
            <a:off x="0" y="0"/>
            <a:ext cx="171450" cy="180975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3D10114F-A96B-4EE3-BB93-8A98602C0391}"/>
              </a:ext>
            </a:extLst>
          </p:cNvPr>
          <p:cNvSpPr>
            <a:spLocks xmlns:a="http://schemas.openxmlformats.org/drawingml/2006/main" noGrp="1"/>
          </p:cNvSpPr>
          <p:nvPr/>
        </p:nvSpPr>
        <p:spPr>
          <a:xfrm xmlns:a="http://schemas.openxmlformats.org/drawingml/2006/main">
            <a:off x="171450" y="0"/>
            <a:ext cx="57150" cy="18097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3" name="kicker-01-marker">
            <a:extLst xmlns:a="http://schemas.openxmlformats.org/drawingml/2006/main">
              <a:ext uri="{FF2B5EF4-FFF2-40B4-BE49-F238E27FC236}">
                <a16:creationId xmlns:a16="http://schemas.microsoft.com/office/drawing/2014/main" id="{3E9D4A83-2EC2-48A7-B76B-8B8EA1A9D252}"/>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4" name="kicker-01-label">
            <a:extLst xmlns:a="http://schemas.openxmlformats.org/drawingml/2006/main">
              <a:ext uri="{FF2B5EF4-FFF2-40B4-BE49-F238E27FC236}">
                <a16:creationId xmlns:a16="http://schemas.microsoft.com/office/drawing/2014/main" id="{2D72470B-C179-4BB5-BCBD-3F776BC779BA}"/>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FAILURE MODES</a:t>
            </a:r>
          </a:p>
        </p:txBody>
      </p:sp>
      <p:sp>
        <p:nvSpPr>
          <p:cNvPr id="45" name="">
            <a:extLst xmlns:a="http://schemas.openxmlformats.org/drawingml/2006/main">
              <a:ext uri="{FF2B5EF4-FFF2-40B4-BE49-F238E27FC236}">
                <a16:creationId xmlns:a16="http://schemas.microsoft.com/office/drawing/2014/main" id="{B378AD98-1AA0-4820-B61A-2CA4CF058EE0}"/>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Name the anti-pattern before it becomes field behavior.</a:t>
            </a:r>
          </a:p>
        </p:txBody>
      </p:sp>
      <p:sp>
        <p:nvSpPr>
          <p:cNvPr id="46" name="">
            <a:extLst xmlns:a="http://schemas.openxmlformats.org/drawingml/2006/main">
              <a:ext uri="{FF2B5EF4-FFF2-40B4-BE49-F238E27FC236}">
                <a16:creationId xmlns:a16="http://schemas.microsoft.com/office/drawing/2014/main" id="{287E0C76-D22F-4C41-9AC2-4B1FA6E2AABA}"/>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Use this slide to make weak work easier to reject in the moment.</a:t>
            </a:r>
          </a:p>
        </p:txBody>
      </p:sp>
      <p:sp>
        <p:nvSpPr>
          <p:cNvPr id="47" name="">
            <a:extLst xmlns:a="http://schemas.openxmlformats.org/drawingml/2006/main">
              <a:ext uri="{FF2B5EF4-FFF2-40B4-BE49-F238E27FC236}">
                <a16:creationId xmlns:a16="http://schemas.microsoft.com/office/drawing/2014/main" id="{1D9B8BC2-EE64-4FEC-9943-4EDBA1F552D4}"/>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C023104F-6379-469E-B2AA-644FD9FCDA94}"/>
              </a:ext>
            </a:extLst>
          </p:cNvPr>
          <p:cNvSpPr>
            <a:spLocks xmlns:a="http://schemas.openxmlformats.org/drawingml/2006/main" noGrp="1"/>
          </p:cNvSpPr>
          <p:nvPr/>
        </p:nvSpPr>
        <p:spPr>
          <a:xfrm xmlns:a="http://schemas.openxmlformats.org/drawingml/2006/main">
            <a:off x="0" y="6400800"/>
            <a:ext cx="171450" cy="4572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4D23C15F-48A1-4D93-9484-84D422BBD690}"/>
              </a:ext>
            </a:extLst>
          </p:cNvPr>
          <p:cNvSpPr>
            <a:spLocks xmlns:a="http://schemas.openxmlformats.org/drawingml/2006/main" noGrp="1"/>
          </p:cNvSpPr>
          <p:nvPr/>
        </p:nvSpPr>
        <p:spPr>
          <a:xfrm xmlns:a="http://schemas.openxmlformats.org/drawingml/2006/main">
            <a:off x="171450" y="6400800"/>
            <a:ext cx="57150" cy="457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5FB3244D-C3D9-4CDA-9E44-C3FD3DAC375D}"/>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DDDD1193-FF5C-433C-819E-5D7EBCF85213}"/>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52" name="">
            <a:extLst xmlns:a="http://schemas.openxmlformats.org/drawingml/2006/main">
              <a:ext uri="{FF2B5EF4-FFF2-40B4-BE49-F238E27FC236}">
                <a16:creationId xmlns:a16="http://schemas.microsoft.com/office/drawing/2014/main" id="{9426BFE4-F5FD-4F7B-BFE2-4AC83B13F924}"/>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53" name="">
            <a:extLst xmlns:a="http://schemas.openxmlformats.org/drawingml/2006/main">
              <a:ext uri="{FF2B5EF4-FFF2-40B4-BE49-F238E27FC236}">
                <a16:creationId xmlns:a16="http://schemas.microsoft.com/office/drawing/2014/main" id="{8980DE08-5D90-48AE-B235-7ABC8F026660}"/>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13/15</a:t>
            </a:r>
          </a:p>
        </p:txBody>
      </p:sp>
    </p:spTree>
    <p:extLst>
      <p:ext uri="{BB962C8B-B14F-4D97-AF65-F5344CB8AC3E}">
        <p14:creationId xmlns:p14="http://schemas.microsoft.com/office/powerpoint/2010/main" val="172797928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0A9EAB-AF33-4184-A938-C6C165290F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608A9AB-B65C-4EA6-9D29-75C5A0E8654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1B0EF5C-435F-418D-AA14-3DE632F360DE}"/>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1-marker">
            <a:extLst xmlns:a="http://schemas.openxmlformats.org/drawingml/2006/main">
              <a:ext uri="{FF2B5EF4-FFF2-40B4-BE49-F238E27FC236}">
                <a16:creationId xmlns:a16="http://schemas.microsoft.com/office/drawing/2014/main" id="{17D056AC-41E3-463B-BA02-336399FB79D6}"/>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1-label">
            <a:extLst xmlns:a="http://schemas.openxmlformats.org/drawingml/2006/main">
              <a:ext uri="{FF2B5EF4-FFF2-40B4-BE49-F238E27FC236}">
                <a16:creationId xmlns:a16="http://schemas.microsoft.com/office/drawing/2014/main" id="{028A93A5-9F28-43A3-B7D5-5747D08A4615}"/>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FINAL ARTIFACT</a:t>
            </a:r>
          </a:p>
        </p:txBody>
      </p:sp>
      <p:sp>
        <p:nvSpPr>
          <p:cNvPr id="6" name="">
            <a:extLst xmlns:a="http://schemas.openxmlformats.org/drawingml/2006/main">
              <a:ext uri="{FF2B5EF4-FFF2-40B4-BE49-F238E27FC236}">
                <a16:creationId xmlns:a16="http://schemas.microsoft.com/office/drawing/2014/main" id="{F505B064-5C65-4A9B-81EC-DE4B1AB5709F}"/>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What learners must leave this lesson able to submit.</a:t>
            </a:r>
          </a:p>
        </p:txBody>
      </p:sp>
      <p:sp>
        <p:nvSpPr>
          <p:cNvPr id="7" name="">
            <a:extLst xmlns:a="http://schemas.openxmlformats.org/drawingml/2006/main">
              <a:ext uri="{FF2B5EF4-FFF2-40B4-BE49-F238E27FC236}">
                <a16:creationId xmlns:a16="http://schemas.microsoft.com/office/drawing/2014/main" id="{708F7F83-C506-4E43-97BA-2834CB66FA51}"/>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Treat this as the exit gate before transitioning.</a:t>
            </a:r>
          </a:p>
        </p:txBody>
      </p:sp>
      <p:sp>
        <p:nvSpPr>
          <p:cNvPr id="8" name="">
            <a:extLst xmlns:a="http://schemas.openxmlformats.org/drawingml/2006/main">
              <a:ext uri="{FF2B5EF4-FFF2-40B4-BE49-F238E27FC236}">
                <a16:creationId xmlns:a16="http://schemas.microsoft.com/office/drawing/2014/main" id="{420F2DF0-B4A9-4602-96C8-7F38143716ED}"/>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1B2502A-577E-43EE-933E-5DDDDC8A5DC4}"/>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10" name="">
            <a:extLst xmlns:a="http://schemas.openxmlformats.org/drawingml/2006/main">
              <a:ext uri="{FF2B5EF4-FFF2-40B4-BE49-F238E27FC236}">
                <a16:creationId xmlns:a16="http://schemas.microsoft.com/office/drawing/2014/main" id="{B2E7FD4E-B133-4242-B217-5B7F22D97321}"/>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11" name="">
            <a:extLst xmlns:a="http://schemas.openxmlformats.org/drawingml/2006/main">
              <a:ext uri="{FF2B5EF4-FFF2-40B4-BE49-F238E27FC236}">
                <a16:creationId xmlns:a16="http://schemas.microsoft.com/office/drawing/2014/main" id="{E1D4CD9C-4BD5-4C45-A663-06AF14CA0909}"/>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14/15</a:t>
            </a:r>
          </a:p>
        </p:txBody>
      </p:sp>
      <p:sp>
        <p:nvSpPr>
          <p:cNvPr id="12" name="">
            <a:extLst xmlns:a="http://schemas.openxmlformats.org/drawingml/2006/main">
              <a:ext uri="{FF2B5EF4-FFF2-40B4-BE49-F238E27FC236}">
                <a16:creationId xmlns:a16="http://schemas.microsoft.com/office/drawing/2014/main" id="{C6EFEFD8-20B7-4EEB-89DF-A8478C31A0AB}"/>
              </a:ext>
            </a:extLst>
          </p:cNvPr>
          <p:cNvSpPr>
            <a:spLocks xmlns:a="http://schemas.openxmlformats.org/drawingml/2006/main" noGrp="1"/>
          </p:cNvSpPr>
          <p:nvPr/>
        </p:nvSpPr>
        <p:spPr>
          <a:xfrm xmlns:a="http://schemas.openxmlformats.org/drawingml/2006/main">
            <a:off x="228600" y="1809750"/>
            <a:ext cx="11963400" cy="45910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1C8AFCBD-989B-4195-B841-FAABA0D87AAF}"/>
              </a:ext>
            </a:extLst>
          </p:cNvPr>
          <p:cNvSpPr>
            <a:spLocks xmlns:a="http://schemas.openxmlformats.org/drawingml/2006/main" noGrp="1"/>
          </p:cNvSpPr>
          <p:nvPr/>
        </p:nvSpPr>
        <p:spPr>
          <a:xfrm xmlns:a="http://schemas.openxmlformats.org/drawingml/2006/main">
            <a:off x="228600" y="1809750"/>
            <a:ext cx="6819900" cy="45910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14" name="">
            <a:extLst xmlns:a="http://schemas.openxmlformats.org/drawingml/2006/main">
              <a:ext uri="{FF2B5EF4-FFF2-40B4-BE49-F238E27FC236}">
                <a16:creationId xmlns:a16="http://schemas.microsoft.com/office/drawing/2014/main" id="{8A0209BA-DCFF-460F-8EC5-EA76FFECA7A1}"/>
              </a:ext>
            </a:extLst>
          </p:cNvPr>
          <p:cNvSpPr>
            <a:spLocks xmlns:a="http://schemas.openxmlformats.org/drawingml/2006/main" noGrp="1"/>
          </p:cNvSpPr>
          <p:nvPr/>
        </p:nvSpPr>
        <p:spPr>
          <a:xfrm xmlns:a="http://schemas.openxmlformats.org/drawingml/2006/main">
            <a:off x="609600" y="22669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7A7C9B12-6C34-47F1-B1D1-98A251BD203D}"/>
              </a:ext>
            </a:extLst>
          </p:cNvPr>
          <p:cNvSpPr>
            <a:spLocks xmlns:a="http://schemas.openxmlformats.org/drawingml/2006/main" noGrp="1"/>
          </p:cNvSpPr>
          <p:nvPr/>
        </p:nvSpPr>
        <p:spPr>
          <a:xfrm xmlns:a="http://schemas.openxmlformats.org/drawingml/2006/main">
            <a:off x="971550" y="2190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ARTIFACT CHECKLIST</a:t>
            </a:r>
          </a:p>
        </p:txBody>
      </p:sp>
      <p:sp>
        <p:nvSpPr>
          <p:cNvPr id="16" name="">
            <a:extLst xmlns:a="http://schemas.openxmlformats.org/drawingml/2006/main">
              <a:ext uri="{FF2B5EF4-FFF2-40B4-BE49-F238E27FC236}">
                <a16:creationId xmlns:a16="http://schemas.microsoft.com/office/drawing/2014/main" id="{B44F6A03-A8D7-46E2-8855-26C1242926DC}"/>
              </a:ext>
            </a:extLst>
          </p:cNvPr>
          <p:cNvSpPr>
            <a:spLocks xmlns:a="http://schemas.openxmlformats.org/drawingml/2006/main" noGrp="1"/>
          </p:cNvSpPr>
          <p:nvPr/>
        </p:nvSpPr>
        <p:spPr>
          <a:xfrm xmlns:a="http://schemas.openxmlformats.org/drawingml/2006/main">
            <a:off x="609600" y="27146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E47E2D0-4920-4305-BC75-3AA89FAADA75}"/>
              </a:ext>
            </a:extLst>
          </p:cNvPr>
          <p:cNvSpPr>
            <a:spLocks xmlns:a="http://schemas.openxmlformats.org/drawingml/2006/main" noGrp="1"/>
          </p:cNvSpPr>
          <p:nvPr/>
        </p:nvSpPr>
        <p:spPr>
          <a:xfrm xmlns:a="http://schemas.openxmlformats.org/drawingml/2006/main">
            <a:off x="781050" y="2647950"/>
            <a:ext cx="2495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One category or segment focus</a:t>
            </a:r>
          </a:p>
        </p:txBody>
      </p:sp>
      <p:sp>
        <p:nvSpPr>
          <p:cNvPr id="18" name="">
            <a:extLst xmlns:a="http://schemas.openxmlformats.org/drawingml/2006/main">
              <a:ext uri="{FF2B5EF4-FFF2-40B4-BE49-F238E27FC236}">
                <a16:creationId xmlns:a16="http://schemas.microsoft.com/office/drawing/2014/main" id="{7308CC7E-4261-4F17-B829-F51E823A4EC7}"/>
              </a:ext>
            </a:extLst>
          </p:cNvPr>
          <p:cNvSpPr>
            <a:spLocks xmlns:a="http://schemas.openxmlformats.org/drawingml/2006/main" noGrp="1"/>
          </p:cNvSpPr>
          <p:nvPr/>
        </p:nvSpPr>
        <p:spPr>
          <a:xfrm xmlns:a="http://schemas.openxmlformats.org/drawingml/2006/main">
            <a:off x="609600" y="31718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58092A4E-EE05-4AAF-92C2-88934D843B64}"/>
              </a:ext>
            </a:extLst>
          </p:cNvPr>
          <p:cNvSpPr>
            <a:spLocks xmlns:a="http://schemas.openxmlformats.org/drawingml/2006/main" noGrp="1"/>
          </p:cNvSpPr>
          <p:nvPr/>
        </p:nvSpPr>
        <p:spPr>
          <a:xfrm xmlns:a="http://schemas.openxmlformats.org/drawingml/2006/main">
            <a:off x="781050" y="3105150"/>
            <a:ext cx="2495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Current-state diagnosis across operating layers</a:t>
            </a:r>
          </a:p>
        </p:txBody>
      </p:sp>
      <p:sp>
        <p:nvSpPr>
          <p:cNvPr id="20" name="">
            <a:extLst xmlns:a="http://schemas.openxmlformats.org/drawingml/2006/main">
              <a:ext uri="{FF2B5EF4-FFF2-40B4-BE49-F238E27FC236}">
                <a16:creationId xmlns:a16="http://schemas.microsoft.com/office/drawing/2014/main" id="{F48B8022-C592-4730-80D3-995EFE0FFC25}"/>
              </a:ext>
            </a:extLst>
          </p:cNvPr>
          <p:cNvSpPr>
            <a:spLocks xmlns:a="http://schemas.openxmlformats.org/drawingml/2006/main" noGrp="1"/>
          </p:cNvSpPr>
          <p:nvPr/>
        </p:nvSpPr>
        <p:spPr>
          <a:xfrm xmlns:a="http://schemas.openxmlformats.org/drawingml/2006/main">
            <a:off x="609600" y="36290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A84B5B41-4CB4-419C-8062-42FFC562D400}"/>
              </a:ext>
            </a:extLst>
          </p:cNvPr>
          <p:cNvSpPr>
            <a:spLocks xmlns:a="http://schemas.openxmlformats.org/drawingml/2006/main" noGrp="1"/>
          </p:cNvSpPr>
          <p:nvPr/>
        </p:nvSpPr>
        <p:spPr>
          <a:xfrm xmlns:a="http://schemas.openxmlformats.org/drawingml/2006/main">
            <a:off x="781050" y="3562350"/>
            <a:ext cx="2495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Three priority repairs</a:t>
            </a:r>
          </a:p>
        </p:txBody>
      </p:sp>
      <p:sp>
        <p:nvSpPr>
          <p:cNvPr id="22" name="">
            <a:extLst xmlns:a="http://schemas.openxmlformats.org/drawingml/2006/main">
              <a:ext uri="{FF2B5EF4-FFF2-40B4-BE49-F238E27FC236}">
                <a16:creationId xmlns:a16="http://schemas.microsoft.com/office/drawing/2014/main" id="{E3F7D971-CB75-4F95-8B18-1AD8A56D72FE}"/>
              </a:ext>
            </a:extLst>
          </p:cNvPr>
          <p:cNvSpPr>
            <a:spLocks xmlns:a="http://schemas.openxmlformats.org/drawingml/2006/main" noGrp="1"/>
          </p:cNvSpPr>
          <p:nvPr/>
        </p:nvSpPr>
        <p:spPr>
          <a:xfrm xmlns:a="http://schemas.openxmlformats.org/drawingml/2006/main">
            <a:off x="609600" y="4086225"/>
            <a:ext cx="57150" cy="571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3452ECAC-E21E-4593-958C-9B174AC6F7F8}"/>
              </a:ext>
            </a:extLst>
          </p:cNvPr>
          <p:cNvSpPr>
            <a:spLocks xmlns:a="http://schemas.openxmlformats.org/drawingml/2006/main" noGrp="1"/>
          </p:cNvSpPr>
          <p:nvPr/>
        </p:nvSpPr>
        <p:spPr>
          <a:xfrm xmlns:a="http://schemas.openxmlformats.org/drawingml/2006/main">
            <a:off x="781050" y="4019550"/>
            <a:ext cx="2495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One account movement signal</a:t>
            </a:r>
          </a:p>
        </p:txBody>
      </p:sp>
      <p:sp>
        <p:nvSpPr>
          <p:cNvPr id="24" name="">
            <a:extLst xmlns:a="http://schemas.openxmlformats.org/drawingml/2006/main">
              <a:ext uri="{FF2B5EF4-FFF2-40B4-BE49-F238E27FC236}">
                <a16:creationId xmlns:a16="http://schemas.microsoft.com/office/drawing/2014/main" id="{4B0771B5-C13A-4181-AA58-7ED9DBEE2D80}"/>
              </a:ext>
            </a:extLst>
          </p:cNvPr>
          <p:cNvSpPr>
            <a:spLocks xmlns:a="http://schemas.openxmlformats.org/drawingml/2006/main" noGrp="1"/>
          </p:cNvSpPr>
          <p:nvPr/>
        </p:nvSpPr>
        <p:spPr>
          <a:xfrm xmlns:a="http://schemas.openxmlformats.org/drawingml/2006/main">
            <a:off x="3676650" y="271462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F72B4A05-57F4-4B01-9FB4-5800F879DA08}"/>
              </a:ext>
            </a:extLst>
          </p:cNvPr>
          <p:cNvSpPr>
            <a:spLocks xmlns:a="http://schemas.openxmlformats.org/drawingml/2006/main" noGrp="1"/>
          </p:cNvSpPr>
          <p:nvPr/>
        </p:nvSpPr>
        <p:spPr>
          <a:xfrm xmlns:a="http://schemas.openxmlformats.org/drawingml/2006/main">
            <a:off x="3848100" y="2647950"/>
            <a:ext cx="2495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One RevOps tracking requirement</a:t>
            </a:r>
          </a:p>
        </p:txBody>
      </p:sp>
      <p:sp>
        <p:nvSpPr>
          <p:cNvPr id="26" name="">
            <a:extLst xmlns:a="http://schemas.openxmlformats.org/drawingml/2006/main">
              <a:ext uri="{FF2B5EF4-FFF2-40B4-BE49-F238E27FC236}">
                <a16:creationId xmlns:a16="http://schemas.microsoft.com/office/drawing/2014/main" id="{599BBF31-A946-4B0C-BCF1-939D6EE8CC1D}"/>
              </a:ext>
            </a:extLst>
          </p:cNvPr>
          <p:cNvSpPr>
            <a:spLocks xmlns:a="http://schemas.openxmlformats.org/drawingml/2006/main" noGrp="1"/>
          </p:cNvSpPr>
          <p:nvPr/>
        </p:nvSpPr>
        <p:spPr>
          <a:xfrm xmlns:a="http://schemas.openxmlformats.org/drawingml/2006/main">
            <a:off x="3676650" y="317182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8E868BE0-EB12-46C6-8A21-C45AC405BDF0}"/>
              </a:ext>
            </a:extLst>
          </p:cNvPr>
          <p:cNvSpPr>
            <a:spLocks xmlns:a="http://schemas.openxmlformats.org/drawingml/2006/main" noGrp="1"/>
          </p:cNvSpPr>
          <p:nvPr/>
        </p:nvSpPr>
        <p:spPr>
          <a:xfrm xmlns:a="http://schemas.openxmlformats.org/drawingml/2006/main">
            <a:off x="3848100" y="3105150"/>
            <a:ext cx="2495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One sales behavior change</a:t>
            </a:r>
          </a:p>
        </p:txBody>
      </p:sp>
      <p:sp>
        <p:nvSpPr>
          <p:cNvPr id="28" name="">
            <a:extLst xmlns:a="http://schemas.openxmlformats.org/drawingml/2006/main">
              <a:ext uri="{FF2B5EF4-FFF2-40B4-BE49-F238E27FC236}">
                <a16:creationId xmlns:a16="http://schemas.microsoft.com/office/drawing/2014/main" id="{C736DAAF-8B07-4136-B1BA-F6D2B97C5E96}"/>
              </a:ext>
            </a:extLst>
          </p:cNvPr>
          <p:cNvSpPr>
            <a:spLocks xmlns:a="http://schemas.openxmlformats.org/drawingml/2006/main" noGrp="1"/>
          </p:cNvSpPr>
          <p:nvPr/>
        </p:nvSpPr>
        <p:spPr>
          <a:xfrm xmlns:a="http://schemas.openxmlformats.org/drawingml/2006/main">
            <a:off x="3676650" y="3629025"/>
            <a:ext cx="57150" cy="571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68312B7F-6BDB-4E03-8DDD-A81297F5C145}"/>
              </a:ext>
            </a:extLst>
          </p:cNvPr>
          <p:cNvSpPr>
            <a:spLocks xmlns:a="http://schemas.openxmlformats.org/drawingml/2006/main" noGrp="1"/>
          </p:cNvSpPr>
          <p:nvPr/>
        </p:nvSpPr>
        <p:spPr>
          <a:xfrm xmlns:a="http://schemas.openxmlformats.org/drawingml/2006/main">
            <a:off x="3848100" y="3562350"/>
            <a:ext cx="24955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2026"/>
                </a:solidFill>
                <a:latin typeface="Aptos"/>
                <a:ea typeface="Aptos"/>
                <a:cs typeface="Aptos"/>
              </a:defRPr>
            </a:pPr>
            <a:r>
              <a:rPr sz="1125" b="0">
                <a:solidFill>
                  <a:srgbClr val="172026"/>
                </a:solidFill>
                <a:latin typeface="Aptos"/>
                <a:ea typeface="Aptos"/>
                <a:cs typeface="Aptos"/>
              </a:rPr>
              <a:t>One anti-pattern risk</a:t>
            </a:r>
          </a:p>
        </p:txBody>
      </p:sp>
      <p:sp>
        <p:nvSpPr>
          <p:cNvPr id="30" name="">
            <a:extLst xmlns:a="http://schemas.openxmlformats.org/drawingml/2006/main">
              <a:ext uri="{FF2B5EF4-FFF2-40B4-BE49-F238E27FC236}">
                <a16:creationId xmlns:a16="http://schemas.microsoft.com/office/drawing/2014/main" id="{775060D7-0F00-4223-9DAC-9D8BC1ABA215}"/>
              </a:ext>
            </a:extLst>
          </p:cNvPr>
          <p:cNvSpPr>
            <a:spLocks xmlns:a="http://schemas.openxmlformats.org/drawingml/2006/main" noGrp="1"/>
          </p:cNvSpPr>
          <p:nvPr/>
        </p:nvSpPr>
        <p:spPr>
          <a:xfrm xmlns:a="http://schemas.openxmlformats.org/drawingml/2006/main">
            <a:off x="7048500" y="1809750"/>
            <a:ext cx="5143500" cy="459105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31" name="">
            <a:extLst xmlns:a="http://schemas.openxmlformats.org/drawingml/2006/main">
              <a:ext uri="{FF2B5EF4-FFF2-40B4-BE49-F238E27FC236}">
                <a16:creationId xmlns:a16="http://schemas.microsoft.com/office/drawing/2014/main" id="{40A255F8-B31C-457B-B91A-139001BEEA13}"/>
              </a:ext>
            </a:extLst>
          </p:cNvPr>
          <p:cNvSpPr>
            <a:spLocks xmlns:a="http://schemas.openxmlformats.org/drawingml/2006/main" noGrp="1"/>
          </p:cNvSpPr>
          <p:nvPr/>
        </p:nvSpPr>
        <p:spPr>
          <a:xfrm xmlns:a="http://schemas.openxmlformats.org/drawingml/2006/main">
            <a:off x="7448550" y="2343150"/>
            <a:ext cx="266700" cy="190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98246D2F-CBE1-428F-9FFF-E439BA23C612}"/>
              </a:ext>
            </a:extLst>
          </p:cNvPr>
          <p:cNvSpPr>
            <a:spLocks xmlns:a="http://schemas.openxmlformats.org/drawingml/2006/main" noGrp="1"/>
          </p:cNvSpPr>
          <p:nvPr/>
        </p:nvSpPr>
        <p:spPr>
          <a:xfrm xmlns:a="http://schemas.openxmlformats.org/drawingml/2006/main">
            <a:off x="7810500" y="22669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COMPLETION STANDARD</a:t>
            </a:r>
          </a:p>
        </p:txBody>
      </p:sp>
      <p:sp>
        <p:nvSpPr>
          <p:cNvPr id="33" name="">
            <a:extLst xmlns:a="http://schemas.openxmlformats.org/drawingml/2006/main">
              <a:ext uri="{FF2B5EF4-FFF2-40B4-BE49-F238E27FC236}">
                <a16:creationId xmlns:a16="http://schemas.microsoft.com/office/drawing/2014/main" id="{BBAF96A5-E9B6-4491-83CB-9657FFFC9036}"/>
              </a:ext>
            </a:extLst>
          </p:cNvPr>
          <p:cNvSpPr>
            <a:spLocks xmlns:a="http://schemas.openxmlformats.org/drawingml/2006/main" noGrp="1"/>
          </p:cNvSpPr>
          <p:nvPr/>
        </p:nvSpPr>
        <p:spPr>
          <a:xfrm xmlns:a="http://schemas.openxmlformats.org/drawingml/2006/main">
            <a:off x="7448550" y="2781300"/>
            <a:ext cx="3429000" cy="1333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FFFFFF"/>
                </a:solidFill>
                <a:latin typeface="Aptos Display"/>
                <a:ea typeface="Aptos Display"/>
                <a:cs typeface="Aptos Display"/>
              </a:defRPr>
            </a:pPr>
            <a:r>
              <a:rPr sz="1575" b="1">
                <a:solidFill>
                  <a:srgbClr val="FFFFFF"/>
                </a:solidFill>
                <a:latin typeface="Aptos Display"/>
                <a:ea typeface="Aptos Display"/>
                <a:cs typeface="Aptos Display"/>
              </a:rPr>
              <a:t>The artifact passes only if sales, marketing, RevOps, leadership, and an AI agent could inspect it and know what to do next.</a:t>
            </a:r>
          </a:p>
        </p:txBody>
      </p:sp>
      <p:sp>
        <p:nvSpPr>
          <p:cNvPr id="34" name="">
            <a:extLst xmlns:a="http://schemas.openxmlformats.org/drawingml/2006/main">
              <a:ext uri="{FF2B5EF4-FFF2-40B4-BE49-F238E27FC236}">
                <a16:creationId xmlns:a16="http://schemas.microsoft.com/office/drawing/2014/main" id="{16784EC1-5A03-4961-887F-E05CA9C87F51}"/>
              </a:ext>
            </a:extLst>
          </p:cNvPr>
          <p:cNvSpPr>
            <a:spLocks xmlns:a="http://schemas.openxmlformats.org/drawingml/2006/main" noGrp="1"/>
          </p:cNvSpPr>
          <p:nvPr/>
        </p:nvSpPr>
        <p:spPr>
          <a:xfrm xmlns:a="http://schemas.openxmlformats.org/drawingml/2006/main">
            <a:off x="7448550" y="4705350"/>
            <a:ext cx="3238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D6E3E5"/>
                </a:solidFill>
                <a:latin typeface="Aptos"/>
                <a:ea typeface="Aptos"/>
                <a:cs typeface="Aptos"/>
              </a:defRPr>
            </a:pPr>
            <a:r>
              <a:rPr sz="1125" b="0">
                <a:solidFill>
                  <a:srgbClr val="D6E3E5"/>
                </a:solidFill>
                <a:latin typeface="Aptos"/>
                <a:ea typeface="Aptos"/>
                <a:cs typeface="Aptos"/>
              </a:rPr>
              <a:t>If it could be used unchanged by a generic SaaS company, it fails.</a:t>
            </a:r>
          </a:p>
        </p:txBody>
      </p:sp>
      <p:sp>
        <p:nvSpPr>
          <p:cNvPr id="35" name="">
            <a:extLst xmlns:a="http://schemas.openxmlformats.org/drawingml/2006/main">
              <a:ext uri="{FF2B5EF4-FFF2-40B4-BE49-F238E27FC236}">
                <a16:creationId xmlns:a16="http://schemas.microsoft.com/office/drawing/2014/main" id="{7AE7263B-BF72-4EB6-9DD7-1A2B3B1FB3F5}"/>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4A3A25A1-FC8B-47D3-981A-98565AB592A1}"/>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37" name="">
            <a:extLst xmlns:a="http://schemas.openxmlformats.org/drawingml/2006/main">
              <a:ext uri="{FF2B5EF4-FFF2-40B4-BE49-F238E27FC236}">
                <a16:creationId xmlns:a16="http://schemas.microsoft.com/office/drawing/2014/main" id="{FF13E09A-B265-4561-98FC-3140A0B7CF7D}"/>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38" name="">
            <a:extLst xmlns:a="http://schemas.openxmlformats.org/drawingml/2006/main">
              <a:ext uri="{FF2B5EF4-FFF2-40B4-BE49-F238E27FC236}">
                <a16:creationId xmlns:a16="http://schemas.microsoft.com/office/drawing/2014/main" id="{54C80F0B-041F-43C3-AD1B-1EFC7B86A61B}"/>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14/15</a:t>
            </a:r>
          </a:p>
        </p:txBody>
      </p:sp>
      <p:sp>
        <p:nvSpPr>
          <p:cNvPr id="39" name="">
            <a:extLst xmlns:a="http://schemas.openxmlformats.org/drawingml/2006/main">
              <a:ext uri="{FF2B5EF4-FFF2-40B4-BE49-F238E27FC236}">
                <a16:creationId xmlns:a16="http://schemas.microsoft.com/office/drawing/2014/main" id="{388926B1-CF9B-4928-B94E-DB8658498F45}"/>
              </a:ext>
            </a:extLst>
          </p:cNvPr>
          <p:cNvSpPr>
            <a:spLocks xmlns:a="http://schemas.openxmlformats.org/drawingml/2006/main" noGrp="1"/>
          </p:cNvSpPr>
          <p:nvPr/>
        </p:nvSpPr>
        <p:spPr>
          <a:xfrm xmlns:a="http://schemas.openxmlformats.org/drawingml/2006/main">
            <a:off x="0" y="0"/>
            <a:ext cx="12192000" cy="180975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CBAF8DB1-82A5-4E20-895A-D272215B4E62}"/>
              </a:ext>
            </a:extLst>
          </p:cNvPr>
          <p:cNvSpPr>
            <a:spLocks xmlns:a="http://schemas.openxmlformats.org/drawingml/2006/main" noGrp="1"/>
          </p:cNvSpPr>
          <p:nvPr/>
        </p:nvSpPr>
        <p:spPr>
          <a:xfrm xmlns:a="http://schemas.openxmlformats.org/drawingml/2006/main">
            <a:off x="0" y="0"/>
            <a:ext cx="171450" cy="180975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26EB856F-0DC5-420E-A696-5404C38AB467}"/>
              </a:ext>
            </a:extLst>
          </p:cNvPr>
          <p:cNvSpPr>
            <a:spLocks xmlns:a="http://schemas.openxmlformats.org/drawingml/2006/main" noGrp="1"/>
          </p:cNvSpPr>
          <p:nvPr/>
        </p:nvSpPr>
        <p:spPr>
          <a:xfrm xmlns:a="http://schemas.openxmlformats.org/drawingml/2006/main">
            <a:off x="171450" y="0"/>
            <a:ext cx="57150" cy="180975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2" name="kicker-01-marker">
            <a:extLst xmlns:a="http://schemas.openxmlformats.org/drawingml/2006/main">
              <a:ext uri="{FF2B5EF4-FFF2-40B4-BE49-F238E27FC236}">
                <a16:creationId xmlns:a16="http://schemas.microsoft.com/office/drawing/2014/main" id="{389CD643-0495-4809-891D-ECC7B670E9EE}"/>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3" name="kicker-01-label">
            <a:extLst xmlns:a="http://schemas.openxmlformats.org/drawingml/2006/main">
              <a:ext uri="{FF2B5EF4-FFF2-40B4-BE49-F238E27FC236}">
                <a16:creationId xmlns:a16="http://schemas.microsoft.com/office/drawing/2014/main" id="{573D02AE-94E9-40C6-9D10-EA44C6B15497}"/>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FINAL ARTIFACT</a:t>
            </a:r>
          </a:p>
        </p:txBody>
      </p:sp>
      <p:sp>
        <p:nvSpPr>
          <p:cNvPr id="44" name="">
            <a:extLst xmlns:a="http://schemas.openxmlformats.org/drawingml/2006/main">
              <a:ext uri="{FF2B5EF4-FFF2-40B4-BE49-F238E27FC236}">
                <a16:creationId xmlns:a16="http://schemas.microsoft.com/office/drawing/2014/main" id="{840877F3-707E-4086-93EC-E0CF69BC949F}"/>
              </a:ext>
            </a:extLst>
          </p:cNvPr>
          <p:cNvSpPr>
            <a:spLocks xmlns:a="http://schemas.openxmlformats.org/drawingml/2006/main" noGrp="1"/>
          </p:cNvSpPr>
          <p:nvPr/>
        </p:nvSpPr>
        <p:spPr>
          <a:xfrm xmlns:a="http://schemas.openxmlformats.org/drawingml/2006/main">
            <a:off x="514350" y="704850"/>
            <a:ext cx="8096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72026"/>
                </a:solidFill>
                <a:latin typeface="Aptos Display"/>
                <a:ea typeface="Aptos Display"/>
                <a:cs typeface="Aptos Display"/>
              </a:defRPr>
            </a:pPr>
            <a:r>
              <a:rPr sz="2250" b="1">
                <a:solidFill>
                  <a:srgbClr val="172026"/>
                </a:solidFill>
                <a:latin typeface="Aptos Display"/>
                <a:ea typeface="Aptos Display"/>
                <a:cs typeface="Aptos Display"/>
              </a:rPr>
              <a:t>What learners must leave this lesson able to submit.</a:t>
            </a:r>
          </a:p>
        </p:txBody>
      </p:sp>
      <p:sp>
        <p:nvSpPr>
          <p:cNvPr id="45" name="">
            <a:extLst xmlns:a="http://schemas.openxmlformats.org/drawingml/2006/main">
              <a:ext uri="{FF2B5EF4-FFF2-40B4-BE49-F238E27FC236}">
                <a16:creationId xmlns:a16="http://schemas.microsoft.com/office/drawing/2014/main" id="{8EFE9121-D025-428E-99F9-C87C97C41182}"/>
              </a:ext>
            </a:extLst>
          </p:cNvPr>
          <p:cNvSpPr>
            <a:spLocks xmlns:a="http://schemas.openxmlformats.org/drawingml/2006/main" noGrp="1"/>
          </p:cNvSpPr>
          <p:nvPr/>
        </p:nvSpPr>
        <p:spPr>
          <a:xfrm xmlns:a="http://schemas.openxmlformats.org/drawingml/2006/main">
            <a:off x="514350" y="1314450"/>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9646A"/>
                </a:solidFill>
                <a:latin typeface="Aptos"/>
                <a:ea typeface="Aptos"/>
                <a:cs typeface="Aptos"/>
              </a:defRPr>
            </a:pPr>
            <a:r>
              <a:rPr sz="1125" b="0">
                <a:solidFill>
                  <a:srgbClr val="59646A"/>
                </a:solidFill>
                <a:latin typeface="Aptos"/>
                <a:ea typeface="Aptos"/>
                <a:cs typeface="Aptos"/>
              </a:rPr>
              <a:t>Treat this as the exit gate before transitioning.</a:t>
            </a:r>
          </a:p>
        </p:txBody>
      </p:sp>
      <p:sp>
        <p:nvSpPr>
          <p:cNvPr id="46" name="">
            <a:extLst xmlns:a="http://schemas.openxmlformats.org/drawingml/2006/main">
              <a:ext uri="{FF2B5EF4-FFF2-40B4-BE49-F238E27FC236}">
                <a16:creationId xmlns:a16="http://schemas.microsoft.com/office/drawing/2014/main" id="{125F2AF0-A036-447F-B2E4-EE91EECDAFF4}"/>
              </a:ext>
            </a:extLst>
          </p:cNvPr>
          <p:cNvSpPr>
            <a:spLocks xmlns:a="http://schemas.openxmlformats.org/drawingml/2006/main" noGrp="1"/>
          </p:cNvSpPr>
          <p:nvPr/>
        </p:nvSpPr>
        <p:spPr>
          <a:xfrm xmlns:a="http://schemas.openxmlformats.org/drawingml/2006/main">
            <a:off x="0" y="6400800"/>
            <a:ext cx="12192000" cy="4572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EC87E691-7CA2-4388-852F-41F81E1055FD}"/>
              </a:ext>
            </a:extLst>
          </p:cNvPr>
          <p:cNvSpPr>
            <a:spLocks xmlns:a="http://schemas.openxmlformats.org/drawingml/2006/main" noGrp="1"/>
          </p:cNvSpPr>
          <p:nvPr/>
        </p:nvSpPr>
        <p:spPr>
          <a:xfrm xmlns:a="http://schemas.openxmlformats.org/drawingml/2006/main">
            <a:off x="0" y="6400800"/>
            <a:ext cx="171450" cy="4572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881B1F7B-4169-478F-B91A-B13BD10FFCCF}"/>
              </a:ext>
            </a:extLst>
          </p:cNvPr>
          <p:cNvSpPr>
            <a:spLocks xmlns:a="http://schemas.openxmlformats.org/drawingml/2006/main" noGrp="1"/>
          </p:cNvSpPr>
          <p:nvPr/>
        </p:nvSpPr>
        <p:spPr>
          <a:xfrm xmlns:a="http://schemas.openxmlformats.org/drawingml/2006/main">
            <a:off x="171450" y="6400800"/>
            <a:ext cx="57150" cy="457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BDFBA0B1-B3C0-4605-A06C-BB1D68FA12AE}"/>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387A25D7-CBDA-4E28-ADF2-62349789C28E}"/>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51" name="">
            <a:extLst xmlns:a="http://schemas.openxmlformats.org/drawingml/2006/main">
              <a:ext uri="{FF2B5EF4-FFF2-40B4-BE49-F238E27FC236}">
                <a16:creationId xmlns:a16="http://schemas.microsoft.com/office/drawing/2014/main" id="{2AE291B1-5502-4590-8F31-E98CFD85B0EF}"/>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52" name="">
            <a:extLst xmlns:a="http://schemas.openxmlformats.org/drawingml/2006/main">
              <a:ext uri="{FF2B5EF4-FFF2-40B4-BE49-F238E27FC236}">
                <a16:creationId xmlns:a16="http://schemas.microsoft.com/office/drawing/2014/main" id="{14A33537-47D1-43CB-B833-B7770D29C2D1}"/>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14/15</a:t>
            </a:r>
          </a:p>
        </p:txBody>
      </p:sp>
    </p:spTree>
    <p:extLst>
      <p:ext uri="{BB962C8B-B14F-4D97-AF65-F5344CB8AC3E}">
        <p14:creationId xmlns:p14="http://schemas.microsoft.com/office/powerpoint/2010/main" val="82996362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20818BE-6B2D-495A-A22E-3C0B11877C7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F6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AE79EE5-6EEB-46D7-B49D-DF91BE27726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2232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E57556C-A752-4B8A-A131-BF1DE3EAB3D4}"/>
              </a:ext>
            </a:extLst>
          </p:cNvPr>
          <p:cNvSpPr>
            <a:spLocks xmlns:a="http://schemas.openxmlformats.org/drawingml/2006/main" noGrp="1"/>
          </p:cNvSpPr>
          <p:nvPr/>
        </p:nvSpPr>
        <p:spPr>
          <a:xfrm xmlns:a="http://schemas.openxmlformats.org/drawingml/2006/main">
            <a:off x="171450" y="0"/>
            <a:ext cx="57150" cy="68580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4" name="kicker-01-marker">
            <a:extLst xmlns:a="http://schemas.openxmlformats.org/drawingml/2006/main">
              <a:ext uri="{FF2B5EF4-FFF2-40B4-BE49-F238E27FC236}">
                <a16:creationId xmlns:a16="http://schemas.microsoft.com/office/drawing/2014/main" id="{792D2A6A-5694-4363-A1C8-57A86D416748}"/>
              </a:ext>
            </a:extLst>
          </p:cNvPr>
          <p:cNvSpPr>
            <a:spLocks xmlns:a="http://schemas.openxmlformats.org/drawingml/2006/main" noGrp="1"/>
          </p:cNvSpPr>
          <p:nvPr/>
        </p:nvSpPr>
        <p:spPr>
          <a:xfrm xmlns:a="http://schemas.openxmlformats.org/drawingml/2006/main">
            <a:off x="514350" y="390525"/>
            <a:ext cx="76200" cy="76200"/>
          </a:xfrm>
          <a:prstGeom xmlns:a="http://schemas.openxmlformats.org/drawingml/2006/main" prst="rect">
            <a:avLst/>
          </a:prstGeom>
          <a:solidFill xmlns:a="http://schemas.openxmlformats.org/drawingml/2006/main">
            <a:srgbClr val="A85D2A"/>
          </a:solidFill>
          <a:ln xmlns:a="http://schemas.openxmlformats.org/drawingml/2006/main" w="0">
            <a:solidFill>
              <a:srgbClr val="000000">
                <a:alpha val="0"/>
              </a:srgbClr>
            </a:solidFill>
            <a:prstDash val="solid"/>
          </a:ln>
        </p:spPr>
      </p:sp>
      <p:sp>
        <p:nvSpPr>
          <p:cNvPr id="5" name="kicker-01-label">
            <a:extLst xmlns:a="http://schemas.openxmlformats.org/drawingml/2006/main">
              <a:ext uri="{FF2B5EF4-FFF2-40B4-BE49-F238E27FC236}">
                <a16:creationId xmlns:a16="http://schemas.microsoft.com/office/drawing/2014/main" id="{C8D7311B-6F49-450A-AF7B-E0893BB203F3}"/>
              </a:ext>
            </a:extLst>
          </p:cNvPr>
          <p:cNvSpPr>
            <a:spLocks xmlns:a="http://schemas.openxmlformats.org/drawingml/2006/main" noGrp="1"/>
          </p:cNvSpPr>
          <p:nvPr/>
        </p:nvSpPr>
        <p:spPr>
          <a:xfrm xmlns:a="http://schemas.openxmlformats.org/drawingml/2006/main">
            <a:off x="685800" y="323850"/>
            <a:ext cx="7524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MODULE 1 / LESSON 01 / TRANSITION</a:t>
            </a:r>
          </a:p>
        </p:txBody>
      </p:sp>
      <p:sp>
        <p:nvSpPr>
          <p:cNvPr id="6" name="">
            <a:extLst xmlns:a="http://schemas.openxmlformats.org/drawingml/2006/main">
              <a:ext uri="{FF2B5EF4-FFF2-40B4-BE49-F238E27FC236}">
                <a16:creationId xmlns:a16="http://schemas.microsoft.com/office/drawing/2014/main" id="{97C54FD2-0B4C-421B-8692-CA85DE739B3C}"/>
              </a:ext>
            </a:extLst>
          </p:cNvPr>
          <p:cNvSpPr>
            <a:spLocks xmlns:a="http://schemas.openxmlformats.org/drawingml/2006/main" noGrp="1"/>
          </p:cNvSpPr>
          <p:nvPr/>
        </p:nvSpPr>
        <p:spPr>
          <a:xfrm xmlns:a="http://schemas.openxmlformats.org/drawingml/2006/main">
            <a:off x="514350" y="1123950"/>
            <a:ext cx="8382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172026"/>
                </a:solidFill>
                <a:latin typeface="Aptos Display"/>
                <a:ea typeface="Aptos Display"/>
                <a:cs typeface="Aptos Display"/>
              </a:defRPr>
            </a:pPr>
            <a:r>
              <a:rPr sz="2325" b="1">
                <a:solidFill>
                  <a:srgbClr val="172026"/>
                </a:solidFill>
                <a:latin typeface="Aptos Display"/>
                <a:ea typeface="Aptos Display"/>
                <a:cs typeface="Aptos Display"/>
              </a:rPr>
              <a:t>Carry forward: Demand system diagnostic with three priority repairs</a:t>
            </a:r>
          </a:p>
        </p:txBody>
      </p:sp>
      <p:sp>
        <p:nvSpPr>
          <p:cNvPr id="7" name="">
            <a:extLst xmlns:a="http://schemas.openxmlformats.org/drawingml/2006/main">
              <a:ext uri="{FF2B5EF4-FFF2-40B4-BE49-F238E27FC236}">
                <a16:creationId xmlns:a16="http://schemas.microsoft.com/office/drawing/2014/main" id="{36BAF68B-FB80-4DFE-ABE8-54E696CA0CD9}"/>
              </a:ext>
            </a:extLst>
          </p:cNvPr>
          <p:cNvSpPr>
            <a:spLocks xmlns:a="http://schemas.openxmlformats.org/drawingml/2006/main" noGrp="1"/>
          </p:cNvSpPr>
          <p:nvPr/>
        </p:nvSpPr>
        <p:spPr>
          <a:xfrm xmlns:a="http://schemas.openxmlformats.org/drawingml/2006/main">
            <a:off x="514350" y="2190750"/>
            <a:ext cx="723900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D6"/>
            </a:solidFill>
            <a:prstDash val="solid"/>
          </a:ln>
        </p:spPr>
      </p:sp>
      <p:sp>
        <p:nvSpPr>
          <p:cNvPr id="8" name="">
            <a:extLst xmlns:a="http://schemas.openxmlformats.org/drawingml/2006/main">
              <a:ext uri="{FF2B5EF4-FFF2-40B4-BE49-F238E27FC236}">
                <a16:creationId xmlns:a16="http://schemas.microsoft.com/office/drawing/2014/main" id="{4B8C3FC6-79E6-4E69-8C15-71BBC055AC46}"/>
              </a:ext>
            </a:extLst>
          </p:cNvPr>
          <p:cNvSpPr>
            <a:spLocks xmlns:a="http://schemas.openxmlformats.org/drawingml/2006/main" noGrp="1"/>
          </p:cNvSpPr>
          <p:nvPr/>
        </p:nvSpPr>
        <p:spPr>
          <a:xfrm xmlns:a="http://schemas.openxmlformats.org/drawingml/2006/main">
            <a:off x="838200" y="2571750"/>
            <a:ext cx="266700" cy="19050"/>
          </a:xfrm>
          <a:prstGeom xmlns:a="http://schemas.openxmlformats.org/drawingml/2006/main" prst="rect">
            <a:avLst/>
          </a:prstGeom>
          <a:solidFill xmlns:a="http://schemas.openxmlformats.org/drawingml/2006/main">
            <a:srgbClr val="1D607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35D11091-660C-409E-9896-FD21C2538232}"/>
              </a:ext>
            </a:extLst>
          </p:cNvPr>
          <p:cNvSpPr>
            <a:spLocks xmlns:a="http://schemas.openxmlformats.org/drawingml/2006/main" noGrp="1"/>
          </p:cNvSpPr>
          <p:nvPr/>
        </p:nvSpPr>
        <p:spPr>
          <a:xfrm xmlns:a="http://schemas.openxmlformats.org/drawingml/2006/main">
            <a:off x="1200150" y="24955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BRIDGE</a:t>
            </a:r>
          </a:p>
        </p:txBody>
      </p:sp>
      <p:sp>
        <p:nvSpPr>
          <p:cNvPr id="10" name="">
            <a:extLst xmlns:a="http://schemas.openxmlformats.org/drawingml/2006/main">
              <a:ext uri="{FF2B5EF4-FFF2-40B4-BE49-F238E27FC236}">
                <a16:creationId xmlns:a16="http://schemas.microsoft.com/office/drawing/2014/main" id="{7B0FC23F-BA32-48AE-AED6-A444A7DA108D}"/>
              </a:ext>
            </a:extLst>
          </p:cNvPr>
          <p:cNvSpPr>
            <a:spLocks xmlns:a="http://schemas.openxmlformats.org/drawingml/2006/main" noGrp="1"/>
          </p:cNvSpPr>
          <p:nvPr/>
        </p:nvSpPr>
        <p:spPr>
          <a:xfrm xmlns:a="http://schemas.openxmlformats.org/drawingml/2006/main">
            <a:off x="838200" y="2857500"/>
            <a:ext cx="60960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72026"/>
                </a:solidFill>
                <a:latin typeface="Aptos Display"/>
                <a:ea typeface="Aptos Display"/>
                <a:cs typeface="Aptos Display"/>
              </a:defRPr>
            </a:pPr>
            <a:r>
              <a:rPr sz="1650" b="0">
                <a:solidFill>
                  <a:srgbClr val="172026"/>
                </a:solidFill>
                <a:latin typeface="Aptos Display"/>
                <a:ea typeface="Aptos Display"/>
                <a:cs typeface="Aptos Display"/>
              </a:rPr>
              <a:t>Once the room agrees that movement matters more than activity, the next question is who inside the buying organization must move.</a:t>
            </a:r>
          </a:p>
        </p:txBody>
      </p:sp>
      <p:sp>
        <p:nvSpPr>
          <p:cNvPr id="11" name="">
            <a:extLst xmlns:a="http://schemas.openxmlformats.org/drawingml/2006/main">
              <a:ext uri="{FF2B5EF4-FFF2-40B4-BE49-F238E27FC236}">
                <a16:creationId xmlns:a16="http://schemas.microsoft.com/office/drawing/2014/main" id="{6D46307C-F0A9-4CF6-8B53-8ED87BCC3B8B}"/>
              </a:ext>
            </a:extLst>
          </p:cNvPr>
          <p:cNvSpPr>
            <a:spLocks xmlns:a="http://schemas.openxmlformats.org/drawingml/2006/main" noGrp="1"/>
          </p:cNvSpPr>
          <p:nvPr/>
        </p:nvSpPr>
        <p:spPr>
          <a:xfrm xmlns:a="http://schemas.openxmlformats.org/drawingml/2006/main">
            <a:off x="8172450" y="2190750"/>
            <a:ext cx="3257550" cy="1809750"/>
          </a:xfrm>
          <a:prstGeom xmlns:a="http://schemas.openxmlformats.org/drawingml/2006/main" prst="rect">
            <a:avLst/>
          </a:prstGeom>
          <a:solidFill xmlns:a="http://schemas.openxmlformats.org/drawingml/2006/main">
            <a:srgbClr val="12232B"/>
          </a:solidFill>
          <a:ln xmlns:a="http://schemas.openxmlformats.org/drawingml/2006/main" w="9525">
            <a:solidFill>
              <a:srgbClr val="12232B"/>
            </a:solidFill>
            <a:prstDash val="solid"/>
          </a:ln>
        </p:spPr>
      </p:sp>
      <p:sp>
        <p:nvSpPr>
          <p:cNvPr id="12" name="">
            <a:extLst xmlns:a="http://schemas.openxmlformats.org/drawingml/2006/main">
              <a:ext uri="{FF2B5EF4-FFF2-40B4-BE49-F238E27FC236}">
                <a16:creationId xmlns:a16="http://schemas.microsoft.com/office/drawing/2014/main" id="{73FCC7F9-A69A-48DF-991D-72342F86244F}"/>
              </a:ext>
            </a:extLst>
          </p:cNvPr>
          <p:cNvSpPr>
            <a:spLocks xmlns:a="http://schemas.openxmlformats.org/drawingml/2006/main" noGrp="1"/>
          </p:cNvSpPr>
          <p:nvPr/>
        </p:nvSpPr>
        <p:spPr>
          <a:xfrm xmlns:a="http://schemas.openxmlformats.org/drawingml/2006/main">
            <a:off x="8477250" y="2571750"/>
            <a:ext cx="266700" cy="19050"/>
          </a:xfrm>
          <a:prstGeom xmlns:a="http://schemas.openxmlformats.org/drawingml/2006/main" prst="rect">
            <a:avLst/>
          </a:prstGeom>
          <a:solidFill xmlns:a="http://schemas.openxmlformats.org/drawingml/2006/main">
            <a:srgbClr val="B7953B"/>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9FD892F2-3672-44A7-816F-2F6433A08657}"/>
              </a:ext>
            </a:extLst>
          </p:cNvPr>
          <p:cNvSpPr>
            <a:spLocks xmlns:a="http://schemas.openxmlformats.org/drawingml/2006/main" noGrp="1"/>
          </p:cNvSpPr>
          <p:nvPr/>
        </p:nvSpPr>
        <p:spPr>
          <a:xfrm xmlns:a="http://schemas.openxmlformats.org/drawingml/2006/main">
            <a:off x="8839200" y="24955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59646A"/>
                </a:solidFill>
                <a:latin typeface="Aptos"/>
                <a:ea typeface="Aptos"/>
                <a:cs typeface="Aptos"/>
              </a:defRPr>
            </a:pPr>
            <a:r>
              <a:rPr sz="750" b="1">
                <a:solidFill>
                  <a:srgbClr val="59646A"/>
                </a:solidFill>
                <a:latin typeface="Aptos"/>
                <a:ea typeface="Aptos"/>
                <a:cs typeface="Aptos"/>
              </a:rPr>
              <a:t>NEXT</a:t>
            </a:r>
          </a:p>
        </p:txBody>
      </p:sp>
      <p:sp>
        <p:nvSpPr>
          <p:cNvPr id="14" name="">
            <a:extLst xmlns:a="http://schemas.openxmlformats.org/drawingml/2006/main">
              <a:ext uri="{FF2B5EF4-FFF2-40B4-BE49-F238E27FC236}">
                <a16:creationId xmlns:a16="http://schemas.microsoft.com/office/drawing/2014/main" id="{0601B7E8-6635-437B-85F0-BC5751FA55A0}"/>
              </a:ext>
            </a:extLst>
          </p:cNvPr>
          <p:cNvSpPr>
            <a:spLocks xmlns:a="http://schemas.openxmlformats.org/drawingml/2006/main" noGrp="1"/>
          </p:cNvSpPr>
          <p:nvPr/>
        </p:nvSpPr>
        <p:spPr>
          <a:xfrm xmlns:a="http://schemas.openxmlformats.org/drawingml/2006/main">
            <a:off x="8477250" y="2876550"/>
            <a:ext cx="2381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Lesson 02 - Industrial Buyer Reality</a:t>
            </a:r>
          </a:p>
        </p:txBody>
      </p:sp>
      <p:sp>
        <p:nvSpPr>
          <p:cNvPr id="15" name="">
            <a:extLst xmlns:a="http://schemas.openxmlformats.org/drawingml/2006/main">
              <a:ext uri="{FF2B5EF4-FFF2-40B4-BE49-F238E27FC236}">
                <a16:creationId xmlns:a16="http://schemas.microsoft.com/office/drawing/2014/main" id="{86FD7245-9A9E-49D2-A0E3-5AA29E9639A2}"/>
              </a:ext>
            </a:extLst>
          </p:cNvPr>
          <p:cNvSpPr>
            <a:spLocks xmlns:a="http://schemas.openxmlformats.org/drawingml/2006/main" noGrp="1"/>
          </p:cNvSpPr>
          <p:nvPr/>
        </p:nvSpPr>
        <p:spPr>
          <a:xfrm xmlns:a="http://schemas.openxmlformats.org/drawingml/2006/main">
            <a:off x="514350" y="4457700"/>
            <a:ext cx="10915650" cy="933450"/>
          </a:xfrm>
          <a:prstGeom xmlns:a="http://schemas.openxmlformats.org/drawingml/2006/main" prst="rect">
            <a:avLst/>
          </a:prstGeom>
          <a:solidFill xmlns:a="http://schemas.openxmlformats.org/drawingml/2006/main">
            <a:srgbClr val="F9FAF7"/>
          </a:solidFill>
          <a:ln xmlns:a="http://schemas.openxmlformats.org/drawingml/2006/main" w="9525">
            <a:solidFill>
              <a:srgbClr val="D9DDD6"/>
            </a:solidFill>
            <a:prstDash val="solid"/>
          </a:ln>
        </p:spPr>
      </p:sp>
      <p:sp>
        <p:nvSpPr>
          <p:cNvPr id="16" name="">
            <a:extLst xmlns:a="http://schemas.openxmlformats.org/drawingml/2006/main">
              <a:ext uri="{FF2B5EF4-FFF2-40B4-BE49-F238E27FC236}">
                <a16:creationId xmlns:a16="http://schemas.microsoft.com/office/drawing/2014/main" id="{E00C988D-470E-488C-9E76-E8A4194D2C89}"/>
              </a:ext>
            </a:extLst>
          </p:cNvPr>
          <p:cNvSpPr>
            <a:spLocks xmlns:a="http://schemas.openxmlformats.org/drawingml/2006/main" noGrp="1"/>
          </p:cNvSpPr>
          <p:nvPr/>
        </p:nvSpPr>
        <p:spPr>
          <a:xfrm xmlns:a="http://schemas.openxmlformats.org/drawingml/2006/main">
            <a:off x="819150" y="4762500"/>
            <a:ext cx="9906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75" b="0">
                <a:solidFill>
                  <a:srgbClr val="59646A"/>
                </a:solidFill>
                <a:latin typeface="Aptos"/>
                <a:ea typeface="Aptos"/>
                <a:cs typeface="Aptos"/>
              </a:defRPr>
            </a:pPr>
            <a:r>
              <a:rPr sz="1275" b="0">
                <a:solidFill>
                  <a:srgbClr val="59646A"/>
                </a:solidFill>
                <a:latin typeface="Aptos"/>
                <a:ea typeface="Aptos"/>
                <a:cs typeface="Aptos"/>
              </a:rPr>
              <a:t>Recurring instructor check: sales impact / signal / RevOps field / buyer content / AI risk / industrial failure mode</a:t>
            </a:r>
          </a:p>
        </p:txBody>
      </p:sp>
      <p:sp>
        <p:nvSpPr>
          <p:cNvPr id="17" name="">
            <a:extLst xmlns:a="http://schemas.openxmlformats.org/drawingml/2006/main">
              <a:ext uri="{FF2B5EF4-FFF2-40B4-BE49-F238E27FC236}">
                <a16:creationId xmlns:a16="http://schemas.microsoft.com/office/drawing/2014/main" id="{B4E99394-C6C9-4C5C-8565-728072F3E695}"/>
              </a:ext>
            </a:extLst>
          </p:cNvPr>
          <p:cNvSpPr>
            <a:spLocks xmlns:a="http://schemas.openxmlformats.org/drawingml/2006/main" noGrp="1"/>
          </p:cNvSpPr>
          <p:nvPr/>
        </p:nvSpPr>
        <p:spPr>
          <a:xfrm xmlns:a="http://schemas.openxmlformats.org/drawingml/2006/main">
            <a:off x="514350" y="6438900"/>
            <a:ext cx="10915650" cy="9525"/>
          </a:xfrm>
          <a:prstGeom xmlns:a="http://schemas.openxmlformats.org/drawingml/2006/main" prst="rect">
            <a:avLst/>
          </a:prstGeom>
          <a:solidFill xmlns:a="http://schemas.openxmlformats.org/drawingml/2006/main">
            <a:srgbClr val="D9DDD6"/>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B3CD0281-4344-4FB6-A0B1-322DA48B02CE}"/>
              </a:ext>
            </a:extLst>
          </p:cNvPr>
          <p:cNvSpPr>
            <a:spLocks xmlns:a="http://schemas.openxmlformats.org/drawingml/2006/main" noGrp="1"/>
          </p:cNvSpPr>
          <p:nvPr/>
        </p:nvSpPr>
        <p:spPr>
          <a:xfrm xmlns:a="http://schemas.openxmlformats.org/drawingml/2006/main">
            <a:off x="514350" y="65532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59646A"/>
                </a:solidFill>
                <a:latin typeface="Aptos"/>
                <a:ea typeface="Aptos"/>
                <a:cs typeface="Aptos"/>
              </a:defRPr>
            </a:pPr>
            <a:r>
              <a:rPr sz="675" b="0">
                <a:solidFill>
                  <a:srgbClr val="59646A"/>
                </a:solidFill>
                <a:latin typeface="Aptos"/>
                <a:ea typeface="Aptos"/>
                <a:cs typeface="Aptos"/>
              </a:rPr>
              <a:t>Lesson 01 - Industrial Demand Generation Foundations</a:t>
            </a:r>
          </a:p>
        </p:txBody>
      </p:sp>
      <p:sp>
        <p:nvSpPr>
          <p:cNvPr id="19" name="">
            <a:extLst xmlns:a="http://schemas.openxmlformats.org/drawingml/2006/main">
              <a:ext uri="{FF2B5EF4-FFF2-40B4-BE49-F238E27FC236}">
                <a16:creationId xmlns:a16="http://schemas.microsoft.com/office/drawing/2014/main" id="{5A029386-6AC7-459B-A256-B7A10515F779}"/>
              </a:ext>
            </a:extLst>
          </p:cNvPr>
          <p:cNvSpPr>
            <a:spLocks xmlns:a="http://schemas.openxmlformats.org/drawingml/2006/main" noGrp="1"/>
          </p:cNvSpPr>
          <p:nvPr/>
        </p:nvSpPr>
        <p:spPr>
          <a:xfrm xmlns:a="http://schemas.openxmlformats.org/drawingml/2006/main">
            <a:off x="5334000" y="6553200"/>
            <a:ext cx="4095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00" b="0">
                <a:solidFill>
                  <a:srgbClr val="59646A"/>
                </a:solidFill>
                <a:latin typeface="Aptos"/>
                <a:ea typeface="Aptos"/>
                <a:cs typeface="Aptos"/>
              </a:defRPr>
            </a:pPr>
            <a:r>
              <a:rPr sz="600" b="0">
                <a:solidFill>
                  <a:srgbClr val="59646A"/>
                </a:solidFill>
                <a:latin typeface="Aptos"/>
                <a:ea typeface="Aptos"/>
                <a:cs typeface="Aptos"/>
              </a:rPr>
              <a:t>Source: modules/module-01-industrial-demand-generation/lessons/01-industrial-demand-generation-foundations.md @ 9e28222</a:t>
            </a:r>
          </a:p>
        </p:txBody>
      </p:sp>
      <p:sp>
        <p:nvSpPr>
          <p:cNvPr id="20" name="">
            <a:extLst xmlns:a="http://schemas.openxmlformats.org/drawingml/2006/main">
              <a:ext uri="{FF2B5EF4-FFF2-40B4-BE49-F238E27FC236}">
                <a16:creationId xmlns:a16="http://schemas.microsoft.com/office/drawing/2014/main" id="{1AF5687D-EDFA-4478-8B8D-E154048D5422}"/>
              </a:ext>
            </a:extLst>
          </p:cNvPr>
          <p:cNvSpPr>
            <a:spLocks xmlns:a="http://schemas.openxmlformats.org/drawingml/2006/main" noGrp="1"/>
          </p:cNvSpPr>
          <p:nvPr/>
        </p:nvSpPr>
        <p:spPr>
          <a:xfrm xmlns:a="http://schemas.openxmlformats.org/drawingml/2006/main">
            <a:off x="10668000" y="6553200"/>
            <a:ext cx="762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59646A"/>
                </a:solidFill>
                <a:latin typeface="Aptos"/>
                <a:ea typeface="Aptos"/>
                <a:cs typeface="Aptos"/>
              </a:defRPr>
            </a:pPr>
            <a:r>
              <a:rPr sz="675" b="0">
                <a:solidFill>
                  <a:srgbClr val="59646A"/>
                </a:solidFill>
                <a:latin typeface="Aptos"/>
                <a:ea typeface="Aptos"/>
                <a:cs typeface="Aptos"/>
              </a:rPr>
              <a:t>15/15</a:t>
            </a:r>
          </a:p>
        </p:txBody>
      </p:sp>
    </p:spTree>
    <p:extLst>
      <p:ext uri="{BB962C8B-B14F-4D97-AF65-F5344CB8AC3E}">
        <p14:creationId xmlns:p14="http://schemas.microsoft.com/office/powerpoint/2010/main" val="6913100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2026-05-16T17:00:33.9130000Z</dcterms:created>
  <dcterms:modified xsi:type="dcterms:W3CDTF">2026-05-16T17:00:33.9130000Z</dcterms:modified>
</coreProperties>
</file>