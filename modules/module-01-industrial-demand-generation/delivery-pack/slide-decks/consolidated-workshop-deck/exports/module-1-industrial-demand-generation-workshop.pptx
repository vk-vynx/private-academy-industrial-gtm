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12c16436b44fd5" /><Relationship Type="http://schemas.openxmlformats.org/officeDocument/2006/relationships/extended-properties" Target="/docProps/app.xml" Id="Rbb8c7037620c4017" /><Relationship Type="http://schemas.openxmlformats.org/officeDocument/2006/relationships/officeDocument" Target="/ppt/presentation.xml" Id="R2dc3c6c452d149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81efbbcb3042b8"/>
  </p:sldMasterIdLst>
  <p:notesMasterIdLst>
    <p:notesMasterId xmlns:r="http://schemas.openxmlformats.org/officeDocument/2006/relationships" r:id="R5a80c303d5c941cc"/>
  </p:notesMasterIdLst>
  <p:sldIdLst>
    <p:sldId xmlns:r="http://schemas.openxmlformats.org/officeDocument/2006/relationships" id="256" r:id="R4c8fecee609843cf"/>
    <p:sldId xmlns:r="http://schemas.openxmlformats.org/officeDocument/2006/relationships" id="257" r:id="R4e875c9bd7104fb0"/>
    <p:sldId xmlns:r="http://schemas.openxmlformats.org/officeDocument/2006/relationships" id="258" r:id="R446aea1e56ac44af"/>
    <p:sldId xmlns:r="http://schemas.openxmlformats.org/officeDocument/2006/relationships" id="259" r:id="R36f30d962f1f494a"/>
    <p:sldId xmlns:r="http://schemas.openxmlformats.org/officeDocument/2006/relationships" id="260" r:id="R11164dd7073949ec"/>
    <p:sldId xmlns:r="http://schemas.openxmlformats.org/officeDocument/2006/relationships" id="261" r:id="R6cf78b82296f462e"/>
    <p:sldId xmlns:r="http://schemas.openxmlformats.org/officeDocument/2006/relationships" id="262" r:id="Rde898014bde144fd"/>
    <p:sldId xmlns:r="http://schemas.openxmlformats.org/officeDocument/2006/relationships" id="263" r:id="R372d61f92a464697"/>
    <p:sldId xmlns:r="http://schemas.openxmlformats.org/officeDocument/2006/relationships" id="264" r:id="Red646d49f2d040e6"/>
    <p:sldId xmlns:r="http://schemas.openxmlformats.org/officeDocument/2006/relationships" id="265" r:id="R7709f7a694fb4228"/>
    <p:sldId xmlns:r="http://schemas.openxmlformats.org/officeDocument/2006/relationships" id="266" r:id="Rdba71ad84b684cda"/>
    <p:sldId xmlns:r="http://schemas.openxmlformats.org/officeDocument/2006/relationships" id="267" r:id="R422493735a7d4de3"/>
    <p:sldId xmlns:r="http://schemas.openxmlformats.org/officeDocument/2006/relationships" id="268" r:id="R193aecfa099247bd"/>
    <p:sldId xmlns:r="http://schemas.openxmlformats.org/officeDocument/2006/relationships" id="269" r:id="R50edad38ee814d3d"/>
    <p:sldId xmlns:r="http://schemas.openxmlformats.org/officeDocument/2006/relationships" id="270" r:id="Rdd5d6ee322d94f1a"/>
    <p:sldId xmlns:r="http://schemas.openxmlformats.org/officeDocument/2006/relationships" id="271" r:id="Ra5ceae5378c444b5"/>
    <p:sldId xmlns:r="http://schemas.openxmlformats.org/officeDocument/2006/relationships" id="272" r:id="R9ef2976cdb91406b"/>
    <p:sldId xmlns:r="http://schemas.openxmlformats.org/officeDocument/2006/relationships" id="273" r:id="Rfd5f1c222b94405c"/>
    <p:sldId xmlns:r="http://schemas.openxmlformats.org/officeDocument/2006/relationships" id="274" r:id="Radadc6fd51cf41f9"/>
    <p:sldId xmlns:r="http://schemas.openxmlformats.org/officeDocument/2006/relationships" id="275" r:id="Rfb197eb0e7e249fe"/>
    <p:sldId xmlns:r="http://schemas.openxmlformats.org/officeDocument/2006/relationships" id="276" r:id="R8d79fdd5ed03403e"/>
    <p:sldId xmlns:r="http://schemas.openxmlformats.org/officeDocument/2006/relationships" id="277" r:id="R6ed8dec2e7104f3f"/>
    <p:sldId xmlns:r="http://schemas.openxmlformats.org/officeDocument/2006/relationships" id="278" r:id="R6987b3d943454b7a"/>
    <p:sldId xmlns:r="http://schemas.openxmlformats.org/officeDocument/2006/relationships" id="279" r:id="Rd8e228ee7c614fa2"/>
    <p:sldId xmlns:r="http://schemas.openxmlformats.org/officeDocument/2006/relationships" id="280" r:id="R6eadca4dc3174730"/>
    <p:sldId xmlns:r="http://schemas.openxmlformats.org/officeDocument/2006/relationships" id="281" r:id="R015cc619ab1b4e11"/>
    <p:sldId xmlns:r="http://schemas.openxmlformats.org/officeDocument/2006/relationships" id="282" r:id="R54abff2e860e4caa"/>
    <p:sldId xmlns:r="http://schemas.openxmlformats.org/officeDocument/2006/relationships" id="283" r:id="Rd8307e00e458480b"/>
    <p:sldId xmlns:r="http://schemas.openxmlformats.org/officeDocument/2006/relationships" id="284" r:id="Rcbca68b423bc4470"/>
    <p:sldId xmlns:r="http://schemas.openxmlformats.org/officeDocument/2006/relationships" id="285" r:id="Rd450e90cb212494f"/>
    <p:sldId xmlns:r="http://schemas.openxmlformats.org/officeDocument/2006/relationships" id="286" r:id="Rfa20b43e6ac24e39"/>
    <p:sldId xmlns:r="http://schemas.openxmlformats.org/officeDocument/2006/relationships" id="287" r:id="Re735ddb138664e31"/>
    <p:sldId xmlns:r="http://schemas.openxmlformats.org/officeDocument/2006/relationships" id="288" r:id="R80dbddbc24104347"/>
    <p:sldId xmlns:r="http://schemas.openxmlformats.org/officeDocument/2006/relationships" id="289" r:id="Rebce4e3dfb82444e"/>
    <p:sldId xmlns:r="http://schemas.openxmlformats.org/officeDocument/2006/relationships" id="290" r:id="R387e4d6b73d146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1efbbcb3042b8" /><Relationship Type="http://schemas.openxmlformats.org/officeDocument/2006/relationships/theme" Target="/ppt/theme/theme1.xml" Id="R1df938be7bdf4851" /><Relationship Type="http://schemas.openxmlformats.org/officeDocument/2006/relationships/notesMaster" Target="/ppt/notesMasters/notesMaster1.xml" Id="R5a80c303d5c941cc" /><Relationship Type="http://schemas.openxmlformats.org/officeDocument/2006/relationships/presProps" Target="/ppt/presProps.xml" Id="Rd49560dc6bd045fc" /><Relationship Type="http://schemas.openxmlformats.org/officeDocument/2006/relationships/viewProps" Target="/ppt/viewProps.xml" Id="Rb4336339b1564b11" /><Relationship Type="http://schemas.openxmlformats.org/officeDocument/2006/relationships/tableStyles" Target="/ppt/tableStyles.xml" Id="R3c68777ffdf44193" /><Relationship Type="http://schemas.openxmlformats.org/officeDocument/2006/relationships/slide" Target="/ppt/slides/slide1.xml" Id="R4c8fecee609843cf" /><Relationship Type="http://schemas.openxmlformats.org/officeDocument/2006/relationships/slide" Target="/ppt/slides/slide2.xml" Id="R4e875c9bd7104fb0" /><Relationship Type="http://schemas.openxmlformats.org/officeDocument/2006/relationships/slide" Target="/ppt/slides/slide3.xml" Id="R446aea1e56ac44af" /><Relationship Type="http://schemas.openxmlformats.org/officeDocument/2006/relationships/slide" Target="/ppt/slides/slide4.xml" Id="R36f30d962f1f494a" /><Relationship Type="http://schemas.openxmlformats.org/officeDocument/2006/relationships/slide" Target="/ppt/slides/slide5.xml" Id="R11164dd7073949ec" /><Relationship Type="http://schemas.openxmlformats.org/officeDocument/2006/relationships/slide" Target="/ppt/slides/slide6.xml" Id="R6cf78b82296f462e" /><Relationship Type="http://schemas.openxmlformats.org/officeDocument/2006/relationships/slide" Target="/ppt/slides/slide7.xml" Id="Rde898014bde144fd" /><Relationship Type="http://schemas.openxmlformats.org/officeDocument/2006/relationships/slide" Target="/ppt/slides/slide8.xml" Id="R372d61f92a464697" /><Relationship Type="http://schemas.openxmlformats.org/officeDocument/2006/relationships/slide" Target="/ppt/slides/slide9.xml" Id="Red646d49f2d040e6" /><Relationship Type="http://schemas.openxmlformats.org/officeDocument/2006/relationships/slide" Target="/ppt/slides/slide10.xml" Id="R7709f7a694fb4228" /><Relationship Type="http://schemas.openxmlformats.org/officeDocument/2006/relationships/slide" Target="/ppt/slides/slide11.xml" Id="Rdba71ad84b684cda" /><Relationship Type="http://schemas.openxmlformats.org/officeDocument/2006/relationships/slide" Target="/ppt/slides/slide12.xml" Id="R422493735a7d4de3" /><Relationship Type="http://schemas.openxmlformats.org/officeDocument/2006/relationships/slide" Target="/ppt/slides/slide13.xml" Id="R193aecfa099247bd" /><Relationship Type="http://schemas.openxmlformats.org/officeDocument/2006/relationships/slide" Target="/ppt/slides/slide14.xml" Id="R50edad38ee814d3d" /><Relationship Type="http://schemas.openxmlformats.org/officeDocument/2006/relationships/slide" Target="/ppt/slides/slide15.xml" Id="Rdd5d6ee322d94f1a" /><Relationship Type="http://schemas.openxmlformats.org/officeDocument/2006/relationships/slide" Target="/ppt/slides/slide16.xml" Id="Ra5ceae5378c444b5" /><Relationship Type="http://schemas.openxmlformats.org/officeDocument/2006/relationships/slide" Target="/ppt/slides/slide17.xml" Id="R9ef2976cdb91406b" /><Relationship Type="http://schemas.openxmlformats.org/officeDocument/2006/relationships/slide" Target="/ppt/slides/slide18.xml" Id="Rfd5f1c222b94405c" /><Relationship Type="http://schemas.openxmlformats.org/officeDocument/2006/relationships/slide" Target="/ppt/slides/slide19.xml" Id="Radadc6fd51cf41f9" /><Relationship Type="http://schemas.openxmlformats.org/officeDocument/2006/relationships/slide" Target="/ppt/slides/slide20.xml" Id="Rfb197eb0e7e249fe" /><Relationship Type="http://schemas.openxmlformats.org/officeDocument/2006/relationships/slide" Target="/ppt/slides/slide21.xml" Id="R8d79fdd5ed03403e" /><Relationship Type="http://schemas.openxmlformats.org/officeDocument/2006/relationships/slide" Target="/ppt/slides/slide22.xml" Id="R6ed8dec2e7104f3f" /><Relationship Type="http://schemas.openxmlformats.org/officeDocument/2006/relationships/slide" Target="/ppt/slides/slide23.xml" Id="R6987b3d943454b7a" /><Relationship Type="http://schemas.openxmlformats.org/officeDocument/2006/relationships/slide" Target="/ppt/slides/slide24.xml" Id="Rd8e228ee7c614fa2" /><Relationship Type="http://schemas.openxmlformats.org/officeDocument/2006/relationships/slide" Target="/ppt/slides/slide25.xml" Id="R6eadca4dc3174730" /><Relationship Type="http://schemas.openxmlformats.org/officeDocument/2006/relationships/slide" Target="/ppt/slides/slide26.xml" Id="R015cc619ab1b4e11" /><Relationship Type="http://schemas.openxmlformats.org/officeDocument/2006/relationships/slide" Target="/ppt/slides/slide27.xml" Id="R54abff2e860e4caa" /><Relationship Type="http://schemas.openxmlformats.org/officeDocument/2006/relationships/slide" Target="/ppt/slides/slide28.xml" Id="Rd8307e00e458480b" /><Relationship Type="http://schemas.openxmlformats.org/officeDocument/2006/relationships/slide" Target="/ppt/slides/slide29.xml" Id="Rcbca68b423bc4470" /><Relationship Type="http://schemas.openxmlformats.org/officeDocument/2006/relationships/slide" Target="/ppt/slides/slide30.xml" Id="Rd450e90cb212494f" /><Relationship Type="http://schemas.openxmlformats.org/officeDocument/2006/relationships/slide" Target="/ppt/slides/slide31.xml" Id="Rfa20b43e6ac24e39" /><Relationship Type="http://schemas.openxmlformats.org/officeDocument/2006/relationships/slide" Target="/ppt/slides/slide32.xml" Id="Re735ddb138664e31" /><Relationship Type="http://schemas.openxmlformats.org/officeDocument/2006/relationships/slide" Target="/ppt/slides/slide33.xml" Id="R80dbddbc24104347" /><Relationship Type="http://schemas.openxmlformats.org/officeDocument/2006/relationships/slide" Target="/ppt/slides/slide34.xml" Id="Rebce4e3dfb82444e" /><Relationship Type="http://schemas.openxmlformats.org/officeDocument/2006/relationships/slide" Target="/ppt/slides/slide35.xml" Id="R387e4d6b73d146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488e870f5d94c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883b65b62f4a4f" /><Relationship Type="http://schemas.openxmlformats.org/officeDocument/2006/relationships/notesMaster" Target="/ppt/notesMasters/notesMaster1.xml" Id="Ra13b40436c9d49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38dbefa3f540bf" /><Relationship Type="http://schemas.openxmlformats.org/officeDocument/2006/relationships/notesMaster" Target="/ppt/notesMasters/notesMaster1.xml" Id="R04d1915a398946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da8531ce874797" /><Relationship Type="http://schemas.openxmlformats.org/officeDocument/2006/relationships/notesMaster" Target="/ppt/notesMasters/notesMaster1.xml" Id="Rff8e4f24aff641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48f6cd9365489a" /><Relationship Type="http://schemas.openxmlformats.org/officeDocument/2006/relationships/notesMaster" Target="/ppt/notesMasters/notesMaster1.xml" Id="Rd71ab8e83fc34c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8e0610902c4269" /><Relationship Type="http://schemas.openxmlformats.org/officeDocument/2006/relationships/notesMaster" Target="/ppt/notesMasters/notesMaster1.xml" Id="Rd8509bbda64e44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94c2cb83814b89" /><Relationship Type="http://schemas.openxmlformats.org/officeDocument/2006/relationships/notesMaster" Target="/ppt/notesMasters/notesMaster1.xml" Id="R3885333a1e4347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38639d2b4a498a" /><Relationship Type="http://schemas.openxmlformats.org/officeDocument/2006/relationships/notesMaster" Target="/ppt/notesMasters/notesMaster1.xml" Id="R674dc3bd298045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824502a535488c" /><Relationship Type="http://schemas.openxmlformats.org/officeDocument/2006/relationships/notesMaster" Target="/ppt/notesMasters/notesMaster1.xml" Id="R231818a2e5344e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5e490cbb614894" /><Relationship Type="http://schemas.openxmlformats.org/officeDocument/2006/relationships/notesMaster" Target="/ppt/notesMasters/notesMaster1.xml" Id="R2b90ee42c0574a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e4ebe8c599437c" /><Relationship Type="http://schemas.openxmlformats.org/officeDocument/2006/relationships/notesMaster" Target="/ppt/notesMasters/notesMaster1.xml" Id="R9e69440e23434b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8645753db14e7e" /><Relationship Type="http://schemas.openxmlformats.org/officeDocument/2006/relationships/notesMaster" Target="/ppt/notesMasters/notesMaster1.xml" Id="Rab550bde013a41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2c2cff45984643" /><Relationship Type="http://schemas.openxmlformats.org/officeDocument/2006/relationships/notesMaster" Target="/ppt/notesMasters/notesMaster1.xml" Id="R66e97323d83a4d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a806f9b78b405d" /><Relationship Type="http://schemas.openxmlformats.org/officeDocument/2006/relationships/notesMaster" Target="/ppt/notesMasters/notesMaster1.xml" Id="R38fbd0555ebe4e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d980893f5a40e3" /><Relationship Type="http://schemas.openxmlformats.org/officeDocument/2006/relationships/notesMaster" Target="/ppt/notesMasters/notesMaster1.xml" Id="R5d59725daba64bc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cfb97daa2c4401" /><Relationship Type="http://schemas.openxmlformats.org/officeDocument/2006/relationships/notesMaster" Target="/ppt/notesMasters/notesMaster1.xml" Id="Ra055c2fe8faf4f3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3c69b8108b44843" /><Relationship Type="http://schemas.openxmlformats.org/officeDocument/2006/relationships/notesMaster" Target="/ppt/notesMasters/notesMaster1.xml" Id="R847dd65731ba4d5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18a1e7b05b24123" /><Relationship Type="http://schemas.openxmlformats.org/officeDocument/2006/relationships/notesMaster" Target="/ppt/notesMasters/notesMaster1.xml" Id="R76d7caf0c4f442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085dd52f9e4217" /><Relationship Type="http://schemas.openxmlformats.org/officeDocument/2006/relationships/notesMaster" Target="/ppt/notesMasters/notesMaster1.xml" Id="R7b7322fcbf3a416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d6c0edd91ab483a" /><Relationship Type="http://schemas.openxmlformats.org/officeDocument/2006/relationships/notesMaster" Target="/ppt/notesMasters/notesMaster1.xml" Id="R92836750c6a046c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c6485b959474c64" /><Relationship Type="http://schemas.openxmlformats.org/officeDocument/2006/relationships/notesMaster" Target="/ppt/notesMasters/notesMaster1.xml" Id="R3c213f65f75a4f2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0e09fbfaf74c5b" /><Relationship Type="http://schemas.openxmlformats.org/officeDocument/2006/relationships/notesMaster" Target="/ppt/notesMasters/notesMaster1.xml" Id="R70674e18184b44e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2414e0e35464485" /><Relationship Type="http://schemas.openxmlformats.org/officeDocument/2006/relationships/notesMaster" Target="/ppt/notesMasters/notesMaster1.xml" Id="R7f8aba11f809460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84351ff40b44e54" /><Relationship Type="http://schemas.openxmlformats.org/officeDocument/2006/relationships/notesMaster" Target="/ppt/notesMasters/notesMaster1.xml" Id="R1790fd9227934a8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c42d05ea06443ef" /><Relationship Type="http://schemas.openxmlformats.org/officeDocument/2006/relationships/notesMaster" Target="/ppt/notesMasters/notesMaster1.xml" Id="R1f1fa1ccfd4f433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9fd185ffa724279" /><Relationship Type="http://schemas.openxmlformats.org/officeDocument/2006/relationships/notesMaster" Target="/ppt/notesMasters/notesMaster1.xml" Id="Rd3bd5b1218204f5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98f63940bff42bc" /><Relationship Type="http://schemas.openxmlformats.org/officeDocument/2006/relationships/notesMaster" Target="/ppt/notesMasters/notesMaster1.xml" Id="R1d1880bd666f4a7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699472174304cd1" /><Relationship Type="http://schemas.openxmlformats.org/officeDocument/2006/relationships/notesMaster" Target="/ppt/notesMasters/notesMaster1.xml" Id="R7632bd32691e465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df4028620b9430e" /><Relationship Type="http://schemas.openxmlformats.org/officeDocument/2006/relationships/notesMaster" Target="/ppt/notesMasters/notesMaster1.xml" Id="R316cf9e538b045a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a5aeb4e24734f34" /><Relationship Type="http://schemas.openxmlformats.org/officeDocument/2006/relationships/notesMaster" Target="/ppt/notesMasters/notesMaster1.xml" Id="R681daf39495c42e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abe3ad1c3bb4277" /><Relationship Type="http://schemas.openxmlformats.org/officeDocument/2006/relationships/notesMaster" Target="/ppt/notesMasters/notesMaster1.xml" Id="Rea50936f53b6486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c8b225765234891" /><Relationship Type="http://schemas.openxmlformats.org/officeDocument/2006/relationships/notesMaster" Target="/ppt/notesMasters/notesMaster1.xml" Id="R612b8804f77a4eb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e1b81c7b7c54c81" /><Relationship Type="http://schemas.openxmlformats.org/officeDocument/2006/relationships/notesMaster" Target="/ppt/notesMasters/notesMaster1.xml" Id="R270aa74e1930422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d4863faf8dc4fd0" /><Relationship Type="http://schemas.openxmlformats.org/officeDocument/2006/relationships/notesMaster" Target="/ppt/notesMasters/notesMaster1.xml" Id="Rd0358e69be5e4e3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5ea7dad433c4492" /><Relationship Type="http://schemas.openxmlformats.org/officeDocument/2006/relationships/notesMaster" Target="/ppt/notesMasters/notesMaster1.xml" Id="Raee88a7b0da8474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e9a01f666c34a79" /><Relationship Type="http://schemas.openxmlformats.org/officeDocument/2006/relationships/notesMaster" Target="/ppt/notesMasters/notesMaster1.xml" Id="R7178a07d381f4d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562b06a4c435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e7e1d3a8340414d" /><Relationship Type="http://schemas.openxmlformats.org/officeDocument/2006/relationships/slideLayout" Target="/ppt/slideLayouts/slideLayout2.xml" Id="R02dc39ec907e4e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dc39ec907e4e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b98361a17d444e" /><Relationship Type="http://schemas.openxmlformats.org/officeDocument/2006/relationships/notesSlide" Target="/ppt/notesSlides/notesSlide1.xml" Id="R865a6b7aa73644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a5c91f2b364ca2" /><Relationship Type="http://schemas.openxmlformats.org/officeDocument/2006/relationships/notesSlide" Target="/ppt/notesSlides/notesSlide2.xml" Id="R671799f89f8c45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f3322e5a0544d8" /><Relationship Type="http://schemas.openxmlformats.org/officeDocument/2006/relationships/notesSlide" Target="/ppt/notesSlides/notesSlide3.xml" Id="R267835955efc47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d32be0dd2941ab" /><Relationship Type="http://schemas.openxmlformats.org/officeDocument/2006/relationships/notesSlide" Target="/ppt/notesSlides/notesSlide4.xml" Id="Re6ed2f34d0574e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9455700ddd46aa" /><Relationship Type="http://schemas.openxmlformats.org/officeDocument/2006/relationships/notesSlide" Target="/ppt/notesSlides/notesSlide5.xml" Id="Rf4b290b8d84b4a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ed1cad912045c3" /><Relationship Type="http://schemas.openxmlformats.org/officeDocument/2006/relationships/notesSlide" Target="/ppt/notesSlides/notesSlide6.xml" Id="Ra3eefb57f90b41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89ab2a920449bd" /><Relationship Type="http://schemas.openxmlformats.org/officeDocument/2006/relationships/notesSlide" Target="/ppt/notesSlides/notesSlide7.xml" Id="R847399269f4f46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3b171b9fd44fb7" /><Relationship Type="http://schemas.openxmlformats.org/officeDocument/2006/relationships/notesSlide" Target="/ppt/notesSlides/notesSlide8.xml" Id="R530f73c65e5c41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5fff5ac1de4601" /><Relationship Type="http://schemas.openxmlformats.org/officeDocument/2006/relationships/notesSlide" Target="/ppt/notesSlides/notesSlide9.xml" Id="Rb62fc715824d48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931c03ea2545ca" /><Relationship Type="http://schemas.openxmlformats.org/officeDocument/2006/relationships/notesSlide" Target="/ppt/notesSlides/notesSlide10.xml" Id="R0eb31e592abb4a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180e854c174110" /><Relationship Type="http://schemas.openxmlformats.org/officeDocument/2006/relationships/notesSlide" Target="/ppt/notesSlides/notesSlide11.xml" Id="Ra24d9cad619248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04ab8f19c34131" /><Relationship Type="http://schemas.openxmlformats.org/officeDocument/2006/relationships/notesSlide" Target="/ppt/notesSlides/notesSlide12.xml" Id="Rd39df69254bb4a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1fc6ebfdac49b6" /><Relationship Type="http://schemas.openxmlformats.org/officeDocument/2006/relationships/notesSlide" Target="/ppt/notesSlides/notesSlide13.xml" Id="R8964611b87674b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78345bd63b4568" /><Relationship Type="http://schemas.openxmlformats.org/officeDocument/2006/relationships/notesSlide" Target="/ppt/notesSlides/notesSlide14.xml" Id="Ra6a13b9faa3a48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90162f76354286" /><Relationship Type="http://schemas.openxmlformats.org/officeDocument/2006/relationships/notesSlide" Target="/ppt/notesSlides/notesSlide15.xml" Id="R047c838e44dc42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29821126cd4e0b" /><Relationship Type="http://schemas.openxmlformats.org/officeDocument/2006/relationships/notesSlide" Target="/ppt/notesSlides/notesSlide16.xml" Id="Rcfb2136a3ef64d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b76b731fac4bbb" /><Relationship Type="http://schemas.openxmlformats.org/officeDocument/2006/relationships/notesSlide" Target="/ppt/notesSlides/notesSlide17.xml" Id="R48a7d7e324844a5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49edfd361a4bf4" /><Relationship Type="http://schemas.openxmlformats.org/officeDocument/2006/relationships/notesSlide" Target="/ppt/notesSlides/notesSlide18.xml" Id="R0ba066919b2f496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f92d1ec45b4613" /><Relationship Type="http://schemas.openxmlformats.org/officeDocument/2006/relationships/notesSlide" Target="/ppt/notesSlides/notesSlide19.xml" Id="R8b4f2b8b7bd34cb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89a6596d2c4bbf" /><Relationship Type="http://schemas.openxmlformats.org/officeDocument/2006/relationships/notesSlide" Target="/ppt/notesSlides/notesSlide20.xml" Id="R331a28650f7b41c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5c791ce4b541a2" /><Relationship Type="http://schemas.openxmlformats.org/officeDocument/2006/relationships/notesSlide" Target="/ppt/notesSlides/notesSlide21.xml" Id="R7c8efdbb067143b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4b7cd9d9c046bf" /><Relationship Type="http://schemas.openxmlformats.org/officeDocument/2006/relationships/notesSlide" Target="/ppt/notesSlides/notesSlide22.xml" Id="Rd835831fe2934a7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8d450e4b484d2d" /><Relationship Type="http://schemas.openxmlformats.org/officeDocument/2006/relationships/notesSlide" Target="/ppt/notesSlides/notesSlide23.xml" Id="R61cd6c17290145d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9ccaa7275446ef" /><Relationship Type="http://schemas.openxmlformats.org/officeDocument/2006/relationships/notesSlide" Target="/ppt/notesSlides/notesSlide24.xml" Id="Rf6651debc6a2486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6b02b8bdb746b9" /><Relationship Type="http://schemas.openxmlformats.org/officeDocument/2006/relationships/notesSlide" Target="/ppt/notesSlides/notesSlide25.xml" Id="Ra54b23a3fbba450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9616fe19624dae" /><Relationship Type="http://schemas.openxmlformats.org/officeDocument/2006/relationships/notesSlide" Target="/ppt/notesSlides/notesSlide26.xml" Id="R60a0491694d847e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02561e11644e95" /><Relationship Type="http://schemas.openxmlformats.org/officeDocument/2006/relationships/notesSlide" Target="/ppt/notesSlides/notesSlide27.xml" Id="R4dda3c7b187542c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e1e779d4464a9b" /><Relationship Type="http://schemas.openxmlformats.org/officeDocument/2006/relationships/notesSlide" Target="/ppt/notesSlides/notesSlide28.xml" Id="Rff38e076778e4a9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688ba704564492" /><Relationship Type="http://schemas.openxmlformats.org/officeDocument/2006/relationships/notesSlide" Target="/ppt/notesSlides/notesSlide29.xml" Id="Re3e7ff7fc49947f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c2dba866154d30" /><Relationship Type="http://schemas.openxmlformats.org/officeDocument/2006/relationships/notesSlide" Target="/ppt/notesSlides/notesSlide30.xml" Id="R4551f9a314a5406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586f5bd07547bd" /><Relationship Type="http://schemas.openxmlformats.org/officeDocument/2006/relationships/notesSlide" Target="/ppt/notesSlides/notesSlide31.xml" Id="Re423512e4562499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ded157089d4c6a" /><Relationship Type="http://schemas.openxmlformats.org/officeDocument/2006/relationships/notesSlide" Target="/ppt/notesSlides/notesSlide32.xml" Id="Re3d11404d1e5484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f41d5b62294587" /><Relationship Type="http://schemas.openxmlformats.org/officeDocument/2006/relationships/notesSlide" Target="/ppt/notesSlides/notesSlide33.xml" Id="Rdec49a57b93b4a8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2d9fc5ea624dc7" /><Relationship Type="http://schemas.openxmlformats.org/officeDocument/2006/relationships/notesSlide" Target="/ppt/notesSlides/notesSlide34.xml" Id="R5a8bb9a072ef4ba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a46e0c54e14ffc" /><Relationship Type="http://schemas.openxmlformats.org/officeDocument/2006/relationships/notesSlide" Target="/ppt/notesSlides/notesSlide35.xml" Id="R3d574433a8924b4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6881BC-A316-4532-9E88-CAFAD026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8B561-24B3-472F-BAA1-C28039B5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D8110-B6C9-45CB-9DBA-E3D7E3E2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390F7-F32D-478F-A4E0-6B98BF38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9E186-32E7-4CAC-9693-6683E392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01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867F8-6EF5-4269-9EF4-98CC4BED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C0B69-5C2C-4C8D-9B8D-C2C0D5E8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80994-3D21-424A-9962-944D0CCB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5B486-D9C1-46DA-AAF8-7873E297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Industrial Demand Generation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3F707-D47F-4DAE-82CE-723338E8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Build the operating system that creates trust, account movement, and qualified pipeline in industrial markets.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C8251-0B36-4798-91FC-B610CAB4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59348-E833-4B10-8770-EBC414E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Participants leave with a full-scale Industrial Demand Generation strategy for their chosen product or product category.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9933D-A68E-4804-86A9-7926066B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33500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BD3D3-EE38-4E5C-B3AA-4EA6B10D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33500"/>
            <a:ext cx="133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AAE54-AB13-44AF-BA80-909799A4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41E8E-89F6-489D-8426-A73A4EFE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990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Focus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81F4F-C110-4185-AB97-B717358A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394" y="1986199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E0CE1F-F8D5-4AD4-B31A-D8D11BEF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394" y="1986199"/>
            <a:ext cx="133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6AF1E-CF4F-40A8-85B2-E889E468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844" y="2176699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DE02D5-14BB-42BC-994D-57CBBA3B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844" y="2443399"/>
            <a:ext cx="990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Buyer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B118E5-32CB-4DB3-B94E-1C09DE58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136" y="3452801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31754-85C7-471C-85C0-C729C824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136" y="3452801"/>
            <a:ext cx="133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D0F6E-F581-40F9-BD1A-3F6CD060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586" y="3643301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53D8A2-A70F-4913-85A9-C922006C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586" y="3910001"/>
            <a:ext cx="990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MOIN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8AB40-605E-44ED-965B-86DC1553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209" y="4628925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50804F-4693-4001-80BB-099696A3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209" y="4628925"/>
            <a:ext cx="133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B795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268001-5E04-49E2-AFF2-28E9731D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659" y="481942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8D0BFA-CDB7-47AF-8415-2AE0C8D0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659" y="5086125"/>
            <a:ext cx="990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Content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276935-4160-4DF1-BEF4-105FB6D8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891" y="4628925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12EF44-993C-4A99-A762-D51DB8A9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891" y="4628925"/>
            <a:ext cx="133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F14334-33D8-4104-AB5D-9B3659B2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341" y="481942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E605A4-9464-43F0-83A1-871442BF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341" y="5086125"/>
            <a:ext cx="990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Distribution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6A04F6-1EB5-4E9E-9E83-7C4BBAD8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964" y="3452801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448090-6EBE-4871-9F08-5E69CEC0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964" y="3452801"/>
            <a:ext cx="133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2CA2B4-21B4-4761-A509-A9EA2B21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414" y="3643301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44123F-F935-4776-9AB0-E102517C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414" y="3910001"/>
            <a:ext cx="990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Signals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08F5B8-68AA-475C-AE65-DAD58BA9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3706" y="1986199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8A973B-3995-466F-B4A0-F02C5DA8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3706" y="1986199"/>
            <a:ext cx="133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6ED270-47ED-4E7D-804D-31F3423B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156" y="2176699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91FBDE-1A34-4E05-9E90-C2141A2C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156" y="2443399"/>
            <a:ext cx="990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Cadence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707D17-272F-41A1-86DD-F19F86D4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38450"/>
            <a:ext cx="1790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30225A-D913-4A39-8C3A-7CAB7098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0515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Account movement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B9E5D1-9A7B-469E-A51A-4715F04E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53340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A2E5C6-0498-4B7E-903B-29CEED69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670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3D0B03-DA16-417F-8EEA-0B153BA2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03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MODULE 1 OPERATING CLAIM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1925D7-B092-4883-8BC4-48D94E22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F7E1B1-B937-4A95-BF5F-600E032C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Demand exists before it becomes a form, RFQ, or sales call.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8FAEE8-34BD-41C3-A04A-174A8B04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597041-E874-4B8C-A0B8-AD3C6A5B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Industrial buyers move through committees, proof, trust, and timing.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B5D812-AFEC-45B5-BAA6-478847EC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4CC275-42E1-43C3-9DB1-73F98D10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system must route evidence into sales action and weekly learning.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F31883-3140-47A3-8AF9-F77427EC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879C60-2055-4D31-8115-2BBE51A0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8E9D1F-4193-45A7-A014-75576BB0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54AF26-90B6-4D5A-897B-42AA18BB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DC28A0-D64B-4AA9-9B57-282C8A79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01 / 35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7B7501-DB44-4F2E-A9D8-C8D67C05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Industrial Demand Generation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C8D2B2-E87E-4123-B191-BDFE7172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Build the operating system that creates trust, account movement, and qualified pipeline in industrial markets.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6CF009-94F0-4DF8-A974-4E0A4F66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0B49575-C0CE-40A0-AC3E-568C4D5E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C9F654-9504-4547-B097-CBD29023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246B72-26D4-4F2B-B208-D727A6D2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86077DD-C3B0-4CDE-A972-EE8E5A32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1FA0497-1071-4AD1-B5B7-DBD05401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13786123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109927-E118-4F88-88F5-29B9F55E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6AF8B-64ED-4F6B-90F0-169847A2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7ED4D-7916-4900-B906-2DC395D6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90942-A5BF-49F0-AD21-8904201C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2C1B5-CF46-4126-B022-EECBE550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02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57BD1-5B92-4166-8204-B7352A49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5B5C2-F4C8-45E8-B592-1D2068C7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85FEE-B77B-4A7F-AF48-5FC1FDAF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2F4C2-C989-457D-A7C8-D4FF0F23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Workshop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150F2-7BEB-4BF9-AAC4-D2E442C0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Every participant leaves with an executive-ready strategy for one chosen product or product category.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882BD-83D2-446C-B920-B79CAF73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9AF62-845A-4FBB-BB69-A25CCDFB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194691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92791-8F7E-4A76-B9EA-CC253A8D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194691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2AC91-991A-4B71-8B58-71DCE71E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60401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Part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A40CB-6231-496C-9E2F-C5A1FD60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60401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Demand system diagnostic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B8D5B-72B8-4B3A-A5C0-CBC9F9FB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360" y="26860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3F9277-3E26-4C88-ADA3-4B24984C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2152650"/>
            <a:ext cx="194691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FD042-62BA-4D3D-BC51-3C427DC3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2152650"/>
            <a:ext cx="194691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57A7B-4EF8-45EF-BE3B-E4CAAB37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060" y="2343150"/>
            <a:ext cx="160401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Part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30C604-DADE-4658-8653-CC866522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060" y="2609850"/>
            <a:ext cx="160401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Buying committee and proof 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897120-775A-4444-8332-97112C0C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70" y="26860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3A35C-82C9-4179-9769-6883890B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2152650"/>
            <a:ext cx="194691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60FB62-2E93-4C57-8A55-C987807D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2152650"/>
            <a:ext cx="194691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C34E6B-5303-437E-AC11-C2F1CDB0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2343150"/>
            <a:ext cx="160401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Part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B48E31-D574-4460-BF5E-111188E2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2609850"/>
            <a:ext cx="160401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ICP and disqualification scorecard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86136E-C5CC-4AE1-AC55-E240755F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780" y="26860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1CB049-C125-482F-BD84-74F5B819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030" y="2152650"/>
            <a:ext cx="194691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8A7721-153D-47FA-82B2-31572216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030" y="2152650"/>
            <a:ext cx="194691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B795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D9B376-68B1-4311-8313-F66E7D06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2343150"/>
            <a:ext cx="160401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Part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6EDC19-0929-4F24-8316-F4E20634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2609850"/>
            <a:ext cx="160401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MOIN grid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0912E2-2921-4782-8388-8F1FB62F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26860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8A38B3-202F-4615-9F9B-A45F8681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152650"/>
            <a:ext cx="194691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2BB598-7C01-43DA-A772-EEDBE93F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152650"/>
            <a:ext cx="194691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F85287-9D72-4588-9A71-F8F7CEB3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9690" y="2343150"/>
            <a:ext cx="160401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Part 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D0C998-F219-4488-89FC-FB855876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9690" y="2609850"/>
            <a:ext cx="160401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First-five content asset plan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CCB435-5A6B-4B89-A59A-6779A2E9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29050"/>
            <a:ext cx="175641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C6AEF4-8AD1-4AA0-BC4A-905FA6AB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29050"/>
            <a:ext cx="175641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079892-6544-4042-BC06-58AAD7D7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19550"/>
            <a:ext cx="141351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Part 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880EFE-96E7-48EC-BF80-089CFE2C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86250"/>
            <a:ext cx="141351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Distribution and ecosystem plan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F8CB77-2408-4A84-AD61-BB0487B3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210" y="4362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E3E32A-3FF5-41FF-B99D-9C59CADF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460" y="3829050"/>
            <a:ext cx="175641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F5BFA8-C4B7-4DCB-85D2-8B88E08D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460" y="3829050"/>
            <a:ext cx="175641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893738-F798-47DF-85AF-C1048D7E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910" y="4019550"/>
            <a:ext cx="141351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Part 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3B4E6E-80DD-4A87-B31D-40DD7532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910" y="4286250"/>
            <a:ext cx="141351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Signal-routing table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FF84E0-C488-49CA-8064-3F1C7F28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362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3B3C47-886E-409F-BF77-1B92704E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3829050"/>
            <a:ext cx="175641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F1C81A-BBE5-47A0-9DDE-B25E3B5F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3829050"/>
            <a:ext cx="175641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B7953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1D525C-2117-4F7F-B337-F9043678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620" y="4019550"/>
            <a:ext cx="141351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Part 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10B48B-B6B0-47AE-88B0-A40A8F1B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620" y="4286250"/>
            <a:ext cx="141351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RevOps field and cadence plan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979BF3-93AD-43B4-A13E-BB720167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630" y="4362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36CE64-9D23-4760-B35D-D7829F04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829050"/>
            <a:ext cx="175641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5C7228-322A-49C9-B53F-40A41102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829050"/>
            <a:ext cx="175641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EBB059-3605-4F6D-AFC9-DEF7566B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019550"/>
            <a:ext cx="141351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Part 9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AB71BA-3155-494E-AD8D-954F89C3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286250"/>
            <a:ext cx="141351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90-day Industrial Demand Generation pilot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362038-4183-45A5-B658-301AEB84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6340" y="4362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0D1194-2759-49CD-B40F-18684CFA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1590" y="3829050"/>
            <a:ext cx="175641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E2F8C4-45C1-4FF7-B4FE-E32A5145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1590" y="3829050"/>
            <a:ext cx="175641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8074381-593C-4C2B-8A50-82265D67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040" y="4019550"/>
            <a:ext cx="141351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Part 10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8ED777D-ADED-433D-B0D3-F18797F1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040" y="4286250"/>
            <a:ext cx="141351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Executive summary with stop, repair, scale criteria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4149A13-F60E-4961-8AD1-13A12898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53050"/>
            <a:ext cx="1057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4F55CC8-4DCD-41B1-AE45-1CE37785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981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participant output is a strategy, not a notes document: ICP, committee, questions, assets, channels, signals, cadence, and sponsor decision in one operating plan.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9130B4-F460-4B8A-8648-69701F69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AB09B4B-5850-473C-927E-A6C4D096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C1DD5BC-95BA-4935-9787-F28D9A5E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E7F4498-25DE-45CD-9C51-182EFAE9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E49026C-95FA-45B2-9DEB-C4754635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02 / 35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AC42CF2-F771-410F-B921-BC3F8FF9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Workshop Outcome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38D68C2-07E8-48FA-B8B1-61AF81C8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Every participant leaves with an executive-ready strategy for one chosen product or product category.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B470D93-1747-4578-A054-43A27EC0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E67AC6A-A529-4E8C-813D-DEDB05A8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F0536F-B2A1-40D2-9857-3B630CAA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DDBEE6C-6B05-4469-9FE7-768AF083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658699C-A6F3-4D10-A14B-1D952696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B61679D-296E-4432-985A-0DD4F358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5191489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FE6B12-F349-469E-A5B1-ED60D313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87CBF-DFDA-4FF2-AE75-F6CAE1D8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83D25-E130-4180-8179-98361056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CC698-D897-4ADB-ACFF-01EAEC25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6A068-5335-4FA0-93F4-30AD6EAE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03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43940-E4DF-4B0A-86EA-30AE7801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0A8C9-D467-4A9D-AA5D-BFB6988D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E7C1C-CC7B-4C8C-84F5-FCADDD40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32F91-35CF-468B-B170-637FC8FE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Artifact Chain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38BC1-A083-4ADF-949E-4CB80E28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The workshop is a build sequence. Each exercise becomes one section of the final strategy.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E2C7F-574E-4BE8-9503-0B1949F0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3BC8F-0F33-48CE-AE31-844247FF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2343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0A319-81EA-43ED-9FB3-E5335DB7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3F3E1-C90C-4B3F-89F1-38D6708B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E1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AC336-102B-4460-8EE8-B0B2B8C3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Current weakness map and three priority repairs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9EE58-A507-4952-9CA3-1E25FA63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343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57006-D365-4408-8469-16A99E6F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1C28E9-BEAC-4BC0-8793-228EB79E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288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E2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9AFCA-37A1-4608-8350-89AA1890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Role, belief, fear, proof, asset, and owner matrix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F24EB6-71E7-48C5-B373-DDA92824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38350"/>
            <a:ext cx="2343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90555-F290-4383-BB8D-58A06E68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383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B795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1165C-C8CF-4BD6-9498-53799527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288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E3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275E74-2214-4D72-BA0B-9BE43C66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90-day ICP focus and explicit rejection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69AE1F-237C-42E8-98A6-1DAD0C86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2343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758523-DD5F-4B30-8E67-267002F4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C05D0D-EE78-4FFA-9E75-992C6C9A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288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E4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114D5D-0473-40D2-89EF-C8C5F574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955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Buyer questions by role and demand 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FA713D-AD80-406B-8CB1-8FAAB098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343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29002B-E820-4F63-BAD9-0FBD3EEB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8CBF43-DD33-41C8-B6BD-972E93B5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E5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B26FC9-D5E3-4519-9050-1710F82E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First-five asset roadmap by demand state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621A17-F0CB-4150-85FA-7D22D9E4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62350"/>
            <a:ext cx="2343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6ACEE9-1BD6-441E-9E31-EDC6FB42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623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4939DB-032C-4C6C-A871-3FEB67A3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E6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1A9DDD-AD26-4F52-844D-735F3714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195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Trust-based channel, owner, cadence, signal, and follow-up plan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47D8E2-CABA-47F0-9F78-8B6E83B5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62350"/>
            <a:ext cx="2343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65D51E-9976-4958-A735-FD740C8F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623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B7953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70140B-3E33-46FC-8920-6D54C5A5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528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E7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0B2615-9B0D-4823-AF56-00298E9A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195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Fit, state, role, strength, owner, SLA, next action, and risk table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50B16B-7EA5-42D4-9EC0-E83EA9C4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2343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F07C01-ECD2-4240-8171-347E96DC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CD0CC5-59BC-408C-9D90-0F101871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528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E8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5F6419-D0BA-4C09-A73F-25BF70BC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95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Weekly cadence and 90-day pilot with stop, repair, scale criteria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560F99-1E3E-479A-B4E4-4E447362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8CC202-E316-49B3-8AA4-05B563A8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292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Each exercise is placed immediately after the concept block it operationalizes. The deck teaches, then participants build.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D1A43D-7205-4879-87B3-F3060634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3835A8-7C49-4AB0-9A0F-71283A5A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103E6D-0ECC-4BD6-80E1-5FD9B658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E376330-5D2A-49B0-80A1-D616B712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F561A3-339C-4658-A882-FF726E85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03 / 35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88FC98-E5FF-45C0-8016-17ED6B59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Artifact Chain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C1289C-DE85-450F-9CE8-0433344E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The workshop is a build sequence. Each exercise becomes one section of the final strategy.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D3C782-10E6-4C0A-8233-2348C9CE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771A29-B0B5-4957-AC5E-8D1486DD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EFBC46-678C-42C6-886F-68A534FF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7A1354-260D-49B3-916C-2FBA51C0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B1252D-6E3A-4D5E-9419-439A651A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6EA623D-222D-4660-B822-478C9325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1299332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446C0C-9E7E-4B26-8B49-57527F7C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C7D98-BE44-489B-BEC5-1D9A0B62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556F3-B972-4CC5-9471-91B49850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C612F-2BFE-4E9E-8072-A856FF1E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56249-6338-4443-B698-87061474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04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4AB37-8BED-4F52-B294-F5F66E99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0CB80-3E87-4DD3-A72D-FB6C99AB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17D25-AB7B-4F10-AD14-3558C2D7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456AA-48D7-417C-8A75-E00C2C1D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Why Lead Generation Fails Industrial Markets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DFAB3-7172-4FC1-BB15-C3C7B6D6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Lead volume can rise while high-fit account movement stays flat.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C403D-E89D-4A15-9C86-87BEE982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ECF95-6257-4716-9D41-309EE507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E2972-1F7B-4C2C-ACA8-B886EC3B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717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A849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FDCFF-6BE6-4449-952C-16194BE3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050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LEAD-GEN HABIT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D9644-7FD6-4CCE-B8B3-7B42B36F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A849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93D38-A136-4530-9A94-AC18E350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6225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Forms and MQLs dominate.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121E9-CC7B-4DFE-9296-EC698CE6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A849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F6619-4CE2-4C90-91CF-12804658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Traffic and impressions look positive.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FBBF27-5BE5-47CF-AD96-373A4826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A849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CA868B-4B7C-4EAE-9B27-78987AC3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7665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Sales receives names without context.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A28A4-571F-4997-8A01-135E3FF9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A849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005A7E-B879-4127-A03A-03F396F3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Weak RFQs consume expert attention.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1586A2-B380-4417-B218-D51B8EE5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920471-2198-4C60-A33B-36BAEC00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717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CC1F74-EF63-4A81-B01C-C35EB7C5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050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INDUSTRIAL DEMAND 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21887B-4A52-410E-B6E3-70D5CB1A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38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FAAE5D-B673-4241-88D8-FFD93D37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6225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High-fit account movement.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489F02-4C69-4AFD-9C1F-6C2D5B9C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95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F8EE5A-3E52-40E8-876A-4D0300E1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1945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Committee roles and proof needs.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77A0A5-38F9-43D1-AFC6-461F26DD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52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729396-A1E0-456A-8804-EF9005A7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7665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Trusted circulation creates evidence.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270909-6C81-4ABD-B393-DD74C967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10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8CFE0A-C1A7-48DB-A968-AD61F86C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3385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Signals routed by fit, state, role, strength.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B0F40A-DF1A-47AA-83C6-9E35C6A7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7BAA94-00AF-4FC6-8AF6-5F6ACF97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33750"/>
            <a:ext cx="476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4E8B24-7E5B-455B-AE55-A173E3AC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E6EFA2-F8F2-4443-8F24-A1B9F05C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733AEA-C906-4B98-B28C-8EA8937A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19E17E-798C-456F-B5CF-6E688C46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80607A-DF0F-4082-96BE-5835475E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04 / 35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97D61E-46A3-47CF-8D66-0EEF8553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Why Lead Generation Fails Industrial Markets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C533B6-F615-4462-A4CE-30127A55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Lead volume can rise while high-fit account movement stays flat.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0EFC05-25A7-42E9-BD6F-04C6FC50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301497-2952-4374-BA80-7BC32DE4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1C70CB-E70A-412E-A926-84D28CA7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463522-13EA-47C2-B04F-6F5ECEEF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944306-B2B4-47E5-8DF6-3BC2CDED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6DC195-7306-4386-B2C8-C536D8FB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17904854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FDE5F9-48DF-4A61-B240-4C02904C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E70DD-3D07-44AB-BBE9-65D9305D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BDE95-E803-4F37-9E5E-74E34ECA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ECEEA-B412-4EFC-9518-9FDF1F67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36B2C-9350-484B-A9D3-12DC7629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05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3203D-3338-4AB4-B37F-5F524863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35630-96CF-410F-BE12-C2914876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DA38B-29ED-45D5-8E65-3608A890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B380A-D333-46AE-B02E-3DA49F27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Industrial Demand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1DBCE-ADE1-48D0-9556-CC10AA9E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The engine only works when focus, buyer reality, proof, circulation, signals, routing, and cadence connect.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5A4EF-9C77-4605-97B6-64E8A066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F296A-DFAB-4D27-A76E-89009C5B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F1BF4-11A8-45E5-A8C6-2E7E6BEB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70396-28DB-42AA-9497-6EEEBD84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A1B25-6CFE-4608-8D6F-0917CA06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Revenue goal and market focus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11E0D-AD73-48E0-A4A1-CC1EC613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526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06BC9-74E6-4627-8D6F-BB0A8FD8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526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CECBD-60F9-4922-AEF9-7FE31E71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27BAF5-DBF3-44EE-8429-FE75E386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ICP and buying committee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C5C7EA-3657-4206-ADF4-48A5921F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D95C00-E61D-441F-9FA4-612B8363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843B73-A436-43B2-806B-6629BDE3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8A2167-B0E9-444F-8B4C-0F9DB152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MOIN and proof assets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310465-75AF-4578-990A-7266057A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9BF8D0-B361-4B10-91C3-69086FD5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B795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53924C-CEB7-446F-B685-4898210F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431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15BA99-6122-4788-BE9D-19508B66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98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Trusted distribution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E8EF1D-1C30-40D3-A660-ED09F43A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3B2BED-F15F-4D6D-89EC-8FD4268A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D5F68D-C2C4-4138-AB4B-674E0485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29C4C8-0DB8-4E02-B1A5-9E93F2AA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Account-level signals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DCAE34-F6E5-405E-B7EF-74ED85DF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481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98DE83-E232-46BE-BA36-7C54575F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481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13EA4E-B562-4C92-8381-5C658BE8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386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6ED07E-B0A1-4C9E-875A-11C8A45E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053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Signal routing and buyer enablement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01B590-7C6C-4B5D-8106-36EBE609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81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C23761-3683-475B-9AF9-E2D9DDEA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81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4F870D-5B6F-490E-8918-E3FF5A88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386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76CC21-D20E-4318-B612-AD843A49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053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Weekly learning loop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3F578A-F3CB-4EB0-BE3E-DB8A6D1D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481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CBD9C6-01D4-4CDF-A7D3-E2A30149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338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If one job is missing, the system leaks trust, signal quality, or sales action.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5388B8-299C-4A60-93CA-54B83195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B85E47-D02A-4459-8C7D-01196536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E5066E-C999-4142-9301-AD0A7528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E6D612-A241-49C6-9A0D-6FE668DD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F1F12F-7D25-44AD-A823-C3B9AC2E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05 / 35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60D10F-BFE8-4DC5-9156-AF82078B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Industrial Demand Engine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EE7BD0-7EBC-4841-A722-B7F5B381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The engine only works when focus, buyer reality, proof, circulation, signals, routing, and cadence connect.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8B24E6-7CB2-49C5-8D57-F89F876B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425CB3-FD4D-4947-826E-1D1FBE80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3654569-54FB-46F4-9249-7AD08410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738B8B4-6711-4872-AFED-789F46B8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485FE3-8AF5-4BF8-995A-01C5C9EE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3F3957-0C8A-4B45-A4F5-10244FE0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16644078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A7E6A9-D3C0-4228-9E86-654E9C84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5A5F6-722F-4D40-91F6-6A9AC1DF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5B152-E207-401F-9846-411712B0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4516D-FB02-4A83-9270-F9045387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7FD3F-5766-4976-8C08-5FE72585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06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7F1B5-C555-444D-8D47-F4FFE9EB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91A51-AD3D-4D3F-AF2E-43D39B16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3D993-1299-4A53-83FC-925C5ECE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94122-BB01-44F8-B058-64D7A8CF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Demand States And Account Movement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14DC4-5D9B-4FE0-B818-FFC091BC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Do not treat all engagement as intent. Interpret learning, comparison, and supplier evaluation differently.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ED611-3D8F-420D-96E5-36A494FA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BDCBC-285C-4700-88B5-60C2DC59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3232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3913F-2E01-42ED-A3C7-C7FFB0DA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3232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43C9C-1F27-41B3-899D-037C78F5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288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Content demand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42BD1-1943-45F7-8D70-B2A19041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88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Buyer learns problem, risk, opportunity, and cost of inaction.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573AF-62F7-4EA7-948B-7058CA24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50" y="29146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212C0-8D79-40DB-A53B-24CB9E01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550" y="2305050"/>
            <a:ext cx="3232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0571D-14A8-474C-8795-62F48881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550" y="2305050"/>
            <a:ext cx="3232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AA2AD-6A12-4E7D-8F8D-E544E277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495550"/>
            <a:ext cx="288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Solution demand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680651-92EF-4515-A760-E31EE88A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762250"/>
            <a:ext cx="288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Buyer compares approaches, requirements, criteria, and implementation paths.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896E05-43DF-488D-B3D5-C6B364B7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750" y="29146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0108C8-E588-4CDC-BA2B-0919DFCB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2305050"/>
            <a:ext cx="3232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3368E3-1547-4A27-94A7-87C0C81B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2305050"/>
            <a:ext cx="3232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192D1F-42F4-40E9-B843-A78920E0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2495550"/>
            <a:ext cx="288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Vendor demand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3558E1-CEAD-4241-81D4-F405B5E3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2762250"/>
            <a:ext cx="288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Buyer evaluates proof, fit, TCO, support, and supplier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BF2FCF-594A-4812-A898-669D0A38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22764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15ABC5-DCD9-4B42-9CF2-B2C77A1C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22764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8E9743-DB1A-4965-A533-F90C1DDD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1933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CE8E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CE8E9"/>
                </a:solidFill>
                <a:latin typeface="Aptos"/>
                <a:ea typeface="Aptos"/>
                <a:cs typeface="Aptos"/>
              </a:rPr>
              <a:t>Cluster ICP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0FBD4A-EBF4-48BA-B652-292B52B9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00600"/>
            <a:ext cx="1933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Fit known; need unknown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C7981B-61B0-4C4A-AC5F-DE75BF82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848225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941EA6-D9C2-4C2F-8E8F-085BBD6A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43400"/>
            <a:ext cx="22764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42FA55-BB53-458D-A32A-E5EB7504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43400"/>
            <a:ext cx="22764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AF03A0-2677-468E-B1D0-80B5A9DD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533900"/>
            <a:ext cx="1933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1E0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1E0D5"/>
                </a:solidFill>
                <a:latin typeface="Aptos"/>
                <a:ea typeface="Aptos"/>
                <a:cs typeface="Aptos"/>
              </a:rPr>
              <a:t>Future Pipeline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25E6A3-3885-4F0B-9F0E-E860884F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800600"/>
            <a:ext cx="1933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Engagement; need unconfirmed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E28CA7-6321-451F-B436-77E17657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848225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B66794-4F9A-499A-B1F8-4DE83993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43400"/>
            <a:ext cx="22764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74089D-FD53-44B3-AC9D-452108F6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43400"/>
            <a:ext cx="22764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68846D-EC26-44B6-A49C-F7E28611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33900"/>
            <a:ext cx="1933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EAD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5EAD9"/>
                </a:solidFill>
                <a:latin typeface="Aptos"/>
                <a:ea typeface="Aptos"/>
                <a:cs typeface="Aptos"/>
              </a:rPr>
              <a:t>Active Focus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7D26FC-F0E3-49F2-A194-40B22F7F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00600"/>
            <a:ext cx="1933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Trigger or stakeholder evidence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75C8B3-3DAD-4B24-A6AB-84C29479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48225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AAD711-BEB7-47E6-9E42-26A0C844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343400"/>
            <a:ext cx="22764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BB2C5B-2AE4-4F25-9262-8A6162A4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343400"/>
            <a:ext cx="22764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AD0"/>
          </a:solidFill>
          <a:ln xmlns:a="http://schemas.openxmlformats.org/drawingml/2006/main" w="0">
            <a:solidFill>
              <a:srgbClr val="F2EAD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F9DB66-07C5-431D-9B39-C56D196D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33900"/>
            <a:ext cx="1933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EAD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EAD0"/>
                </a:solidFill>
                <a:latin typeface="Aptos"/>
                <a:ea typeface="Aptos"/>
                <a:cs typeface="Aptos"/>
              </a:rPr>
              <a:t>Opportunity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FD16C3-5DB2-4F74-92B2-47E8203A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00600"/>
            <a:ext cx="1933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Requirement, value logic, champion, next step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C2AE97-D17D-42CA-A574-CFC5B725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0BB4E1-D8D0-4B77-93CB-775790E6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383727-AAC7-40BB-B117-7C4539A4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E28B88-F7D8-41AD-BAC2-7D1E8B02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4C116A-F4E1-4A48-96DF-6976737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06 / 35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CC19FA-3A2C-4279-8668-EFAA29B6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Demand States And Account Movement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B4A615-BEDF-4D0D-A68D-0F4820D3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Do not treat all engagement as intent. Interpret learning, comparison, and supplier evaluation differently.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5DD2CB-F4A1-45FF-BB7A-D67D80D5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4E1E83-9080-49AC-9CC8-271F2D4B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36CD824-0213-4619-A013-06039D53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5E0F337-17B3-4906-B744-4CD4473F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3F87B4-671E-46C7-8E15-001F74A8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6BA43B4-1D11-4D3B-B23C-8873D6B2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20252167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EB8D6B-572C-4B18-9B2C-89D21C91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7F695-EE64-48A6-8D4F-1856660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7EB00-33A9-40C2-9E95-32A82DDE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416F3-61FD-459B-8402-1BB0C8EC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5984A-281C-4103-9370-98E7D577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07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CDF2B-9AA4-439F-8470-2678D5A9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E063B-4734-48E2-BF96-D5A52FB9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1D541-EEEC-405E-9A70-143CA659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58090-6F99-47B3-BE76-97ED357B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Exercise 1: Demand System Diagnostic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4E65C-9129-4927-B175-5A505C96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Score the current system, name the weakest operating layer, and choose three priority repairs.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A07C8-576E-4A56-95E5-42A50664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1E485-78FF-40C3-BCA9-40998417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857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66903-8EBE-42B4-927F-ABE7CA29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rPr>
              <a:t>E1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296A6-27E5-4DE3-8671-6A2D51D6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Demand System Diagnostic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CB558-109B-4486-A59E-D49261CA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Current weakness map and three priority repairs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E144E-091A-4697-9139-A8EA6880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AD0"/>
          </a:solidFill>
          <a:ln xmlns:a="http://schemas.openxmlformats.org/drawingml/2006/main" w="9525">
            <a:solidFill>
              <a:srgbClr val="F2EA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A6021-810B-4074-B5B5-A1668DCD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20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97769-20F5-4518-BD14-06C1EC16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6E37C-8551-4C58-9F81-0ADBA6AD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C5F63-1183-4120-B263-F35C7751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Field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BCEEB3-CCF1-4868-9D7D-3B6BD6C9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Market focus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235FD6-9C50-4326-8008-08832991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DF909B-53F5-4B78-8264-CA877382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F307C0-EDA9-4DE3-9EDD-5CCEF677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Field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D3419C-6026-448E-B715-C0F59324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ICP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C68255-35AE-4A55-9EB8-4B9C676D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19520D-FB3B-4FCC-8BEF-C53FD6A6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DD6EB8-392D-4125-BDD7-D1ADC907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Field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B978FB-6115-4CF2-ACD6-FF4F0C68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Demand creation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F86BBC-DD64-4BE9-B52E-766DCCB5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51ACBC-9844-4187-AB3E-326D1902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B24920-C764-4DC3-9428-B857E11F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Field 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846453-1028-463C-A634-0965EF6F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Distribution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CF5535-C197-41F0-9A63-C9E06DD1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2217D5-7F36-41AA-AF05-761D1501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140D08-2D48-431D-B71A-46DF1021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Field 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F906C8-560B-4202-A350-95062163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Signal routing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76763A-7FB2-412D-9268-B2DF4BC0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0809C3-5922-41F7-A98F-75E53C73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6499FE-DDFE-4AB8-B172-97D841C5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Field 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A7E466-AAB2-4865-B8B5-5301C910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Cadence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98D4A6-49B8-4AEA-8908-13EA0F4B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10150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7BE51F-EC18-4D93-B79A-191D0B56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19700"/>
            <a:ext cx="600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Score each layer, then name one repair in focus, content/distribution, and signal/cadence.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2EC3C1-08C2-4E5F-8F8C-5F8CE1CA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DD1BB8-0053-48F3-9126-A705526D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0EFF77-D084-4691-8827-179C3593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B5F8EA-755F-43C6-92CC-FD5FFFA3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BBD2EC-2103-446A-9C4C-0D3E8EEB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07 / 35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117898-8D5B-497D-B9DE-0251B693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Exercise 1: Demand System Diagnostic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6C8DE2-37DC-4D56-BA48-A8580032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Score the current system, name the weakest operating layer, and choose three priority repairs.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3B8763-885D-47A7-A407-4B467440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F7770A-E11D-43FF-8D36-A0F0E836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7B054C-AEA1-489E-814C-922A0AF5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A1C47C-8F60-4D7F-9020-59B8B5D1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3E8957-3989-4BD6-9176-52FA43AF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1DBFC9-2055-41B9-8E9B-A5437789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3276293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6FCC51-3325-4B42-9292-4D69C5B6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BBBB7-5A84-4ACE-A6DF-7AA59002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B790D-720C-41C7-BB45-3F16D6AE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1C4D5-2917-4234-BD1F-8B7F6C5B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BE7CA-A141-4DC9-B076-AB2159D8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08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A67AA-C55D-4973-BD7B-B21C2E8F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50D39-393F-4721-A86D-560628E9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32EFF-6823-4171-8FF6-883BEBDA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55E43-E396-4F06-8688-1D09C9D0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Industrial Buyer Reality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81F5B-FD2F-4BE1-BFFA-0738C5ED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The visible contact may like the solution while the real committee remains unconvinced.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9A292-2D09-49CB-A5F2-123EBA4A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81007-1110-4172-B5F4-6DC0C46B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E9A9E-580A-4F5E-A09E-8691753B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A2ED9-60A8-4187-8AE8-B15AA912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Role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450360-7F66-4CBB-80B0-9340E3B6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Champion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A89D4-FA9E-4998-A3E6-AD0631F2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7645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DF7B91-E440-46FD-8305-CAC3768E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764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4C31D-BE3E-4E52-B75D-0F5114DD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Role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CD07E-2D83-43BC-8296-09EB6846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336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1CE0C6-FE28-489B-86EA-3E808034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7645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880703-1157-4002-A50F-DDE8AA61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764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DF024-F982-4D3D-8800-AC9F3BA3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6695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Role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8071EB-BC6C-4B4A-A996-3ED8FAC6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336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Technical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4F9865-0295-4BA7-A675-B4FA3F8A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E791FB-22F5-431A-917A-4C71D964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87CF83-A122-4540-93B8-1DCE090B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Role 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5A1F3D-461C-43E4-A454-CB2959F2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Operations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42A785-A4B4-4577-A343-C7035405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04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80BB94-C845-4FF4-BDE5-FE97B144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04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01B908-5FD9-4482-A49A-A065FB36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Role 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C0B0CC-842A-44AC-A8F1-4FAC12C9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576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Quality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4E713B-2F1E-46C7-AD26-F1800D54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004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E4C721-09CE-4E10-960E-8B03CA4F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004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E02C15-4B0F-4D32-859E-D529C43D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9090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Role 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0D4226-4D8A-4CAC-9A97-A9DEC34B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576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Maintenance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0DCD25-E2E7-4EDD-9633-4C2F6374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587C39-9C77-43B4-A235-87431F46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EBF66E-70E0-4077-9F2E-22D0AF25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Role 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D31683-50CA-458E-9533-6E3EFFA4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Procurement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3B8EB0-6BE0-47DA-AB67-0BFE3D9F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2435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E19C4A-BE44-4F28-BF34-A51EB91D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243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C07BD3-C1DC-467F-A1C7-D90D65C0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1485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Role 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5741BA-D6E3-4611-B494-0554BF8F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815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Finance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99BFEF-CC88-4074-A647-728A5DA4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2435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BBF4B7-D482-46D9-B556-0A6E445D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243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4E05C5-5A4E-4E48-B875-00F2FCAA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1485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Role 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FA7BD5-948A-414B-86C5-8C9CA9A0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815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Leadership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CB84EB-1148-48B2-BB91-712AA681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6260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6E49A7-5AA4-4941-B98A-637EBB3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95950"/>
            <a:ext cx="628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Deal stalls are often missing internal proof, not missing follow-up.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498EFE-25D1-4079-BD04-E1CF4087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3ABE02-9DD9-4A0F-8E6A-B69F0BBF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993EAF-CB81-44D4-904E-1BD11883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53D734-9A01-412D-9FC7-8B5C5B64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6B2BA9-3CE2-407C-8002-4023B588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08 / 35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09E37C-EC0E-4F13-ADFF-A5B1001A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Industrial Buyer Reality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28DA72-74E0-4F1B-A812-6795AC26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The visible contact may like the solution while the real committee remains unconvinced.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DA8DDC-AE4C-4355-9CB8-2A175CBD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B0F3AE9-524D-4A02-8D6B-EFA32492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90BA691-AB1C-43BE-B66F-A961B15E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F864068-13F2-4B8E-9F03-1AD295D8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6B2B2FE-0632-4B86-982E-8EF6235D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0B854AB-9A89-41F4-BCFB-1731BE72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10841357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AD1B32-AD74-408E-A5FB-3920CDB4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C6FD4-54BE-4194-89A5-F0EBBEC6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5E4AB-8561-439C-9D4A-559E03D9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EDE52-289E-45EF-A415-3F1F0D63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691CA-45C8-4060-B152-513EE328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09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DE583-34BD-4C66-A175-A3F9E1CD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904CB-1591-40D0-A05C-2F573692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D26CA-BBB7-4DC0-BD6E-72033540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26A06-C024-4D83-B767-6DA36275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Buyer Enablement Is Not Sales Enablement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25FD5-0EAF-4DED-8919-CB790D7B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The champion must sell internally when the supplier is not in the room.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1EA33-B5FA-425D-BDB0-0C7C333B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2DF88-7ECC-48D3-BD18-35510CED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572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B100D-DDC4-434A-8FDD-7A0D181A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431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A905C-F89B-47F0-B907-7B5B3D5B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765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SALES ENABLEMENT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CCCF3-6FC0-4CC0-BB7A-D9C0CB5C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9E83C-DEE1-4F02-9B68-005CDB7D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should sales say?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A37FA-656D-4F7D-85BB-3788EA15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3E292-961A-4782-9336-A5FC2EB9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433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deck supports the meeting?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53979-A973-4CAD-A721-7C12068D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67EA4-D1FF-42C4-B6E8-6AE420DE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How do we handle the objection in conversation?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9D0B46-CAD7-44DA-A614-98183576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572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13E979-D7AC-4170-B075-665AD468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431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4B9F5-0687-4C0D-BB0B-48E85746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765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BUYER ENABLEMENT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4A8E0A-498B-4315-8BE4-F86D9055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67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F53F78-AE17-46C6-9E96-7E4CEF33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908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must the champion repeat internally?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03F50F-7CF3-47C3-8E33-A2730B15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19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5B221-D281-4BE9-AC47-98ECA4B2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433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proof reduces role-specific risk?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637916-2109-4753-95C8-EFA074E3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71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F35C05-B2FD-4AC3-86B0-FE95B665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957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asset helps the committee move without us?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A396D5-D97B-4044-ACF3-F179894C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ACC5A3-F86C-4929-8360-61A11241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557014-0AFE-49D3-A319-73421A6D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163C9B-377D-42F2-BC97-8614DB1F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936A3B-43CE-4E8A-A13A-738DDF7B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09 / 35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C4736E-74C3-4C45-A710-9DCE0FD4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Buyer Enablement Is Not Sales Enablement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5B0463-73F6-4C75-ACE3-04186E6E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The champion must sell internally when the supplier is not in the room.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A08553-0D7B-40EC-A7E9-0E70F6E3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3F752F-3FEA-4E96-8D96-718A4914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C3E6A5-3BAE-4A9E-B9BC-121EC0D2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0BF1AE-0EDC-4A99-BAF5-9BF4C4A8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684403-768C-42B1-8A5C-4C880C66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D34A65-8421-41CE-A3A4-6C743271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15014274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EE6C8C-5BEC-4DA9-9511-B4B0F328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4BEB2-C48D-4B2E-A144-6828BDAE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AD5C5-4AE9-469E-AF32-440396F2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F202C-E99B-43BE-AFC8-C01BDA99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CD29A-A1E1-4E32-8730-9022C2AC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10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D8BEB-1A51-496B-90FF-56FC8CA4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5CBA4-144D-4186-A514-CB34A990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6B8BF-5A70-48C5-9590-6751D6C5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FF568-7CF0-4A0D-8045-CC95F1BC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Committee Proof Matrix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7D06B-49FE-442B-893E-40A834A8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Each critical role needs a current belief, required belief, proof asset, and owner.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86C88-BD15-49D7-B8A1-9DAF59BC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43C5C-E764-4EF1-A188-B0DFC459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102870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4ECEA-C578-4CC8-8887-B1372EAB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2784D-09EC-4A32-AA8D-34ABA9F5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BAC42-2778-489C-B08A-17D3AA89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71700"/>
            <a:ext cx="201453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DD57F-9544-4050-9446-E19BD62E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2171700"/>
            <a:ext cx="201453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FB0BB-1124-48BD-9A6E-9BC03EE4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171700"/>
            <a:ext cx="201453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AD95D-C39C-43BF-B4D1-88C09336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2171700"/>
            <a:ext cx="201453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29CF6F-FBC6-4FC9-B03F-EE5D4DA0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BFC9A-D6DD-4404-A800-43D12A2E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1C6BC-2AAA-413F-ADFC-6CB20015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BCD87B-0726-4506-A57A-0C906C8A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438" y="257175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3A0732-F74A-4723-998C-648C2AA9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7175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131959-03F0-480F-90DD-AC86690E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57175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E568B1-D90D-4C83-95FD-BDCB4982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0">
            <a:solidFill>
              <a:srgbClr val="F9FAF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4E85F8-2F16-4959-8E20-076290A7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72A3A5-9579-4698-B6B6-E23207F0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019153-A3EC-4D7C-BE5C-81516023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0040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25FA8D-2B74-4AAA-8D10-6252CEB5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438" y="320040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84F7FB-9552-4ECD-B813-342163BD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0040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4C2330-7127-4CF3-AF79-0BAF007E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20040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CD5434-9454-4AD4-9A27-A4035E45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0E3DFF-05C9-431B-9A5C-AEDA8738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Maintenance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1ABB6A-B6A8-49C4-B2E5-273D49AF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2905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B972B4-6060-4311-9A66-F375D66F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438" y="382905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8B2FCE-30C1-4820-A8E3-F860AABE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2905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9CE19D-DCDA-4ECD-8D12-6C21DD8B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2905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A9BEAB-E263-4F34-8CCD-1437FAA8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0">
            <a:solidFill>
              <a:srgbClr val="F9FAF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DC22E1-5DE4-4782-90C6-B946D6A1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8B4F03-0AD0-4F13-B073-3357B035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5F132E-FC35-4139-8477-CE52AAA7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5770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7431B7-F372-4E0E-BC95-2E453E1E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438" y="445770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D80FA8-9368-453F-B6AC-7D57C47B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45770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EC8F1C-B8EE-4FE7-B3C3-782E3B90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45770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B7232A-24EE-4D23-9446-44F2A640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B17861-3EB4-49E7-A179-6A8E0EE1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Procurement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A6AAFB-5D22-46DA-8896-418AFA64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8635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B97332-6E9F-4531-9182-CD0C6971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438" y="508635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93A1C7-D85D-4E1A-A78A-0400EB73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08635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6C3911-5AB3-49C0-A04A-BE8B2BA6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5086350"/>
            <a:ext cx="18621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21EDC3-5F2C-4459-BF00-DEC608EF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67400"/>
            <a:ext cx="914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proof matrix prevents the team from compressing the buying committee into one persona.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8E77B0-BB1F-48EC-8EC1-8BFD4490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42A3B7-9FB3-4EAA-81FD-DDA0C0AF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FBADCE-2C1C-4DC4-9187-3B4625DE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7B76A2-F797-4B67-877E-455F100E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8C833D-247B-4269-AD38-EB8D8D33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10 / 35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2E3272-8EA2-4C6F-93FB-A1CE1217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Committee Proof Matrix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51A019-5942-4C85-B082-111A8ABE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Each critical role needs a current belief, required belief, proof asset, and owner.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D209A9F-4B58-474D-9051-6BB65489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2178A4-64FB-434E-9093-F80AD494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D26C162-3F2B-4393-97BA-94539773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EA1280-224A-4BE1-8663-8C8F9E1C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5EF55C2-E247-45D5-80BC-0730EB02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277A6AB-CD6D-4607-9B8D-0E8A47B2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132017476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CFD26A-33DB-4631-BE00-711ADDFF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B65AD-03BD-49B4-8D37-5F679D08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3E6B3-51C4-46D3-B872-6E67CB92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087D1-13C1-4E49-A30C-25E1A4E1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50497-DDDE-443A-AE47-668264F5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11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FC126-10F9-4E2A-8900-41548AA8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78DF7-BD9B-4379-8502-47D23E87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8D5B7-2D5E-415A-B8F4-347124D8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285B6-E1B3-4FC6-93A8-97860DC3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Exercise 2: Buying Committee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33460-F16D-4748-868A-D7AEF686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Map at least five roles, their fears, proof needs, circulatable assets, and owners.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DE0E9-1225-4171-9420-7816851B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FFC24E-6476-4920-AB28-DE6FD8CD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857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E15EC-D3E6-476D-8316-D8605969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rPr>
              <a:t>E2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2C62D-2A6F-4224-B731-953A269C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Buying Committee 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6DDFF-4F05-41F4-814E-AE17A834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Role, belief, fear, proof, asset, and owner matrix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F673E-92FE-4716-9C05-6AD06802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AD0"/>
          </a:solidFill>
          <a:ln xmlns:a="http://schemas.openxmlformats.org/drawingml/2006/main" w="9525">
            <a:solidFill>
              <a:srgbClr val="F2EA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58AC6-7355-488A-B91D-47CFDFB1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20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37BB0-1770-4919-BE04-72DBE7CC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520DA-3523-4E02-8F45-F5492E14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27C6D8-BFDA-44D6-83FE-AB948A99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Field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94F11F-5570-46D5-87E9-816AB21E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Role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B60B22-B931-4B46-B90E-FEDF0E13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19AC29-0C46-4DF3-B254-4D48471E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5C9E21-94F8-4BC3-BBAC-679F5D06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Field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E24E7B-DE83-4420-BF1F-CF1F9AD0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Fear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8D7344-58B0-406E-8EB4-207A5595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4931A8-3F62-47E1-84DA-F9D6051A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63A414-A7AA-4868-8D66-F0EC8E74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Field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46C267-E89D-4D7E-BAF3-CBD854B9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Required belief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4198EF-BF66-48C5-BC01-4A9B5AEC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1766CD-B826-4F3B-9C50-D40C7D57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FC8BF6-FCD8-4D04-B933-C99BF72E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Field 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AB0E7E-F941-492B-80EA-DDA29910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Proof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4AEFC4-B323-4600-B1B1-9DBCA35B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4EAFA3-3842-4AB4-B1DB-593E1708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B714EE-ECE5-4752-99D0-4FB90CBF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Field 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EFF1E3-6EF1-4934-9C43-8E9DAC70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Asset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4EC364-3FB2-4FAC-A828-F345D9D0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B678E7-9698-4D17-8E95-AC65F001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421980-0590-4DAC-882D-26403174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Field 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A30133-D2B5-469D-B9CB-AEB45522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Owner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BB758F-C581-4973-B666-FAB2EF0D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10150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3BDA0C-02C4-4BA3-BCF0-E120F423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19700"/>
            <a:ext cx="600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Map at least five roles. Include blockers, procurement, finance, and external advisors where relevant.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FF9B9B-E81C-40CD-87AC-80DED562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2569E7-ABEC-46A2-8D99-DF07C339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42F843-336C-46D1-82DA-7924E5B3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7D98EB-8141-453F-A7F8-421CACB6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C5C30F-DA97-45B4-AE1A-4C6D3689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11 / 35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B408BC-CB65-4E98-B3B6-E4D97DE6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Exercise 2: Buying Committee Map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549E15-5F68-4D91-A1ED-10DBAABA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Map at least five roles, their fears, proof needs, circulatable assets, and owners.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72AFEF-ABEA-40CF-A09A-CFBFD767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0B3C56-667C-4191-9E07-7F4E09EF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B8A18B-E8C8-46E3-B636-A8B0B76B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B13CC4-30A4-4292-9682-477485EC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48B97E-8541-4CB1-9518-13E450BB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74F413-52C7-4CA7-8D37-2A4C6B22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20746303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20136C-7BEE-4FA3-9928-74B0AF2D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EE4B1-D6B6-4E7C-AD34-5664016A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6F466-7376-412A-AB0A-4A7FD617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3B177-59C8-4C0E-A3AA-02BAD78D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6B7E1-76C2-4FAB-9221-E2B35988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12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25AB2-881C-43DF-AE16-96F311DC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3A984-1C4D-41F2-827F-FCF86EFA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7A867-AAAA-4EBE-8A0D-D1938984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9EC01-DE2C-47F8-903D-75B668EB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ICP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C6805-952D-4038-B1DD-05C46457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Broad markets make content generic, signals noisy, and sales effort expensive.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D259C-8C42-423A-908E-69646B1D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187D6-6A13-4BEB-A123-A159739E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320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C6294-6AD7-4F78-A766-6DE49C97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A849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DC7B7-9841-485D-929B-EDE018E1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49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493D"/>
                </a:solidFill>
                <a:latin typeface="Aptos"/>
                <a:ea typeface="Aptos"/>
                <a:cs typeface="Aptos"/>
              </a:rPr>
              <a:t>Too broad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C30CE-AFA7-4BEC-9839-3D735420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All manufacturers / all OEMs / all exporters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EF482-9EB8-41D6-ABD4-9637B623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051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239C7-1C67-4361-A81C-D9BD1061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76500"/>
            <a:ext cx="320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0FDE3-44A7-40B3-89E6-FF6D15E3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76500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4C2F5-0D53-4255-A3B2-7DAC813C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Pilot focus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864F30-483B-4D92-BE99-86FAFD93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Specific category + trigger + value threshold + reachable committee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7ADE6-23FD-491C-A049-3E776E1E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051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039B8-D3CA-4062-AFD2-271C2F0B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320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49DFB3-5C96-48C1-9810-A12F82BA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9A5CC8-9698-4F3A-9678-44F1FE96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670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Learning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A43949-5197-411A-AC07-D7CEB06F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337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Specific questions, proof, access paths, routing, and exclusions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E2A0F5-86E3-4346-BD85-87AF0A0F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72000"/>
            <a:ext cx="8191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EE3C37-4A1B-4706-88DB-E5BC14E0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8155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Focus is revenue discipline, not positioning theater.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F5A19F-897E-4C4A-9C4F-0EED695E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C100BB-086F-4ECF-AD40-CE35A75B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5C7BB7-1C94-402A-B979-7CE283BA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E71527-9772-4E5C-A843-A47C4184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804677-C6E1-4E01-B763-32AC8732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12 / 35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DCAE84-9AE0-4B7D-B7F8-32CB36DB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ICP Focus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B1C2C2-20CE-46E7-A357-3813A382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Broad markets make content generic, signals noisy, and sales effort expensive.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DABF97-8D75-4503-8EFF-2BD8CF90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A64324-DF9E-4D1D-8FB1-75CC9C9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BE5117-5D37-43F2-BFA7-8C1B2560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FE453D-F527-4178-B117-779C6D6A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5BB675-6126-4005-A2DD-F829BB1A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8515D6-60EF-4134-BB8F-0ED03005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34909856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14B4FE-B2A2-492E-9C90-F2D62682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354A1-6B41-4142-971E-96325E27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73DBC-FB2A-45B9-8C41-C6A4C6EB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D17C1-619A-4125-8185-7291F860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B75F9-A68A-4645-B412-A6C1DFA8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13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F3DEC-263E-4706-A0A2-4B651113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29926-770D-4136-BC3F-C5A87652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962B9-DA29-49A4-B99E-B2B64BD5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FAD5D-9E43-4FCB-B518-7E96901A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ICP Scorecard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582DE-A768-4249-B58F-7EBA2425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A 90-day pilot needs fit, trigger, access, value, proof, and feasibility.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AC72E-C743-4558-9412-2AAE6185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927E9-2C36-4FE5-A219-33B9F606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287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653BA-631F-4FBD-91E8-60C6DA75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1EDD0-F9B7-448E-9E19-C5C2A314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50B5F6-200C-4FE4-B033-2FB1736E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09800"/>
            <a:ext cx="1292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FF8AD-C892-4A6F-85DF-FE5A153C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825" y="2209800"/>
            <a:ext cx="1292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1460F-F400-4497-AB46-83118D12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2209800"/>
            <a:ext cx="1292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801AA-54EC-48F1-9CD9-87381DF5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209800"/>
            <a:ext cx="1292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B0E18A-B7D1-4D76-8C34-35D355B9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209800"/>
            <a:ext cx="1292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4BAD1-3BEA-4698-9201-8DEB4937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325" y="2209800"/>
            <a:ext cx="1292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Feasibility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E08327-B3E3-4AEF-A757-F15237E3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BC4A30-4DBE-4A65-96DE-EB61F4BE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Segment 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768143-2BB7-46A4-899B-3C8A7F53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609850"/>
            <a:ext cx="1139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9B7ED9-77E3-4E23-9E60-FB277863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25" y="2609850"/>
            <a:ext cx="1139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BFC977-89CD-4C2A-B97C-6AA6CEA9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2609850"/>
            <a:ext cx="1139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1068EC-A331-40B8-B43E-8FCE9164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609850"/>
            <a:ext cx="1139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8E8FE1-94A1-4540-91EF-E26A3561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609850"/>
            <a:ext cx="1139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91108E-E1AA-4190-925C-0746A98A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525" y="2609850"/>
            <a:ext cx="1139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8A28AB-6271-4CFB-9459-73C2074B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0">
            <a:solidFill>
              <a:srgbClr val="F9FAF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A63C2F-4811-4953-B321-0BDE33DE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07A36F-CCD4-4BF9-B50A-B8ED19B9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Segment 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D37A85-BB74-46D1-82FC-CC1236B4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33750"/>
            <a:ext cx="1139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49A668-B373-4F96-9DD7-E2D5D38F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25" y="3333750"/>
            <a:ext cx="1139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F006E1-D02D-4EC5-9352-2F0B98AC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3333750"/>
            <a:ext cx="1139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3E475D-F77B-47DE-9830-BA8594CD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333750"/>
            <a:ext cx="1139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6CA744-DC0E-4AA8-90E5-1B025E3E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333750"/>
            <a:ext cx="1139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FC46E5-9247-443A-94D6-BA7BE18E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525" y="3333750"/>
            <a:ext cx="1139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F71EBA-DFA0-4E03-BCFD-E570CB46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DCFC59-0983-4804-80BC-2D0EB4F4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Segment 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3C66CF-1F7E-4CD4-8E0D-2FBB7319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57650"/>
            <a:ext cx="1139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624F04-34F0-44C8-A3FB-0B703FA7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25" y="4057650"/>
            <a:ext cx="1139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ACDD53-ABAF-49CD-9FD8-9F7BC696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4057650"/>
            <a:ext cx="1139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6CB9EA-B335-4BDE-9215-C07F1F18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057650"/>
            <a:ext cx="1139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9247C6-591F-4C33-B83D-9A142C86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4057650"/>
            <a:ext cx="1139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244358-C0A6-43A1-95BC-EDC06AD3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525" y="4057650"/>
            <a:ext cx="1139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2AA842-EFBF-463B-A9A1-7B9EE1D7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38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867797-BDE3-4649-A280-C4510C79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53050"/>
            <a:ext cx="762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Recommendation must include both selection logic and rejection logic.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20263C-5D5E-45CF-81B5-3CDFF1AD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E2DA6A-C654-4D91-984C-4EF1BAFE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21C8DA-B315-4B3D-B626-061BA14D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A94070-5012-4AE8-B02F-ED0C4FD3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B5C661F-7338-4138-8634-E4085D35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13 / 35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6E7192-F674-4A2D-B7C0-543467C8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ICP Scorecard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FB97E1-8CDF-409A-BCE2-67B3660B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A 90-day pilot needs fit, trigger, access, value, proof, and feasibility.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713678-395E-4CB9-8B27-2DFB79FB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EB461B-2535-40F9-A8E4-DE986086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EDFE0B-D581-4337-9EF7-223756AF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2D57CAA-CC19-4DF7-AA35-6A9D0047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EC95D5-B29F-4131-AA68-4EAC6B42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EF9046-4C99-461B-A4B5-9A5A4810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169126095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411C91-06FE-4367-844F-DAE036AA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7C78E-C22F-4D28-A5E1-4BA0A92A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5333F-BD12-4559-A73D-500D078E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70553-8A24-4060-886E-8827324E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A2F89-92B1-478A-A6F5-E9BC1B28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14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F15FF-A3E7-4D52-881A-1B7F0734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60A4B-4395-4413-8848-DD1351CE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F3798-0BB0-43BC-A563-65AF1634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8FD3D-7F0C-40B7-99CC-7298744C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Disqualification Gates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FD68D-6285-4451-84C0-92248FB5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Weak-fit demand must be downgraded or rejected before it consumes sales and SME effort.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C3EFB-D3A5-493D-AC97-5D2113B4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FD9A2-00E1-4655-AFD6-DDC289BE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65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5E268-7F64-463C-A7B1-1639C0AB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65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A849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C02E1-8791-41C4-9A96-11A0C137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130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49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493D"/>
                </a:solidFill>
                <a:latin typeface="Aptos"/>
                <a:ea typeface="Aptos"/>
                <a:cs typeface="Aptos"/>
              </a:rPr>
              <a:t>Gate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F5F81-E6AA-416B-8D75-2F17AEB8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130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Low 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BD8F6-5A39-46A5-B8B4-2C69DD92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450" y="27241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DAD9B-3081-437A-AC69-7991029D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750" y="2247900"/>
            <a:ext cx="165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B16305-E83D-4140-9306-E6F553E7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750" y="2247900"/>
            <a:ext cx="165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A06687-9F13-485B-855C-BBE15248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200" y="2438400"/>
            <a:ext cx="130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Gate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969C3-F32F-4C4B-A489-CAAF0B4E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200" y="2705100"/>
            <a:ext cx="130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No trigger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F79B6C-EF64-4968-A98F-93EC9242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800" y="27241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CCA271-CE7B-4AC0-984B-B6C6C7E3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2247900"/>
            <a:ext cx="165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564603-EEAA-4AE6-89A8-67E247B9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2247900"/>
            <a:ext cx="165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A849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A66977-C114-49BC-94B9-3D1BF4D6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438400"/>
            <a:ext cx="130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49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493D"/>
                </a:solidFill>
                <a:latin typeface="Aptos"/>
                <a:ea typeface="Aptos"/>
                <a:cs typeface="Aptos"/>
              </a:rPr>
              <a:t>Gate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23A5AA-15D8-4539-B6B8-491B7F80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705100"/>
            <a:ext cx="130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No access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5F0522-2399-4099-801D-2183B5D0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241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74090A-208D-4902-9D6F-AA1FEC52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47900"/>
            <a:ext cx="165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BBE6D1-7CD2-4672-B2A5-1C5AC210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47900"/>
            <a:ext cx="165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811C83-ECED-4347-A448-A4B751D9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38400"/>
            <a:ext cx="130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Gate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D98459-6D05-4715-8066-148D9A5B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05100"/>
            <a:ext cx="130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Price-only RFQ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55D1C9-1A8D-43F7-AAF2-EF336D4D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27241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13D342-1C51-40F8-9398-FA5EAD03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800" y="2247900"/>
            <a:ext cx="165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93540E-53EE-4120-8D37-04A4D92A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800" y="2247900"/>
            <a:ext cx="165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A8493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466CB8-853C-4111-B175-03C2FEA0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50" y="2438400"/>
            <a:ext cx="130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49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493D"/>
                </a:solidFill>
                <a:latin typeface="Aptos"/>
                <a:ea typeface="Aptos"/>
                <a:cs typeface="Aptos"/>
              </a:rPr>
              <a:t>Gate 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7EB149-272D-4560-A1C3-B93647AD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50" y="2705100"/>
            <a:ext cx="130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No repeat potential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6CE667-BF2B-450B-8E0D-4D40C24F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850" y="27241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0F5142-7AC4-4E89-A725-914AC165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150" y="2247900"/>
            <a:ext cx="165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3866D3-810E-44D3-AF27-410BCDDD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150" y="2247900"/>
            <a:ext cx="165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66E943-254E-44F2-953D-561AEFF9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0" y="2438400"/>
            <a:ext cx="130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Gate 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6A5532-6E79-420A-BDD6-21276FA9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0" y="2705100"/>
            <a:ext cx="130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No proof path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ECB309-2E3C-4C52-95D8-E84CDFA7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29100"/>
            <a:ext cx="2489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359BC0-AF35-43AA-A589-42CDE29C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29100"/>
            <a:ext cx="248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4E06DE-6CF2-4251-9880-ED5F244E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19600"/>
            <a:ext cx="214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1E0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1E0D5"/>
                </a:solidFill>
                <a:latin typeface="Aptos"/>
                <a:ea typeface="Aptos"/>
                <a:cs typeface="Aptos"/>
              </a:rPr>
              <a:t>Downgrade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1357F1-A31A-4686-8943-9B848F84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86300"/>
            <a:ext cx="214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Low-touch nurture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8D2343-1FEF-49FE-9829-938F1296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781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C52EE8-4A32-4B64-904A-B6758151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150" y="4229100"/>
            <a:ext cx="2489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CF7E57-020B-4F3B-B04E-13285BDD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150" y="4229100"/>
            <a:ext cx="248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AD0"/>
          </a:solidFill>
          <a:ln xmlns:a="http://schemas.openxmlformats.org/drawingml/2006/main" w="0">
            <a:solidFill>
              <a:srgbClr val="F2EA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488DD0-370F-41FC-B1D5-E5B02B40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600" y="4419600"/>
            <a:ext cx="214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EAD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EAD0"/>
                </a:solidFill>
                <a:latin typeface="Aptos"/>
                <a:ea typeface="Aptos"/>
                <a:cs typeface="Aptos"/>
              </a:rPr>
              <a:t>Reject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3B36AF-1BB1-4A7A-BBFA-5A3F782B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600" y="4686300"/>
            <a:ext cx="214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Do not consume sales or SME effort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842165-14CB-467D-B4DC-CDF51E35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00" y="4781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E349A1-A34E-4E7F-A960-3F604694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4229100"/>
            <a:ext cx="2489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7B94DE-CBE1-4970-99DA-BCB88817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4229100"/>
            <a:ext cx="248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D3253C-F4B9-40A2-B841-48EB6741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4419600"/>
            <a:ext cx="214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EAD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5EAD9"/>
                </a:solidFill>
                <a:latin typeface="Aptos"/>
                <a:ea typeface="Aptos"/>
                <a:cs typeface="Aptos"/>
              </a:rPr>
              <a:t>Repair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7CDD7C1-71D3-4BBD-B382-BF5898E0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4686300"/>
            <a:ext cx="214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Clarify missing evidence before action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2A50932-2BD0-44BE-AF63-746C94D9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52A2CC-AD1F-4AA1-8E29-80EF12BD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C137DF-5A68-4E0E-82C9-116F9B48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9A5345-C566-4768-BB63-4F386F2A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A20522-0B6D-4A91-BFF8-13A16BA9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14 / 35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8734E04-3BF9-4A21-852E-F013EE90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Disqualification Gates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1579C36-787E-4D69-BBE6-02B17C2E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Weak-fit demand must be downgraded or rejected before it consumes sales and SME effort.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9D8797-D40E-4292-B132-216D3372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1DD73C-47BD-4B1B-ADCC-7A51DAD1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E53D62-AD64-46AF-BED6-CF550E07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69D78A9-81D0-423E-A27A-5503BA75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E0F83AE-2944-41C7-827C-38A0111A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256B0CD-B7AE-4CF6-B153-99186F4B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66869751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3D1752-965F-42D3-9F06-508D8BD2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57261-DAB1-426C-9A43-578659FC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ABF22-58E3-4C36-9413-1BBEE7AB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CEF26-1E53-417D-B4ED-ACBBEA8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F7455-0E65-4046-B330-04210797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15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09724-BE1B-4B9F-86F2-6E3ECB76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2AF51-CF4E-4F52-8E63-B0EE46C7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4678B-4254-4C74-9114-9EDD8EAC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C4B9B-F638-4E5A-9BFE-FB537495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Exercise 3: ICP And Focus Statement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647A3-2CA1-45B8-B135-974D7F78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Choose the 90-day segment and write explicit disqualification rules.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3B1AD-5539-40B8-B470-261BA2B3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83F24-4CAF-450E-A1ED-0ECCA066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857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07F0F-71CC-4B9C-BFD2-9001A924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rPr>
              <a:t>E3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8E2D6-2E94-4DE0-82BD-D6CFA398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ICP And Focus Statement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11493-8BD2-498F-A212-58C91E65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90-day ICP focus and explicit rejection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6B795-DA37-4905-A5B5-B41CBB7B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AD0"/>
          </a:solidFill>
          <a:ln xmlns:a="http://schemas.openxmlformats.org/drawingml/2006/main" w="9525">
            <a:solidFill>
              <a:srgbClr val="F2EA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BE3E5-9D06-4320-9798-DD8ADCCF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22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8FB3EB-446A-4EE0-AB6C-48C3B883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225F9-D659-45AB-81E1-72E2C95E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555306-C7C6-41C5-8136-185E91CC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Field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A9C3B9-38BF-49D0-9FBE-818A459D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Fit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B2C0F1-9BE9-491D-8CA9-B65A3D88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EF7E02-AFEB-4F63-8737-581C47E3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C21781-76BF-4F87-9484-405FA0AB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Field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873157-D6A9-4D55-828F-D95D2FA3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Trigger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D668EA-D8E9-4BF2-AD8E-1F570056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3D210F-5196-4F91-A6C1-6BB9CB8E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D965C8-E5AE-4281-89BC-F922C554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Field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13C1CF-D910-46DD-8316-1181207F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ABB524-3497-48DF-A230-644876EC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A6EED3-ABA1-4B6A-9D61-73B1B239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89A6C2-A6A0-497B-881B-3CBD9E7F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Field 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2FE04C-9B79-4426-A6FD-8648B1D7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Value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D091C4-B813-4554-A58D-84E7D449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F59796-BACA-4F62-82F9-8FF991C0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3F1083-683D-4585-848F-1C8A9418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Field 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238BBF-9674-4A82-B90A-96B2C07D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Proof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414C08-52A9-4577-8B61-862D0FD1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96DBF4-D0C3-4076-A76D-8FDB72A0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7EEE55-B657-49ED-8AEF-C5696361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Field 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B27E07-21EB-4E63-A71D-928EFD6E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Exclusion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9CF849-5AE5-4195-A25A-CE56B948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10150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6ECDB7-AA03-4E11-92BC-5A2D2FE8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19700"/>
            <a:ext cx="600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Choose one 90-day focus segment and write at least five rejection rules.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CAECE5-1CEC-4A75-9391-BEE3F442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F15D06-4217-4184-9AD8-348BA51F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EB1F9D-248F-43BB-AF62-9BEE7623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005B2D-9BF9-44BB-B492-885DC8AB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0967F8-45AB-45DB-A8CC-8A055723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15 / 35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0F29B5-90A6-4852-A5C7-1FF01549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Exercise 3: ICP And Focus Statement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6B339B-F94E-43E5-9C91-B010AF5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Choose the 90-day segment and write explicit disqualification rules.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866E43-D51C-4D47-960D-9D91148F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725856-FE75-4420-9702-B4820759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9885B8-D8F1-4AED-AC4A-F0BE8D34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6D2749-5E50-414F-B378-DCE9B558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F8D8A1-52B2-4133-ACB9-B3963C3B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F87E555-3F8A-49C8-870A-17BBDC42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204152434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B91CA5-61AA-4226-AAE1-8C129857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F25B1-B92B-4D70-AFF5-37532248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A58FC-11FE-4EF7-948E-47A25C1A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AA124-D00C-4C2E-ACC2-534BD031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A1BAD-59CD-4B8A-A4C3-2ACA15F0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16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C9182-E0E3-4A7F-9CF2-D42A3F23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46503-4AE1-49BF-9466-8668FE41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3FCF3-FD9B-4D65-865B-B625D05D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37B67-FCBC-44BB-87D5-247D54B5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MOIN: Map Of Informational 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B53A5-4C39-44F5-B9CC-F890B35E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Turn buyer uncertainty into a role-specific content and proof roadmap.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CFBBC-CDF4-4D60-908A-D82D8234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18EA6-C729-40FD-B49D-BE66950D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02870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949B83-1539-4A48-8870-2810DE25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7E901-87E2-465F-91EF-8F3BE617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027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CB400-8BCF-4A16-A24E-FB789394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273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Content demand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64A05-119F-491E-A607-C08ED73D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550" y="2190750"/>
            <a:ext cx="273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Solution demand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DA01C-5128-4058-A418-86A0D7F2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2190750"/>
            <a:ext cx="273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Vendor demand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2270D-2803-4077-AB2D-432140C5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D3A97-6CBD-4467-B940-59FF0256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Champion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11A6C9-D978-49C5-8891-89E4C6E1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90800"/>
            <a:ext cx="258445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5DEC6-6F9B-4798-9A68-D3305FB9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750" y="2590800"/>
            <a:ext cx="258445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1482DB-BA15-4D4C-A444-AD07581B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590800"/>
            <a:ext cx="258445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1865C5-E731-4AF4-950B-2C1E22BA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9430"/>
            <a:ext cx="10287000" cy="582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0">
            <a:solidFill>
              <a:srgbClr val="F9FA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D10933-B2A8-4CEB-8952-321A9506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943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1053D2-164C-4F96-931C-98C24AED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373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Technical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A24C11-5D02-44E6-BDF6-37BEE99D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73730"/>
            <a:ext cx="258445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1FD5FA-76EF-4D98-872B-98C8F437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750" y="3173730"/>
            <a:ext cx="258445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CADD5C-6F76-45E3-99DC-A02D63B8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173730"/>
            <a:ext cx="258445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8D5EFD-E530-4DC7-8BD2-6CC4E177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236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05014A-A8D0-4B6E-AE26-88775C08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666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8C165F-8B8B-4290-BE00-C2625147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56660"/>
            <a:ext cx="258445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33CD9E-1439-4CC6-9E66-0E82FD29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750" y="3756660"/>
            <a:ext cx="258445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9D6EAD-495F-4993-A386-07C07777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756660"/>
            <a:ext cx="258445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13DF85-AECA-46F3-B8AE-362559A5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5290"/>
            <a:ext cx="10287000" cy="582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0">
            <a:solidFill>
              <a:srgbClr val="F9FAF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9DBF28-EB9C-480B-BD36-842FB2B9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529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897391-B24C-4876-AEEB-D8F76B3B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959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561761-B5E8-4E78-938C-9226AA41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39590"/>
            <a:ext cx="258445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16BE1B-BBF9-4E3E-9D75-AFADA9F6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750" y="4339590"/>
            <a:ext cx="258445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2631A9-D2A0-4321-BBAF-76BC9E57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39590"/>
            <a:ext cx="258445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8260C7-4B2A-4485-B3A1-0197B16D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822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9D003C-63A3-41F2-9B3B-8EBDB824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2252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Procurement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A45468-055F-49A6-8988-E7278471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22520"/>
            <a:ext cx="258445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C06A4C-BBF9-4224-AB3B-4E7F248B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750" y="4922520"/>
            <a:ext cx="258445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70ED63-2140-4AD7-BBFF-D540031B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922520"/>
            <a:ext cx="2584450" cy="354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4EB797-6B32-4FEA-AA13-9EDDC899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72150"/>
            <a:ext cx="914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MOIN maps uncertainty by role and demand state before the team decides what to build.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FB829F-2129-4A09-88A7-4DA93C91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E8EE7E-74E3-47B1-A012-19078149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2C600E-857B-4F07-929C-C4AD8AAD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3DB894-91B8-42BA-86B6-41D70FC8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D381F4-2366-426D-B674-9C7F73EC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16 / 35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4F713B-79BD-4F54-989E-2A25750B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MOIN: Map Of Informational Needs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181610-6341-462B-B90D-E1A07A48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Turn buyer uncertainty into a role-specific content and proof roadmap.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575CC2-E210-41F9-A0DB-A9C5FD7E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D5C42B4-9BAB-4289-BD8C-5C1E1AB2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905DDC0-0940-40A3-87D9-01DF006F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8262E84-F80E-4ECD-8679-F4373B6C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B372950-D358-4783-86B1-F166C2CD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AB5704-FA43-451B-98EA-54D88B00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25443579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129C21-6947-4323-85B7-67F45D88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64C05-A151-41C1-B36B-C2EC7470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21732-8AB4-4FAE-85B1-E58BC9EC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32456-1F3C-4DC3-BD86-D5D7184D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3B4AF-C1E0-40C6-9AEF-BD0F1B8D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17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059E9-6ED1-4803-906D-3AAD3140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9852A-C893-4291-871F-CB96A1A3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01410-E34E-4B05-AB51-8CC1BC2B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94B8E-8D0B-4128-9C74-801E46AF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Buyer Questions By Demand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1DE41-3682-418A-B09F-5C5E64BD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Separate problem learning, solution comparison, and supplier evaluation before building assets.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15951-5CA1-4C5F-ABEE-307BA4DA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E488E-359C-422E-BC61-57D06A77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187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31F4E-E0C2-46FC-9018-C9F0B809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18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A175D-0CD8-495D-A30D-0E11A1F0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84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Problem belief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059861-8851-4A28-B39E-8BA3B7C4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844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Why does this matter now?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6A7C1-4C38-46D0-A4D8-D820F242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650" y="300037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A9813D-B03C-4B63-9214-4CE32AF5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2381250"/>
            <a:ext cx="3187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859B5-5C26-474F-B40E-242A48DA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2381250"/>
            <a:ext cx="318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BD562-1301-425A-B771-D02E9522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571750"/>
            <a:ext cx="284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Approach belief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CDCF6-FDF9-4182-99B4-A324DA8B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838450"/>
            <a:ext cx="2844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Which solution path reduces risk?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FEDB8-EF9A-48F9-B524-29213F23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050" y="300037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29B17D-D438-465A-BF24-D904B4F0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700" y="2381250"/>
            <a:ext cx="3187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3AC392-4111-4D45-B851-8006C104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700" y="2381250"/>
            <a:ext cx="318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004C2E-A5C4-43A0-930A-B9721B58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150" y="2571750"/>
            <a:ext cx="284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Supplier belief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568829-EC0F-42DB-959A-50EF4110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150" y="2838450"/>
            <a:ext cx="2844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Why trust this vendor for our use case?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2E3D3A-01A0-4332-BB6C-33A98B97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95800"/>
            <a:ext cx="800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D465A3-5CCB-4963-B07D-DBB2AEF0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86300"/>
            <a:ext cx="733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 strong asset answers a buyer question, reduces a decision risk, creates a signal, and gives sales a usable next move.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E7559-6B27-4B87-9F2E-47499CC6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E16BD2-1C53-44FF-8B1B-F817AE93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10D5B1-9D48-4EE2-8F4F-955F4B89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99DA33-0488-4CA1-89CC-B70DA9F9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3E885F-A584-4E74-84BB-66D9E51A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17 / 35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1586D0-7202-4038-924B-C497CD82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Buyer Questions By Demand State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39A3C1-A168-4953-B0D7-67C1D8D4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Separate problem learning, solution comparison, and supplier evaluation before building assets.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7FC912-0486-498E-ADF2-06C882E6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11B8D0-8406-4C79-93B9-B97062CD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7F6532-554F-4C4E-A326-6B0966E7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A9C945-6876-4915-BA5E-C7495033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DEF128-3387-40BD-AD4D-BD1F2035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8E9871-E9B1-4AF8-91C7-6080A081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181780847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4F206A-C0E2-4B74-9C3C-6B0683A0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0636C-CCF4-4B51-9EC6-841B64E5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8F8C2-5B55-4D49-892C-9ABA07C5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C8F6E-9474-4B5B-9F26-6704D7FE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748E2-A2A3-4C77-B88A-1FD1DB81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18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563D3-1AB0-4CEB-9CCC-E6EC56B6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EF5A1-BB7A-4731-82BF-AA0F2A9F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B829F-4FF1-40FF-8497-4B8FD136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1B2A4-F874-4930-B047-E4FB3048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Question-To-Proof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70650-86E2-49B1-A453-06467614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Every serious question becomes an asset, sales use case, signal, and proof requirement.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47D22-D9A2-4590-8F92-F5FA563D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F042F-8CEB-4862-AF5F-11FF5231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68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9EE54-6001-4872-9D54-F9798B3B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68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9D28F-D891-469C-87F9-170F3462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33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68969-DA33-4227-91D0-EF5B2964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1339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Question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DFB03-78B1-4E53-A79E-1CB6388A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300" y="31813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7C5FE-8F80-4054-823C-95802612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550" y="2619375"/>
            <a:ext cx="168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0EDAA-8E01-44B1-A94B-7899CA71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550" y="2619375"/>
            <a:ext cx="168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C9103-9720-4BBE-8261-16ACA217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2809875"/>
            <a:ext cx="133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26C1AB-AA3F-4A14-9A8B-BDBD6BC9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3076575"/>
            <a:ext cx="1339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Decision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8B6FC-F090-4EC6-AC38-A9B016D7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350" y="31813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A0EE4D-349D-484E-B5BD-5AD14CB7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2619375"/>
            <a:ext cx="168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CDD3E-D679-48AD-9DDF-448BECB6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2619375"/>
            <a:ext cx="168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04FA89-4273-4937-B840-9ABBAED2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809875"/>
            <a:ext cx="133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2BC308-909F-46ED-8C45-C38961E9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076575"/>
            <a:ext cx="1339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Proof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4CACE9-C07D-4A1D-A2AB-391EF812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813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B5ABF9-D46D-4753-A516-119B0D29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19375"/>
            <a:ext cx="168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451A9C-58E2-4E8B-B414-50687C24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19375"/>
            <a:ext cx="168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B795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DC083E-8F35-435C-896D-B4FEF2BD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09875"/>
            <a:ext cx="133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F6771E-1497-427B-9BA0-36B756C6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76575"/>
            <a:ext cx="1339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Asset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3EA81E-C812-4BB8-BB43-6474FC5F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50" y="31813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A1F2E9-CBD8-48AD-B33E-D549ACDC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700" y="2619375"/>
            <a:ext cx="168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908B84-D6AE-4EFF-A4D7-F81699F1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700" y="2619375"/>
            <a:ext cx="168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208690-0F94-4926-8860-27C4F734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2809875"/>
            <a:ext cx="133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B57B69-4BA0-47B0-87FE-A496406E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3076575"/>
            <a:ext cx="1339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Sales use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2B7A4A-37A8-4353-957E-3F61DA3E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00" y="31813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1E6FAA-3AB8-4911-B48D-D8B82497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50" y="2619375"/>
            <a:ext cx="168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C179F9-BB0A-4988-AC61-2B29952E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50" y="2619375"/>
            <a:ext cx="168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55F047-5C2B-4C31-B89F-5CF3353C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0" y="2809875"/>
            <a:ext cx="133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ACF2B6-61D4-4C55-8B9F-6CF18536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0" y="3076575"/>
            <a:ext cx="1339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Signal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7E99BB-F175-437E-A245-A8535A6F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86300"/>
            <a:ext cx="838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75D8DD-5DC3-4B6C-AC4A-41D1FA4E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67275"/>
            <a:ext cx="762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This is the conversion path from buyer uncertainty to operating evidence.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7CA434-EA8B-4D1B-8B00-052B269C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38C41A-EAD5-40D3-BAAA-7DD48F27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515647-F649-4B73-A551-5F34A083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92275D-4B8C-4086-8D87-79E43449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C549EA-0AFF-49BB-90BD-C20A7DF4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18 / 35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FC8CC6-06A9-4E08-9139-779A6F8D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Question-To-Proof Pipeline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329CEA-AFF0-4C82-9BB0-410B5BD9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Every serious question becomes an asset, sales use case, signal, and proof requirement.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0F9A14-D9FF-44A5-9385-76361CDE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839273-11B1-4BDE-94D9-2CB9F281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861A95-B1C2-4B7A-BB7F-F9F6E3CD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D28DF1-59B2-46BA-ADC1-24DBD26E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A0289F-DAD2-45A8-A1BA-65AE33F2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616866-ACFD-4BBA-8085-E6C90397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8717306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B43D94-BD2F-4C79-AAEA-D17886EB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5BBC0-21E9-40DE-A4C9-E945C557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C1B90-529D-430B-865E-748A9397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96AE7-7460-44B7-B1C7-76777479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DF9C5-9051-4C0E-817A-5B738269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19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6F3F2-FBC9-4328-99C2-DA088BC6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FE52F-D523-477A-9AFC-938657F8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2683A-8181-4184-94FA-2BFD7782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72F4B-5138-47DE-8F9F-5D644D51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Exercise 4: MOIN Grid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A5916-4FF8-4A57-9E41-A56F6767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Build the role-by-demand-state question map for the chosen ICP.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66FE0-88E7-4630-A008-2FF29022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07203-3F70-44C6-8F62-70ABE246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857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95609-B0D8-4E4C-A633-EA052F2D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rPr>
              <a:t>E4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41EAF-9B16-4E1F-9F35-91717DDE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MOIN Grid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D48B6-88FA-4656-82CC-AB1CF1DE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Buyer questions by role and demand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CE6E5-0798-47E8-AAD9-AF9658B5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AD0"/>
          </a:solidFill>
          <a:ln xmlns:a="http://schemas.openxmlformats.org/drawingml/2006/main" w="9525">
            <a:solidFill>
              <a:srgbClr val="F2EA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C3068-192D-4AD8-8D7C-C33BB257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22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44F92-2421-4E13-85D6-E3F33090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8ADA46-2F2A-4C8E-BA21-4F2C9FD1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7BCBC-7880-4032-B750-2C4BDE24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Field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05128-B5F3-4D33-B857-59ECCA81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Role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19D83C-F6A7-41C0-A5B8-B09D84E5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D7AE02-0CF2-4E33-9058-7D138951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436710-15FD-40CF-A40D-0C4D1B69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Field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6295B6-EE6D-44F2-86CF-A57BFD54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Demand state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BE7E88-BC80-45D0-85E1-157E787A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50354A-BA0B-46A3-B02E-52BC4E6D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E6B893-F17E-462A-BFA5-29E1BB1D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Field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06D4F4-F2A3-4E89-AF1B-30712D13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Question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C7AB06-70CB-40DD-A288-3C2BDC2D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345A1F-3393-485F-B74C-8A15F66A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2471D8-6E31-47A5-9CB2-0E854897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Field 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4D920B-B900-4B63-853B-5EDE50E4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Risk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EA4C79-ABC0-40A6-B109-AC353385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F86A08-AFB4-40F6-8899-679E133F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A328A8-3795-441A-AEED-3430FE61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Field 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417A1A-84D8-4DB0-9F7F-4B8CE2B2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Proof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0CD0C0-D103-4584-A793-3DE8A649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DBB526-D54A-4112-8CFC-F0B57EB1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3471F4-3FB4-443C-B984-D8D9D771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Field 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46CA6C-FE94-4983-9F2A-6EF71054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Signal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CDC8CA-ED4D-42CB-9620-6998B737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10150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5A5C8D-85E9-471B-A298-75683F79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19700"/>
            <a:ext cx="600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Build the buyer question grid and prioritize five assets by account movement potential.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BBD572-AFF3-4CF7-8A31-3213AD05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483C9D-397C-461B-A04C-2C0511DC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890A0A-171B-496C-B93C-A6B26844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445ACE-92E4-4954-AF5B-08407AD7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4B90D2-7782-4378-88A2-41E2069F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19 / 35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9ACE65-3E55-44B2-9BF1-76C4C18D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Exercise 4: MOIN Grid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3665CD-C0DB-4A5A-BA54-71E3B03F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Build the role-by-demand-state question map for the chosen ICP.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9CB33E-881B-47FB-906A-7BCF1113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AEC3EE-B2F4-4115-9A24-2976C5F3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0FD6A4-5806-43F3-86CF-8C4DAC3B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4276DA-1C6F-4C6F-BE2B-B84D3063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F7C484-6EF0-4EF8-A71F-53D1F510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3F19D2-06C4-4044-8D49-08442BFB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182660045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8342B2-37B7-4A81-B50D-CC4EEAB5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8E73F-7B70-42FD-A232-911408DD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B4520-74F9-4202-8F78-399B1503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61628-B106-4B96-B1C4-31167A4E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9C3FD-4900-41A4-8740-67B279D8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20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9D495-62A1-49B6-96A5-7D35FCE1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6A088-FD4A-4A3E-9C31-14604D41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9FF70-1D3E-4917-A1C4-E087318F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C23B5-0D07-4334-97C5-14F1FB1D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Content Engine For Industrial Demand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4EB27-9A08-44EF-A16D-8D5927EA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Industrial content is not a publishing calendar. Every asset needs a job.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18296-78B7-47D4-8627-E71CB684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7FFB1-42A6-4E20-AB02-DF4B5F51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9F9C8-36BE-47BC-9370-C94D209F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2C960-98C0-45F7-B0C4-0B20F7C8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Job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7547A-9526-4511-AD3D-19CFB8C2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Problem education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BED7C-E27A-47D2-957D-16F0CD51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1455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D2618-8882-49D2-957B-87BCF37D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145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01820-C33D-4FC4-8463-4B2D7660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Job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488A1C-62B5-4060-8C43-6AED384E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Application education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A52469-F75A-499B-A32B-EA86F111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1455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A1EC86-013D-47C2-B6BC-E2E95986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145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D396F-A2B1-4C47-AF90-4EC11D20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Job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5333DF-4025-4097-97D9-3A8D1358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Decision criteria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8F86A5-9633-4218-A7D1-583F68E6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C1E806-7FB0-4E46-B477-3A2379E9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B795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18AA7F-21BE-4C46-8B7D-63AECAD2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05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Job 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A34C0E-AD52-4E74-8BB3-4BD790D6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Proof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E44E9E-5DFC-4E31-B193-34366AA1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7190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2FF566-E0AC-4330-86F2-BD54BC6A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7190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461955-C224-4389-AC4A-B1F9891C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Job 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BC57F8-549B-4401-8B1A-29FFECBF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Buyer enablement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756481-7831-43D4-B922-8D3C78B3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7190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B085C9-EC24-42F2-A3D5-8F2A386C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7190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A6BEB0-E573-4F19-BDED-0D3708AD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624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Job 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5242E9-E10E-4DE1-9C4B-F82922F7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291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Demand capture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6C3B92-1BB4-4B20-B43E-D8BD17AD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7190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1C88B7-01F0-4BD9-81D5-0133D438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7190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6DAF33-381A-4D4A-897C-9280DC88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624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Job 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F0BD16-5801-4595-B550-4E21E40E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291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Sales support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E8F0CB-87C2-479A-9344-5B57F3BB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734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Content without sales use, distribution, or signal design becomes volume.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8FB007-E8BD-43AC-9213-D34CA501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5C3F33-92FA-4A61-97EE-99998F38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EED442-7AF1-401D-9021-50DAE8F4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ED4BB4-A879-48BA-BD13-FE4CDA42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344B98-52CA-43A0-80EB-90013A44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20 / 35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55663B-4EC6-4DB6-8133-B3ED23B4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Content Engine For Industrial Demand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3B35AC-506D-401F-90FF-8357F705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Industrial content is not a publishing calendar. Every asset needs a job.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B796D0-D2D6-4AE8-A5D6-BCD3280F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E9FBF2-F875-4189-B776-5C11E753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295667-0B42-4352-8FB1-044C86BF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E7856B-EE21-4BA6-8D6B-1F28D5B4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BA6A6DF-4F0B-433C-B9BD-0AD253E9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DB9AC4-786C-4AF9-8CD5-EDB73F1F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88101164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01C0CA-D862-4401-925A-40A3CA5D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6B976-EE3E-4C16-B0FD-80031D68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2BEB2-A1B6-4527-B423-6209E06C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F2ADC-992D-435C-A7B3-97BE7C5C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2CFDD-9DFB-44D8-8D49-62B088DB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21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BCCE4-9278-4D19-A5F6-DD47D0AB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136FB-3EBB-4086-BEDD-20838296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84BEB-98B7-4249-9874-AFF8E6ED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A8224-803B-4F93-9D49-9E4A227C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First-Five Asset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C69B1-DB34-4CEC-981A-A6572958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Build the minimum asset system that supports buyers, sales, distribution, and signal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6D34F-B526-42CB-B13B-CD7E0411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B61C0-2000-496E-90A2-B45BEC90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273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93D9E-2941-407B-9640-DD376DE5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273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B1CE37-72CC-49F7-940C-05C989BB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76500"/>
            <a:ext cx="2387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064BD-3506-4B48-A68B-9B445825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238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Content-demand assets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B76AA-ED4F-4809-AC70-72081D62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290512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3C7E8-0CA6-411B-97CA-EB8CEA3B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286000"/>
            <a:ext cx="273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12DAD-92B9-4ADB-B125-FD016EC8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286000"/>
            <a:ext cx="273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79F59-7B1E-44AB-850E-3B3E592B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2476500"/>
            <a:ext cx="2387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2x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4EFCF2-B699-4100-A081-B07D5070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2743200"/>
            <a:ext cx="238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Solution-demand assets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68D40-A064-474E-9589-9DA47BBF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550" y="290512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211A2F-F6D3-4D11-AEE4-E4D50993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0" y="2286000"/>
            <a:ext cx="273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8C8AB7-E1B4-48B4-9557-41A9E053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0" y="2286000"/>
            <a:ext cx="273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90CCA1-D8AF-4DFE-9581-83516C9E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700" y="2476500"/>
            <a:ext cx="2387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1x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B6A415-BDAE-4F5F-A089-020F7F19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700" y="2743200"/>
            <a:ext cx="238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Vendor-demand or buyer-enablement asset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3B91E3-D418-4DFA-AC56-0167D1A1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8763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5CBE51-9D07-4884-9F60-4BDBBA64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3628DC-5C7B-408A-8E45-90DFB58E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9102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A06FC6-164C-4780-9923-D97A91A2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81500"/>
            <a:ext cx="163353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SME input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4E5697-95D2-4A94-8105-7D466013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138" y="4381500"/>
            <a:ext cx="163353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Sales use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6270BE-BE05-4B73-BE77-307EDF5E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381500"/>
            <a:ext cx="163353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07EF95-DBC1-4572-A071-1AD404E5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2013" y="4381500"/>
            <a:ext cx="163353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86FD41-F022-47E7-ACAD-7A71596B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E01950-8F71-4E1C-A1DC-F1AF448A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815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Asset 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EB15B0-9677-4B4B-9E69-4EFA9BB9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81550"/>
            <a:ext cx="1481138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1FC8B7-65C8-40D0-B044-005F52C9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338" y="4781550"/>
            <a:ext cx="1481138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74C797-19A9-4F46-85B7-37F9940E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781550"/>
            <a:ext cx="1481138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0D236A-DB39-48CF-BEFD-D2B2EDA8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213" y="4781550"/>
            <a:ext cx="1481138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AB2C12-C19C-4898-8A40-D466A1B8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84750"/>
            <a:ext cx="8763000" cy="31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0">
            <a:solidFill>
              <a:srgbClr val="F9FAF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F97CEE-BBE1-4168-BE11-5F6EF2B4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847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B6AFFE-A1EE-44E2-BFE8-89C27244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90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Asset 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DA539A-ECFF-4A3A-810B-C40B34EF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99050"/>
            <a:ext cx="1481138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F73FF4-E5E4-42E8-8A83-29CD7733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338" y="5099050"/>
            <a:ext cx="1481138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440FBC-3B90-4E22-A634-7F3628AC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099050"/>
            <a:ext cx="1481138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0E9657-4831-4F30-B3F0-452FA3F9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213" y="5099050"/>
            <a:ext cx="1481138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17C2B6-8CF2-4863-B1F9-1673E5C4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022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FA52A2-2AA1-44B1-8BCE-93214917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165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Asset 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C65E7A-73A4-4C53-B6F1-8B7AF7AE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16550"/>
            <a:ext cx="1481138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69EDB8-08B4-4C4B-9B98-3F023828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338" y="5416550"/>
            <a:ext cx="1481138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81502A-6AA8-4589-B0B8-7C1CA08E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416550"/>
            <a:ext cx="1481138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AA5C99-F561-4A6B-9F31-A1421495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213" y="5416550"/>
            <a:ext cx="1481138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481FCC-846F-4846-8EBE-2F9408AD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5D0255-89A7-4519-B089-422C3BA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8C24D4-0B45-4F1D-BE39-8471351E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9C5C505-2DFB-4FFF-B83C-5B05B06C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AF7E18-D1FD-4655-8F46-4560B695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21 / 35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20870A8-3EEF-4BB6-B353-A3EC79D9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First-Five Asset Plan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61C6B0-EC1F-4CAC-A85B-DA1E3B55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Build the minimum asset system that supports buyers, sales, distribution, and signal interpretation.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B2BB06-B7EB-4D74-8AD8-983E0A4D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01ED825-E816-4B4F-BE3B-75922E1E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DEC3F3C-FB41-4B1D-9D9B-B4292D85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1126A5E-7309-4720-9158-083F9E5F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A293C80-2F85-40DE-93BD-50827F1A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E9243B9-557D-4B89-A7B8-AD6984FF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7718886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93590B-52B1-412B-9BA6-E6E893A7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9E32F-F2EB-46A7-B836-619F45B3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3CA8A-FB0B-45FB-8BE7-ECE83099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EC71C-F184-4D7F-8CB2-0BA7A06F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49B9E-47F7-4DFA-967B-C340E66F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22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336E9-E432-4FC3-BD1C-529EFB12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75D94-6E79-4E76-A405-74D6AC11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F2AD2-3900-41E6-892C-6C8FAEC4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A4260-EF04-4EA4-9C18-429AFFEC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Exercise 5: Content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78F64-0111-4022-B6DB-5F340467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Create the first-five asset roadmap by demand state, SME input, sales use, channel, and signal.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D9BE1-2A4F-4D18-A0AB-5498145B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28C9B-F300-4114-8266-DE866333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857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2B164-8FA7-4F91-8158-8494DAE3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rPr>
              <a:t>E5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833BB-5111-4F9B-A823-E2EBE646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Content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CAC0E-80E1-4E18-87DE-05AF6FDD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First-five asset roadmap by demand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76CA4-6E37-42CC-B8BA-2AFB989C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AD0"/>
          </a:solidFill>
          <a:ln xmlns:a="http://schemas.openxmlformats.org/drawingml/2006/main" w="9525">
            <a:solidFill>
              <a:srgbClr val="F2EA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0EA05-7935-4437-B33F-E14E6539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22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F9062-7125-430D-A745-2E338F9F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2FD8F1-B210-4988-B2AB-88CB61A2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5609D-7E8D-47D6-8C06-38231199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Field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7F43D-3745-43E1-9AC2-F2D49191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Asset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9FF167-21AE-4190-97B7-DF3B7768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B0C5F-511E-4581-9C5E-A5D4CBD4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600201-B3F2-41E1-9A5E-57860860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Field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919594-273B-48DD-ACE6-2A9C0782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State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8EB097-715C-4732-BB40-ABB1DC09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ACAB6-19B1-4E21-9787-05CFD223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C9D93C-9882-468F-9DE1-C2D8BC09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Field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86E67F-21C0-466A-AF63-26FEEC7F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SME input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D59099-9B68-41EF-99D3-6FD2E5C5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CDF8C8-84D9-433C-B2E9-5DE2325F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C77A44-9949-41F5-87FA-024D074C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Field 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E4425F-E687-466F-A854-1BA123CD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Sales use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599073-F55C-488F-BEE3-29CCD0FC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DF920E-D33C-419D-8BDF-7C0C46F4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7DA6A1-F5EB-4630-9C63-6A49B824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Field 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5D8B98-C6FB-43A7-A6F0-EA8116A3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Channel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CEB70A-B4BE-44C9-B45E-B4162480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5983AF-92DC-412D-839A-72A3BDDB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C3FA25-AA03-4457-A126-5EFB0C7B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Field 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A17A5D-6ADB-4B98-9CEB-FBC581D6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Signal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18E25D-F75E-451C-B93A-5C5A6493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10150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1EBAA8-1A82-410A-995F-55B84AAD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19700"/>
            <a:ext cx="600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Create two content-demand assets, two solution-demand assets, and one vendor or enablement asset.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4B09BF-D2DA-47BC-AD4B-503620CD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9FAF63-A41E-4731-8434-947BC399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4FD010-9C91-4D78-BB5D-CEBD5A63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36B8FB-0EA4-46C2-8DDC-CFE2C7A2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CE8E58-1162-4DBB-B84C-53B0DB1B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22 / 35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4F9DD4-6D5E-4D3B-AEA3-E1EBFDF6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Exercise 5: Content Plan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63F6F9-72C8-4745-812F-9ED7C362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Create the first-five asset roadmap by demand state, SME input, sales use, channel, and signal.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88C52F-E050-42A6-9DC4-5DE10967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8321CB-A0D3-486D-BA76-92969730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9A535E-CEF1-443C-BD86-70DDD132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3CC528-34A8-4458-89F2-7D5157A0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7932E4-1298-4063-8E34-397A40C5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FCA736-CE4C-4F1C-9EBB-669A82C0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31119668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0302BC-9A05-4672-B846-037339B6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B380B-743C-4374-A78B-75C9BA73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AE0A7-20C9-4AD9-81A3-70E14845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4700C-940F-4F24-BA84-34D9F97C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3EAD3-6DFA-4B3F-8413-D284B4BC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23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AB93F-DB60-464D-BA77-41C26171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86017-27E3-4A37-A250-D1B0126A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9A2B7-869D-42EF-AE4B-2838172C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AF53C-AA76-44E0-906F-779CEF03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Distribution Is The Missing Half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B6D56-6889-4B39-8A01-A193FDAB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Publishing is not distribution. Industrial insight must circulate through trusted paths.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51015-6FF7-4C9F-A8A2-A177D0DA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DDC2E-C678-4F20-85C4-006BD7A2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381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4E5B7-B9A5-474A-BF3A-ABC16212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431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A849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36177-1B5E-4F43-A00C-886C2115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PUBLISHING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132DA-6EFA-49A8-877D-29192D35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A849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112E5-1837-4FFB-A5A9-D9EF4184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Company page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07EC1-37B6-41A9-BA64-9C6C0894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A849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8FC05-379D-4DF9-ACCC-28CB6223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Website post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8EDF88-06B8-4371-A743-83F94826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A849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8AA985-F917-4FBB-8F94-43EE69BB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528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Campaign send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1C239-2D0A-4681-B290-080AD15D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A849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CB8ECE-2EC5-4DDF-BBB2-4ACAFC23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Low observable trust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ECA4C-D157-4BDF-9F9F-83A672DE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381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6D9217-1D3B-4500-94FF-24F4941E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431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3D19F-E266-4795-B471-66A9E960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765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TRUSTED CIRCULATION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77235F-2B9F-4EC2-B9FB-49BCADA5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90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740E2A-9B15-4AF6-A5EC-DB1A12AD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146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SMEs and sales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1C4446-13A2-4BC8-B3D6-A60A06EB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9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0AE414-DE63-4E76-B966-0A34A1AA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337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Associations and events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66EFF4-8E6E-418A-9A28-4268A3FD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29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07B836-C649-4B92-A7C5-422D4650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528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Distributors and advisors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AFC726-D5FF-4C0A-BA75-DD0FFBB1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48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88D327-E8BE-4F46-9095-3C442553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719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Signals captured into cadence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095559-1793-42C2-9D85-DA0BD7C7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716BAB-12DF-488E-BFE0-EE26BD3E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AC8BB3-2269-413D-9E56-38209F22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1BDB6E-0850-41BE-B8F9-8BCB19CA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B5E4B5-FB85-449F-A815-0EC576C4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23 / 35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8FB079-AE70-4CF0-A8B4-FD8EC4EF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Distribution Is The Missing Half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EDF716-27F1-4CD8-95E2-910A787E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Publishing is not distribution. Industrial insight must circulate through trusted paths.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7CFC01-7F62-4858-AEDC-67DEE951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67DA33-D916-4E04-B27F-9A0BFA5C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C17B5F-AABD-4EC4-AE38-71003087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0F6099-B141-48EE-BCEE-C4841B3D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981324-DC32-49FE-908C-69EF082E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99049B-3A70-46E9-99F6-0C467F93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208846758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6765FA-3EBE-41BB-A0C9-EAE683CE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CABD6-F09D-4DE5-BF8C-13540B0B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D3A80-5FF0-4707-AC74-7C50F5D7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B5EF3-927B-4FEA-A812-18C3D357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56480-29CA-43B8-8F61-FC0CAB7A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24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E6CDE-355F-48BF-81F9-6BED6ADC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DA70D-FAB7-4EDA-BEAB-05DFE76C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400E8-8EEE-4327-9266-94CBF4D6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8DB3B-F548-4E8D-970D-43BB0346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Trust-Based Channel Ecosystem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CC9CE-EAF2-4BC0-8BD3-65F61260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Choose channels by buyer trust, decision stage, operational capacity, and observable account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AF530-98AE-4175-9393-01C3026F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0C86A-7958-48FD-B985-01E7E9E8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48CD2-CDE3-408C-86A7-9BA22D46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266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5299C-DBB9-48E2-8D8E-7DCF336F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924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Channel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B5260-4BEA-49C9-80FF-6A9E2E6B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Sales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69EB3-D770-46E8-804F-AEA03266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52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166AEB-FAB5-4BEF-A28A-26735FD4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52650"/>
            <a:ext cx="2266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BC042-7F26-4057-9B67-9F52CC3C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1924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Channel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ADB25-DE62-4571-BF7C-5E3B32A7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E83691-FD9D-4AB0-821C-5C703DC0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0D4C7E-AC31-42B8-A0A0-B733A374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2266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D653B-FBD7-465F-AAA8-F16F15FF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1924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Channel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15E3DA-6A3C-4889-B92F-42D0CFB1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98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Association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D195DA-E3F6-4AC1-A959-9193D0D7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3F0C8A-98DA-431C-9314-B312D53F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266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B795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D053FA-43E4-476E-8CA5-F1FC7426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1924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Channel 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A5D300-3595-4DB8-A690-BFA56029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Event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950422-0FD3-445F-9B05-C4A8EFCB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6DCAA8-BD23-40CB-A36B-CF10B9AF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2266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D19ACE-AD15-411E-8982-E9BAF505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924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Channel 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29B7C5-3251-46E5-BCC7-72DD833B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Distributor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05F4AE-3653-4C13-B88E-A3BAF8CC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1000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D4028D-22E5-4D44-9D00-30151C01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10000"/>
            <a:ext cx="2266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423CAB-6160-42CC-A4B1-525230FB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00500"/>
            <a:ext cx="1924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Channel 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C54516-CC95-4AE5-A84E-09951D2D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672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Consultant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C47C65-9FDE-48AC-92F8-96C5F24E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1000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A5FCF7-647D-4E6E-96E1-43D3FB7B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10000"/>
            <a:ext cx="2266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BE421F-81BC-4D39-B5FF-D05197BD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1924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Channel 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DE0BA0-9269-4F7F-9E23-B1736991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672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Publication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FDC700-9724-421C-B200-8D8F9070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1000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9ABB46-19A1-4226-AB7A-760B4F6A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10000"/>
            <a:ext cx="2266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B7953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388888-8EBA-42A7-959A-4E7AAC28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1924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Channel 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DC9A19-E212-43B7-BA33-BAA3D789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Search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652750-620D-4A94-992B-D4F7ED8A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53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Select channels by buyer trust, stage fit, owner capacity, and account evidence.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8DFD20-FC61-4E7C-B5BD-CC667C04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1CAC97-C0BB-4DFA-9804-D1DD57E8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C3100F-0EA9-472A-BC50-530FEE63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038E5D-81A9-45C1-81C4-8611CD78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B08080-40A5-415D-9A73-C352C05E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24 / 35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A6FCF7-2FF3-4BEC-A5D6-A4A6D00D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Trust-Based Channel Ecosystem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CCD676-DB38-41C6-B9B3-E2BE09BF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Choose channels by buyer trust, decision stage, operational capacity, and observable account evidence.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368F50-F6E4-4613-8494-FF8FAC54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47A335-5EE2-4039-81C4-BD1E3FB2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3332556-7834-44BF-901B-0C98807D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77935A-60B0-4013-BB0B-10901D58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D34F82E-5633-4A11-8A09-2B50EF6C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925485-B896-4675-90BB-DB3657B3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179919284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4B175F-8695-4586-B0F7-4A5107D2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57F52-BB6B-4EC1-B36B-43943799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FB8BF-66C1-40FF-8FFE-A89AF26A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ACBB0-82A0-4977-A1BE-0278572E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9FDFE-9F71-42E5-9ECD-E825CC9F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25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E685A-FED0-44F3-AE06-549C56FA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E899C-019C-4BE5-BB0A-37A0215F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68FA6-CE04-4640-8BDC-D6489F1A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1ACBD-5911-4ADA-8C7F-8434EFE5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Event, Partner, And Distributor Motions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8CBBB-4DC9-4930-A589-B1D60A69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Offline and partner activity becomes demand generation only when signals are captured and routed.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E796C-59AB-46E2-8ED3-94E2C83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5B1EA-69A0-4A38-BC7D-1C079916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366963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C5F44-86F5-41D1-A145-7DB4A635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3669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FF453-92EB-4774-90A6-168A99CB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0240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A8D4A-5685-4539-A6C8-28697EAF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02406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ICP invite list, proof assets, meeting intent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0AAE3-BD98-48C6-B20B-30716DE3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913" y="31146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1DA84-6523-4162-92D7-C78BE4CE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2476500"/>
            <a:ext cx="2366963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AF753-8CAC-4001-9BE1-5B10ECFF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2476500"/>
            <a:ext cx="23669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C6CC53-1A00-4EE9-9F02-90D940E6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2667000"/>
            <a:ext cx="20240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During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7031E3-5643-44BF-A801-CDC6772F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2933700"/>
            <a:ext cx="202406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Role, question, trigger, objection, next 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AFF5B4-5152-42EE-B057-C4C6E5F2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146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0F940D-B58A-4111-B91E-5093BA9F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2366963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079143-47B4-411C-A6E5-CF0983E7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23669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0ADF95-77DB-4E71-8A91-C2455255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67000"/>
            <a:ext cx="20240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72 hours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D21625-E2C4-4374-AA6F-1AB15CBC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33700"/>
            <a:ext cx="202406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Route signals, owner, SLA, follow-up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8BB4AA-1D21-4293-AA11-118710C6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938" y="31146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3D9DE4-67C6-4C74-985B-6FD47106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2476500"/>
            <a:ext cx="2366963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608ED4-13B3-45E0-AF2C-0E9B51C9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2476500"/>
            <a:ext cx="23669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B795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AFCBAB-58E0-4122-9181-41344E2D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88" y="2667000"/>
            <a:ext cx="20240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Partner loop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E80C22-3669-4551-9D94-DA0A8A5C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888" y="2933700"/>
            <a:ext cx="202406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Distributor evidence and qualification rules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CCF39A-846D-49CA-8066-0A1EE030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86300"/>
            <a:ext cx="800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4A834D-149A-4CC0-A68F-34688D19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76800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Events and partners become demand generation only when field evidence enters the operating system.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E5D38D-3B2E-4E51-A243-144D39AF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AE91F3-F93F-4AA9-B8A2-8A0A7248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41852B-8DD6-4A43-BC04-AED946FA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888B40-DFD2-4705-98D8-C0FE8D81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FD0B56-2F0F-48AD-8571-63D286DC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25 / 35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110465-E20F-4105-9C35-C93716B6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Event, Partner, And Distributor Motions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F7CB74-17F6-469F-A6E7-4F1EF129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Offline and partner activity becomes demand generation only when signals are captured and routed.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24362F-4192-4276-920A-2AFBA48E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63C7AE-32E6-469E-83FC-66E40010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2992CD-BB1B-4930-A436-6DDD50A8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40AF66-4118-4C05-83BE-CB399941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CA7300-D27A-4A46-BBE4-15DB821A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899ED6-1400-4913-B3B2-AF58853F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12377065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990D27-27E6-4A7B-AC5F-4038B8C2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8D39D-D6C4-45BA-B9F7-E5DA146A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EB470-AF17-4697-BCB5-24551151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F4576-1599-4A88-B288-75533994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87357-AF33-4AC2-B2FB-94CBBE20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26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E8CCB-A95E-4F1A-ACEE-66FF564D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04C4B-54B1-41B1-9211-40694EFF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3413A-26AA-4317-BE48-5AD3FF4E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B8855-92A2-4650-AE84-9B542F80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Exercise 6: Distribution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9E395-3DA8-4767-B426-F18E1F52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Map channels, trust reasons, owners, cadence, account signals, and follow-up rules.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B3CF1-53F8-4E64-8880-F39A7B88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18160-5B59-48DE-9690-56B2B7B3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857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7249F-AA26-4FA6-8A84-4F2E90D6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rPr>
              <a:t>E6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88916-1646-4BE8-9624-C9A6C09D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Distribution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CB9DB-E695-40E6-B9A5-EEBAB4C5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Trust-based channel, owner, cadence, signal, and follow-up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8F6E1A-24D3-4B7C-8500-0CB836EF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AD0"/>
          </a:solidFill>
          <a:ln xmlns:a="http://schemas.openxmlformats.org/drawingml/2006/main" w="9525">
            <a:solidFill>
              <a:srgbClr val="F2EA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E0954-EE4D-4418-9679-80830422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22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AD5D6-A787-4D5C-BC14-218E4187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7B343-D55A-40E5-B6A0-D90BD9A8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6C37DA-859B-435F-9E42-0803E76C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Field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7A732-4B39-4A13-9E64-811323B3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Channel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CF79F2-D1B9-49AF-999F-704166AC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4715A-46DD-4F20-9356-AAD34238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7C790-9AD7-4727-9835-9005E059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Field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233ACD-F984-480E-8D1F-6AAB8C69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Trust reason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B99E0C-725E-4055-9E2D-28D06341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ABA932-DE9B-4407-A15B-498803F0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589041-7D87-4FBB-927A-D2AD45BF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Field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801B66-FAD3-4C95-9AFC-C85013EF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Owner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4DA20B-F5D6-4125-8829-61AD47F8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256305-3F5A-479A-9057-3352110F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17FB75-0905-45DB-B041-62862010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Field 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21C387-7C6F-441F-904C-E3DC7EC9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Cadence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B2F1EB-F2AB-4AF6-A83F-92ED9328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CBD2C4-9C3F-4D79-AA8D-3FB81065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A195EA-6887-438A-9A88-6A5251E7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Field 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74BAA5-D001-4D92-BE44-25465B94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Signal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A282BF-D747-4A86-A885-EAB66C84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CDDF50-C1D2-484D-B56B-3BAC42DD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B2728C-B870-4B97-91B1-78A52FFB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Field 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CF96E8-5C38-4461-8876-31D01884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Follow-up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3E38F5-B243-4A5F-8874-537CFD7E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10150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2DF208-2820-4A3A-BA9D-2D2AB53F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19700"/>
            <a:ext cx="600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Map channels the team can actually operate. Every channel needs an owner and signal-capture rule.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D4ABF2-84CC-494B-BD35-D2015F6C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F38838-4172-42F8-9429-43621C05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34DB1E-F6A2-4F04-B509-A8BCDCBF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1E5495-ED44-4CDB-94D9-D2C581C6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64E9C5-7A8A-4B20-BF42-6470DDFF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26 / 35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363CBF-BC63-4980-B0C2-00BD78B2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Exercise 6: Distribution Plan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7FD361-2EE9-4F62-8721-0477E5D4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Map channels, trust reasons, owners, cadence, account signals, and follow-up rules.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CC157F-6AA6-4F18-A6B1-FB4C8998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7D7B2E-812B-4621-A88E-70C7B225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CB36AB-4566-4A7B-B3B0-B76399AE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D7BAD4-1496-4965-94A8-DED91CF9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379EC6-3D31-4A02-B3FB-AF47E047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89B47E0-8EB8-4C4A-9CA7-191259F3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202294173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DBC39B-F73B-49AD-92E6-A62398B7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9CDB9-EEDC-491D-80CF-0905D5FA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B6ABA-6EDB-4213-8965-C53A4157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0F052-3412-400D-8FAC-39645A32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7AFA9-E217-43BF-9C97-ED0BB002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27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0952C-E134-4567-A74E-4E4A1B1D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8993B-D076-4B0B-AE1D-B9AFAFBC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78D1E-737B-4666-8D21-E1506335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1C6CE-4632-4DE6-8489-625E0F35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Signal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56777-AD0F-416A-A2BC-FEB908A7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The expensive error is treating every signal as buying intent.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29E47-AD97-470E-BF65-DA5A853B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3CD34-5150-4BC5-859C-49DE8129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21812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5C917-F3C2-4776-BA10-07943303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21812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203D5-B97C-4953-8D33-A5228D8D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90800"/>
            <a:ext cx="18383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03FBC-40C8-4B03-B6EC-791EC759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18383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Account 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FD7CD-983A-471D-9D27-3E19EE5E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0289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05181-5AD0-4881-AB69-7B67D13A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00300"/>
            <a:ext cx="21812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F033E3-674C-46A9-BB78-1C2B9D25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00300"/>
            <a:ext cx="21812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16F12-EE23-4FC7-B497-BBB6E4C6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90800"/>
            <a:ext cx="18383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D9C28-5CD7-4DD2-8A71-51FE2CB8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0"/>
            <a:ext cx="18383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Demand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BE5CC4-6413-40B7-AFB7-365E83B0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289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35DC01-EEE9-4224-A6BE-9E76543F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00300"/>
            <a:ext cx="21812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337E3A-9EBD-4C04-971F-75A089C3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00300"/>
            <a:ext cx="21812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A9CE94-86D5-4EB4-8A53-02EC6068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90800"/>
            <a:ext cx="18383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46BBBC-357D-4387-9AA4-9A790CB8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18383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Buying role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CA95AF-724D-4DD8-B6DF-18E88951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289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ADFCC1-D5B1-4295-91F2-E40E347D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00300"/>
            <a:ext cx="21812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9DB338-3134-4338-993A-5BD40105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00300"/>
            <a:ext cx="21812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B795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1E9DCE-5BF4-449E-91C5-171F5FC2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590800"/>
            <a:ext cx="18383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56BB46-F030-4AC3-873A-E7F1570B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57500"/>
            <a:ext cx="18383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Evidence strength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845557-D382-40FB-B653-514019E1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482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F583B9-BB17-4874-A526-8A34C266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5775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Only after these filters should the team assign action.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D53CDE-F2A4-4414-9A2C-C59508E9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8FEB8F-F61F-4267-97A4-64C4FE79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F086B4-C54C-4387-B25E-D2195FFE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3ED64E-5D25-462D-BF2E-92A275D8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24B4A1-DABE-411B-8C93-A572754E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27 / 35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76843D-0E69-4426-BCA3-E50F54B1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Signal Interpretation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A378C8-E677-4DCC-8C58-BC96FB4A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The expensive error is treating every signal as buying intent.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BB062D-2F1B-47C6-AFE7-B9B370A0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6C882F-929F-4FC3-85D5-85F54BC2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FA3454-F61D-4514-B40C-95804782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F24262-AC24-45F3-AC6B-352640B1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576812-C399-43C5-ADCD-1733D6A1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575DE8-474F-4357-AFFE-16F409DD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46112941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FF89BA-6460-4EA6-9E3E-2CC58458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C0A02-1F47-4B9F-BC3F-E0990111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A9E74-DD8E-4BF2-9CC8-CECB2EB0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8D5E5-2D4B-40F6-935D-5E9D235C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56260-B46D-4DCC-9FF2-23960019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28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4A958-EE43-410B-9672-BF95FAE3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68832-7860-4020-AB4F-CAD4372E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FED7E-1E2D-4C03-A181-0335508D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37686-FC2D-4A19-BAF8-2581EBDC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Routing Decision Tree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C80E0-EFF1-43F1-B255-CFDE5C02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Route by fit, state, role, and strength before choosing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654E9-585F-4024-A680-AFDAC246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213D3-4494-4A93-A3AB-FDF94CEC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FDFB8-BF59-4509-9A28-90DFC0C5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46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D76A2-FC80-43C4-B0B5-7E83DF92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Action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E81F2-946F-4888-821D-92DCA107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Educate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F92A5-34AD-4C59-8937-90575EF0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0512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D0B38-4192-437B-A8D2-DA90DAE6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0030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88E31-C4C6-4FCD-927A-15E9203B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00300"/>
            <a:ext cx="146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94C2B6-46F1-4472-BE9A-63FEA415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9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Action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10640E-9E2D-49BD-850B-38849530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5750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Research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742827-078F-431C-907C-60A93F2E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6043C3-1FD3-4914-9B65-E4315BA1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096347-DA36-4616-A5EA-75F9EEB5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146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B759A8-EC1F-412A-B7FB-FAC84096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9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Action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8D4B10-ABB8-47A7-9457-31053153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5750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Map committee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6BBA05-E297-44D5-B867-812B0650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0512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E53B9E-6A8A-42D9-A872-C53BC7EA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91C5C4-1A83-4A33-BB09-2DB67CC4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46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B795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155AB0-90BC-4DE2-9AC8-8286D7AF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9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Action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53DDCD-A62B-414A-A410-D4C5F1A0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Enable champion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13478F-650C-496A-A841-2FCA04EB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0512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7262A3-DAC8-4FCF-A455-58506384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0030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BE5D7C-864C-4A15-9712-927CBACC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00300"/>
            <a:ext cx="146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E0A19F-4234-4A4D-BA05-569C269C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9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Action 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A3E7D7-C3D1-4FDE-BA2E-AAA0369F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Activate sales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06D412-AE2E-4365-82FA-2D6FB841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0512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974950-EB1C-4996-899A-02F21ECC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5243E1-0DE0-46CC-83A3-1D99B83F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146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CF60A2-3159-49E8-9B0D-8FBD5F0D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9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Action 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88E8BD-7CA9-44DA-AB02-6A763E14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Review opportunity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227DEF-3300-4BF0-80A5-126B6774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0512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661CD7-1753-4007-9F89-9610C8BB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0030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E576CE-F620-4DC9-B2D9-8734FF51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00300"/>
            <a:ext cx="1466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394446-7081-4E69-8C8D-8BD14982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9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Action 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7FF7F8-3709-4D52-AF6B-2E633733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5750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Disqualify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5ED9A9-1BEF-4195-B403-F30CEC29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24350"/>
            <a:ext cx="8001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8E1E88-A50D-43AA-ABBB-12D97F43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243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4E6BD7-D18D-42DB-ADD2-913AF085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4817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Signal strength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9A5746-D9F9-46F2-81FF-EA03E78A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38650"/>
            <a:ext cx="197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Content demand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507172-80F9-4949-8CB5-79F93D26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950" y="4438650"/>
            <a:ext cx="197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Solution demand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445372-398F-41CE-9B1E-88A2F1CD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4438650"/>
            <a:ext cx="197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Vendor demand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F24BF2-8418-4DA6-916C-59647484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2440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464775-CF1E-4021-ADCF-F1413D35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3870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Weak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89E2FDB-7B7E-4172-A629-9AAAA1D5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38700"/>
            <a:ext cx="182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4A22D16-69AB-41CD-953C-6C186DC4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150" y="4838700"/>
            <a:ext cx="182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C8D42E-A2F6-4604-941A-DABAD8E8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838700"/>
            <a:ext cx="182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143E45-ECB3-4EE9-A2B0-37B979DA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10150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0">
            <a:solidFill>
              <a:srgbClr val="F9FAF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B8619B7-44CD-4E9F-87F8-FB43EEA2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101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DE144A-E0B0-4288-A35D-A8425C8A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244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Moderate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19BB6C-290E-431F-8184-18ED83B8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124450"/>
            <a:ext cx="182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48E4BF8-E49D-4DAF-97C1-7B4FF23B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150" y="5124450"/>
            <a:ext cx="182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F40D18F-0154-438D-AE81-13E7DF59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5124450"/>
            <a:ext cx="182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A87B4F7-57FD-44A0-81F1-B1BDF6A8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9590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2E8B85-59C7-4381-9012-5721CD39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1020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885B9E4-4D12-4E22-8C6D-D4D88F86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10200"/>
            <a:ext cx="182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62D73BF-B3D3-47DF-99E6-38A8FEDE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150" y="5410200"/>
            <a:ext cx="182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B8B8CB4-7D3A-467D-9753-D4D38137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5410200"/>
            <a:ext cx="182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E9439C3-5384-4470-89D9-60832DC4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23C4476-2FFE-4935-804E-4D610DF1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D246C05-5AEE-42AD-B348-EF14B8FB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4FF85A7-E423-43B6-A0F9-736E8682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B81C67C-D031-4D6C-9E7D-3125AED0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28 / 35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63E94C1-668D-4389-92DD-D3F52ECF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Routing Decision Tree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BC35C83-5EBB-49DF-9875-14CF3F9A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Route by fit, state, role, and strength before choosing action.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EF44663-7463-4157-BEE6-54350AD9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AEE1B37-C111-4907-A3FB-7F0806D7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49FF645-EF0C-4D57-B9C4-3B79C80A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8A2567D-17FA-4A08-A990-F1DE1143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D87C40E-9243-4383-BAAF-E2A9ACB3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0692F0E-DE66-4622-B0BD-AE5AEFC4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875868591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BE2238-7397-4CF5-A445-AFB36AD0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11F0D-047E-4446-8EB3-816ED5E3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71902-E49A-4766-BC2B-88DC2401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DE690-B210-4A67-B98C-539B97F8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D3CEB-E3F9-472B-9FF9-C0EF9A34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29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96134-D835-4321-872F-A4C45B30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343FB-8F73-4955-BD59-D11C92A7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C1EC1-9F5D-4D53-AD39-13F816FF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AAC0C-C14D-40F6-81A3-157B9CCA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RevOps Signal Object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236C0-B7BE-4CAD-A8C9-5D604771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Signals become operational only when owner, SLA, next action, and false-positive risk are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FD739-EDC9-44E3-B1CD-F3A4703E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873A5-2F3D-4DDF-8A9E-B0280789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9906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8BE1A-83D8-4FF5-8322-9FEC6C95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25446-CD02-4D34-A01A-3FDCF1E8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1932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RevOps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E8209-C261-4396-A754-57CEEE9A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09800"/>
            <a:ext cx="19192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Field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82CC3-4A4C-4D8C-A3D9-72D0200F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338" y="2209800"/>
            <a:ext cx="19192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14918-A334-4C2B-8AE0-45974655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209800"/>
            <a:ext cx="19192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C139E-6C15-41E9-9C55-D6748307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209800"/>
            <a:ext cx="19192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CCD81-7063-4228-A729-05F0ECEA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5D74C-257E-414B-A749-818AF053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Signal object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9B613-5B8F-467F-BA10-F67EEC2C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9850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9742A2-5582-441B-8AA8-E97C9ED7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538" y="2609850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2A996-0CC8-4C65-A8FB-100479B7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609850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ABB31B-291F-4AC2-A0B8-9894A856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2609850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0FBE58-87B1-4F7D-865F-4376847A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9906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0">
            <a:solidFill>
              <a:srgbClr val="F9FAF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C5AB75-37D6-45C3-B189-0A80E793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77F1E8-584D-404A-859D-25B1A87F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Progression 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D91B42-3CD6-4E61-B026-0B494CC2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90875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95D3B3-8C7D-466D-88BD-4C55BA3B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538" y="3190875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EF8BD0-74D0-4A16-8A57-A998F1B4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190875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7AD3C1-F721-48C2-897A-9BA20B5D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190875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FD85B7-CCE2-404C-9372-D843212E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BD19D2-FF12-48C6-BFF2-D0A8D1F4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SLA tracker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CE292C-88B8-4241-A53E-B62190B4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71900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797BCF-46BE-44ED-9A0D-67288339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538" y="3771900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40EDF3-73A5-40E5-A08F-56E0B113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771900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A00F05-0B9B-4CA1-90E9-9EB220CA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771900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72C4DD-1534-4399-8ABC-317FABC4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9906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0">
            <a:solidFill>
              <a:srgbClr val="F9FAF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2B9F86-0776-4654-A034-9D5C0B87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FFC73E-9E40-4B42-819D-D7F217BC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52925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Learning log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88CBEE-5D20-4BCA-8D8F-8624BC74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52925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71CBF9-1D44-4471-97D2-028BE017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538" y="4352925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AC4C45-939B-492A-BC31-E302DF76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352925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B8D537-15B0-4AF2-807A-EA98D093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4352925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2CC908-9A3E-4F18-999E-60ECBE04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8FD76E-243D-4175-84B5-E1CC90C5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If a signal lives only in chat, memory, or event notes, the operating system cannot learn.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D2CD9A-54D2-4D32-A4DC-CE1FBB2F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DD9BD6-4171-4776-816B-DA7AB2BE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0DB04A-C9D7-48B3-A4DF-48646B18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1B5BFD-E98C-4D2D-9D4E-E6F1CF8B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D15896-8B4C-4083-ABF0-FE23ACF6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29 / 35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4D88D4-D398-4277-BED6-334C8F87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RevOps Signal Object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2F5B1B-250C-421D-B114-356FB068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Signals become operational only when owner, SLA, next action, and false-positive risk are visible.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3920A2-3610-40EE-ACFC-27166FAA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F94BAA-458B-4752-B986-2E00AEFC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285565-4447-41C2-9BA9-97157AEC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122155C-0D40-459F-B8B7-2D8A9839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C5B286-473A-46E1-98D3-ED298FC5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46AD516-FD41-4093-9664-F60DDFD2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168278773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04BABC-36D3-491F-A459-737A1903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28A96-4494-4CC7-B74B-86D0906E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7E8C8-927F-4386-9962-9306EE56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AA4A5-FDB0-4F8C-838F-DFFB6263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D7911-2487-4BF3-935F-7A8A9671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30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25953-5C12-42D0-8B8B-EAD4FAD0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D0DBD-73DB-456E-BC35-840269FB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3F450-85F9-4160-BCD3-1C3AA5E4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7836D-5FD0-459A-B6FA-36F8F727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Exercise 7: Signal Routing 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26856-8667-484D-9459-F9B43A12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Classify five signals and assign owner, SLA, next action, and escalation risk.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F8DC9-F3CE-41DA-BF78-0D1C0FEA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9632C-5656-4D78-9CBE-3883641D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857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2339A-8570-43DB-AB6B-A9BABCC7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rPr>
              <a:t>E7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F1083-DF50-4157-BA79-1D99D4D6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Signal Routing 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D1EB5-2027-4D14-B455-98DBBDF8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Fit, state, role, strength, owner, SLA, next action, and risk 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EF7E8-826E-465E-A1DC-FBA39459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AD0"/>
          </a:solidFill>
          <a:ln xmlns:a="http://schemas.openxmlformats.org/drawingml/2006/main" w="9525">
            <a:solidFill>
              <a:srgbClr val="F2EA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52BDE-BB74-437A-9CC2-4156564B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24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31E0B-AB31-43CD-AE6D-5F5ADF78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EFEE7E-AE72-4A78-9A00-85D4B27B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33C19-764A-4EDC-99BE-3EA861EE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Field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0DC58D-0C4F-433B-BF93-938015A0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FF5AB7-535E-41A1-9690-E0AD6A34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2EECC-C681-42C0-B933-22D5272B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0D2FF1-E9CA-455D-A930-306819CB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Field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D8E289-16A1-48CB-A955-FEABB17D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Fit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48D0D7-48DA-4803-BEA7-EA969970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6DA172-9F16-4431-B96E-77CE974D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B7ADF3-872C-4B21-B232-F7273D0F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Field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847B04-66DF-4AE1-84D6-7DFB84B4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State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D8B125-2737-4AA9-8088-F70E708A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6A0EA2-CA11-4589-9D98-6DD60A4E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D3A641-2EB5-4ABB-AC56-EC00026C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Field 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3167F2-DCC2-4E09-A8DB-11A87208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Role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6B3802-196A-4917-9415-AC6A2307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79B5A6-F010-491D-9A12-9009122D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601077-C999-43FE-B9EA-484881AE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Field 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42C7C7-4F2C-4D36-A88D-4EC2C904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Strength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179E63-9CC0-41F6-BD6F-65A3E529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541784-6088-4D90-A889-D3DE3FAC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954CD0-0B32-4016-A81B-E579A8B7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Field 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975489-6E6B-44FC-9D79-B7EBD7F4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B6A551-5E63-4273-8868-35F144CE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10150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B783E0-D0C1-46CF-BD14-14F00AD8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19700"/>
            <a:ext cx="600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Classify five signals. Downgrade weak or low-fit signals before they reach sales.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F1D5F9-E6AF-4A0C-A458-07668910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DA4529-F158-42E5-9257-BB5DBA66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CD8729-490E-4062-B0C5-12EB850D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98F7F7-734A-4724-B65D-2D4507CE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FEB322-7150-4EA4-8F10-6D636A2E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30 / 35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CB4060-0D50-4F9F-AFE6-CF5ECEF8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Exercise 7: Signal Routing Table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601B91-FBBD-4817-BC68-6216747C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Classify five signals and assign owner, SLA, next action, and escalation risk.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1441E6-9CDC-4B26-8D74-9979D765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E0215E-7FDA-437B-8895-12B74349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152B88-E9C1-43BD-8BED-EF8E2336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7D5561-82DC-48CB-975B-AD29142F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B56235-D702-4056-BD15-64959687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7DED78-3568-4BD4-B890-47C1BDED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208545928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EC1B75-12BD-4581-8906-6A67F15F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DF04C-35FC-434A-BEA4-82BA1F38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291D3-347B-456B-9E4B-3638D93D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A1194-3F1A-4646-BE53-11957DCC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3D2A8-721D-4331-8002-F094C801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31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AD5FD-E350-4C28-A6E0-35DD59CF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C5DA3-FEC6-4A13-85B0-0337A54E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CF3F2-AFB3-4F31-8821-10C99621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494DE-C2A8-45C8-B767-5547463B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Measurement That Matters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1B4C5-647B-4B5C-9DC6-B8A15A4F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Measure movement, committee coverage, signal quality, sales use, and opportunity quality.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1190C-E39F-4CF6-A8CF-CF1FC1A8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7F029-CF9D-4CA4-AFDC-8B12FB49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295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A48D0-DB11-4C3A-91D4-E76212CB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2955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F3159D-EDDF-48DC-ABD3-1CD7B711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1952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CE8E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CE8E9"/>
                </a:solidFill>
                <a:latin typeface="Aptos"/>
                <a:ea typeface="Aptos"/>
                <a:cs typeface="Aptos"/>
              </a:rPr>
              <a:t>Reach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3628F-E01B-4E8F-BF19-CBB1EF36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1952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Target-account reach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CC111-A791-43D6-84AD-420A5B78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099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9E93D-31EC-42BA-BEE9-7D9E8352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81250"/>
            <a:ext cx="2295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7C9865-55EA-4605-8ADF-649BA080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81250"/>
            <a:ext cx="22955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7AF3F-21B0-4559-B1B3-2DD7476D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71750"/>
            <a:ext cx="1952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1E0D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1E0D5"/>
                </a:solidFill>
                <a:latin typeface="Aptos"/>
                <a:ea typeface="Aptos"/>
                <a:cs typeface="Aptos"/>
              </a:rPr>
              <a:t>Movement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68D78-D11C-42CA-9221-D2D0FB09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38450"/>
            <a:ext cx="1952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Future Pipeline / Active Focus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62536D-714D-4BD7-B367-3FA322CB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099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8A343-25DD-42A6-A379-4CB22D18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81250"/>
            <a:ext cx="2295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859C5F-CF37-4333-91F4-3C3C700E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81250"/>
            <a:ext cx="22955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1BB100-9EB3-4E93-9B76-BDAA6A0F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71750"/>
            <a:ext cx="1952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EAD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5EAD9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197768-3F4D-468D-8BD3-D34ECE3B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38450"/>
            <a:ext cx="1952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Roles engaged and enabled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46B1AA-1178-403E-9DE9-557EAE32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099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D4BE55-14C1-4B57-8192-5DD4279B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81250"/>
            <a:ext cx="2295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1321E3-F0BE-4FDE-8696-6BE7A48A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81250"/>
            <a:ext cx="22955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AD0"/>
          </a:solidFill>
          <a:ln xmlns:a="http://schemas.openxmlformats.org/drawingml/2006/main" w="0">
            <a:solidFill>
              <a:srgbClr val="F2EA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774A6B-1F40-4A36-9323-8A7BD46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71750"/>
            <a:ext cx="1952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EAD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EAD0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0C09EC-495D-4FB1-AE29-7960A50D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38450"/>
            <a:ext cx="1952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Strong signals and opportunity quality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47815C-FDE8-42D3-801E-52259106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48200"/>
            <a:ext cx="838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BCC5FA-8E45-471F-B451-C1E5C693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3870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Revenue may not close in 90 days. Movement quality can still prove whether the motion works.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8392A4-C02D-4E82-9246-EC3AE16F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C83CAC-1A7A-4651-BFDC-F6AD3173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040198-AFF1-4F8F-88DA-409D2F69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74617C-7477-4B0D-8C95-CD622B04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613F94-3132-4A24-B417-24F5A44F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31 / 35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435C0A-C1BE-43D1-B345-253CEE60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Measurement That Matters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1540B5-EE50-493C-B3BE-76F55845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Measure movement, committee coverage, signal quality, sales use, and opportunity quality.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B06B23-6FB4-4F7D-8A03-6954E754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D99E84-B314-45C3-A947-A1D95A37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3348D8-7666-46C0-BE54-B5328E83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733125-30BA-4F49-B6DF-BE99262F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650B93-E3F9-4C6E-AF04-AC80333E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750E6E-C7C7-4D79-81BE-D71A455D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14526825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A5813E-AD5C-4688-974A-B1E9CC4C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6F711-0CCA-46DB-BCF3-C56259FF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0544E-8696-4CCF-AEF4-6B1DF458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E37B7-A52D-428E-9F94-6867D5A4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7B6A3-8A3A-4C30-8538-C956731B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32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D4346-F646-4AA1-993F-D9A84CEA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34A85-8368-40CB-979E-0939AE6B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50C0A-8AA9-4EB8-BA99-DD91D066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154F3-F99B-41AB-B13D-8159DB19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Weekly Revenue Cadence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5D98C-1145-47AB-8961-00AB92BF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Cadence is not reporting. It is a decision rhythm.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D28A1-06B4-4FD1-86FE-ABE732AF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C4F0D-2F02-4228-98DE-950E3023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9906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7AC53-451E-488D-9F51-30806BBC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EAA91-C7A8-4535-A67D-B2F0FC28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1932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5F9659-5200-4FD1-BDA8-611D8966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09800"/>
            <a:ext cx="19192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7268D-2C62-41C6-9F27-B3CBA2D5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338" y="2209800"/>
            <a:ext cx="19192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E7D95-44E4-494E-B67B-8AAD28F4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209800"/>
            <a:ext cx="19192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88A0EF-BB59-4E3A-B5E1-E474C6A5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209800"/>
            <a:ext cx="19192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This week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D963A-4A17-4199-86EF-B0E04A27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749CC-B315-4970-81FE-96D1D73E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Progression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FDD6D2-EB9B-4381-83F4-63ED971C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9850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394CAF-F110-46E3-990D-26B25CD9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538" y="2609850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3739F-4FC4-4AAC-85D5-44488AB2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609850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5023D0-6AE7-491E-A4DF-129477C1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2609850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B3BFA9-E9B3-4CCE-943D-63542E6F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9906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0">
            <a:solidFill>
              <a:srgbClr val="F9FAF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41DD60-4563-4BA6-91B2-19BB02D0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0ABE5D-76ED-4DDD-A81D-983A3362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Routing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58A1F8-8774-4C98-8DA9-C08FBF8A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90875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6B4FF0-ED24-42DE-9884-744CE12E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538" y="3190875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11F571-7C9E-48EE-A258-E1AFADDF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190875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7EE703-0D7A-4015-BB7F-8167120D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190875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44DA0F-2A06-4739-A88D-98A62BD4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997A67-5C0C-4090-BFCA-28E322CE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Proof gaps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843D56-8386-40D5-A311-2F57BCB8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71900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91F5F4-390B-4F07-9119-5B21ABA2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538" y="3771900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A2FB17-FD59-4FDC-AAB9-66FE6F89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771900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6E6A78-0F80-47A7-8D3A-B4BF7D6D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771900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564F04-C07B-4234-B8B8-B7D81681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9906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0">
            <a:solidFill>
              <a:srgbClr val="F9FAF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6412B8-018B-4733-B7E7-AB29CF6A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C38AFE-256E-4E85-A39F-E9BD4F9D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52925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Commitments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831ED4-5A6A-4884-AA5D-61ED2E3F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52925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3DE062-B1B3-49F8-998E-5B52B9F8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538" y="4352925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9BA603-317B-4C1C-ABB7-972AE536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352925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D126E4-0704-41E7-AD6B-6C6AFDF0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4352925"/>
            <a:ext cx="17668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51993D-8139-4919-B980-57F6FF05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679A25-9E7B-4939-9AE4-BBD9AFC4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Cadence exists to make decisions: build, route, repair, disqualify, or escalate.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2AA1CF-A115-4C38-94CD-D385D4A4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B4A8C7-73B3-4749-8C8D-AA1228E5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11D1EA-5B76-42D0-8483-84D31840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45BEB7-2FB3-4140-8C9E-20212811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DEFECD-4E95-4BB4-A3D8-F2DE5570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32 / 35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EB7932-C0D7-4C5B-8626-D85F4861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Weekly Revenue Cadence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8B6948-1BC9-4547-A973-27EED9AA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Cadence is not reporting. It is a decision rhythm.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2ADCDB-5AEF-4E69-93C5-7C32349E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3DCA16-E6BC-47B9-88C2-68DA3627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1AE025-7AB3-47ED-8C19-26B1B665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EBE1A1-3C48-4D9F-8714-A90051ED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B8259EC-4EF2-47A6-B4EF-97D7679C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7C61CA-5426-4C49-B23C-1D7BCC83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2035346202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ADD000-0A73-4E89-A71B-9F90382B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211D4-5093-4A1C-AF92-AAA40A8A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44704-41E0-4D9C-8117-361626DD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021B5-0AA9-4AF9-94C3-F1E8BFF9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C7EE9-A453-40E2-998B-DB4FACDD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33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B9A32-8C1B-4395-BFC6-D35475B6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E24CB-CCA1-4C22-9118-36D33B52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D379D-205E-44B8-9BC5-1DAAAF2E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61801-83B2-41F2-A5C0-50C612C3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90-Day Pilot Roadmap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2EA17-8713-4226-BF06-EB0CE04D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A narrow pilot proves learning, movement, signal quality, sales use, and quality pipeline before scale.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C2188-9CCB-4AD8-8BE0-0890B959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925BC-FCD9-475F-8D5D-70E65B25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99644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19B1D-3ABC-42C1-BA8D-83451ABC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9964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F2E38-1B8E-4971-946F-447605BA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65354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481E3-DC0D-49B6-8508-289F3A7D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65354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Scope and ICP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C46C4-CEDD-4352-8480-4CD00E89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090" y="32766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2ECAA-AA84-42F7-B04A-80E44853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90" y="2686050"/>
            <a:ext cx="199644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7CF84-2167-49E8-ACD8-2808E986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90" y="2686050"/>
            <a:ext cx="19964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1EC0EB-50F8-4296-AB55-568F19DD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" y="2876550"/>
            <a:ext cx="165354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9BB902-788B-42D1-BEE0-F227B025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" y="3143250"/>
            <a:ext cx="165354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MOIN and content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262579-769E-4697-892E-7DD1E39E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980" y="32766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C9D8C1-7F9C-4880-84AE-DAF0E613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380" y="2686050"/>
            <a:ext cx="199644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2BA8FC-8CA8-40E3-95E5-8FF65A8D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380" y="2686050"/>
            <a:ext cx="19964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38FD56-FA2E-45D9-A604-906FF837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830" y="2876550"/>
            <a:ext cx="165354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D9E042-C1CD-47D3-8CDC-8B06D752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830" y="3143250"/>
            <a:ext cx="165354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Distribution and signals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11F554-15B6-4BF8-B56B-7A4C2829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2766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A3467A-8B5C-4353-BD5C-CFD41BBC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2686050"/>
            <a:ext cx="199644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182FDA-FCDA-4AC4-BE8C-B2EB0313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2686050"/>
            <a:ext cx="19964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B795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99D039-BC88-46D0-A2D5-D4C7F48F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720" y="2876550"/>
            <a:ext cx="165354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783791-D07B-43CD-B280-CB625F2A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720" y="3143250"/>
            <a:ext cx="165354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Routing and activation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8BF781-4A6C-4DEF-B910-147D00A1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760" y="32766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052CE8-C78C-42C8-9447-BA608A30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686050"/>
            <a:ext cx="199644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F26F80-D4EC-480B-BD16-CEA528FC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686050"/>
            <a:ext cx="19964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D38408-0E04-45F1-B314-08928A09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610" y="2876550"/>
            <a:ext cx="165354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7FCB2E-0423-4A3F-BA3A-A9F2EBA4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610" y="3143250"/>
            <a:ext cx="165354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Readout and decision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62C504-E745-401E-8A64-922F4350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05350"/>
            <a:ext cx="2438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60BB1F-01CA-42FB-B7A1-1F752092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05350"/>
            <a:ext cx="2438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A8493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F8EB94-C6F7-45CC-A886-88E5D847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95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493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493D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2F3647-3280-4DB1-89CF-DA2A4F21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625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No quality movement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1A34E1-D790-4F24-8773-47DC0551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339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E4AE46-491D-4235-A568-CB28F122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05350"/>
            <a:ext cx="2438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498F83-42FB-45A7-8A29-7B0ECDBE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05350"/>
            <a:ext cx="2438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2F2639-BEF9-4359-8671-F42BE96D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95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Repair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21F71B-D9C0-4412-8E7C-850610C4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625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Motion works but layer leaks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363DED-9C62-44D6-BFE0-CCE8B7B4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339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6D"/>
          </a:solidFill>
          <a:ln xmlns:a="http://schemas.openxmlformats.org/drawingml/2006/main" w="0">
            <a:solidFill>
              <a:srgbClr val="5D686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C9215A-1EAC-4EC0-A9EA-943D1C3D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05350"/>
            <a:ext cx="2438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0F41F5-32F5-4264-AE40-E880A092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05350"/>
            <a:ext cx="2438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154C50-AD14-4B9B-89CE-A8AC75B3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95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E913B0-1DEE-4DC5-9504-44908851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1625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Repeatable movement and sales use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B45C2C-D1A9-4293-9D02-9F611C93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1CB61D-68A2-48CB-A273-93A9DC82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04E15A-67E1-4AE9-96D5-C1E8A845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2E0BF9-BC32-41BC-A3EA-858321A6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5CFE42-BCDF-4D9D-8C47-14FBA0F0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33 / 35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54E6D42-7B0C-4E30-BAD8-0D0BDF85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90-Day Pilot Roadmap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B53E77-9CB2-4432-A7C0-10D57E82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A narrow pilot proves learning, movement, signal quality, sales use, and quality pipeline before scale.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AC84F6B-1BDA-4BFD-8373-CA143935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2982E1-4291-45C5-903D-9921BD16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0F0192-C1DF-4508-AFF3-8449A39A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D360157-2F1F-4493-A676-F039DED2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9B0F9E-6240-4EE2-AACF-81A0558E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D62E2F4-6C98-4C49-A010-97A32A0A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140937377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578A4E-CEF6-4EF6-8B1A-90A17262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33306-E7E2-4B34-BC1D-04779F96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22813-1352-45FB-8BEC-D31598C7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313A7-64A4-4243-AE14-F051B80E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ACFD2-020F-47B9-93E4-B7105CBF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34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236DC-B77B-4A6B-9FFC-35C6FBC2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9B124-0DC7-483E-98D0-FF4071A3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8C472-BF72-4B3D-B60C-B096DD5A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D6C12-8D87-4E7C-BFED-C515BA09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Exercise 8: 90-Day Pilot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94D2E-C37D-4A0A-8459-EFB4C38C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Assemble prior artifacts into an executive-ready pilot with stop, repair, and scale criteria.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E7EE8-C755-4954-B743-D2807AC1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770A6-2F52-428E-B5B1-2A62EC1E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857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FE0EF-1A3D-4DA1-B5FE-1666815C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rPr>
              <a:t>E8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802DD-36BB-45ED-B1CA-66BAC6E2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90-Day Pilot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2C4D2-A77B-49E9-9D63-99F31F8F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EA"/>
                </a:solidFill>
                <a:latin typeface="Aptos"/>
                <a:ea typeface="Aptos"/>
                <a:cs typeface="Aptos"/>
              </a:rPr>
              <a:t>Weekly cadence and 90-day pilot with stop, repair, scale criteria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123BF-C4B5-4F55-B84C-AEA6CD54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AD0"/>
          </a:solidFill>
          <a:ln xmlns:a="http://schemas.openxmlformats.org/drawingml/2006/main" w="9525">
            <a:solidFill>
              <a:srgbClr val="F2EA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96087-0444-4FB9-96AB-91639F1F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2232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2232B"/>
                </a:solidFill>
                <a:latin typeface="Aptos"/>
                <a:ea typeface="Aptos"/>
                <a:cs typeface="Aptos"/>
              </a:rPr>
              <a:t>26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53AF44-C407-4CFC-9CC5-CB58117B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219F42-9F9E-45FB-BC86-9FB1C103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A5C3D2-A3F0-49DB-BC53-C351A7B7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Field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D4E76F-915B-4B64-BDE9-7C09BE57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Scope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2935C5-30E2-44D2-8805-DF0ABB2A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506D88-001B-4F05-B97D-871E0DD4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88B048-DEAB-4C5B-80AC-17AFCE10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Field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CC5F5D-AD56-4C87-A5A5-C292C7F6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Assets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5AB47-AF90-4EF0-9038-1D29361E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D44FDE-A35F-4EBF-A961-0BFBE9B5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9D4481-4BA5-4779-BF31-3C1CAB10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Field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8C794-9121-4FFF-8530-0117941A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Distribution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2F5B39-B206-4EB6-8EC6-971976BA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2FD4B2-FB77-4610-BA90-3A28FAE2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1D60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4EB27C-17F1-4EB2-B4F3-8D601EA1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Field 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2DD541-872B-4B24-9634-9B87F791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Signals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79DB7A-BB08-4628-8F66-C2EBA8C6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39C798-2F9F-489B-BE04-E44FA1BF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CD7B3C-E21F-44F3-953F-F0E3BDFD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Field 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12A856-72BD-47A3-8A9B-4C158B36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Cadence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2BA01B-1B3D-45DF-B0BC-2A7DE6F2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D3D37F-4D08-4C94-879B-080BA750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667A3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C83EA2-D5D0-4B28-86E9-3EB4E1FC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957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Field 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2FF45B-EFEF-4C61-98AF-31A91B7C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Decision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D053CB-D295-4B0B-95DE-CD3C59A7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10150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0A074B-A761-4162-BBD6-C15AA8E1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19700"/>
            <a:ext cx="600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Assemble prior artifacts into a 90-day pilot with success metrics and stop, repair, scale criteria.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9A64BE-29A4-4DEA-ABE5-EE052610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EDF51C-F606-4DC9-B87A-7D7984C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EBB381-77F4-4A09-8F97-4A81EF6B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8D2B1A-B7F0-4EDD-B936-154F61E0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9C14B8-6CEB-4D6A-AFEC-86981C7A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34 / 35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FF4E20-6840-4B0D-91A2-5D3F1CF3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Exercise 8: 90-Day Pilot Plan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4A8D96-AF96-45F8-ADAA-2949E1CB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Assemble prior artifacts into an executive-ready pilot with stop, repair, and scale criteria.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FD5B83-AA19-469A-858A-45DB1A29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42EEB6-D183-4C54-86C3-89E4D763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7AC1E9-127F-41A8-89B1-3D1DAC56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DAAFEB-102B-4924-9775-E4DC1135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71C70BE-D7BD-4CA5-9E9C-7EDCA3B0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58BD77-92E9-4AD4-BA07-6ABF892D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1449262069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26F762-0607-457C-9735-C2E27FE3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0">
            <a:solidFill>
              <a:srgbClr val="F4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282A1-D802-4D90-A226-454DBA80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E44D6-8DF4-41FB-8D9D-E12DCE7F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A85D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713A2-5D15-41D9-8C03-E0FC2DE8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96786-042B-41CE-B8BA-CB500E02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35 /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D6685-331F-44EA-A935-97E3CA48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237DD-7CBF-4EE2-B0C8-E800DDDA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080B1-0811-4CAA-9A5C-CA224CF1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CE080-1FAF-4658-AEA7-B594BC2C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Sponsor Decision: Stop, Repair, 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2E75E-6780-4356-8032-50E13437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The final strategy gives leadership a decision from evidence, not campaign optimism.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98335-9B26-42E8-BC8D-E621CD4C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71650"/>
            <a:ext cx="1190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2DBAB-DB8C-431D-950E-FE4AD843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9906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739D4-D955-434F-9774-5A98D395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1223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F5CF8-36DA-4CC7-96EE-3C3838B2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1932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Sponsor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8E58BE-B079-46BA-9DA8-91A76F5D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0980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F49AB-5774-4B7A-BF7D-85E773D2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0980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Repair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013536-657E-4FB5-831D-243178D3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D5105-5382-490A-B5EC-CA1526A2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EF2700-458F-4996-8A86-11E0D9FE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Strategy complete?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38F133-933F-4D8E-B3B2-56819103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09850"/>
            <a:ext cx="2457450" cy="290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F05F2-0157-4C9B-9C91-49DFF645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09850"/>
            <a:ext cx="2457450" cy="290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4B7344-F873-4CF6-B16E-5B1537C3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2457450" cy="290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43BF46-0F4A-4B9D-8DEE-E5EAF43F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4663"/>
            <a:ext cx="99060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0">
            <a:solidFill>
              <a:srgbClr val="F9FA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E78CD7-40DC-4C5D-96F2-5E01F5FD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4663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E2F8A2-0A8F-4E52-BA52-5057A56C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8963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Evidence visible?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21F137-94A4-46EF-848C-AD363D15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28963"/>
            <a:ext cx="2457450" cy="290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972E54-1B44-44FA-AF50-F517889A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28963"/>
            <a:ext cx="2457450" cy="290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0FE6E0-71AA-48B8-894F-60CDAE97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8963"/>
            <a:ext cx="2457450" cy="290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800E1D-28E7-453D-A8BE-99C40849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5D01C3-3A96-4B5C-8518-C48CC220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48075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Cadence owned?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7A6F62-74AA-4FC3-8854-C9F431BE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48075"/>
            <a:ext cx="2457450" cy="290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CFDB60-A4C7-4DE7-A276-73A8C5B5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48075"/>
            <a:ext cx="2457450" cy="290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942996-ADF3-4B3F-8F77-988A12BE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48075"/>
            <a:ext cx="2457450" cy="290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FE3BC1-8421-476E-9759-853FF49E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2888"/>
            <a:ext cx="99060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0">
            <a:solidFill>
              <a:srgbClr val="F9FAF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43E95F-5DD8-4E82-93F4-01C8556D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2888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A087FB-2D4B-473C-B9A2-41A85222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67188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Quality gates passed?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0D1C96-53C6-4F59-8A38-FE104781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67188"/>
            <a:ext cx="2457450" cy="290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0">
            <a:solidFill>
              <a:srgbClr val="DCE8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CC6C26-177E-47D0-862D-CE6A474D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67188"/>
            <a:ext cx="2457450" cy="290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D5"/>
          </a:solidFill>
          <a:ln xmlns:a="http://schemas.openxmlformats.org/drawingml/2006/main" w="0">
            <a:solidFill>
              <a:srgbClr val="F1E0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55B276-105B-4817-843C-1B467F3B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67188"/>
            <a:ext cx="2457450" cy="290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9"/>
          </a:solidFill>
          <a:ln xmlns:a="http://schemas.openxmlformats.org/drawingml/2006/main" w="0">
            <a:solidFill>
              <a:srgbClr val="E5EAD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143FF5-5A81-46AC-A924-4697A6DD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4350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B8D551-824F-499D-BDA8-11A9F440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530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final deck and workshop outputs must let leadership approve, repair, or reject the pilot from evidence.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030517-65CC-40C5-82E9-69182CA9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21DA7F-8DFD-4830-9E5B-08E3549A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01CCAC-B4E2-452E-8A6C-FC38826B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14527B-6E06-481B-8BC2-2CF19D3F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PRIVATE ACADEMY / MODULE 1 / INDUSTRIAL DEMAND GENERATION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6BEA35-568A-4FB3-85E5-6DB9F297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D686D"/>
                </a:solidFill>
                <a:latin typeface="Aptos"/>
                <a:ea typeface="Aptos"/>
                <a:cs typeface="Aptos"/>
              </a:rPr>
              <a:t>35 / 35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D909B7-553E-4BCC-B026-B5FD7338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Sponsor Decision: Stop, Repair, Scale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9E7C19-76B3-4200-8149-EB09360A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The final strategy gives leadership a decision from evidence, not campaign optimism.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D1D6D3-84D3-4C06-8FAC-3859FA9A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EF"/>
          </a:solidFill>
          <a:ln xmlns:a="http://schemas.openxmlformats.org/drawingml/2006/main" w="9525">
            <a:solidFill>
              <a:srgbClr val="F4F5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21FB40-1ED8-4537-ADB5-FE2B0F46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228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D0EE4F-FE56-4EDB-8A59-FBD9BC60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627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F61FC4-43E1-47FE-8774-E8603B5E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solidFill>
              <a:srgbClr val="D8DDD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EF12CA-99E7-4455-9938-8C7D129E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Consolidated instructor deck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D741FC2-4EAC-44FF-B0B0-C3F0AA84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D686D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D686D"/>
                </a:solidFill>
                <a:latin typeface="Aptos"/>
                <a:ea typeface="Aptos"/>
                <a:cs typeface="Aptos"/>
              </a:rPr>
              <a:t>Source commit 9e28222</a:t>
            </a:r>
          </a:p>
        </p:txBody>
      </p:sp>
    </p:spTree>
    <p:extLst>
      <p:ext uri="{BB962C8B-B14F-4D97-AF65-F5344CB8AC3E}">
        <p14:creationId xmlns:p14="http://schemas.microsoft.com/office/powerpoint/2010/main" val="1056439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2026-05-17T15:47:45.6540000Z</dcterms:created>
  <dcterms:modified xsi:type="dcterms:W3CDTF">2026-05-17T15:47:45.6540000Z</dcterms:modified>
</coreProperties>
</file>